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Цель вступления:
Эта презентация не является разбором лабораторной работы. Она объясняет ментальную модель Spring Framework.
Начните с вопроса: какие проблемы Spring решает в Java-приложениях?
Ожидаемый ответ: создание объектов, связывание зависимостей, конфигурация, транзакции, безопасность, web-запросы и повторяющийся инфраструктурный код.
Главная мысль: Spring позволяет разработчикам сосредоточиться на бизнес-поведении, а framework берет на себя жизненный цикл объектов и типовую инфраструктуру приложения.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Сначала объясните проблему. Если каждый класс создает свои зависимости через new, приложение становится жестко связанным.
Пример: controller напрямую создает service, service напрямую создает repository, а repository напрямую создает database client.
Такой код трудно тестировать, потому что реальную зависимость сложно заменить тестовой.
Spring решает это тем, что выносит создание объектов и связывание зависимостей в IoC container.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Объясните IoC простыми словами: управление созданием объектов переходит от нашего кода к framework.
Объясните dependency injection: объект получает нужные ему объекты, а не создает их самостоятельно.
Устный пример: StudentController нужен StudentService. Controller не должен сам создавать service; Spring внедряет его.
Подчеркните, что DI улучшает тестируемость, разделение ответственности и заменяемость реализаций.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Аккуратно введите термин bean. В обычной Java мы говорим object. В Spring объект, которым управляет Spring, называется bean.
ApplicationContext — распространенный интерфейс Spring container. Он хранит определения beans, создает объекты, внедряет зависимости и управляет жизненным циклом.
Упомяните stereotype annotations: @Component — общий компонент; @Service — бизнес-логика; @Repository — слой доступа к данным; @Controller — web-контроллер.
Для начинающих scopes лучше объяснять просто: singleton используется по умолчанию, prototype создает новый экземпляр при запросе.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Используйте этот слайд, чтобы связать идеи Spring с реальным web-приложением, не переходя к конкретной лабораторной работе.
Controller обрабатывает web-запрос и ответ. Service содержит бизнес-правила. Repository работает с database или persistence layer.
Spring не заставляет использовать только такую архитектуру, но такое разделение удобно для обучения.
Скажите студентам: когда вы видите annotation, спросите себя, за какую ответственность отвечает этот класс.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Определите cross-cutting concern: это задача, которая встречается во многих частях приложения.
Примеры: logging, security checks, transaction boundaries, caching, monitoring, validation.
AOP позволяет Spring выполнять поведение до, после или вокруг выбранных вызовов методов без повторения кода в каждом методе.
Transactions — практический пример: вместо ручного открытия и закрытия транзакций везде мы отмечаем границы, а Spring координирует выполнение.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Студенты часто путают Spring Framework и Spring Boot.
Уточните: Spring Framework дает основную программную и инфраструктурную модель: IoC, DI, beans, AOP, data transactions и web support.
Spring Boot построен на Spring и ускоряет настройку через auto-configuration, starter dependencies и embedded server support.
Хорошая учебная последовательность: сначала объяснить dependency injection и beans, затем показать, как Boot быстрее запускает и настраивает приложение.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Используйте это как короткое итоговое объяснение.
После чтения задайте студентам 3 контрольных вопроса:
1. За что отвечает Spring container?
2. Почему dependency injection полезно?
3. Приведите пример cross-cutting concern.
Ожидаемые ответы: управление beans, жизненным циклом и зависимостями; более простое тестирование и меньшая связанность; logging, security, transactions, caching или validation.
При необходимости переведите термины: framework — программная платформа/каркас; dependency injection — внедрение зависимостей; transactions — транзакции; cross-cutting behavior — сквозное поведение.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5D8C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519672"/>
            <a:ext cx="5669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7F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Spring Framework overview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A7F87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A7F87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35240" y="685800"/>
            <a:ext cx="3291840" cy="3291840"/>
          </a:xfrm>
          <a:prstGeom prst="arc">
            <a:avLst/>
          </a:prstGeom>
          <a:solidFill>
            <a:srgbClr val="F7F8FA">
              <a:alpha val="0"/>
            </a:srgbClr>
          </a:solidFill>
          <a:ln w="38100">
            <a:solidFill>
              <a:srgbClr val="2F5D8C">
                <a:alpha val="9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046720" y="1097280"/>
            <a:ext cx="2468880" cy="2468880"/>
          </a:xfrm>
          <a:prstGeom prst="arc">
            <a:avLst/>
          </a:prstGeom>
          <a:solidFill>
            <a:srgbClr val="F7F8FA">
              <a:alpha val="0"/>
            </a:srgbClr>
          </a:solidFill>
          <a:ln w="38100">
            <a:solidFill>
              <a:srgbClr val="2E7D62">
                <a:alpha val="9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234440"/>
            <a:ext cx="6217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5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Spring</a:t>
            </a:r>
            <a:endParaRPr lang="en-US" sz="4500" dirty="0"/>
          </a:p>
          <a:p>
            <a:pPr indent="0" marL="0">
              <a:buNone/>
            </a:pPr>
            <a:r>
              <a:rPr lang="en-US" sz="45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Framework</a:t>
            </a:r>
            <a:endParaRPr lang="en-US" sz="4500" dirty="0"/>
          </a:p>
        </p:txBody>
      </p:sp>
      <p:sp>
        <p:nvSpPr>
          <p:cNvPr id="5" name="Text 3"/>
          <p:cNvSpPr/>
          <p:nvPr/>
        </p:nvSpPr>
        <p:spPr>
          <a:xfrm>
            <a:off x="685800" y="2743200"/>
            <a:ext cx="6217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96170"/>
                </a:solidFill>
              </a:rPr>
              <a:t>Концептуальный обзор для преподавателя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596170"/>
                </a:solidFill>
              </a:rPr>
              <a:t>о Java web- и enterprise-приложениях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85800" y="3931920"/>
            <a:ext cx="2468880" cy="685800"/>
          </a:xfrm>
          <a:prstGeom prst="roundRect">
            <a:avLst>
              <a:gd name="adj" fmla="val 24000"/>
            </a:avLst>
          </a:prstGeom>
          <a:solidFill>
            <a:srgbClr val="DAEAF7"/>
          </a:solidFill>
          <a:ln w="12700">
            <a:solidFill>
              <a:srgbClr val="2F5D8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520440" y="3931920"/>
            <a:ext cx="2468880" cy="685800"/>
          </a:xfrm>
          <a:prstGeom prst="roundRect">
            <a:avLst>
              <a:gd name="adj" fmla="val 24000"/>
            </a:avLst>
          </a:prstGeom>
          <a:solidFill>
            <a:srgbClr val="DFF1EA"/>
          </a:solidFill>
          <a:ln w="12700">
            <a:solidFill>
              <a:srgbClr val="2E7D6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355080" y="3931920"/>
            <a:ext cx="2468880" cy="685800"/>
          </a:xfrm>
          <a:prstGeom prst="roundRect">
            <a:avLst>
              <a:gd name="adj" fmla="val 24000"/>
            </a:avLst>
          </a:prstGeom>
          <a:solidFill>
            <a:srgbClr val="F6E4D2"/>
          </a:solidFill>
          <a:ln w="12700">
            <a:solidFill>
              <a:srgbClr val="C26D2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4096512"/>
            <a:ext cx="210312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IoC / DI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3703320" y="4096512"/>
            <a:ext cx="210312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Beans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537960" y="4096512"/>
            <a:ext cx="210312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AOP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85800" y="5074920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2033"/>
                </a:solidFill>
              </a:rPr>
              <a:t>Цель: понять основные идеи до перехода к коду.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502920" y="6272784"/>
            <a:ext cx="10789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20" dirty="0">
                <a:solidFill>
                  <a:srgbClr val="8A9099"/>
                </a:solidFill>
              </a:rPr>
              <a:t>Источник: https://docs.spring.io/spring-framework/reference/</a:t>
            </a:r>
            <a:endParaRPr lang="en-US" sz="6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A7F87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Проблема, которую решает Spring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30352" y="93268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96170"/>
                </a:solidFill>
              </a:rPr>
              <a:t>Большие Java-приложения трудно связывать и поддерживать вручную.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2743200" y="2926080"/>
            <a:ext cx="1005840" cy="0"/>
          </a:xfrm>
          <a:prstGeom prst="line">
            <a:avLst/>
          </a:prstGeom>
          <a:noFill/>
          <a:ln w="22860">
            <a:solidFill>
              <a:srgbClr val="B84242"/>
            </a:solidFill>
            <a:prstDash val="solid"/>
            <a:headEnd type="none"/>
            <a:tailEnd type="triangle"/>
          </a:ln>
        </p:spPr>
      </p:sp>
      <p:sp>
        <p:nvSpPr>
          <p:cNvPr id="5" name="Shape 3"/>
          <p:cNvSpPr/>
          <p:nvPr/>
        </p:nvSpPr>
        <p:spPr>
          <a:xfrm>
            <a:off x="5669280" y="2926080"/>
            <a:ext cx="1005840" cy="0"/>
          </a:xfrm>
          <a:prstGeom prst="line">
            <a:avLst/>
          </a:prstGeom>
          <a:noFill/>
          <a:ln w="22860">
            <a:solidFill>
              <a:srgbClr val="B84242"/>
            </a:solidFill>
            <a:prstDash val="solid"/>
            <a:headEnd type="none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8595360" y="2926080"/>
            <a:ext cx="1005840" cy="0"/>
          </a:xfrm>
          <a:prstGeom prst="line">
            <a:avLst/>
          </a:prstGeom>
          <a:noFill/>
          <a:ln w="22860">
            <a:solidFill>
              <a:srgbClr val="B84242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731520" y="2240280"/>
            <a:ext cx="2011680" cy="1234440"/>
          </a:xfrm>
          <a:prstGeom prst="roundRect">
            <a:avLst>
              <a:gd name="adj" fmla="val 13333"/>
            </a:avLst>
          </a:prstGeom>
          <a:solidFill>
            <a:srgbClr val="F7D9D9"/>
          </a:solidFill>
          <a:ln w="12700">
            <a:solidFill>
              <a:srgbClr val="B8424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749040" y="2240280"/>
            <a:ext cx="1920240" cy="1234440"/>
          </a:xfrm>
          <a:prstGeom prst="roundRect">
            <a:avLst>
              <a:gd name="adj" fmla="val 13333"/>
            </a:avLst>
          </a:prstGeom>
          <a:solidFill>
            <a:srgbClr val="F7D9D9"/>
          </a:solidFill>
          <a:ln w="12700">
            <a:solidFill>
              <a:srgbClr val="B8424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675120" y="2240280"/>
            <a:ext cx="1920240" cy="1234440"/>
          </a:xfrm>
          <a:prstGeom prst="roundRect">
            <a:avLst>
              <a:gd name="adj" fmla="val 13333"/>
            </a:avLst>
          </a:prstGeom>
          <a:solidFill>
            <a:srgbClr val="F7D9D9"/>
          </a:solidFill>
          <a:ln w="12700">
            <a:solidFill>
              <a:srgbClr val="B8424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601200" y="2240280"/>
            <a:ext cx="1920240" cy="1234440"/>
          </a:xfrm>
          <a:prstGeom prst="roundRect">
            <a:avLst>
              <a:gd name="adj" fmla="val 13333"/>
            </a:avLst>
          </a:prstGeom>
          <a:solidFill>
            <a:srgbClr val="F7D9D9"/>
          </a:solidFill>
          <a:ln w="12700">
            <a:solidFill>
              <a:srgbClr val="B8424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2450592"/>
            <a:ext cx="164592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Controller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 Service()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913632" y="2450592"/>
            <a:ext cx="160020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Service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 Repository()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839712" y="2450592"/>
            <a:ext cx="160020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Repository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 DB Client()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9784080" y="2450592"/>
            <a:ext cx="155448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Трудно тестировать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Трудно заменять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77240" y="397764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84242"/>
                </a:solidFill>
              </a:rPr>
              <a:t>Без framework: классы создают и контролируют слишком много.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777240" y="443484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72033"/>
                </a:solidFill>
              </a:rPr>
              <a:t>Spring меняет это: создание объектов и связывание зависимостей передаются контейнеру.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02920" y="6272784"/>
            <a:ext cx="10789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20" dirty="0">
                <a:solidFill>
                  <a:srgbClr val="8A9099"/>
                </a:solidFill>
              </a:rPr>
              <a:t>Источник: https://docs.spring.io/spring-framework/reference/core.html</a:t>
            </a:r>
            <a:endParaRPr lang="en-US" sz="6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A7F87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IoC и Dependency Injection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30352" y="93268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96170"/>
                </a:solidFill>
              </a:rPr>
              <a:t>Приложение описывает, что ему нужно; Spring передает нужные зависимости.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2880360" y="2743200"/>
            <a:ext cx="1691640" cy="0"/>
          </a:xfrm>
          <a:prstGeom prst="line">
            <a:avLst/>
          </a:prstGeom>
          <a:noFill/>
          <a:ln w="22860">
            <a:solidFill>
              <a:srgbClr val="2F5D8C"/>
            </a:solidFill>
            <a:prstDash val="solid"/>
            <a:headEnd type="none"/>
            <a:tailEnd type="triangle"/>
          </a:ln>
        </p:spPr>
      </p:sp>
      <p:sp>
        <p:nvSpPr>
          <p:cNvPr id="5" name="Shape 3"/>
          <p:cNvSpPr/>
          <p:nvPr/>
        </p:nvSpPr>
        <p:spPr>
          <a:xfrm>
            <a:off x="7406640" y="2743200"/>
            <a:ext cx="1691640" cy="0"/>
          </a:xfrm>
          <a:prstGeom prst="line">
            <a:avLst/>
          </a:prstGeom>
          <a:noFill/>
          <a:ln w="22860">
            <a:solidFill>
              <a:srgbClr val="2F5D8C"/>
            </a:solidFill>
            <a:prstDash val="solid"/>
            <a:headEnd type="none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685800" y="1920240"/>
            <a:ext cx="2194560" cy="1645920"/>
          </a:xfrm>
          <a:prstGeom prst="roundRect">
            <a:avLst>
              <a:gd name="adj" fmla="val 10000"/>
            </a:avLst>
          </a:prstGeom>
          <a:solidFill>
            <a:srgbClr val="DAEAF7"/>
          </a:solidFill>
          <a:ln w="12700">
            <a:solidFill>
              <a:srgbClr val="2F5D8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0" y="1600200"/>
            <a:ext cx="2834640" cy="2286000"/>
          </a:xfrm>
          <a:prstGeom prst="roundRect">
            <a:avLst>
              <a:gd name="adj" fmla="val 7200"/>
            </a:avLst>
          </a:prstGeom>
          <a:solidFill>
            <a:srgbClr val="FFFFFF"/>
          </a:solidFill>
          <a:ln w="12700">
            <a:solidFill>
              <a:srgbClr val="2F5D8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098280" y="1920240"/>
            <a:ext cx="2194560" cy="1645920"/>
          </a:xfrm>
          <a:prstGeom prst="roundRect">
            <a:avLst>
              <a:gd name="adj" fmla="val 10000"/>
            </a:avLst>
          </a:prstGeom>
          <a:solidFill>
            <a:srgbClr val="DFF1EA"/>
          </a:solidFill>
          <a:ln w="12700">
            <a:solidFill>
              <a:srgbClr val="2E7D6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2359152"/>
            <a:ext cx="182880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Класс говорит: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«Мне нужен service»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4800600" y="2121408"/>
            <a:ext cx="2377440" cy="1005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Spring IoC Container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создает, настраивает, связывает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и управляет объектами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281160" y="2359152"/>
            <a:ext cx="182880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Готовый объект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получает зависимость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85800" y="4526280"/>
            <a:ext cx="7498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2033"/>
                </a:solidFill>
              </a:rPr>
              <a:t>В учебных примерах чаще всего проще объяснять внедрение через конструктор.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85800" y="4992624"/>
            <a:ext cx="6583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96170"/>
                </a:solidFill>
              </a:rPr>
              <a:t>Вместо: класс сам создает зависимость.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596170"/>
                </a:solidFill>
              </a:rPr>
              <a:t>Стиль Spring: класс объявляет зависимость, container внедряет ее.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02920" y="6272784"/>
            <a:ext cx="10789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20" dirty="0">
                <a:solidFill>
                  <a:srgbClr val="8A9099"/>
                </a:solidFill>
              </a:rPr>
              <a:t>Источник: https://docs.spring.io/spring-framework/reference/core/beans.html</a:t>
            </a:r>
            <a:endParaRPr lang="en-US" sz="6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A7F87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Beans и ApplicationContext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30352" y="93268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96170"/>
                </a:solidFill>
              </a:rPr>
              <a:t>Объекты под управлением Spring называются beans. Контейнер обычно доступен через ApplicationContext.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089904" y="2057400"/>
            <a:ext cx="0" cy="640080"/>
          </a:xfrm>
          <a:prstGeom prst="line">
            <a:avLst/>
          </a:prstGeom>
          <a:noFill/>
          <a:ln w="22860">
            <a:solidFill>
              <a:srgbClr val="2E7D62"/>
            </a:solidFill>
            <a:prstDash val="solid"/>
            <a:headEnd type="none"/>
            <a:tailEnd type="triangle"/>
          </a:ln>
        </p:spPr>
      </p:sp>
      <p:sp>
        <p:nvSpPr>
          <p:cNvPr id="5" name="Shape 3"/>
          <p:cNvSpPr/>
          <p:nvPr/>
        </p:nvSpPr>
        <p:spPr>
          <a:xfrm>
            <a:off x="6089904" y="3611880"/>
            <a:ext cx="0" cy="640080"/>
          </a:xfrm>
          <a:prstGeom prst="line">
            <a:avLst/>
          </a:prstGeom>
          <a:noFill/>
          <a:ln w="22860">
            <a:solidFill>
              <a:srgbClr val="2E7D62"/>
            </a:solidFill>
            <a:prstDash val="solid"/>
            <a:headEnd type="none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6089904" y="4983480"/>
            <a:ext cx="0" cy="548640"/>
          </a:xfrm>
          <a:prstGeom prst="line">
            <a:avLst/>
          </a:prstGeom>
          <a:noFill/>
          <a:ln w="22860">
            <a:solidFill>
              <a:srgbClr val="2E7D62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3840480" y="1417320"/>
            <a:ext cx="4480560" cy="640080"/>
          </a:xfrm>
          <a:prstGeom prst="roundRect">
            <a:avLst>
              <a:gd name="adj" fmla="val 25714"/>
            </a:avLst>
          </a:prstGeom>
          <a:solidFill>
            <a:srgbClr val="DFF1EA"/>
          </a:solidFill>
          <a:ln w="12700">
            <a:solidFill>
              <a:srgbClr val="2E7D6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840480" y="2697480"/>
            <a:ext cx="4480560" cy="9144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2E7D6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840480" y="4251960"/>
            <a:ext cx="4480560" cy="731520"/>
          </a:xfrm>
          <a:prstGeom prst="roundRect">
            <a:avLst>
              <a:gd name="adj" fmla="val 22500"/>
            </a:avLst>
          </a:prstGeom>
          <a:solidFill>
            <a:srgbClr val="FFFFFF"/>
          </a:solidFill>
          <a:ln w="12700">
            <a:solidFill>
              <a:srgbClr val="2E7D6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840480" y="5532120"/>
            <a:ext cx="4480560" cy="548640"/>
          </a:xfrm>
          <a:prstGeom prst="roundRect">
            <a:avLst>
              <a:gd name="adj" fmla="val 30000"/>
            </a:avLst>
          </a:prstGeom>
          <a:solidFill>
            <a:srgbClr val="DFF1EA"/>
          </a:solidFill>
          <a:ln w="12700">
            <a:solidFill>
              <a:srgbClr val="2E7D6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069080" y="1581912"/>
            <a:ext cx="402336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Сканирует классы / читает конфигурацию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069080" y="2916936"/>
            <a:ext cx="402336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Создает экземпляры beans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@Component, @Service, @Repository, @Controller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069080" y="4462272"/>
            <a:ext cx="402336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Внедряет зависимости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069080" y="5669280"/>
            <a:ext cx="402336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Управляет жизненным циклом и областями видимости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85800" y="18288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2033"/>
                </a:solidFill>
              </a:rPr>
              <a:t>Важные термины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85800" y="2331720"/>
            <a:ext cx="265176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96170"/>
                </a:solidFill>
              </a:rPr>
              <a:t>Bean = объект под управлением Spring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596170"/>
                </a:solidFill>
              </a:rPr>
              <a:t>ApplicationContext = основной интерфейс контейнера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596170"/>
                </a:solidFill>
              </a:rPr>
              <a:t>Scope = сколько экземпляров создает Spring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02920" y="6272784"/>
            <a:ext cx="10789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20" dirty="0">
                <a:solidFill>
                  <a:srgbClr val="8A9099"/>
                </a:solidFill>
              </a:rPr>
              <a:t>Источник: https://docs.spring.io/spring-framework/reference/core/beans.html</a:t>
            </a:r>
            <a:endParaRPr lang="en-US" sz="6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A7F87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Типичный поток в Spring web-приложении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30352" y="93268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96170"/>
                </a:solidFill>
              </a:rPr>
              <a:t>Spring помогает разделять ответственность между слоями приложения.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2423160" y="2788920"/>
            <a:ext cx="914400" cy="0"/>
          </a:xfrm>
          <a:prstGeom prst="line">
            <a:avLst/>
          </a:prstGeom>
          <a:noFill/>
          <a:ln w="22860">
            <a:solidFill>
              <a:srgbClr val="7057A5"/>
            </a:solidFill>
            <a:prstDash val="solid"/>
            <a:headEnd type="none"/>
            <a:tailEnd type="triangle"/>
          </a:ln>
        </p:spPr>
      </p:sp>
      <p:sp>
        <p:nvSpPr>
          <p:cNvPr id="5" name="Shape 3"/>
          <p:cNvSpPr/>
          <p:nvPr/>
        </p:nvSpPr>
        <p:spPr>
          <a:xfrm>
            <a:off x="5166360" y="2788920"/>
            <a:ext cx="914400" cy="0"/>
          </a:xfrm>
          <a:prstGeom prst="line">
            <a:avLst/>
          </a:prstGeom>
          <a:noFill/>
          <a:ln w="22860">
            <a:solidFill>
              <a:srgbClr val="7057A5"/>
            </a:solidFill>
            <a:prstDash val="solid"/>
            <a:headEnd type="none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7909560" y="2788920"/>
            <a:ext cx="914400" cy="0"/>
          </a:xfrm>
          <a:prstGeom prst="line">
            <a:avLst/>
          </a:prstGeom>
          <a:noFill/>
          <a:ln w="22860">
            <a:solidFill>
              <a:srgbClr val="7057A5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685800" y="2103120"/>
            <a:ext cx="1737360" cy="1371600"/>
          </a:xfrm>
          <a:prstGeom prst="roundRect">
            <a:avLst>
              <a:gd name="adj" fmla="val 12000"/>
            </a:avLst>
          </a:prstGeom>
          <a:solidFill>
            <a:srgbClr val="E8E0F6"/>
          </a:solidFill>
          <a:ln w="12700">
            <a:solidFill>
              <a:srgbClr val="7057A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337560" y="2103120"/>
            <a:ext cx="1828800" cy="1371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7057A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080760" y="2103120"/>
            <a:ext cx="1828800" cy="1371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7057A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823960" y="2103120"/>
            <a:ext cx="1828800" cy="1371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7057A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2487168"/>
            <a:ext cx="137160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Request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3529584" y="2450592"/>
            <a:ext cx="1417320" cy="594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Controller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граница web-слоя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272784" y="2450592"/>
            <a:ext cx="1417320" cy="594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Service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бизнес-логика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9015984" y="2450592"/>
            <a:ext cx="1417320" cy="594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Repository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доступ к данным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85800" y="416052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2033"/>
                </a:solidFill>
              </a:rPr>
              <a:t>Почему это важно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85800" y="461772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96170"/>
                </a:solidFill>
              </a:rPr>
              <a:t>У каждого слоя одна основная задача. Так код легче тестировать, проверять и заменять.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502920" y="6272784"/>
            <a:ext cx="10789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20" dirty="0">
                <a:solidFill>
                  <a:srgbClr val="8A9099"/>
                </a:solidFill>
              </a:rPr>
              <a:t>Источник: https://docs.spring.io/spring-framework/reference/web.html</a:t>
            </a:r>
            <a:endParaRPr lang="en-US" sz="6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A7F87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Сквозные задачи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30352" y="93268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96170"/>
                </a:solidFill>
              </a:rPr>
              <a:t>AOP, транзакции и безопасность можно применять вокруг бизнес-кода.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2240280" y="2240280"/>
            <a:ext cx="0" cy="1005840"/>
          </a:xfrm>
          <a:prstGeom prst="line">
            <a:avLst/>
          </a:prstGeom>
          <a:noFill/>
          <a:ln w="22860">
            <a:solidFill>
              <a:srgbClr val="2F5D8C"/>
            </a:solidFill>
            <a:prstDash val="solid"/>
            <a:headEnd type="none"/>
            <a:tailEnd type="triangle"/>
          </a:ln>
        </p:spPr>
      </p:sp>
      <p:sp>
        <p:nvSpPr>
          <p:cNvPr id="5" name="Shape 3"/>
          <p:cNvSpPr/>
          <p:nvPr/>
        </p:nvSpPr>
        <p:spPr>
          <a:xfrm>
            <a:off x="5623560" y="2240280"/>
            <a:ext cx="0" cy="1005840"/>
          </a:xfrm>
          <a:prstGeom prst="line">
            <a:avLst/>
          </a:prstGeom>
          <a:noFill/>
          <a:ln w="22860">
            <a:solidFill>
              <a:srgbClr val="C26D2D"/>
            </a:solidFill>
            <a:prstDash val="solid"/>
            <a:headEnd type="none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9006840" y="2240280"/>
            <a:ext cx="0" cy="1005840"/>
          </a:xfrm>
          <a:prstGeom prst="line">
            <a:avLst/>
          </a:prstGeom>
          <a:noFill/>
          <a:ln w="22860">
            <a:solidFill>
              <a:srgbClr val="2E7D62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1234440" y="1325880"/>
            <a:ext cx="2011680" cy="777240"/>
          </a:xfrm>
          <a:prstGeom prst="roundRect">
            <a:avLst>
              <a:gd name="adj" fmla="val 21176"/>
            </a:avLst>
          </a:prstGeom>
          <a:solidFill>
            <a:srgbClr val="DAEAF7"/>
          </a:solidFill>
          <a:ln w="12700">
            <a:solidFill>
              <a:srgbClr val="2F5D8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617720" y="1325880"/>
            <a:ext cx="2011680" cy="777240"/>
          </a:xfrm>
          <a:prstGeom prst="roundRect">
            <a:avLst>
              <a:gd name="adj" fmla="val 21176"/>
            </a:avLst>
          </a:prstGeom>
          <a:solidFill>
            <a:srgbClr val="F6E4D2"/>
          </a:solidFill>
          <a:ln w="12700">
            <a:solidFill>
              <a:srgbClr val="C26D2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001000" y="1325880"/>
            <a:ext cx="2011680" cy="777240"/>
          </a:xfrm>
          <a:prstGeom prst="roundRect">
            <a:avLst>
              <a:gd name="adj" fmla="val 21176"/>
            </a:avLst>
          </a:prstGeom>
          <a:solidFill>
            <a:srgbClr val="DFF1EA"/>
          </a:solidFill>
          <a:ln w="12700">
            <a:solidFill>
              <a:srgbClr val="2E7D6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51560" y="3429000"/>
            <a:ext cx="9144000" cy="868680"/>
          </a:xfrm>
          <a:prstGeom prst="roundRect">
            <a:avLst>
              <a:gd name="adj" fmla="val 18947"/>
            </a:avLst>
          </a:prstGeom>
          <a:solidFill>
            <a:srgbClr val="FFFFFF"/>
          </a:solidFill>
          <a:ln w="12700">
            <a:solidFill>
              <a:srgbClr val="1720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435608" y="1572768"/>
            <a:ext cx="160020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Логирование / AOP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4800600" y="1572768"/>
            <a:ext cx="164592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Транзакции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8183880" y="1572768"/>
            <a:ext cx="164592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Безопасность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3611880" y="3703320"/>
            <a:ext cx="402336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Методы бизнес-логики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85800" y="5074920"/>
            <a:ext cx="9235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72033"/>
                </a:solidFill>
              </a:rPr>
              <a:t>Spring может добавлять инфраструктурное поведение вокруг бизнес-кода.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685800" y="5532120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596170"/>
                </a:solidFill>
              </a:rPr>
              <a:t>Так не нужно повторять логирование, транзакции или проверки безопасности в каждом методе.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502920" y="6272784"/>
            <a:ext cx="10789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20" dirty="0">
                <a:solidFill>
                  <a:srgbClr val="8A9099"/>
                </a:solidFill>
              </a:rPr>
              <a:t>Источник: https://docs.spring.io/spring-framework/reference/core/aop.html  |  https://docs.spring.io/spring-framework/reference/data-access/transaction.html</a:t>
            </a:r>
            <a:endParaRPr lang="en-US" sz="6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A7F87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Spring Framework и Spring Boot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30352" y="93268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96170"/>
                </a:solidFill>
              </a:rPr>
              <a:t>Spring Boot построен на Spring. Он уменьшает объем настройки, но основные идеи остаются идеями Spring.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914400" y="1828800"/>
            <a:ext cx="4297680" cy="2148840"/>
          </a:xfrm>
          <a:prstGeom prst="roundRect">
            <a:avLst>
              <a:gd name="adj" fmla="val 7660"/>
            </a:avLst>
          </a:prstGeom>
          <a:solidFill>
            <a:srgbClr val="DAEAF7"/>
          </a:solidFill>
          <a:ln w="12700">
            <a:solidFill>
              <a:srgbClr val="2F5D8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949440" y="1828800"/>
            <a:ext cx="4297680" cy="2148840"/>
          </a:xfrm>
          <a:prstGeom prst="roundRect">
            <a:avLst>
              <a:gd name="adj" fmla="val 7660"/>
            </a:avLst>
          </a:prstGeom>
          <a:solidFill>
            <a:srgbClr val="DFF1EA"/>
          </a:solidFill>
          <a:ln w="12700">
            <a:solidFill>
              <a:srgbClr val="2E7D6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34440" y="2148840"/>
            <a:ext cx="36576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Spring Framework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325880" y="2743200"/>
            <a:ext cx="347472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container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Beans и DI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AOP, транзакции, поддержка web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269480" y="2148840"/>
            <a:ext cx="36576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Spring Boot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360920" y="2743200"/>
            <a:ext cx="347472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Автоконфигурация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Starter-зависимости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Встроенный сервер и production-настройки по умолчанию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230368" y="2907792"/>
            <a:ext cx="1691640" cy="0"/>
          </a:xfrm>
          <a:prstGeom prst="line">
            <a:avLst/>
          </a:prstGeom>
          <a:noFill/>
          <a:ln w="25400">
            <a:solidFill>
              <a:srgbClr val="172033"/>
            </a:solidFill>
            <a:prstDash val="solid"/>
            <a:headEnd type="none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914400" y="4846320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72033"/>
                </a:solidFill>
              </a:rPr>
              <a:t>Вывод для преподавателя: сначала объясните Spring, затем Boot как удобное ускорение настройки.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02920" y="6272784"/>
            <a:ext cx="10789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20" dirty="0">
                <a:solidFill>
                  <a:srgbClr val="8A9099"/>
                </a:solidFill>
              </a:rPr>
              <a:t>Источник: https://docs.spring.io/spring-framework/reference/  |  https://docs.spring.io/spring-boot/reference/</a:t>
            </a:r>
            <a:endParaRPr lang="en-US" sz="6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A7F87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Короткий сценарий объяснения для преподавателя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30352" y="93268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96170"/>
                </a:solidFill>
              </a:rPr>
              <a:t>Краткое устное резюме для начала или конца занятия.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914400" y="1645920"/>
            <a:ext cx="10241280" cy="22402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2300" dirty="0">
                <a:solidFill>
                  <a:srgbClr val="172033"/>
                </a:solidFill>
              </a:rPr>
              <a:t>«Spring — это framework, который управляет объектами приложения и общей инфраструктурой.</a:t>
            </a:r>
            <a:endParaRPr lang="en-US" sz="2300" dirty="0"/>
          </a:p>
          <a:p>
            <a:pPr indent="0" marL="0">
              <a:buNone/>
            </a:pPr>
            <a:r>
              <a:rPr lang="en-US" sz="2300" dirty="0">
                <a:solidFill>
                  <a:srgbClr val="172033"/>
                </a:solidFill>
              </a:rPr>
              <a:t>Вместо того чтобы каждый класс сам создавал свои зависимости, классы объявляют, что им нужно, а Spring внедряет эти зависимости.</a:t>
            </a:r>
            <a:endParaRPr lang="en-US" sz="2300" dirty="0"/>
          </a:p>
          <a:p>
            <a:pPr indent="0" marL="0">
              <a:buNone/>
            </a:pPr>
            <a:r>
              <a:rPr lang="en-US" sz="2300" dirty="0">
                <a:solidFill>
                  <a:srgbClr val="172033"/>
                </a:solidFill>
              </a:rPr>
              <a:t>Результат — более чистый код, более простое тестирование и стандартная структура для web, data, security, transactions и cross-cutting behavior.»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1051560" y="4526280"/>
            <a:ext cx="2834640" cy="640080"/>
          </a:xfrm>
          <a:prstGeom prst="roundRect">
            <a:avLst>
              <a:gd name="adj" fmla="val 25714"/>
            </a:avLst>
          </a:prstGeom>
          <a:solidFill>
            <a:srgbClr val="DAEAF7"/>
          </a:solidFill>
          <a:ln w="12700">
            <a:solidFill>
              <a:srgbClr val="2F5D8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663440" y="4526280"/>
            <a:ext cx="2834640" cy="640080"/>
          </a:xfrm>
          <a:prstGeom prst="roundRect">
            <a:avLst>
              <a:gd name="adj" fmla="val 25714"/>
            </a:avLst>
          </a:prstGeom>
          <a:solidFill>
            <a:srgbClr val="DFF1EA"/>
          </a:solidFill>
          <a:ln w="12700">
            <a:solidFill>
              <a:srgbClr val="2E7D6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75320" y="4526280"/>
            <a:ext cx="2834640" cy="640080"/>
          </a:xfrm>
          <a:prstGeom prst="roundRect">
            <a:avLst>
              <a:gd name="adj" fmla="val 25714"/>
            </a:avLst>
          </a:prstGeom>
          <a:solidFill>
            <a:srgbClr val="F6E4D2"/>
          </a:solidFill>
          <a:ln w="12700">
            <a:solidFill>
              <a:srgbClr val="C26D2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34440" y="4700016"/>
            <a:ext cx="246888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Управление объектами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4846320" y="4700016"/>
            <a:ext cx="246888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Внедрение зависимостей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8458200" y="4700016"/>
            <a:ext cx="246888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Переиспользуемая инфраструктура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502920" y="6272784"/>
            <a:ext cx="10789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20" dirty="0">
                <a:solidFill>
                  <a:srgbClr val="8A9099"/>
                </a:solidFill>
              </a:rPr>
              <a:t>Источник: https://docs.spring.io/spring-framework/reference/core.html</a:t>
            </a:r>
            <a:endParaRPr lang="en-US" sz="6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A7F87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Spring Framework — Teacher Notes</dc:title>
  <dc:subject>Spring Framework teacher notes</dc:subject>
  <dc:creator>OpenAI</dc:creator>
  <cp:lastModifiedBy>OpenAI</cp:lastModifiedBy>
  <cp:revision>1</cp:revision>
  <dcterms:created xsi:type="dcterms:W3CDTF">2026-05-22T13:19:52Z</dcterms:created>
  <dcterms:modified xsi:type="dcterms:W3CDTF">2026-05-22T13:19:52Z</dcterms:modified>
</cp:coreProperties>
</file>