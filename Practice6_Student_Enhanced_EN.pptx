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opening slide to frame Practice 6 as a progression: Maven manages the project, JDBC talks directly to the database, DAO hides SQL behind an interface, and Hibernate raises the abstraction to Java objects. Emphasize that the goal is not only to run code, but to understand why each next layer exists.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through the lesson map from left to right. Tell students that each step solves a pain point from the previous one: manual builds become Maven, repeated JDBC code becomes DAO, and table-oriented code becomes Hibernate ORM. Ask students to predict which part will reduce boilerplate the most.</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pom.xml as the project contract. GAV identifies the artifact, dependencies describe required libraries, and lifecycle phases let Maven compile, test, package, and clean the project consistently. Ask students to run mvn dependency:tree and identify which dependencies are direct and which are transitive.</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 JDBC as the lowest-level database access in this practice. Focus on the five-step flow: driver, connection, prepared statement, result set, and closing resources. Stress that PreparedStatement is mandatory because it separates SQL structure from user data and prevents SQL injection.</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slide to explain why DAO exists. The caller should not know SQL details. It should call methods such as findAll, save, or delete. For transactions, emphasize the rule: both debit and credit must succeed together; otherwise rollback restores consistency.</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Hibernate as object-relational mapping. The Java class is mapped to a database table through annotations, and Session manages persistence operations. Clarify the difference between table names and entity class names, because this becomes important in HQL.</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slide as a debugging checklist. For each mistake, ask students what the runtime consequence would be. SQL concatenation can create injection vulnerabilities, unclosed resources can leak connections, and wrong HQL entity names produce query errors.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Treat this slide as the practical submission checklist. Ask students to mark every completed item and keep screenshots of command output and application execution. Emphasize that screenshots are evidence, but students must also be able to explain each step orally.</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Compare JDBC, DAO, and Hibernate using one question: who controls the SQL? JDBC gives maximum control but more code; DAO keeps control while cleaning the API; Hibernate reduces SQL work and lets developers think in objects. No option is always best — the choice depends on the task.</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the practice by preparing students for the final test. Remind them to review Maven lifecycle, PreparedStatement, DAO responsibilities, transaction commit/rollback, entity annotations, Session, HQL, Criteria API, and the differences between JDBC, DAO, and Hibernate.</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slideLayout" Target="../slideLayouts/slideLayout1.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5" Type="http://schemas.openxmlformats.org/officeDocument/2006/relationships/hyperlink" Target="https://aliebraheem-fun.github.io/Modern-Programming-Technologies/exam.html" TargetMode="External"/><Relationship Id="rId6" Type="http://schemas.openxmlformats.org/officeDocument/2006/relationships/hyperlink" Target="https://maven.apache.org/pom.html" TargetMode="External"/><Relationship Id="rId7" Type="http://schemas.openxmlformats.org/officeDocument/2006/relationships/hyperlink" Target="https://docs.oracle.com/javase/tutorial/jdbc/basics/prepared.html" TargetMode="External"/><Relationship Id="rId8" Type="http://schemas.openxmlformats.org/officeDocument/2006/relationships/hyperlink" Target="https://docs.hibernate.org/orm/6.4/userguide/html_single/" TargetMode="External"/><Relationship Id="rId9" Type="http://schemas.openxmlformats.org/officeDocument/2006/relationships/hyperlink" Target="https://www.h2database.com/" TargetMode="External"/><Relationship Id="rId10" Type="http://schemas.openxmlformats.org/officeDocument/2006/relationships/hyperlink" Target="https://docs.spring.io/spring-framework/reference/" TargetMode="External"/><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11" Type="http://schemas.openxmlformats.org/officeDocument/2006/relationships/slideLayout" Target="../slideLayouts/slideLayout1.xml"/><Relationship Id="rId1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2E"/>
        </a:solidFill>
      </p:bgPr>
    </p:bg>
    <p:spTree>
      <p:nvGrpSpPr>
        <p:cNvPr id="1" name=""/>
        <p:cNvGrpSpPr/>
        <p:nvPr/>
      </p:nvGrpSpPr>
      <p:grpSpPr>
        <a:xfrm>
          <a:off x="0" y="0"/>
          <a:ext cx="0" cy="0"/>
          <a:chOff x="0" y="0"/>
          <a:chExt cx="0" cy="0"/>
        </a:xfrm>
      </p:grpSpPr>
      <p:sp>
        <p:nvSpPr>
          <p:cNvPr id="2" name="Shape 0"/>
          <p:cNvSpPr/>
          <p:nvPr/>
        </p:nvSpPr>
        <p:spPr>
          <a:xfrm>
            <a:off x="0" y="0"/>
            <a:ext cx="4206240" cy="5143500"/>
          </a:xfrm>
          <a:prstGeom prst="rect">
            <a:avLst/>
          </a:prstGeom>
          <a:solidFill>
            <a:srgbClr val="1565C0"/>
          </a:solidFill>
          <a:ln w="12700">
            <a:solidFill>
              <a:srgbClr val="1565C0"/>
            </a:solidFill>
            <a:prstDash val="solid"/>
          </a:ln>
        </p:spPr>
      </p:sp>
      <p:sp>
        <p:nvSpPr>
          <p:cNvPr id="3" name="Shape 1"/>
          <p:cNvSpPr/>
          <p:nvPr/>
        </p:nvSpPr>
        <p:spPr>
          <a:xfrm>
            <a:off x="320040" y="640080"/>
            <a:ext cx="640080" cy="640080"/>
          </a:xfrm>
          <a:prstGeom prst="ellipse">
            <a:avLst/>
          </a:prstGeom>
          <a:solidFill>
            <a:srgbClr val="FFFFFF">
              <a:alpha val="80000"/>
            </a:srgbClr>
          </a:solidFill>
          <a:ln w="12700">
            <a:solidFill>
              <a:srgbClr val="FFFFFF">
                <a:alpha val="50000"/>
              </a:srgbClr>
            </a:solidFill>
            <a:prstDash val="solid"/>
          </a:ln>
        </p:spPr>
      </p:sp>
      <p:pic>
        <p:nvPicPr>
          <p:cNvPr id="4" name="Image 0" descr="preencoded.png">    </p:cNvPr>
          <p:cNvPicPr>
            <a:picLocks noChangeAspect="1"/>
          </p:cNvPicPr>
          <p:nvPr/>
        </p:nvPicPr>
        <p:blipFill>
          <a:blip r:embed="rId1"/>
          <a:stretch>
            <a:fillRect/>
          </a:stretch>
        </p:blipFill>
        <p:spPr>
          <a:xfrm>
            <a:off x="384048" y="704088"/>
            <a:ext cx="502920" cy="502920"/>
          </a:xfrm>
          <a:prstGeom prst="rect">
            <a:avLst/>
          </a:prstGeom>
        </p:spPr>
      </p:pic>
      <p:sp>
        <p:nvSpPr>
          <p:cNvPr id="5" name="Text 2"/>
          <p:cNvSpPr/>
          <p:nvPr/>
        </p:nvSpPr>
        <p:spPr>
          <a:xfrm>
            <a:off x="1097280" y="731520"/>
            <a:ext cx="283464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Maven</a:t>
            </a:r>
            <a:endParaRPr lang="en-US" sz="2000" dirty="0"/>
          </a:p>
        </p:txBody>
      </p:sp>
      <p:sp>
        <p:nvSpPr>
          <p:cNvPr id="6" name="Shape 3"/>
          <p:cNvSpPr/>
          <p:nvPr/>
        </p:nvSpPr>
        <p:spPr>
          <a:xfrm>
            <a:off x="320040" y="1417320"/>
            <a:ext cx="640080" cy="640080"/>
          </a:xfrm>
          <a:prstGeom prst="ellipse">
            <a:avLst/>
          </a:prstGeom>
          <a:solidFill>
            <a:srgbClr val="FFFFFF">
              <a:alpha val="80000"/>
            </a:srgbClr>
          </a:solidFill>
          <a:ln w="12700">
            <a:solidFill>
              <a:srgbClr val="FFFFFF">
                <a:alpha val="50000"/>
              </a:srgbClr>
            </a:solidFill>
            <a:prstDash val="solid"/>
          </a:ln>
        </p:spPr>
      </p:sp>
      <p:pic>
        <p:nvPicPr>
          <p:cNvPr id="7" name="Image 1" descr="preencoded.png">    </p:cNvPr>
          <p:cNvPicPr>
            <a:picLocks noChangeAspect="1"/>
          </p:cNvPicPr>
          <p:nvPr/>
        </p:nvPicPr>
        <p:blipFill>
          <a:blip r:embed="rId2"/>
          <a:stretch>
            <a:fillRect/>
          </a:stretch>
        </p:blipFill>
        <p:spPr>
          <a:xfrm>
            <a:off x="384048" y="1481328"/>
            <a:ext cx="502920" cy="502920"/>
          </a:xfrm>
          <a:prstGeom prst="rect">
            <a:avLst/>
          </a:prstGeom>
        </p:spPr>
      </p:pic>
      <p:sp>
        <p:nvSpPr>
          <p:cNvPr id="8" name="Text 4"/>
          <p:cNvSpPr/>
          <p:nvPr/>
        </p:nvSpPr>
        <p:spPr>
          <a:xfrm>
            <a:off x="1097280" y="1508760"/>
            <a:ext cx="283464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JDBC</a:t>
            </a:r>
            <a:endParaRPr lang="en-US" sz="2000" dirty="0"/>
          </a:p>
        </p:txBody>
      </p:sp>
      <p:sp>
        <p:nvSpPr>
          <p:cNvPr id="9" name="Shape 5"/>
          <p:cNvSpPr/>
          <p:nvPr/>
        </p:nvSpPr>
        <p:spPr>
          <a:xfrm>
            <a:off x="320040" y="2194560"/>
            <a:ext cx="640080" cy="640080"/>
          </a:xfrm>
          <a:prstGeom prst="ellipse">
            <a:avLst/>
          </a:prstGeom>
          <a:solidFill>
            <a:srgbClr val="FFFFFF">
              <a:alpha val="80000"/>
            </a:srgbClr>
          </a:solidFill>
          <a:ln w="12700">
            <a:solidFill>
              <a:srgbClr val="FFFFFF">
                <a:alpha val="50000"/>
              </a:srgbClr>
            </a:solidFill>
            <a:prstDash val="solid"/>
          </a:ln>
        </p:spPr>
      </p:sp>
      <p:pic>
        <p:nvPicPr>
          <p:cNvPr id="10" name="Image 2" descr="preencoded.png">    </p:cNvPr>
          <p:cNvPicPr>
            <a:picLocks noChangeAspect="1"/>
          </p:cNvPicPr>
          <p:nvPr/>
        </p:nvPicPr>
        <p:blipFill>
          <a:blip r:embed="rId3"/>
          <a:stretch>
            <a:fillRect/>
          </a:stretch>
        </p:blipFill>
        <p:spPr>
          <a:xfrm>
            <a:off x="384048" y="2258568"/>
            <a:ext cx="502920" cy="502920"/>
          </a:xfrm>
          <a:prstGeom prst="rect">
            <a:avLst/>
          </a:prstGeom>
        </p:spPr>
      </p:pic>
      <p:sp>
        <p:nvSpPr>
          <p:cNvPr id="11" name="Text 6"/>
          <p:cNvSpPr/>
          <p:nvPr/>
        </p:nvSpPr>
        <p:spPr>
          <a:xfrm>
            <a:off x="1097280" y="2286000"/>
            <a:ext cx="283464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DAO</a:t>
            </a:r>
            <a:endParaRPr lang="en-US" sz="2000" dirty="0"/>
          </a:p>
        </p:txBody>
      </p:sp>
      <p:sp>
        <p:nvSpPr>
          <p:cNvPr id="12" name="Shape 7"/>
          <p:cNvSpPr/>
          <p:nvPr/>
        </p:nvSpPr>
        <p:spPr>
          <a:xfrm>
            <a:off x="320040" y="2971800"/>
            <a:ext cx="640080" cy="640080"/>
          </a:xfrm>
          <a:prstGeom prst="ellipse">
            <a:avLst/>
          </a:prstGeom>
          <a:solidFill>
            <a:srgbClr val="FFFFFF">
              <a:alpha val="80000"/>
            </a:srgbClr>
          </a:solidFill>
          <a:ln w="12700">
            <a:solidFill>
              <a:srgbClr val="FFFFFF">
                <a:alpha val="50000"/>
              </a:srgbClr>
            </a:solidFill>
            <a:prstDash val="solid"/>
          </a:ln>
        </p:spPr>
      </p:sp>
      <p:pic>
        <p:nvPicPr>
          <p:cNvPr id="13" name="Image 3" descr="preencoded.png">    </p:cNvPr>
          <p:cNvPicPr>
            <a:picLocks noChangeAspect="1"/>
          </p:cNvPicPr>
          <p:nvPr/>
        </p:nvPicPr>
        <p:blipFill>
          <a:blip r:embed="rId4"/>
          <a:stretch>
            <a:fillRect/>
          </a:stretch>
        </p:blipFill>
        <p:spPr>
          <a:xfrm>
            <a:off x="384048" y="3035808"/>
            <a:ext cx="502920" cy="502920"/>
          </a:xfrm>
          <a:prstGeom prst="rect">
            <a:avLst/>
          </a:prstGeom>
        </p:spPr>
      </p:pic>
      <p:sp>
        <p:nvSpPr>
          <p:cNvPr id="14" name="Text 8"/>
          <p:cNvSpPr/>
          <p:nvPr/>
        </p:nvSpPr>
        <p:spPr>
          <a:xfrm>
            <a:off x="1097280" y="3063240"/>
            <a:ext cx="283464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Hibernate</a:t>
            </a:r>
            <a:endParaRPr lang="en-US" sz="2000" dirty="0"/>
          </a:p>
        </p:txBody>
      </p:sp>
      <p:sp>
        <p:nvSpPr>
          <p:cNvPr id="15" name="Text 9"/>
          <p:cNvSpPr/>
          <p:nvPr/>
        </p:nvSpPr>
        <p:spPr>
          <a:xfrm>
            <a:off x="4480560" y="640080"/>
            <a:ext cx="4480560" cy="548640"/>
          </a:xfrm>
          <a:prstGeom prst="rect">
            <a:avLst/>
          </a:prstGeom>
          <a:noFill/>
          <a:ln/>
        </p:spPr>
        <p:txBody>
          <a:bodyPr wrap="square" rtlCol="0" anchor="ctr"/>
          <a:lstStyle/>
          <a:p>
            <a:pPr indent="0" marL="0">
              <a:buNone/>
            </a:pPr>
            <a:r>
              <a:rPr lang="en-US" sz="1500" dirty="0">
                <a:solidFill>
                  <a:srgbClr val="90CAF9"/>
                </a:solidFill>
                <a:latin typeface="Calibri" pitchFamily="34" charset="0"/>
                <a:ea typeface="Calibri" pitchFamily="34" charset="-122"/>
                <a:cs typeface="Calibri" pitchFamily="34" charset="-120"/>
              </a:rPr>
              <a:t>Practice 6</a:t>
            </a:r>
            <a:endParaRPr lang="en-US" sz="1500" dirty="0"/>
          </a:p>
        </p:txBody>
      </p:sp>
      <p:sp>
        <p:nvSpPr>
          <p:cNvPr id="16" name="Text 10"/>
          <p:cNvSpPr/>
          <p:nvPr/>
        </p:nvSpPr>
        <p:spPr>
          <a:xfrm>
            <a:off x="4480560" y="1234440"/>
            <a:ext cx="4480560" cy="1920240"/>
          </a:xfrm>
          <a:prstGeom prst="rect">
            <a:avLst/>
          </a:prstGeom>
          <a:noFill/>
          <a:ln/>
        </p:spPr>
        <p:txBody>
          <a:bodyPr wrap="square" rtlCol="0" anchor="t"/>
          <a:lstStyle/>
          <a:p>
            <a:pPr indent="0" marL="0">
              <a:buNone/>
            </a:pPr>
            <a:r>
              <a:rPr lang="en-US" sz="3400" b="1" dirty="0">
                <a:solidFill>
                  <a:srgbClr val="FFFFFF"/>
                </a:solidFill>
                <a:latin typeface="Calibri Light" pitchFamily="34" charset="0"/>
                <a:ea typeface="Calibri Light" pitchFamily="34" charset="-122"/>
                <a:cs typeface="Calibri Light" pitchFamily="34" charset="-120"/>
              </a:rPr>
              <a:t>Build systems,</a:t>
            </a:r>
            <a:endParaRPr lang="en-US" sz="3400" dirty="0"/>
          </a:p>
          <a:p>
            <a:pPr indent="0" marL="0">
              <a:buNone/>
            </a:pPr>
            <a:r>
              <a:rPr lang="en-US" sz="3400" b="1" dirty="0">
                <a:solidFill>
                  <a:srgbClr val="FFFFFF"/>
                </a:solidFill>
                <a:latin typeface="Calibri Light" pitchFamily="34" charset="0"/>
                <a:ea typeface="Calibri Light" pitchFamily="34" charset="-122"/>
                <a:cs typeface="Calibri Light" pitchFamily="34" charset="-120"/>
              </a:rPr>
              <a:t>JDBC and Hibernate</a:t>
            </a:r>
            <a:endParaRPr lang="en-US" sz="3400" dirty="0"/>
          </a:p>
        </p:txBody>
      </p:sp>
      <p:sp>
        <p:nvSpPr>
          <p:cNvPr id="17" name="Shape 11"/>
          <p:cNvSpPr/>
          <p:nvPr/>
        </p:nvSpPr>
        <p:spPr>
          <a:xfrm>
            <a:off x="4480560" y="3246120"/>
            <a:ext cx="4480560" cy="36576"/>
          </a:xfrm>
          <a:prstGeom prst="rect">
            <a:avLst/>
          </a:prstGeom>
          <a:solidFill>
            <a:srgbClr val="90CAF9"/>
          </a:solidFill>
          <a:ln w="12700">
            <a:solidFill>
              <a:srgbClr val="90CAF9"/>
            </a:solidFill>
            <a:prstDash val="solid"/>
          </a:ln>
        </p:spPr>
      </p:sp>
      <p:sp>
        <p:nvSpPr>
          <p:cNvPr id="18" name="Text 12"/>
          <p:cNvSpPr/>
          <p:nvPr/>
        </p:nvSpPr>
        <p:spPr>
          <a:xfrm>
            <a:off x="4480560" y="3383280"/>
            <a:ext cx="4480560" cy="914400"/>
          </a:xfrm>
          <a:prstGeom prst="rect">
            <a:avLst/>
          </a:prstGeom>
          <a:noFill/>
          <a:ln/>
        </p:spPr>
        <p:txBody>
          <a:bodyPr wrap="square" rtlCol="0" anchor="ctr"/>
          <a:lstStyle/>
          <a:p>
            <a:pPr indent="0" marL="0">
              <a:buNone/>
            </a:pPr>
            <a:r>
              <a:rPr lang="en-US" sz="1400" i="1" dirty="0">
                <a:solidFill>
                  <a:srgbClr val="B3C8E0"/>
                </a:solidFill>
                <a:latin typeface="Calibri" pitchFamily="34" charset="0"/>
                <a:ea typeface="Calibri" pitchFamily="34" charset="-122"/>
                <a:cs typeface="Calibri" pitchFamily="34" charset="-120"/>
              </a:rPr>
              <a:t>Goal: follow the path from project build</a:t>
            </a:r>
            <a:endParaRPr lang="en-US" sz="1400" dirty="0"/>
          </a:p>
          <a:p>
            <a:pPr indent="0" marL="0">
              <a:buNone/>
            </a:pPr>
            <a:r>
              <a:rPr lang="en-US" sz="1400" i="1" dirty="0">
                <a:solidFill>
                  <a:srgbClr val="B3C8E0"/>
                </a:solidFill>
                <a:latin typeface="Calibri" pitchFamily="34" charset="0"/>
                <a:ea typeface="Calibri" pitchFamily="34" charset="-122"/>
                <a:cs typeface="Calibri" pitchFamily="34" charset="-120"/>
              </a:rPr>
              <a:t>to working with data through ORM</a:t>
            </a:r>
            <a:endParaRPr lang="en-US" sz="1400" dirty="0"/>
          </a:p>
        </p:txBody>
      </p:sp>
      <p:sp>
        <p:nvSpPr>
          <p:cNvPr id="19" name="Text 13"/>
          <p:cNvSpPr/>
          <p:nvPr/>
        </p:nvSpPr>
        <p:spPr>
          <a:xfrm>
            <a:off x="4480560" y="4663440"/>
            <a:ext cx="4480560" cy="365760"/>
          </a:xfrm>
          <a:prstGeom prst="rect">
            <a:avLst/>
          </a:prstGeom>
          <a:noFill/>
          <a:ln/>
        </p:spPr>
        <p:txBody>
          <a:bodyPr wrap="square" rtlCol="0" anchor="ctr"/>
          <a:lstStyle/>
          <a:p>
            <a:pPr indent="0" marL="0">
              <a:buNone/>
            </a:pPr>
            <a:r>
              <a:rPr lang="en-US" sz="1100" dirty="0">
                <a:solidFill>
                  <a:srgbClr val="607D8B"/>
                </a:solidFill>
                <a:latin typeface="Calibri" pitchFamily="34" charset="0"/>
                <a:ea typeface="Calibri" pitchFamily="34" charset="-122"/>
                <a:cs typeface="Calibri" pitchFamily="34" charset="-120"/>
              </a:rPr>
              <a:t>Modern Programming Technologies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365760" y="228600"/>
            <a:ext cx="8412480" cy="594360"/>
          </a:xfrm>
          <a:prstGeom prst="rect">
            <a:avLst/>
          </a:prstGeom>
          <a:noFill/>
          <a:ln/>
        </p:spPr>
        <p:txBody>
          <a:bodyPr wrap="square" rtlCol="0" anchor="ctr"/>
          <a:lstStyle/>
          <a:p>
            <a:pPr indent="0" marL="0">
              <a:buNone/>
            </a:pPr>
            <a:r>
              <a:rPr lang="en-US" sz="3000" b="1" dirty="0">
                <a:solidFill>
                  <a:srgbClr val="0F2D4A"/>
                </a:solidFill>
                <a:latin typeface="Calibri" pitchFamily="34" charset="0"/>
                <a:ea typeface="Calibri" pitchFamily="34" charset="-122"/>
                <a:cs typeface="Calibri" pitchFamily="34" charset="-120"/>
              </a:rPr>
              <a:t>Lesson map</a:t>
            </a:r>
            <a:endParaRPr lang="en-US" sz="3000" dirty="0"/>
          </a:p>
        </p:txBody>
      </p:sp>
      <p:sp>
        <p:nvSpPr>
          <p:cNvPr id="3" name="Text 1"/>
          <p:cNvSpPr/>
          <p:nvPr/>
        </p:nvSpPr>
        <p:spPr>
          <a:xfrm>
            <a:off x="365760" y="822960"/>
            <a:ext cx="8412480" cy="365760"/>
          </a:xfrm>
          <a:prstGeom prst="rect">
            <a:avLst/>
          </a:prstGeom>
          <a:noFill/>
          <a:ln/>
        </p:spPr>
        <p:txBody>
          <a:bodyPr wrap="square" rtlCol="0" anchor="ctr"/>
          <a:lstStyle/>
          <a:p>
            <a:pPr indent="0" marL="0">
              <a:buNone/>
            </a:pPr>
            <a:r>
              <a:rPr lang="en-US" sz="1300" i="1" dirty="0">
                <a:solidFill>
                  <a:srgbClr val="546E7A"/>
                </a:solidFill>
                <a:latin typeface="Calibri" pitchFamily="34" charset="0"/>
                <a:ea typeface="Calibri" pitchFamily="34" charset="-122"/>
                <a:cs typeface="Calibri" pitchFamily="34" charset="-120"/>
              </a:rPr>
              <a:t>One logic: from manual build to high-level data access</a:t>
            </a:r>
            <a:endParaRPr lang="en-US" sz="1300" dirty="0"/>
          </a:p>
        </p:txBody>
      </p:sp>
      <p:sp>
        <p:nvSpPr>
          <p:cNvPr id="4" name="Shape 2"/>
          <p:cNvSpPr/>
          <p:nvPr/>
        </p:nvSpPr>
        <p:spPr>
          <a:xfrm>
            <a:off x="320040" y="1325880"/>
            <a:ext cx="1508760" cy="3291840"/>
          </a:xfrm>
          <a:prstGeom prst="rect">
            <a:avLst/>
          </a:prstGeom>
          <a:solidFill>
            <a:srgbClr val="FFFFFF"/>
          </a:solidFill>
          <a:ln w="12700">
            <a:solidFill>
              <a:srgbClr val="CFD8DC"/>
            </a:solidFill>
            <a:prstDash val="solid"/>
          </a:ln>
          <a:effectLst>
            <a:outerShdw sx="100000" sy="100000" kx="0" ky="0" algn="bl" rotWithShape="0" blurRad="63500" dist="25400" dir="8100000">
              <a:srgbClr val="000000">
                <a:alpha val="12000"/>
              </a:srgbClr>
            </a:outerShdw>
          </a:effectLst>
        </p:spPr>
      </p:sp>
      <p:sp>
        <p:nvSpPr>
          <p:cNvPr id="5" name="Shape 3"/>
          <p:cNvSpPr/>
          <p:nvPr/>
        </p:nvSpPr>
        <p:spPr>
          <a:xfrm>
            <a:off x="320040" y="1325880"/>
            <a:ext cx="1508760" cy="777240"/>
          </a:xfrm>
          <a:prstGeom prst="rect">
            <a:avLst/>
          </a:prstGeom>
          <a:solidFill>
            <a:srgbClr val="1565C0"/>
          </a:solidFill>
          <a:ln w="12700">
            <a:solidFill>
              <a:srgbClr val="1565C0"/>
            </a:solidFill>
            <a:prstDash val="solid"/>
          </a:ln>
        </p:spPr>
      </p:sp>
      <p:sp>
        <p:nvSpPr>
          <p:cNvPr id="6" name="Text 4"/>
          <p:cNvSpPr/>
          <p:nvPr/>
        </p:nvSpPr>
        <p:spPr>
          <a:xfrm>
            <a:off x="320040" y="1353312"/>
            <a:ext cx="502920" cy="6858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a:t>
            </a:r>
            <a:endParaRPr lang="en-US" sz="2800" dirty="0"/>
          </a:p>
        </p:txBody>
      </p:sp>
      <p:pic>
        <p:nvPicPr>
          <p:cNvPr id="7" name="Image 0" descr="preencoded.png">    </p:cNvPr>
          <p:cNvPicPr>
            <a:picLocks noChangeAspect="1"/>
          </p:cNvPicPr>
          <p:nvPr/>
        </p:nvPicPr>
        <p:blipFill>
          <a:blip r:embed="rId1"/>
          <a:stretch>
            <a:fillRect/>
          </a:stretch>
        </p:blipFill>
        <p:spPr>
          <a:xfrm>
            <a:off x="914400" y="1426464"/>
            <a:ext cx="640080" cy="548640"/>
          </a:xfrm>
          <a:prstGeom prst="rect">
            <a:avLst/>
          </a:prstGeom>
        </p:spPr>
      </p:pic>
      <p:sp>
        <p:nvSpPr>
          <p:cNvPr id="8" name="Text 5"/>
          <p:cNvSpPr/>
          <p:nvPr/>
        </p:nvSpPr>
        <p:spPr>
          <a:xfrm>
            <a:off x="320040" y="2148840"/>
            <a:ext cx="1508760" cy="457200"/>
          </a:xfrm>
          <a:prstGeom prst="rect">
            <a:avLst/>
          </a:prstGeom>
          <a:noFill/>
          <a:ln/>
        </p:spPr>
        <p:txBody>
          <a:bodyPr wrap="square" rtlCol="0" anchor="ctr"/>
          <a:lstStyle/>
          <a:p>
            <a:pPr algn="ctr" indent="0" marL="0">
              <a:buNone/>
            </a:pPr>
            <a:r>
              <a:rPr lang="en-US" sz="1400" b="1" dirty="0">
                <a:solidFill>
                  <a:srgbClr val="0F2D4A"/>
                </a:solidFill>
                <a:latin typeface="Calibri" pitchFamily="34" charset="0"/>
                <a:ea typeface="Calibri" pitchFamily="34" charset="-122"/>
                <a:cs typeface="Calibri" pitchFamily="34" charset="-120"/>
              </a:rPr>
              <a:t>Maven</a:t>
            </a:r>
            <a:endParaRPr lang="en-US" sz="1400" dirty="0"/>
          </a:p>
        </p:txBody>
      </p:sp>
      <p:sp>
        <p:nvSpPr>
          <p:cNvPr id="9" name="Text 6"/>
          <p:cNvSpPr/>
          <p:nvPr/>
        </p:nvSpPr>
        <p:spPr>
          <a:xfrm>
            <a:off x="320040" y="2606040"/>
            <a:ext cx="1508760" cy="1645920"/>
          </a:xfrm>
          <a:prstGeom prst="rect">
            <a:avLst/>
          </a:prstGeom>
          <a:noFill/>
          <a:ln/>
        </p:spPr>
        <p:txBody>
          <a:bodyPr wrap="square" rtlCol="0" anchor="t"/>
          <a:lstStyle/>
          <a:p>
            <a:pPr algn="ctr" indent="0" marL="0">
              <a:buNone/>
            </a:pPr>
            <a:r>
              <a:rPr lang="en-US" sz="1150" dirty="0">
                <a:solidFill>
                  <a:srgbClr val="546E7A"/>
                </a:solidFill>
                <a:latin typeface="Calibri" pitchFamily="34" charset="0"/>
                <a:ea typeface="Calibri" pitchFamily="34" charset="-122"/>
                <a:cs typeface="Calibri" pitchFamily="34" charset="-120"/>
              </a:rPr>
              <a:t>Project description,</a:t>
            </a:r>
            <a:endParaRPr lang="en-US" sz="1150" dirty="0"/>
          </a:p>
          <a:p>
            <a:pPr algn="ctr" indent="0" marL="0">
              <a:buNone/>
            </a:pPr>
            <a:r>
              <a:rPr lang="en-US" sz="1150" dirty="0">
                <a:solidFill>
                  <a:srgbClr val="546E7A"/>
                </a:solidFill>
                <a:latin typeface="Calibri" pitchFamily="34" charset="0"/>
                <a:ea typeface="Calibri" pitchFamily="34" charset="-122"/>
                <a:cs typeface="Calibri" pitchFamily="34" charset="-120"/>
              </a:rPr>
              <a:t>dependencies, build</a:t>
            </a:r>
            <a:endParaRPr lang="en-US" sz="1150" dirty="0"/>
          </a:p>
        </p:txBody>
      </p:sp>
      <p:sp>
        <p:nvSpPr>
          <p:cNvPr id="10" name="Shape 7"/>
          <p:cNvSpPr/>
          <p:nvPr/>
        </p:nvSpPr>
        <p:spPr>
          <a:xfrm>
            <a:off x="1828800" y="2103120"/>
            <a:ext cx="201168" cy="0"/>
          </a:xfrm>
          <a:prstGeom prst="line">
            <a:avLst/>
          </a:prstGeom>
          <a:noFill/>
          <a:ln w="25400">
            <a:solidFill>
              <a:srgbClr val="BBBBBB"/>
            </a:solidFill>
            <a:prstDash val="dash"/>
          </a:ln>
        </p:spPr>
      </p:sp>
      <p:sp>
        <p:nvSpPr>
          <p:cNvPr id="11" name="Shape 8"/>
          <p:cNvSpPr/>
          <p:nvPr/>
        </p:nvSpPr>
        <p:spPr>
          <a:xfrm>
            <a:off x="2039112" y="1325880"/>
            <a:ext cx="1508760" cy="3291840"/>
          </a:xfrm>
          <a:prstGeom prst="rect">
            <a:avLst/>
          </a:prstGeom>
          <a:solidFill>
            <a:srgbClr val="FFFFFF"/>
          </a:solidFill>
          <a:ln w="12700">
            <a:solidFill>
              <a:srgbClr val="CFD8DC"/>
            </a:solidFill>
            <a:prstDash val="solid"/>
          </a:ln>
          <a:effectLst>
            <a:outerShdw sx="100000" sy="100000" kx="0" ky="0" algn="bl" rotWithShape="0" blurRad="63500" dist="25400" dir="8100000">
              <a:srgbClr val="000000">
                <a:alpha val="12000"/>
              </a:srgbClr>
            </a:outerShdw>
          </a:effectLst>
        </p:spPr>
      </p:sp>
      <p:sp>
        <p:nvSpPr>
          <p:cNvPr id="12" name="Shape 9"/>
          <p:cNvSpPr/>
          <p:nvPr/>
        </p:nvSpPr>
        <p:spPr>
          <a:xfrm>
            <a:off x="2039112" y="1325880"/>
            <a:ext cx="1508760" cy="777240"/>
          </a:xfrm>
          <a:prstGeom prst="rect">
            <a:avLst/>
          </a:prstGeom>
          <a:solidFill>
            <a:srgbClr val="00897B"/>
          </a:solidFill>
          <a:ln w="12700">
            <a:solidFill>
              <a:srgbClr val="00897B"/>
            </a:solidFill>
            <a:prstDash val="solid"/>
          </a:ln>
        </p:spPr>
      </p:sp>
      <p:sp>
        <p:nvSpPr>
          <p:cNvPr id="13" name="Text 10"/>
          <p:cNvSpPr/>
          <p:nvPr/>
        </p:nvSpPr>
        <p:spPr>
          <a:xfrm>
            <a:off x="2039112" y="1353312"/>
            <a:ext cx="502920" cy="6858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a:t>
            </a:r>
            <a:endParaRPr lang="en-US" sz="2800" dirty="0"/>
          </a:p>
        </p:txBody>
      </p:sp>
      <p:pic>
        <p:nvPicPr>
          <p:cNvPr id="14" name="Image 1" descr="preencoded.png">    </p:cNvPr>
          <p:cNvPicPr>
            <a:picLocks noChangeAspect="1"/>
          </p:cNvPicPr>
          <p:nvPr/>
        </p:nvPicPr>
        <p:blipFill>
          <a:blip r:embed="rId2"/>
          <a:stretch>
            <a:fillRect/>
          </a:stretch>
        </p:blipFill>
        <p:spPr>
          <a:xfrm>
            <a:off x="2633472" y="1426464"/>
            <a:ext cx="640080" cy="548640"/>
          </a:xfrm>
          <a:prstGeom prst="rect">
            <a:avLst/>
          </a:prstGeom>
        </p:spPr>
      </p:pic>
      <p:sp>
        <p:nvSpPr>
          <p:cNvPr id="15" name="Text 11"/>
          <p:cNvSpPr/>
          <p:nvPr/>
        </p:nvSpPr>
        <p:spPr>
          <a:xfrm>
            <a:off x="2039112" y="2148840"/>
            <a:ext cx="1508760" cy="457200"/>
          </a:xfrm>
          <a:prstGeom prst="rect">
            <a:avLst/>
          </a:prstGeom>
          <a:noFill/>
          <a:ln/>
        </p:spPr>
        <p:txBody>
          <a:bodyPr wrap="square" rtlCol="0" anchor="ctr"/>
          <a:lstStyle/>
          <a:p>
            <a:pPr algn="ctr" indent="0" marL="0">
              <a:buNone/>
            </a:pPr>
            <a:r>
              <a:rPr lang="en-US" sz="1400" b="1" dirty="0">
                <a:solidFill>
                  <a:srgbClr val="0F2D4A"/>
                </a:solidFill>
                <a:latin typeface="Calibri" pitchFamily="34" charset="0"/>
                <a:ea typeface="Calibri" pitchFamily="34" charset="-122"/>
                <a:cs typeface="Calibri" pitchFamily="34" charset="-120"/>
              </a:rPr>
              <a:t>JDBC CRUD</a:t>
            </a:r>
            <a:endParaRPr lang="en-US" sz="1400" dirty="0"/>
          </a:p>
        </p:txBody>
      </p:sp>
      <p:sp>
        <p:nvSpPr>
          <p:cNvPr id="16" name="Text 12"/>
          <p:cNvSpPr/>
          <p:nvPr/>
        </p:nvSpPr>
        <p:spPr>
          <a:xfrm>
            <a:off x="2039112" y="2606040"/>
            <a:ext cx="1508760" cy="1645920"/>
          </a:xfrm>
          <a:prstGeom prst="rect">
            <a:avLst/>
          </a:prstGeom>
          <a:noFill/>
          <a:ln/>
        </p:spPr>
        <p:txBody>
          <a:bodyPr wrap="square" rtlCol="0" anchor="t"/>
          <a:lstStyle/>
          <a:p>
            <a:pPr algn="ctr" indent="0" marL="0">
              <a:buNone/>
            </a:pPr>
            <a:r>
              <a:rPr lang="en-US" sz="1150" dirty="0">
                <a:solidFill>
                  <a:srgbClr val="546E7A"/>
                </a:solidFill>
                <a:latin typeface="Calibri" pitchFamily="34" charset="0"/>
                <a:ea typeface="Calibri" pitchFamily="34" charset="-122"/>
                <a:cs typeface="Calibri" pitchFamily="34" charset="-120"/>
              </a:rPr>
              <a:t>Direct SQL,</a:t>
            </a:r>
            <a:endParaRPr lang="en-US" sz="1150" dirty="0"/>
          </a:p>
          <a:p>
            <a:pPr algn="ctr" indent="0" marL="0">
              <a:buNone/>
            </a:pPr>
            <a:r>
              <a:rPr lang="en-US" sz="1150" dirty="0">
                <a:solidFill>
                  <a:srgbClr val="546E7A"/>
                </a:solidFill>
                <a:latin typeface="Calibri" pitchFamily="34" charset="0"/>
                <a:ea typeface="Calibri" pitchFamily="34" charset="-122"/>
                <a:cs typeface="Calibri" pitchFamily="34" charset="-120"/>
              </a:rPr>
              <a:t>safe queries</a:t>
            </a:r>
            <a:endParaRPr lang="en-US" sz="1150" dirty="0"/>
          </a:p>
        </p:txBody>
      </p:sp>
      <p:sp>
        <p:nvSpPr>
          <p:cNvPr id="17" name="Shape 13"/>
          <p:cNvSpPr/>
          <p:nvPr/>
        </p:nvSpPr>
        <p:spPr>
          <a:xfrm>
            <a:off x="3547872" y="2103120"/>
            <a:ext cx="201168" cy="0"/>
          </a:xfrm>
          <a:prstGeom prst="line">
            <a:avLst/>
          </a:prstGeom>
          <a:noFill/>
          <a:ln w="25400">
            <a:solidFill>
              <a:srgbClr val="BBBBBB"/>
            </a:solidFill>
            <a:prstDash val="dash"/>
          </a:ln>
        </p:spPr>
      </p:sp>
      <p:sp>
        <p:nvSpPr>
          <p:cNvPr id="18" name="Shape 14"/>
          <p:cNvSpPr/>
          <p:nvPr/>
        </p:nvSpPr>
        <p:spPr>
          <a:xfrm>
            <a:off x="3758184" y="1325880"/>
            <a:ext cx="1508760" cy="3291840"/>
          </a:xfrm>
          <a:prstGeom prst="rect">
            <a:avLst/>
          </a:prstGeom>
          <a:solidFill>
            <a:srgbClr val="FFFFFF"/>
          </a:solidFill>
          <a:ln w="12700">
            <a:solidFill>
              <a:srgbClr val="CFD8DC"/>
            </a:solidFill>
            <a:prstDash val="solid"/>
          </a:ln>
          <a:effectLst>
            <a:outerShdw sx="100000" sy="100000" kx="0" ky="0" algn="bl" rotWithShape="0" blurRad="63500" dist="25400" dir="8100000">
              <a:srgbClr val="000000">
                <a:alpha val="12000"/>
              </a:srgbClr>
            </a:outerShdw>
          </a:effectLst>
        </p:spPr>
      </p:sp>
      <p:sp>
        <p:nvSpPr>
          <p:cNvPr id="19" name="Shape 15"/>
          <p:cNvSpPr/>
          <p:nvPr/>
        </p:nvSpPr>
        <p:spPr>
          <a:xfrm>
            <a:off x="3758184" y="1325880"/>
            <a:ext cx="1508760" cy="777240"/>
          </a:xfrm>
          <a:prstGeom prst="rect">
            <a:avLst/>
          </a:prstGeom>
          <a:solidFill>
            <a:srgbClr val="6A1B9A"/>
          </a:solidFill>
          <a:ln w="12700">
            <a:solidFill>
              <a:srgbClr val="6A1B9A"/>
            </a:solidFill>
            <a:prstDash val="solid"/>
          </a:ln>
        </p:spPr>
      </p:sp>
      <p:sp>
        <p:nvSpPr>
          <p:cNvPr id="20" name="Text 16"/>
          <p:cNvSpPr/>
          <p:nvPr/>
        </p:nvSpPr>
        <p:spPr>
          <a:xfrm>
            <a:off x="3758184" y="1353312"/>
            <a:ext cx="502920" cy="6858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a:t>
            </a:r>
            <a:endParaRPr lang="en-US" sz="2800" dirty="0"/>
          </a:p>
        </p:txBody>
      </p:sp>
      <p:pic>
        <p:nvPicPr>
          <p:cNvPr id="21" name="Image 2" descr="preencoded.png">    </p:cNvPr>
          <p:cNvPicPr>
            <a:picLocks noChangeAspect="1"/>
          </p:cNvPicPr>
          <p:nvPr/>
        </p:nvPicPr>
        <p:blipFill>
          <a:blip r:embed="rId3"/>
          <a:stretch>
            <a:fillRect/>
          </a:stretch>
        </p:blipFill>
        <p:spPr>
          <a:xfrm>
            <a:off x="4352544" y="1426464"/>
            <a:ext cx="640080" cy="548640"/>
          </a:xfrm>
          <a:prstGeom prst="rect">
            <a:avLst/>
          </a:prstGeom>
        </p:spPr>
      </p:pic>
      <p:sp>
        <p:nvSpPr>
          <p:cNvPr id="22" name="Text 17"/>
          <p:cNvSpPr/>
          <p:nvPr/>
        </p:nvSpPr>
        <p:spPr>
          <a:xfrm>
            <a:off x="3758184" y="2148840"/>
            <a:ext cx="1508760" cy="457200"/>
          </a:xfrm>
          <a:prstGeom prst="rect">
            <a:avLst/>
          </a:prstGeom>
          <a:noFill/>
          <a:ln/>
        </p:spPr>
        <p:txBody>
          <a:bodyPr wrap="square" rtlCol="0" anchor="ctr"/>
          <a:lstStyle/>
          <a:p>
            <a:pPr algn="ctr" indent="0" marL="0">
              <a:buNone/>
            </a:pPr>
            <a:r>
              <a:rPr lang="en-US" sz="1400" b="1" dirty="0">
                <a:solidFill>
                  <a:srgbClr val="0F2D4A"/>
                </a:solidFill>
                <a:latin typeface="Calibri" pitchFamily="34" charset="0"/>
                <a:ea typeface="Calibri" pitchFamily="34" charset="-122"/>
                <a:cs typeface="Calibri" pitchFamily="34" charset="-120"/>
              </a:rPr>
              <a:t>DAO</a:t>
            </a:r>
            <a:endParaRPr lang="en-US" sz="1400" dirty="0"/>
          </a:p>
        </p:txBody>
      </p:sp>
      <p:sp>
        <p:nvSpPr>
          <p:cNvPr id="23" name="Text 18"/>
          <p:cNvSpPr/>
          <p:nvPr/>
        </p:nvSpPr>
        <p:spPr>
          <a:xfrm>
            <a:off x="3758184" y="2606040"/>
            <a:ext cx="1508760" cy="1645920"/>
          </a:xfrm>
          <a:prstGeom prst="rect">
            <a:avLst/>
          </a:prstGeom>
          <a:noFill/>
          <a:ln/>
        </p:spPr>
        <p:txBody>
          <a:bodyPr wrap="square" rtlCol="0" anchor="t"/>
          <a:lstStyle/>
          <a:p>
            <a:pPr algn="ctr" indent="0" marL="0">
              <a:buNone/>
            </a:pPr>
            <a:r>
              <a:rPr lang="en-US" sz="1150" dirty="0">
                <a:solidFill>
                  <a:srgbClr val="546E7A"/>
                </a:solidFill>
                <a:latin typeface="Calibri" pitchFamily="34" charset="0"/>
                <a:ea typeface="Calibri" pitchFamily="34" charset="-122"/>
                <a:cs typeface="Calibri" pitchFamily="34" charset="-120"/>
              </a:rPr>
              <a:t>Hide SQL</a:t>
            </a:r>
            <a:endParaRPr lang="en-US" sz="1150" dirty="0"/>
          </a:p>
          <a:p>
            <a:pPr algn="ctr" indent="0" marL="0">
              <a:buNone/>
            </a:pPr>
            <a:r>
              <a:rPr lang="en-US" sz="1150" dirty="0">
                <a:solidFill>
                  <a:srgbClr val="546E7A"/>
                </a:solidFill>
                <a:latin typeface="Calibri" pitchFamily="34" charset="0"/>
                <a:ea typeface="Calibri" pitchFamily="34" charset="-122"/>
                <a:cs typeface="Calibri" pitchFamily="34" charset="-120"/>
              </a:rPr>
              <a:t>behind an interface</a:t>
            </a:r>
            <a:endParaRPr lang="en-US" sz="1150" dirty="0"/>
          </a:p>
        </p:txBody>
      </p:sp>
      <p:sp>
        <p:nvSpPr>
          <p:cNvPr id="24" name="Shape 19"/>
          <p:cNvSpPr/>
          <p:nvPr/>
        </p:nvSpPr>
        <p:spPr>
          <a:xfrm>
            <a:off x="5266944" y="2103120"/>
            <a:ext cx="201168" cy="0"/>
          </a:xfrm>
          <a:prstGeom prst="line">
            <a:avLst/>
          </a:prstGeom>
          <a:noFill/>
          <a:ln w="25400">
            <a:solidFill>
              <a:srgbClr val="BBBBBB"/>
            </a:solidFill>
            <a:prstDash val="dash"/>
          </a:ln>
        </p:spPr>
      </p:sp>
      <p:sp>
        <p:nvSpPr>
          <p:cNvPr id="25" name="Shape 20"/>
          <p:cNvSpPr/>
          <p:nvPr/>
        </p:nvSpPr>
        <p:spPr>
          <a:xfrm>
            <a:off x="5477256" y="1325880"/>
            <a:ext cx="1508760" cy="3291840"/>
          </a:xfrm>
          <a:prstGeom prst="rect">
            <a:avLst/>
          </a:prstGeom>
          <a:solidFill>
            <a:srgbClr val="FFFFFF"/>
          </a:solidFill>
          <a:ln w="12700">
            <a:solidFill>
              <a:srgbClr val="CFD8DC"/>
            </a:solidFill>
            <a:prstDash val="solid"/>
          </a:ln>
          <a:effectLst>
            <a:outerShdw sx="100000" sy="100000" kx="0" ky="0" algn="bl" rotWithShape="0" blurRad="63500" dist="25400" dir="8100000">
              <a:srgbClr val="000000">
                <a:alpha val="12000"/>
              </a:srgbClr>
            </a:outerShdw>
          </a:effectLst>
        </p:spPr>
      </p:sp>
      <p:sp>
        <p:nvSpPr>
          <p:cNvPr id="26" name="Shape 21"/>
          <p:cNvSpPr/>
          <p:nvPr/>
        </p:nvSpPr>
        <p:spPr>
          <a:xfrm>
            <a:off x="5477256" y="1325880"/>
            <a:ext cx="1508760" cy="777240"/>
          </a:xfrm>
          <a:prstGeom prst="rect">
            <a:avLst/>
          </a:prstGeom>
          <a:solidFill>
            <a:srgbClr val="BF360C"/>
          </a:solidFill>
          <a:ln w="12700">
            <a:solidFill>
              <a:srgbClr val="BF360C"/>
            </a:solidFill>
            <a:prstDash val="solid"/>
          </a:ln>
        </p:spPr>
      </p:sp>
      <p:sp>
        <p:nvSpPr>
          <p:cNvPr id="27" name="Text 22"/>
          <p:cNvSpPr/>
          <p:nvPr/>
        </p:nvSpPr>
        <p:spPr>
          <a:xfrm>
            <a:off x="5477256" y="1353312"/>
            <a:ext cx="502920" cy="6858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a:t>
            </a:r>
            <a:endParaRPr lang="en-US" sz="2800" dirty="0"/>
          </a:p>
        </p:txBody>
      </p:sp>
      <p:pic>
        <p:nvPicPr>
          <p:cNvPr id="28" name="Image 3" descr="preencoded.png">    </p:cNvPr>
          <p:cNvPicPr>
            <a:picLocks noChangeAspect="1"/>
          </p:cNvPicPr>
          <p:nvPr/>
        </p:nvPicPr>
        <p:blipFill>
          <a:blip r:embed="rId4"/>
          <a:stretch>
            <a:fillRect/>
          </a:stretch>
        </p:blipFill>
        <p:spPr>
          <a:xfrm>
            <a:off x="6071616" y="1426464"/>
            <a:ext cx="640080" cy="548640"/>
          </a:xfrm>
          <a:prstGeom prst="rect">
            <a:avLst/>
          </a:prstGeom>
        </p:spPr>
      </p:pic>
      <p:sp>
        <p:nvSpPr>
          <p:cNvPr id="29" name="Text 23"/>
          <p:cNvSpPr/>
          <p:nvPr/>
        </p:nvSpPr>
        <p:spPr>
          <a:xfrm>
            <a:off x="5477256" y="2148840"/>
            <a:ext cx="1508760" cy="457200"/>
          </a:xfrm>
          <a:prstGeom prst="rect">
            <a:avLst/>
          </a:prstGeom>
          <a:noFill/>
          <a:ln/>
        </p:spPr>
        <p:txBody>
          <a:bodyPr wrap="square" rtlCol="0" anchor="ctr"/>
          <a:lstStyle/>
          <a:p>
            <a:pPr algn="ctr" indent="0" marL="0">
              <a:buNone/>
            </a:pPr>
            <a:r>
              <a:rPr lang="en-US" sz="1400" b="1" dirty="0">
                <a:solidFill>
                  <a:srgbClr val="0F2D4A"/>
                </a:solidFill>
                <a:latin typeface="Calibri" pitchFamily="34" charset="0"/>
                <a:ea typeface="Calibri" pitchFamily="34" charset="-122"/>
                <a:cs typeface="Calibri" pitchFamily="34" charset="-120"/>
              </a:rPr>
              <a:t>Hibernate</a:t>
            </a:r>
            <a:endParaRPr lang="en-US" sz="1400" dirty="0"/>
          </a:p>
        </p:txBody>
      </p:sp>
      <p:sp>
        <p:nvSpPr>
          <p:cNvPr id="30" name="Text 24"/>
          <p:cNvSpPr/>
          <p:nvPr/>
        </p:nvSpPr>
        <p:spPr>
          <a:xfrm>
            <a:off x="5477256" y="2606040"/>
            <a:ext cx="1508760" cy="1645920"/>
          </a:xfrm>
          <a:prstGeom prst="rect">
            <a:avLst/>
          </a:prstGeom>
          <a:noFill/>
          <a:ln/>
        </p:spPr>
        <p:txBody>
          <a:bodyPr wrap="square" rtlCol="0" anchor="t"/>
          <a:lstStyle/>
          <a:p>
            <a:pPr algn="ctr" indent="0" marL="0">
              <a:buNone/>
            </a:pPr>
            <a:r>
              <a:rPr lang="en-US" sz="1150" dirty="0">
                <a:solidFill>
                  <a:srgbClr val="546E7A"/>
                </a:solidFill>
                <a:latin typeface="Calibri" pitchFamily="34" charset="0"/>
                <a:ea typeface="Calibri" pitchFamily="34" charset="-122"/>
                <a:cs typeface="Calibri" pitchFamily="34" charset="-120"/>
              </a:rPr>
              <a:t>Java objects</a:t>
            </a:r>
            <a:endParaRPr lang="en-US" sz="1150" dirty="0"/>
          </a:p>
          <a:p>
            <a:pPr algn="ctr" indent="0" marL="0">
              <a:buNone/>
            </a:pPr>
            <a:r>
              <a:rPr lang="en-US" sz="1150" dirty="0">
                <a:solidFill>
                  <a:srgbClr val="546E7A"/>
                </a:solidFill>
                <a:latin typeface="Calibri" pitchFamily="34" charset="0"/>
                <a:ea typeface="Calibri" pitchFamily="34" charset="-122"/>
                <a:cs typeface="Calibri" pitchFamily="34" charset="-120"/>
              </a:rPr>
              <a:t>instead of tables</a:t>
            </a:r>
            <a:endParaRPr lang="en-US" sz="1150" dirty="0"/>
          </a:p>
        </p:txBody>
      </p:sp>
      <p:sp>
        <p:nvSpPr>
          <p:cNvPr id="31" name="Shape 25"/>
          <p:cNvSpPr/>
          <p:nvPr/>
        </p:nvSpPr>
        <p:spPr>
          <a:xfrm>
            <a:off x="6986016" y="2103120"/>
            <a:ext cx="201168" cy="0"/>
          </a:xfrm>
          <a:prstGeom prst="line">
            <a:avLst/>
          </a:prstGeom>
          <a:noFill/>
          <a:ln w="25400">
            <a:solidFill>
              <a:srgbClr val="BBBBBB"/>
            </a:solidFill>
            <a:prstDash val="dash"/>
          </a:ln>
        </p:spPr>
      </p:sp>
      <p:sp>
        <p:nvSpPr>
          <p:cNvPr id="32" name="Shape 26"/>
          <p:cNvSpPr/>
          <p:nvPr/>
        </p:nvSpPr>
        <p:spPr>
          <a:xfrm>
            <a:off x="7196328" y="1325880"/>
            <a:ext cx="1508760" cy="3291840"/>
          </a:xfrm>
          <a:prstGeom prst="rect">
            <a:avLst/>
          </a:prstGeom>
          <a:solidFill>
            <a:srgbClr val="FFFFFF"/>
          </a:solidFill>
          <a:ln w="12700">
            <a:solidFill>
              <a:srgbClr val="CFD8DC"/>
            </a:solidFill>
            <a:prstDash val="solid"/>
          </a:ln>
          <a:effectLst>
            <a:outerShdw sx="100000" sy="100000" kx="0" ky="0" algn="bl" rotWithShape="0" blurRad="63500" dist="25400" dir="8100000">
              <a:srgbClr val="000000">
                <a:alpha val="12000"/>
              </a:srgbClr>
            </a:outerShdw>
          </a:effectLst>
        </p:spPr>
      </p:sp>
      <p:sp>
        <p:nvSpPr>
          <p:cNvPr id="33" name="Shape 27"/>
          <p:cNvSpPr/>
          <p:nvPr/>
        </p:nvSpPr>
        <p:spPr>
          <a:xfrm>
            <a:off x="7196328" y="1325880"/>
            <a:ext cx="1508760" cy="777240"/>
          </a:xfrm>
          <a:prstGeom prst="rect">
            <a:avLst/>
          </a:prstGeom>
          <a:solidFill>
            <a:srgbClr val="1B5E20"/>
          </a:solidFill>
          <a:ln w="12700">
            <a:solidFill>
              <a:srgbClr val="1B5E20"/>
            </a:solidFill>
            <a:prstDash val="solid"/>
          </a:ln>
        </p:spPr>
      </p:sp>
      <p:sp>
        <p:nvSpPr>
          <p:cNvPr id="34" name="Text 28"/>
          <p:cNvSpPr/>
          <p:nvPr/>
        </p:nvSpPr>
        <p:spPr>
          <a:xfrm>
            <a:off x="7196328" y="1353312"/>
            <a:ext cx="502920" cy="6858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a:t>
            </a:r>
            <a:endParaRPr lang="en-US" sz="2800" dirty="0"/>
          </a:p>
        </p:txBody>
      </p:sp>
      <p:pic>
        <p:nvPicPr>
          <p:cNvPr id="35" name="Image 4" descr="preencoded.png">    </p:cNvPr>
          <p:cNvPicPr>
            <a:picLocks noChangeAspect="1"/>
          </p:cNvPicPr>
          <p:nvPr/>
        </p:nvPicPr>
        <p:blipFill>
          <a:blip r:embed="rId5"/>
          <a:stretch>
            <a:fillRect/>
          </a:stretch>
        </p:blipFill>
        <p:spPr>
          <a:xfrm>
            <a:off x="7790688" y="1426464"/>
            <a:ext cx="640080" cy="548640"/>
          </a:xfrm>
          <a:prstGeom prst="rect">
            <a:avLst/>
          </a:prstGeom>
        </p:spPr>
      </p:pic>
      <p:sp>
        <p:nvSpPr>
          <p:cNvPr id="36" name="Text 29"/>
          <p:cNvSpPr/>
          <p:nvPr/>
        </p:nvSpPr>
        <p:spPr>
          <a:xfrm>
            <a:off x="7196328" y="2148840"/>
            <a:ext cx="1508760" cy="457200"/>
          </a:xfrm>
          <a:prstGeom prst="rect">
            <a:avLst/>
          </a:prstGeom>
          <a:noFill/>
          <a:ln/>
        </p:spPr>
        <p:txBody>
          <a:bodyPr wrap="square" rtlCol="0" anchor="ctr"/>
          <a:lstStyle/>
          <a:p>
            <a:pPr algn="ctr" indent="0" marL="0">
              <a:buNone/>
            </a:pPr>
            <a:r>
              <a:rPr lang="en-US" sz="1400" b="1" dirty="0">
                <a:solidFill>
                  <a:srgbClr val="0F2D4A"/>
                </a:solidFill>
                <a:latin typeface="Calibri" pitchFamily="34" charset="0"/>
                <a:ea typeface="Calibri" pitchFamily="34" charset="-122"/>
                <a:cs typeface="Calibri" pitchFamily="34" charset="-120"/>
              </a:rPr>
              <a:t>Assessment</a:t>
            </a:r>
            <a:endParaRPr lang="en-US" sz="1400" dirty="0"/>
          </a:p>
        </p:txBody>
      </p:sp>
      <p:sp>
        <p:nvSpPr>
          <p:cNvPr id="37" name="Text 30"/>
          <p:cNvSpPr/>
          <p:nvPr/>
        </p:nvSpPr>
        <p:spPr>
          <a:xfrm>
            <a:off x="7196328" y="2606040"/>
            <a:ext cx="1508760" cy="1645920"/>
          </a:xfrm>
          <a:prstGeom prst="rect">
            <a:avLst/>
          </a:prstGeom>
          <a:noFill/>
          <a:ln/>
        </p:spPr>
        <p:txBody>
          <a:bodyPr wrap="square" rtlCol="0" anchor="t"/>
          <a:lstStyle/>
          <a:p>
            <a:pPr algn="ctr" indent="0" marL="0">
              <a:buNone/>
            </a:pPr>
            <a:r>
              <a:rPr lang="en-US" sz="1150" dirty="0">
                <a:solidFill>
                  <a:srgbClr val="546E7A"/>
                </a:solidFill>
                <a:latin typeface="Calibri" pitchFamily="34" charset="0"/>
                <a:ea typeface="Calibri" pitchFamily="34" charset="-122"/>
                <a:cs typeface="Calibri" pitchFamily="34" charset="-120"/>
              </a:rPr>
              <a:t>Test and</a:t>
            </a:r>
            <a:endParaRPr lang="en-US" sz="1150" dirty="0"/>
          </a:p>
          <a:p>
            <a:pPr algn="ctr" indent="0" marL="0">
              <a:buNone/>
            </a:pPr>
            <a:r>
              <a:rPr lang="en-US" sz="1150" dirty="0">
                <a:solidFill>
                  <a:srgbClr val="546E7A"/>
                </a:solidFill>
                <a:latin typeface="Calibri" pitchFamily="34" charset="0"/>
                <a:ea typeface="Calibri" pitchFamily="34" charset="-122"/>
                <a:cs typeface="Calibri" pitchFamily="34" charset="-120"/>
              </a:rPr>
              <a:t>work report</a:t>
            </a:r>
            <a:endParaRPr lang="en-US" sz="1150" dirty="0"/>
          </a:p>
        </p:txBody>
      </p:sp>
      <p:sp>
        <p:nvSpPr>
          <p:cNvPr id="38" name="Text 31"/>
          <p:cNvSpPr/>
          <p:nvPr/>
        </p:nvSpPr>
        <p:spPr>
          <a:xfrm>
            <a:off x="365760" y="4681728"/>
            <a:ext cx="8412480" cy="347472"/>
          </a:xfrm>
          <a:prstGeom prst="rect">
            <a:avLst/>
          </a:prstGeom>
          <a:noFill/>
          <a:ln/>
        </p:spPr>
        <p:txBody>
          <a:bodyPr wrap="square" rtlCol="0" anchor="ctr"/>
          <a:lstStyle/>
          <a:p>
            <a:pPr algn="ctr" indent="0" marL="0">
              <a:buNone/>
            </a:pPr>
            <a:r>
              <a:rPr lang="en-US" sz="1150" i="1" dirty="0">
                <a:solidFill>
                  <a:srgbClr val="546E7A"/>
                </a:solidFill>
                <a:latin typeface="Calibri" pitchFamily="34" charset="0"/>
                <a:ea typeface="Calibri" pitchFamily="34" charset="-122"/>
                <a:cs typeface="Calibri" pitchFamily="34" charset="-120"/>
              </a:rPr>
              <a:t>Each step builds on the previous one — understand why we move to the next level.</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E2E"/>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565C0"/>
          </a:solidFill>
          <a:ln w="12700">
            <a:solidFill>
              <a:srgbClr val="1565C0"/>
            </a:solidFill>
            <a:prstDash val="solid"/>
          </a:ln>
        </p:spPr>
      </p:sp>
      <p:sp>
        <p:nvSpPr>
          <p:cNvPr id="3" name="Text 1"/>
          <p:cNvSpPr/>
          <p:nvPr/>
        </p:nvSpPr>
        <p:spPr>
          <a:xfrm>
            <a:off x="320040" y="182880"/>
            <a:ext cx="548640" cy="548640"/>
          </a:xfrm>
          <a:prstGeom prst="rect">
            <a:avLst/>
          </a:prstGeom>
          <a:noFill/>
          <a:ln/>
        </p:spPr>
        <p:txBody>
          <a:bodyPr wrap="square" rtlCol="0" anchor="ctr"/>
          <a:lstStyle/>
          <a:p>
            <a:pPr indent="0" marL="0">
              <a:buNone/>
            </a:pPr>
            <a:r>
              <a:rPr lang="en-US" sz="2600" b="1" dirty="0">
                <a:solidFill>
                  <a:srgbClr val="1565C0"/>
                </a:solidFill>
                <a:latin typeface="Calibri" pitchFamily="34" charset="0"/>
                <a:ea typeface="Calibri" pitchFamily="34" charset="-122"/>
                <a:cs typeface="Calibri" pitchFamily="34" charset="-120"/>
              </a:rPr>
              <a:t>1</a:t>
            </a:r>
            <a:endParaRPr lang="en-US" sz="2600" dirty="0"/>
          </a:p>
        </p:txBody>
      </p:sp>
      <p:sp>
        <p:nvSpPr>
          <p:cNvPr id="4" name="Text 2"/>
          <p:cNvSpPr/>
          <p:nvPr/>
        </p:nvSpPr>
        <p:spPr>
          <a:xfrm>
            <a:off x="960120" y="182880"/>
            <a:ext cx="3657600" cy="54864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Maven</a:t>
            </a:r>
            <a:endParaRPr lang="en-US" sz="2800" dirty="0"/>
          </a:p>
        </p:txBody>
      </p:sp>
      <p:sp>
        <p:nvSpPr>
          <p:cNvPr id="5" name="Text 3"/>
          <p:cNvSpPr/>
          <p:nvPr/>
        </p:nvSpPr>
        <p:spPr>
          <a:xfrm>
            <a:off x="960120" y="713232"/>
            <a:ext cx="7772400" cy="365760"/>
          </a:xfrm>
          <a:prstGeom prst="rect">
            <a:avLst/>
          </a:prstGeom>
          <a:noFill/>
          <a:ln/>
        </p:spPr>
        <p:txBody>
          <a:bodyPr wrap="square" rtlCol="0" anchor="ctr"/>
          <a:lstStyle/>
          <a:p>
            <a:pPr indent="0" marL="0">
              <a:buNone/>
            </a:pPr>
            <a:r>
              <a:rPr lang="en-US" sz="1300" i="1" dirty="0">
                <a:solidFill>
                  <a:srgbClr val="90CAF9"/>
                </a:solidFill>
                <a:latin typeface="Calibri" pitchFamily="34" charset="0"/>
                <a:ea typeface="Calibri" pitchFamily="34" charset="-122"/>
                <a:cs typeface="Calibri" pitchFamily="34" charset="-120"/>
              </a:rPr>
              <a:t>The project is described — not assembled manually</a:t>
            </a:r>
            <a:endParaRPr lang="en-US" sz="1300" dirty="0"/>
          </a:p>
        </p:txBody>
      </p:sp>
      <p:sp>
        <p:nvSpPr>
          <p:cNvPr id="6" name="Shape 4"/>
          <p:cNvSpPr/>
          <p:nvPr/>
        </p:nvSpPr>
        <p:spPr>
          <a:xfrm>
            <a:off x="320040" y="1170432"/>
            <a:ext cx="5029200" cy="3520440"/>
          </a:xfrm>
          <a:prstGeom prst="rect">
            <a:avLst/>
          </a:prstGeom>
          <a:solidFill>
            <a:srgbClr val="0D1B2A"/>
          </a:solidFill>
          <a:ln w="12700">
            <a:solidFill>
              <a:srgbClr val="1565C0"/>
            </a:solidFill>
            <a:prstDash val="solid"/>
          </a:ln>
          <a:effectLst>
            <a:outerShdw sx="100000" sy="100000" kx="0" ky="0" algn="bl" rotWithShape="0" blurRad="63500" dist="25400" dir="8100000">
              <a:srgbClr val="000000">
                <a:alpha val="12000"/>
              </a:srgbClr>
            </a:outerShdw>
          </a:effectLst>
        </p:spPr>
      </p:sp>
      <p:sp>
        <p:nvSpPr>
          <p:cNvPr id="7" name="Text 5"/>
          <p:cNvSpPr/>
          <p:nvPr/>
        </p:nvSpPr>
        <p:spPr>
          <a:xfrm>
            <a:off x="320040" y="1170432"/>
            <a:ext cx="5029200" cy="347472"/>
          </a:xfrm>
          <a:prstGeom prst="rect">
            <a:avLst/>
          </a:prstGeom>
          <a:solidFill>
            <a:srgbClr val="1565C0"/>
          </a:solidFill>
          <a:ln/>
        </p:spPr>
        <p:txBody>
          <a:bodyPr wrap="square"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pom.xml</a:t>
            </a:r>
            <a:endParaRPr lang="en-US" sz="1200" dirty="0"/>
          </a:p>
        </p:txBody>
      </p:sp>
      <p:sp>
        <p:nvSpPr>
          <p:cNvPr id="8" name="Text 6"/>
          <p:cNvSpPr/>
          <p:nvPr/>
        </p:nvSpPr>
        <p:spPr>
          <a:xfrm>
            <a:off x="457200" y="1600200"/>
            <a:ext cx="4754880" cy="2999232"/>
          </a:xfrm>
          <a:prstGeom prst="rect">
            <a:avLst/>
          </a:prstGeom>
          <a:noFill/>
          <a:ln/>
        </p:spPr>
        <p:txBody>
          <a:bodyPr wrap="square" rtlCol="0" anchor="t"/>
          <a:lstStyle/>
          <a:p>
            <a:pPr indent="0" marL="0">
              <a:buNone/>
            </a:pPr>
            <a:r>
              <a:rPr lang="en-US" sz="1100" dirty="0">
                <a:solidFill>
                  <a:srgbClr val="CE93D8"/>
                </a:solidFill>
                <a:latin typeface="Consolas" pitchFamily="34" charset="0"/>
                <a:ea typeface="Consolas" pitchFamily="34" charset="-122"/>
                <a:cs typeface="Consolas" pitchFamily="34" charset="-120"/>
              </a:rPr>
              <a:t>&lt;project&gt;</a:t>
            </a:r>
            <a:endParaRPr lang="en-US" sz="1100" dirty="0"/>
          </a:p>
          <a:p>
            <a:pPr indent="0" marL="0">
              <a:buNone/>
            </a:pPr>
            <a:r>
              <a:rPr lang="en-US" sz="1100" dirty="0">
                <a:solidFill>
                  <a:srgbClr val="81D4FA"/>
                </a:solidFill>
                <a:latin typeface="Consolas" pitchFamily="34" charset="0"/>
                <a:ea typeface="Consolas" pitchFamily="34" charset="-122"/>
                <a:cs typeface="Consolas" pitchFamily="34" charset="-120"/>
              </a:rPr>
              <a:t>  &lt;groupId&gt;</a:t>
            </a:r>
            <a:pPr indent="0" marL="0">
              <a:buNone/>
            </a:pPr>
            <a:r>
              <a:rPr lang="en-US" sz="1100" dirty="0">
                <a:solidFill>
                  <a:srgbClr val="A5D6A7"/>
                </a:solidFill>
                <a:latin typeface="Consolas" pitchFamily="34" charset="0"/>
                <a:ea typeface="Consolas" pitchFamily="34" charset="-122"/>
                <a:cs typeface="Consolas" pitchFamily="34" charset="-120"/>
              </a:rPr>
              <a:t>com.university</a:t>
            </a:r>
            <a:pPr indent="0" marL="0">
              <a:buNone/>
            </a:pPr>
            <a:r>
              <a:rPr lang="en-US" sz="1100" dirty="0">
                <a:solidFill>
                  <a:srgbClr val="81D4FA"/>
                </a:solidFill>
                <a:latin typeface="Consolas" pitchFamily="34" charset="0"/>
                <a:ea typeface="Consolas" pitchFamily="34" charset="-122"/>
                <a:cs typeface="Consolas" pitchFamily="34" charset="-120"/>
              </a:rPr>
              <a:t>&lt;/groupId&gt;</a:t>
            </a:r>
            <a:endParaRPr lang="en-US" sz="1100" dirty="0"/>
          </a:p>
          <a:p>
            <a:pPr indent="0" marL="0">
              <a:buNone/>
            </a:pPr>
            <a:r>
              <a:rPr lang="en-US" sz="1100" dirty="0">
                <a:solidFill>
                  <a:srgbClr val="81D4FA"/>
                </a:solidFill>
                <a:latin typeface="Consolas" pitchFamily="34" charset="0"/>
                <a:ea typeface="Consolas" pitchFamily="34" charset="-122"/>
                <a:cs typeface="Consolas" pitchFamily="34" charset="-120"/>
              </a:rPr>
              <a:t>  &lt;artifactId&gt;</a:t>
            </a:r>
            <a:pPr indent="0" marL="0">
              <a:buNone/>
            </a:pPr>
            <a:r>
              <a:rPr lang="en-US" sz="1100" dirty="0">
                <a:solidFill>
                  <a:srgbClr val="A5D6A7"/>
                </a:solidFill>
                <a:latin typeface="Consolas" pitchFamily="34" charset="0"/>
                <a:ea typeface="Consolas" pitchFamily="34" charset="-122"/>
                <a:cs typeface="Consolas" pitchFamily="34" charset="-120"/>
              </a:rPr>
              <a:t>movies-app</a:t>
            </a:r>
            <a:pPr indent="0" marL="0">
              <a:buNone/>
            </a:pPr>
            <a:r>
              <a:rPr lang="en-US" sz="1100" dirty="0">
                <a:solidFill>
                  <a:srgbClr val="81D4FA"/>
                </a:solidFill>
                <a:latin typeface="Consolas" pitchFamily="34" charset="0"/>
                <a:ea typeface="Consolas" pitchFamily="34" charset="-122"/>
                <a:cs typeface="Consolas" pitchFamily="34" charset="-120"/>
              </a:rPr>
              <a:t>&lt;/artifactId&gt;</a:t>
            </a:r>
            <a:endParaRPr lang="en-US" sz="1100" dirty="0"/>
          </a:p>
          <a:p>
            <a:pPr indent="0" marL="0">
              <a:buNone/>
            </a:pPr>
            <a:r>
              <a:rPr lang="en-US" sz="1100" dirty="0">
                <a:solidFill>
                  <a:srgbClr val="81D4FA"/>
                </a:solidFill>
                <a:latin typeface="Consolas" pitchFamily="34" charset="0"/>
                <a:ea typeface="Consolas" pitchFamily="34" charset="-122"/>
                <a:cs typeface="Consolas" pitchFamily="34" charset="-120"/>
              </a:rPr>
              <a:t>  &lt;version&gt;</a:t>
            </a:r>
            <a:pPr indent="0" marL="0">
              <a:buNone/>
            </a:pPr>
            <a:r>
              <a:rPr lang="en-US" sz="1100" dirty="0">
                <a:solidFill>
                  <a:srgbClr val="F9A825"/>
                </a:solidFill>
                <a:latin typeface="Consolas" pitchFamily="34" charset="0"/>
                <a:ea typeface="Consolas" pitchFamily="34" charset="-122"/>
                <a:cs typeface="Consolas" pitchFamily="34" charset="-120"/>
              </a:rPr>
              <a:t>1.0-SNAPSHOT</a:t>
            </a:r>
            <a:pPr indent="0" marL="0">
              <a:buNone/>
            </a:pPr>
            <a:r>
              <a:rPr lang="en-US" sz="1100" dirty="0">
                <a:solidFill>
                  <a:srgbClr val="81D4FA"/>
                </a:solidFill>
                <a:latin typeface="Consolas" pitchFamily="34" charset="0"/>
                <a:ea typeface="Consolas" pitchFamily="34" charset="-122"/>
                <a:cs typeface="Consolas" pitchFamily="34" charset="-120"/>
              </a:rPr>
              <a:t>&lt;/version&gt;</a:t>
            </a:r>
            <a:endParaRPr lang="en-US" sz="1100" dirty="0"/>
          </a:p>
          <a:p>
            <a:pPr indent="0" marL="0">
              <a:buNone/>
            </a:pPr>
            <a:endParaRPr lang="en-US" sz="1100" dirty="0"/>
          </a:p>
          <a:p>
            <a:pPr indent="0" marL="0">
              <a:buNone/>
            </a:pPr>
            <a:r>
              <a:rPr lang="en-US" sz="1100" dirty="0">
                <a:solidFill>
                  <a:srgbClr val="81D4FA"/>
                </a:solidFill>
                <a:latin typeface="Consolas" pitchFamily="34" charset="0"/>
                <a:ea typeface="Consolas" pitchFamily="34" charset="-122"/>
                <a:cs typeface="Consolas" pitchFamily="34" charset="-120"/>
              </a:rPr>
              <a:t>  &lt;dependencies&gt;</a:t>
            </a:r>
            <a:endParaRPr lang="en-US" sz="1100" dirty="0"/>
          </a:p>
          <a:p>
            <a:pPr indent="0" marL="0">
              <a:buNone/>
            </a:pPr>
            <a:r>
              <a:rPr lang="en-US" sz="1100" dirty="0">
                <a:solidFill>
                  <a:srgbClr val="81D4FA"/>
                </a:solidFill>
                <a:latin typeface="Consolas" pitchFamily="34" charset="0"/>
                <a:ea typeface="Consolas" pitchFamily="34" charset="-122"/>
                <a:cs typeface="Consolas" pitchFamily="34" charset="-120"/>
              </a:rPr>
              <a:t>    &lt;dependency&gt;</a:t>
            </a:r>
            <a:endParaRPr lang="en-US" sz="1100" dirty="0"/>
          </a:p>
          <a:p>
            <a:pPr indent="0" marL="0">
              <a:buNone/>
            </a:pPr>
            <a:r>
              <a:rPr lang="en-US" sz="1100" dirty="0">
                <a:solidFill>
                  <a:srgbClr val="81D4FA"/>
                </a:solidFill>
                <a:latin typeface="Consolas" pitchFamily="34" charset="0"/>
                <a:ea typeface="Consolas" pitchFamily="34" charset="-122"/>
                <a:cs typeface="Consolas" pitchFamily="34" charset="-120"/>
              </a:rPr>
              <a:t>      &lt;groupId&gt;</a:t>
            </a:r>
            <a:pPr indent="0" marL="0">
              <a:buNone/>
            </a:pPr>
            <a:r>
              <a:rPr lang="en-US" sz="1100" dirty="0">
                <a:solidFill>
                  <a:srgbClr val="A5D6A7"/>
                </a:solidFill>
                <a:latin typeface="Consolas" pitchFamily="34" charset="0"/>
                <a:ea typeface="Consolas" pitchFamily="34" charset="-122"/>
                <a:cs typeface="Consolas" pitchFamily="34" charset="-120"/>
              </a:rPr>
              <a:t>com.h2database</a:t>
            </a:r>
            <a:pPr indent="0" marL="0">
              <a:buNone/>
            </a:pPr>
            <a:r>
              <a:rPr lang="en-US" sz="1100" dirty="0">
                <a:solidFill>
                  <a:srgbClr val="81D4FA"/>
                </a:solidFill>
                <a:latin typeface="Consolas" pitchFamily="34" charset="0"/>
                <a:ea typeface="Consolas" pitchFamily="34" charset="-122"/>
                <a:cs typeface="Consolas" pitchFamily="34" charset="-120"/>
              </a:rPr>
              <a:t>&lt;/groupId&gt;</a:t>
            </a:r>
            <a:endParaRPr lang="en-US" sz="1100" dirty="0"/>
          </a:p>
          <a:p>
            <a:pPr indent="0" marL="0">
              <a:buNone/>
            </a:pPr>
            <a:r>
              <a:rPr lang="en-US" sz="1100" dirty="0">
                <a:solidFill>
                  <a:srgbClr val="81D4FA"/>
                </a:solidFill>
                <a:latin typeface="Consolas" pitchFamily="34" charset="0"/>
                <a:ea typeface="Consolas" pitchFamily="34" charset="-122"/>
                <a:cs typeface="Consolas" pitchFamily="34" charset="-120"/>
              </a:rPr>
              <a:t>      &lt;artifactId&gt;</a:t>
            </a:r>
            <a:pPr indent="0" marL="0">
              <a:buNone/>
            </a:pPr>
            <a:r>
              <a:rPr lang="en-US" sz="1100" dirty="0">
                <a:solidFill>
                  <a:srgbClr val="A5D6A7"/>
                </a:solidFill>
                <a:latin typeface="Consolas" pitchFamily="34" charset="0"/>
                <a:ea typeface="Consolas" pitchFamily="34" charset="-122"/>
                <a:cs typeface="Consolas" pitchFamily="34" charset="-120"/>
              </a:rPr>
              <a:t>h2</a:t>
            </a:r>
            <a:pPr indent="0" marL="0">
              <a:buNone/>
            </a:pPr>
            <a:r>
              <a:rPr lang="en-US" sz="1100" dirty="0">
                <a:solidFill>
                  <a:srgbClr val="81D4FA"/>
                </a:solidFill>
                <a:latin typeface="Consolas" pitchFamily="34" charset="0"/>
                <a:ea typeface="Consolas" pitchFamily="34" charset="-122"/>
                <a:cs typeface="Consolas" pitchFamily="34" charset="-120"/>
              </a:rPr>
              <a:t>&lt;/artifactId&gt;</a:t>
            </a:r>
            <a:endParaRPr lang="en-US" sz="1100" dirty="0"/>
          </a:p>
          <a:p>
            <a:pPr indent="0" marL="0">
              <a:buNone/>
            </a:pPr>
            <a:r>
              <a:rPr lang="en-US" sz="1100" dirty="0">
                <a:solidFill>
                  <a:srgbClr val="81D4FA"/>
                </a:solidFill>
                <a:latin typeface="Consolas" pitchFamily="34" charset="0"/>
                <a:ea typeface="Consolas" pitchFamily="34" charset="-122"/>
                <a:cs typeface="Consolas" pitchFamily="34" charset="-120"/>
              </a:rPr>
              <a:t>    &lt;/dependency&gt;</a:t>
            </a:r>
            <a:endParaRPr lang="en-US" sz="1100" dirty="0"/>
          </a:p>
          <a:p>
            <a:pPr indent="0" marL="0">
              <a:buNone/>
            </a:pPr>
            <a:r>
              <a:rPr lang="en-US" sz="1100" dirty="0">
                <a:solidFill>
                  <a:srgbClr val="81D4FA"/>
                </a:solidFill>
                <a:latin typeface="Consolas" pitchFamily="34" charset="0"/>
                <a:ea typeface="Consolas" pitchFamily="34" charset="-122"/>
                <a:cs typeface="Consolas" pitchFamily="34" charset="-120"/>
              </a:rPr>
              <a:t>  &lt;/dependencies&gt;</a:t>
            </a:r>
            <a:endParaRPr lang="en-US" sz="1100" dirty="0"/>
          </a:p>
          <a:p>
            <a:pPr indent="0" marL="0">
              <a:buNone/>
            </a:pPr>
            <a:r>
              <a:rPr lang="en-US" sz="1100" dirty="0">
                <a:solidFill>
                  <a:srgbClr val="CE93D8"/>
                </a:solidFill>
                <a:latin typeface="Consolas" pitchFamily="34" charset="0"/>
                <a:ea typeface="Consolas" pitchFamily="34" charset="-122"/>
                <a:cs typeface="Consolas" pitchFamily="34" charset="-120"/>
              </a:rPr>
              <a:t>&lt;/project&gt;</a:t>
            </a:r>
            <a:endParaRPr lang="en-US" sz="1100" dirty="0"/>
          </a:p>
        </p:txBody>
      </p:sp>
      <p:sp>
        <p:nvSpPr>
          <p:cNvPr id="9" name="Shape 7"/>
          <p:cNvSpPr/>
          <p:nvPr/>
        </p:nvSpPr>
        <p:spPr>
          <a:xfrm>
            <a:off x="5532120" y="1170432"/>
            <a:ext cx="3291840" cy="1078992"/>
          </a:xfrm>
          <a:prstGeom prst="rect">
            <a:avLst/>
          </a:prstGeom>
          <a:solidFill>
            <a:srgbClr val="132235"/>
          </a:solidFill>
          <a:ln w="12700">
            <a:solidFill>
              <a:srgbClr val="1565C0"/>
            </a:solidFill>
            <a:prstDash val="solid"/>
          </a:ln>
          <a:effectLst>
            <a:outerShdw sx="100000" sy="100000" kx="0" ky="0" algn="bl" rotWithShape="0" blurRad="63500" dist="25400" dir="8100000">
              <a:srgbClr val="000000">
                <a:alpha val="12000"/>
              </a:srgbClr>
            </a:outerShdw>
          </a:effectLst>
        </p:spPr>
      </p:sp>
      <p:sp>
        <p:nvSpPr>
          <p:cNvPr id="10" name="Shape 8"/>
          <p:cNvSpPr/>
          <p:nvPr/>
        </p:nvSpPr>
        <p:spPr>
          <a:xfrm>
            <a:off x="5669280" y="1371600"/>
            <a:ext cx="566928" cy="566928"/>
          </a:xfrm>
          <a:prstGeom prst="ellipse">
            <a:avLst/>
          </a:prstGeom>
          <a:solidFill>
            <a:srgbClr val="1565C0"/>
          </a:solidFill>
          <a:ln w="12700">
            <a:solidFill>
              <a:srgbClr val="1565C0"/>
            </a:solidFill>
            <a:prstDash val="solid"/>
          </a:ln>
        </p:spPr>
      </p:sp>
      <p:pic>
        <p:nvPicPr>
          <p:cNvPr id="11" name="Image 0" descr="preencoded.png">    </p:cNvPr>
          <p:cNvPicPr>
            <a:picLocks noChangeAspect="1"/>
          </p:cNvPicPr>
          <p:nvPr/>
        </p:nvPicPr>
        <p:blipFill>
          <a:blip r:embed="rId1"/>
          <a:stretch>
            <a:fillRect/>
          </a:stretch>
        </p:blipFill>
        <p:spPr>
          <a:xfrm>
            <a:off x="5724144" y="1426464"/>
            <a:ext cx="457200" cy="457200"/>
          </a:xfrm>
          <a:prstGeom prst="rect">
            <a:avLst/>
          </a:prstGeom>
        </p:spPr>
      </p:pic>
      <p:sp>
        <p:nvSpPr>
          <p:cNvPr id="12" name="Text 9"/>
          <p:cNvSpPr/>
          <p:nvPr/>
        </p:nvSpPr>
        <p:spPr>
          <a:xfrm>
            <a:off x="6400800" y="1243584"/>
            <a:ext cx="228600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GAV — identity</a:t>
            </a:r>
            <a:endParaRPr lang="en-US" sz="1200" dirty="0"/>
          </a:p>
        </p:txBody>
      </p:sp>
      <p:sp>
        <p:nvSpPr>
          <p:cNvPr id="13" name="Text 10"/>
          <p:cNvSpPr/>
          <p:nvPr/>
        </p:nvSpPr>
        <p:spPr>
          <a:xfrm>
            <a:off x="6400800" y="1572768"/>
            <a:ext cx="2286000" cy="594360"/>
          </a:xfrm>
          <a:prstGeom prst="rect">
            <a:avLst/>
          </a:prstGeom>
          <a:noFill/>
          <a:ln/>
        </p:spPr>
        <p:txBody>
          <a:bodyPr wrap="square" rtlCol="0" anchor="ctr"/>
          <a:lstStyle/>
          <a:p>
            <a:pPr indent="0" marL="0">
              <a:buNone/>
            </a:pPr>
            <a:r>
              <a:rPr lang="en-US" sz="1050" dirty="0">
                <a:solidFill>
                  <a:srgbClr val="B3C8E0"/>
                </a:solidFill>
                <a:latin typeface="Calibri" pitchFamily="34" charset="0"/>
                <a:ea typeface="Calibri" pitchFamily="34" charset="-122"/>
                <a:cs typeface="Calibri" pitchFamily="34" charset="-120"/>
              </a:rPr>
              <a:t>groupId + artifactId + version</a:t>
            </a:r>
            <a:endParaRPr lang="en-US" sz="1050" dirty="0"/>
          </a:p>
          <a:p>
            <a:pPr indent="0" marL="0">
              <a:buNone/>
            </a:pPr>
            <a:r>
              <a:rPr lang="en-US" sz="1050" dirty="0">
                <a:solidFill>
                  <a:srgbClr val="B3C8E0"/>
                </a:solidFill>
                <a:latin typeface="Calibri" pitchFamily="34" charset="0"/>
                <a:ea typeface="Calibri" pitchFamily="34" charset="-122"/>
                <a:cs typeface="Calibri" pitchFamily="34" charset="-120"/>
              </a:rPr>
              <a:t>uniquely identify the artifact</a:t>
            </a:r>
            <a:endParaRPr lang="en-US" sz="1050" dirty="0"/>
          </a:p>
        </p:txBody>
      </p:sp>
      <p:sp>
        <p:nvSpPr>
          <p:cNvPr id="14" name="Shape 11"/>
          <p:cNvSpPr/>
          <p:nvPr/>
        </p:nvSpPr>
        <p:spPr>
          <a:xfrm>
            <a:off x="5532120" y="2359152"/>
            <a:ext cx="3291840" cy="1078992"/>
          </a:xfrm>
          <a:prstGeom prst="rect">
            <a:avLst/>
          </a:prstGeom>
          <a:solidFill>
            <a:srgbClr val="132235"/>
          </a:solidFill>
          <a:ln w="12700">
            <a:solidFill>
              <a:srgbClr val="1565C0"/>
            </a:solidFill>
            <a:prstDash val="solid"/>
          </a:ln>
          <a:effectLst>
            <a:outerShdw sx="100000" sy="100000" kx="0" ky="0" algn="bl" rotWithShape="0" blurRad="63500" dist="25400" dir="8100000">
              <a:srgbClr val="000000">
                <a:alpha val="12000"/>
              </a:srgbClr>
            </a:outerShdw>
          </a:effectLst>
        </p:spPr>
      </p:sp>
      <p:sp>
        <p:nvSpPr>
          <p:cNvPr id="15" name="Shape 12"/>
          <p:cNvSpPr/>
          <p:nvPr/>
        </p:nvSpPr>
        <p:spPr>
          <a:xfrm>
            <a:off x="5669280" y="2560320"/>
            <a:ext cx="566928" cy="566928"/>
          </a:xfrm>
          <a:prstGeom prst="ellipse">
            <a:avLst/>
          </a:prstGeom>
          <a:solidFill>
            <a:srgbClr val="00695C"/>
          </a:solidFill>
          <a:ln w="12700">
            <a:solidFill>
              <a:srgbClr val="00695C"/>
            </a:solidFill>
            <a:prstDash val="solid"/>
          </a:ln>
        </p:spPr>
      </p:sp>
      <p:pic>
        <p:nvPicPr>
          <p:cNvPr id="16" name="Image 1" descr="preencoded.png">    </p:cNvPr>
          <p:cNvPicPr>
            <a:picLocks noChangeAspect="1"/>
          </p:cNvPicPr>
          <p:nvPr/>
        </p:nvPicPr>
        <p:blipFill>
          <a:blip r:embed="rId2"/>
          <a:stretch>
            <a:fillRect/>
          </a:stretch>
        </p:blipFill>
        <p:spPr>
          <a:xfrm>
            <a:off x="5724144" y="2615184"/>
            <a:ext cx="457200" cy="457200"/>
          </a:xfrm>
          <a:prstGeom prst="rect">
            <a:avLst/>
          </a:prstGeom>
        </p:spPr>
      </p:pic>
      <p:sp>
        <p:nvSpPr>
          <p:cNvPr id="17" name="Text 13"/>
          <p:cNvSpPr/>
          <p:nvPr/>
        </p:nvSpPr>
        <p:spPr>
          <a:xfrm>
            <a:off x="6400800" y="2432304"/>
            <a:ext cx="228600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Dependencies</a:t>
            </a:r>
            <a:endParaRPr lang="en-US" sz="1200" dirty="0"/>
          </a:p>
        </p:txBody>
      </p:sp>
      <p:sp>
        <p:nvSpPr>
          <p:cNvPr id="18" name="Text 14"/>
          <p:cNvSpPr/>
          <p:nvPr/>
        </p:nvSpPr>
        <p:spPr>
          <a:xfrm>
            <a:off x="6400800" y="2761488"/>
            <a:ext cx="2286000" cy="594360"/>
          </a:xfrm>
          <a:prstGeom prst="rect">
            <a:avLst/>
          </a:prstGeom>
          <a:noFill/>
          <a:ln/>
        </p:spPr>
        <p:txBody>
          <a:bodyPr wrap="square" rtlCol="0" anchor="ctr"/>
          <a:lstStyle/>
          <a:p>
            <a:pPr indent="0" marL="0">
              <a:buNone/>
            </a:pPr>
            <a:r>
              <a:rPr lang="en-US" sz="1050" dirty="0">
                <a:solidFill>
                  <a:srgbClr val="B3C8E0"/>
                </a:solidFill>
                <a:latin typeface="Calibri" pitchFamily="34" charset="0"/>
                <a:ea typeface="Calibri" pitchFamily="34" charset="-122"/>
                <a:cs typeface="Calibri" pitchFamily="34" charset="-120"/>
              </a:rPr>
              <a:t>Libraries are added</a:t>
            </a:r>
            <a:endParaRPr lang="en-US" sz="1050" dirty="0"/>
          </a:p>
          <a:p>
            <a:pPr indent="0" marL="0">
              <a:buNone/>
            </a:pPr>
            <a:r>
              <a:rPr lang="en-US" sz="1050" dirty="0">
                <a:solidFill>
                  <a:srgbClr val="B3C8E0"/>
                </a:solidFill>
                <a:latin typeface="Calibri" pitchFamily="34" charset="0"/>
                <a:ea typeface="Calibri" pitchFamily="34" charset="-122"/>
                <a:cs typeface="Calibri" pitchFamily="34" charset="-120"/>
              </a:rPr>
              <a:t>through &lt;dependency&gt;</a:t>
            </a:r>
            <a:endParaRPr lang="en-US" sz="1050" dirty="0"/>
          </a:p>
        </p:txBody>
      </p:sp>
      <p:sp>
        <p:nvSpPr>
          <p:cNvPr id="19" name="Shape 15"/>
          <p:cNvSpPr/>
          <p:nvPr/>
        </p:nvSpPr>
        <p:spPr>
          <a:xfrm>
            <a:off x="5532120" y="3547872"/>
            <a:ext cx="3291840" cy="1078992"/>
          </a:xfrm>
          <a:prstGeom prst="rect">
            <a:avLst/>
          </a:prstGeom>
          <a:solidFill>
            <a:srgbClr val="132235"/>
          </a:solidFill>
          <a:ln w="12700">
            <a:solidFill>
              <a:srgbClr val="1565C0"/>
            </a:solidFill>
            <a:prstDash val="solid"/>
          </a:ln>
          <a:effectLst>
            <a:outerShdw sx="100000" sy="100000" kx="0" ky="0" algn="bl" rotWithShape="0" blurRad="63500" dist="25400" dir="8100000">
              <a:srgbClr val="000000">
                <a:alpha val="12000"/>
              </a:srgbClr>
            </a:outerShdw>
          </a:effectLst>
        </p:spPr>
      </p:sp>
      <p:sp>
        <p:nvSpPr>
          <p:cNvPr id="20" name="Shape 16"/>
          <p:cNvSpPr/>
          <p:nvPr/>
        </p:nvSpPr>
        <p:spPr>
          <a:xfrm>
            <a:off x="5669280" y="3749040"/>
            <a:ext cx="566928" cy="566928"/>
          </a:xfrm>
          <a:prstGeom prst="ellipse">
            <a:avLst/>
          </a:prstGeom>
          <a:solidFill>
            <a:srgbClr val="4527A0"/>
          </a:solidFill>
          <a:ln w="12700">
            <a:solidFill>
              <a:srgbClr val="4527A0"/>
            </a:solidFill>
            <a:prstDash val="solid"/>
          </a:ln>
        </p:spPr>
      </p:sp>
      <p:pic>
        <p:nvPicPr>
          <p:cNvPr id="21" name="Image 2" descr="preencoded.png">    </p:cNvPr>
          <p:cNvPicPr>
            <a:picLocks noChangeAspect="1"/>
          </p:cNvPicPr>
          <p:nvPr/>
        </p:nvPicPr>
        <p:blipFill>
          <a:blip r:embed="rId3"/>
          <a:stretch>
            <a:fillRect/>
          </a:stretch>
        </p:blipFill>
        <p:spPr>
          <a:xfrm>
            <a:off x="5724144" y="3803904"/>
            <a:ext cx="457200" cy="457200"/>
          </a:xfrm>
          <a:prstGeom prst="rect">
            <a:avLst/>
          </a:prstGeom>
        </p:spPr>
      </p:pic>
      <p:sp>
        <p:nvSpPr>
          <p:cNvPr id="22" name="Text 17"/>
          <p:cNvSpPr/>
          <p:nvPr/>
        </p:nvSpPr>
        <p:spPr>
          <a:xfrm>
            <a:off x="6400800" y="3621024"/>
            <a:ext cx="228600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Lifecycle</a:t>
            </a:r>
            <a:endParaRPr lang="en-US" sz="1200" dirty="0"/>
          </a:p>
        </p:txBody>
      </p:sp>
      <p:sp>
        <p:nvSpPr>
          <p:cNvPr id="23" name="Text 18"/>
          <p:cNvSpPr/>
          <p:nvPr/>
        </p:nvSpPr>
        <p:spPr>
          <a:xfrm>
            <a:off x="6400800" y="3950208"/>
            <a:ext cx="2286000" cy="594360"/>
          </a:xfrm>
          <a:prstGeom prst="rect">
            <a:avLst/>
          </a:prstGeom>
          <a:noFill/>
          <a:ln/>
        </p:spPr>
        <p:txBody>
          <a:bodyPr wrap="square" rtlCol="0" anchor="ctr"/>
          <a:lstStyle/>
          <a:p>
            <a:pPr indent="0" marL="0">
              <a:buNone/>
            </a:pPr>
            <a:r>
              <a:rPr lang="en-US" sz="1050" dirty="0">
                <a:solidFill>
                  <a:srgbClr val="B3C8E0"/>
                </a:solidFill>
                <a:latin typeface="Calibri" pitchFamily="34" charset="0"/>
                <a:ea typeface="Calibri" pitchFamily="34" charset="-122"/>
                <a:cs typeface="Calibri" pitchFamily="34" charset="-120"/>
              </a:rPr>
              <a:t>compile → test → package → clean</a:t>
            </a:r>
            <a:endParaRPr lang="en-US" sz="1050" dirty="0"/>
          </a:p>
          <a:p>
            <a:pPr indent="0" marL="0">
              <a:buNone/>
            </a:pPr>
            <a:r>
              <a:rPr lang="en-US" sz="1050" dirty="0">
                <a:solidFill>
                  <a:srgbClr val="B3C8E0"/>
                </a:solidFill>
                <a:latin typeface="Calibri" pitchFamily="34" charset="0"/>
                <a:ea typeface="Calibri" pitchFamily="34" charset="-122"/>
                <a:cs typeface="Calibri" pitchFamily="34" charset="-120"/>
              </a:rPr>
              <a:t>Can be run step by step</a:t>
            </a:r>
            <a:endParaRPr lang="en-US" sz="1050" dirty="0"/>
          </a:p>
        </p:txBody>
      </p:sp>
      <p:sp>
        <p:nvSpPr>
          <p:cNvPr id="24" name="Shape 19"/>
          <p:cNvSpPr/>
          <p:nvPr/>
        </p:nvSpPr>
        <p:spPr>
          <a:xfrm>
            <a:off x="320040" y="4709160"/>
            <a:ext cx="8503920" cy="320040"/>
          </a:xfrm>
          <a:prstGeom prst="rect">
            <a:avLst/>
          </a:prstGeom>
          <a:solidFill>
            <a:srgbClr val="132235"/>
          </a:solidFill>
          <a:ln w="12700">
            <a:solidFill>
              <a:srgbClr val="1565C0"/>
            </a:solidFill>
            <a:prstDash val="solid"/>
          </a:ln>
        </p:spPr>
      </p:sp>
      <p:sp>
        <p:nvSpPr>
          <p:cNvPr id="25" name="Text 20"/>
          <p:cNvSpPr/>
          <p:nvPr/>
        </p:nvSpPr>
        <p:spPr>
          <a:xfrm>
            <a:off x="457200" y="4727448"/>
            <a:ext cx="8229600" cy="274320"/>
          </a:xfrm>
          <a:prstGeom prst="rect">
            <a:avLst/>
          </a:prstGeom>
          <a:noFill/>
          <a:ln/>
        </p:spPr>
        <p:txBody>
          <a:bodyPr wrap="square" rtlCol="0" anchor="ctr"/>
          <a:lstStyle/>
          <a:p>
            <a:pPr indent="0" marL="0">
              <a:buNone/>
            </a:pPr>
            <a:r>
              <a:rPr lang="en-US" sz="1100" b="1" dirty="0">
                <a:solidFill>
                  <a:srgbClr val="90CAF9"/>
                </a:solidFill>
                <a:latin typeface="Consolas" pitchFamily="34" charset="0"/>
                <a:ea typeface="Consolas" pitchFamily="34" charset="-122"/>
                <a:cs typeface="Consolas" pitchFamily="34" charset="-120"/>
              </a:rPr>
              <a:t>Commands: </a:t>
            </a:r>
            <a:pPr indent="0" marL="0">
              <a:buNone/>
            </a:pPr>
            <a:r>
              <a:rPr lang="en-US" sz="1100" dirty="0">
                <a:solidFill>
                  <a:srgbClr val="A5D6A7"/>
                </a:solidFill>
                <a:latin typeface="Consolas" pitchFamily="34" charset="0"/>
                <a:ea typeface="Consolas" pitchFamily="34" charset="-122"/>
                <a:cs typeface="Consolas" pitchFamily="34" charset="-120"/>
              </a:rPr>
              <a:t>mvn compile  </a:t>
            </a:r>
            <a:pPr indent="0" marL="0">
              <a:buNone/>
            </a:pPr>
            <a:r>
              <a:rPr lang="en-US" sz="1100" dirty="0">
                <a:solidFill>
                  <a:srgbClr val="A5D6A7"/>
                </a:solidFill>
                <a:latin typeface="Consolas" pitchFamily="34" charset="0"/>
                <a:ea typeface="Consolas" pitchFamily="34" charset="-122"/>
                <a:cs typeface="Consolas" pitchFamily="34" charset="-120"/>
              </a:rPr>
              <a:t>mvn package  </a:t>
            </a:r>
            <a:pPr indent="0" marL="0">
              <a:buNone/>
            </a:pPr>
            <a:r>
              <a:rPr lang="en-US" sz="1100" dirty="0">
                <a:solidFill>
                  <a:srgbClr val="A5D6A7"/>
                </a:solidFill>
                <a:latin typeface="Consolas" pitchFamily="34" charset="0"/>
                <a:ea typeface="Consolas" pitchFamily="34" charset="-122"/>
                <a:cs typeface="Consolas" pitchFamily="34" charset="-120"/>
              </a:rPr>
              <a:t>mvn clean  </a:t>
            </a:r>
            <a:pPr indent="0" marL="0">
              <a:buNone/>
            </a:pPr>
            <a:r>
              <a:rPr lang="en-US" sz="1100" dirty="0">
                <a:solidFill>
                  <a:srgbClr val="F9A825"/>
                </a:solidFill>
                <a:latin typeface="Consolas" pitchFamily="34" charset="0"/>
                <a:ea typeface="Consolas" pitchFamily="34" charset="-122"/>
                <a:cs typeface="Consolas" pitchFamily="34" charset="-120"/>
              </a:rPr>
              <a:t>mvn dependency:tree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897B"/>
          </a:solidFill>
          <a:ln w="12700">
            <a:solidFill>
              <a:srgbClr val="00897B"/>
            </a:solidFill>
            <a:prstDash val="solid"/>
          </a:ln>
        </p:spPr>
      </p:sp>
      <p:sp>
        <p:nvSpPr>
          <p:cNvPr id="3" name="Text 1"/>
          <p:cNvSpPr/>
          <p:nvPr/>
        </p:nvSpPr>
        <p:spPr>
          <a:xfrm>
            <a:off x="274320" y="91440"/>
            <a:ext cx="457200" cy="54864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4" name="Text 2"/>
          <p:cNvSpPr/>
          <p:nvPr/>
        </p:nvSpPr>
        <p:spPr>
          <a:xfrm>
            <a:off x="868680" y="109728"/>
            <a:ext cx="7772400" cy="5029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JDBC — direct conversation with the database</a:t>
            </a:r>
            <a:endParaRPr lang="en-US" sz="2400" dirty="0"/>
          </a:p>
        </p:txBody>
      </p:sp>
      <p:sp>
        <p:nvSpPr>
          <p:cNvPr id="5" name="Shape 3"/>
          <p:cNvSpPr/>
          <p:nvPr/>
        </p:nvSpPr>
        <p:spPr>
          <a:xfrm>
            <a:off x="182880" y="914400"/>
            <a:ext cx="1600200" cy="2286000"/>
          </a:xfrm>
          <a:prstGeom prst="rect">
            <a:avLst/>
          </a:prstGeom>
          <a:solidFill>
            <a:srgbClr val="FFFFFF"/>
          </a:solidFill>
          <a:ln w="12700">
            <a:solidFill>
              <a:srgbClr val="CFD8DC"/>
            </a:solidFill>
            <a:prstDash val="solid"/>
          </a:ln>
          <a:effectLst>
            <a:outerShdw sx="100000" sy="100000" kx="0" ky="0" algn="bl" rotWithShape="0" blurRad="63500" dist="25400" dir="8100000">
              <a:srgbClr val="000000">
                <a:alpha val="12000"/>
              </a:srgbClr>
            </a:outerShdw>
          </a:effectLst>
        </p:spPr>
      </p:sp>
      <p:sp>
        <p:nvSpPr>
          <p:cNvPr id="6" name="Shape 4"/>
          <p:cNvSpPr/>
          <p:nvPr/>
        </p:nvSpPr>
        <p:spPr>
          <a:xfrm>
            <a:off x="182880" y="914400"/>
            <a:ext cx="1600200" cy="658368"/>
          </a:xfrm>
          <a:prstGeom prst="rect">
            <a:avLst/>
          </a:prstGeom>
          <a:solidFill>
            <a:srgbClr val="1565C0"/>
          </a:solidFill>
          <a:ln w="12700">
            <a:solidFill>
              <a:srgbClr val="1565C0"/>
            </a:solidFill>
            <a:prstDash val="solid"/>
          </a:ln>
        </p:spPr>
      </p:sp>
      <p:pic>
        <p:nvPicPr>
          <p:cNvPr id="7" name="Image 0" descr="preencoded.png">    </p:cNvPr>
          <p:cNvPicPr>
            <a:picLocks noChangeAspect="1"/>
          </p:cNvPicPr>
          <p:nvPr/>
        </p:nvPicPr>
        <p:blipFill>
          <a:blip r:embed="rId1"/>
          <a:stretch>
            <a:fillRect/>
          </a:stretch>
        </p:blipFill>
        <p:spPr>
          <a:xfrm>
            <a:off x="749808" y="978408"/>
            <a:ext cx="475488" cy="475488"/>
          </a:xfrm>
          <a:prstGeom prst="rect">
            <a:avLst/>
          </a:prstGeom>
        </p:spPr>
      </p:pic>
      <p:sp>
        <p:nvSpPr>
          <p:cNvPr id="8" name="Text 5"/>
          <p:cNvSpPr/>
          <p:nvPr/>
        </p:nvSpPr>
        <p:spPr>
          <a:xfrm>
            <a:off x="182880" y="1572768"/>
            <a:ext cx="1600200" cy="411480"/>
          </a:xfrm>
          <a:prstGeom prst="rect">
            <a:avLst/>
          </a:prstGeom>
          <a:noFill/>
          <a:ln/>
        </p:spPr>
        <p:txBody>
          <a:bodyPr wrap="square" rtlCol="0" anchor="ctr"/>
          <a:lstStyle/>
          <a:p>
            <a:pPr algn="ctr" indent="0" marL="0">
              <a:buNone/>
            </a:pPr>
            <a:r>
              <a:rPr lang="en-US" sz="1050" b="1" dirty="0">
                <a:solidFill>
                  <a:srgbClr val="0F2D4A"/>
                </a:solidFill>
                <a:latin typeface="Calibri" pitchFamily="34" charset="0"/>
                <a:ea typeface="Calibri" pitchFamily="34" charset="-122"/>
                <a:cs typeface="Calibri" pitchFamily="34" charset="-120"/>
              </a:rPr>
              <a:t>1. Driver</a:t>
            </a:r>
            <a:endParaRPr lang="en-US" sz="1050" dirty="0"/>
          </a:p>
        </p:txBody>
      </p:sp>
      <p:sp>
        <p:nvSpPr>
          <p:cNvPr id="9" name="Text 6"/>
          <p:cNvSpPr/>
          <p:nvPr/>
        </p:nvSpPr>
        <p:spPr>
          <a:xfrm>
            <a:off x="182880" y="1993392"/>
            <a:ext cx="1600200" cy="1097280"/>
          </a:xfrm>
          <a:prstGeom prst="rect">
            <a:avLst/>
          </a:prstGeom>
          <a:noFill/>
          <a:ln/>
        </p:spPr>
        <p:txBody>
          <a:bodyPr wrap="square" rtlCol="0" anchor="ctr"/>
          <a:lstStyle/>
          <a:p>
            <a:pPr algn="ctr" indent="0" marL="0">
              <a:buNone/>
            </a:pPr>
            <a:r>
              <a:rPr lang="en-US" sz="1000" dirty="0">
                <a:solidFill>
                  <a:srgbClr val="546E7A"/>
                </a:solidFill>
                <a:latin typeface="Calibri" pitchFamily="34" charset="0"/>
                <a:ea typeface="Calibri" pitchFamily="34" charset="-122"/>
                <a:cs typeface="Calibri" pitchFamily="34" charset="-120"/>
              </a:rPr>
              <a:t>Load the driver</a:t>
            </a:r>
            <a:endParaRPr lang="en-US" sz="1000" dirty="0"/>
          </a:p>
          <a:p>
            <a:pPr algn="ctr" indent="0" marL="0">
              <a:buNone/>
            </a:pPr>
            <a:r>
              <a:rPr lang="en-US" sz="1000" dirty="0">
                <a:solidFill>
                  <a:srgbClr val="546E7A"/>
                </a:solidFill>
                <a:latin typeface="Calibri" pitchFamily="34" charset="0"/>
                <a:ea typeface="Calibri" pitchFamily="34" charset="-122"/>
                <a:cs typeface="Calibri" pitchFamily="34" charset="-120"/>
              </a:rPr>
              <a:t>H2 / MySQL</a:t>
            </a:r>
            <a:endParaRPr lang="en-US" sz="1000" dirty="0"/>
          </a:p>
        </p:txBody>
      </p:sp>
      <p:pic>
        <p:nvPicPr>
          <p:cNvPr id="10" name="Image 1" descr="preencoded.png">    </p:cNvPr>
          <p:cNvPicPr>
            <a:picLocks noChangeAspect="1"/>
          </p:cNvPicPr>
          <p:nvPr/>
        </p:nvPicPr>
        <p:blipFill>
          <a:blip r:embed="rId2"/>
          <a:stretch>
            <a:fillRect/>
          </a:stretch>
        </p:blipFill>
        <p:spPr>
          <a:xfrm>
            <a:off x="1783080" y="1920240"/>
            <a:ext cx="155448" cy="256032"/>
          </a:xfrm>
          <a:prstGeom prst="rect">
            <a:avLst/>
          </a:prstGeom>
        </p:spPr>
      </p:pic>
      <p:sp>
        <p:nvSpPr>
          <p:cNvPr id="11" name="Shape 7"/>
          <p:cNvSpPr/>
          <p:nvPr/>
        </p:nvSpPr>
        <p:spPr>
          <a:xfrm>
            <a:off x="1938528" y="914400"/>
            <a:ext cx="1600200" cy="2286000"/>
          </a:xfrm>
          <a:prstGeom prst="rect">
            <a:avLst/>
          </a:prstGeom>
          <a:solidFill>
            <a:srgbClr val="FFFFFF"/>
          </a:solidFill>
          <a:ln w="12700">
            <a:solidFill>
              <a:srgbClr val="CFD8DC"/>
            </a:solidFill>
            <a:prstDash val="solid"/>
          </a:ln>
          <a:effectLst>
            <a:outerShdw sx="100000" sy="100000" kx="0" ky="0" algn="bl" rotWithShape="0" blurRad="63500" dist="25400" dir="8100000">
              <a:srgbClr val="000000">
                <a:alpha val="12000"/>
              </a:srgbClr>
            </a:outerShdw>
          </a:effectLst>
        </p:spPr>
      </p:sp>
      <p:sp>
        <p:nvSpPr>
          <p:cNvPr id="12" name="Shape 8"/>
          <p:cNvSpPr/>
          <p:nvPr/>
        </p:nvSpPr>
        <p:spPr>
          <a:xfrm>
            <a:off x="1938528" y="914400"/>
            <a:ext cx="1600200" cy="658368"/>
          </a:xfrm>
          <a:prstGeom prst="rect">
            <a:avLst/>
          </a:prstGeom>
          <a:solidFill>
            <a:srgbClr val="00695C"/>
          </a:solidFill>
          <a:ln w="12700">
            <a:solidFill>
              <a:srgbClr val="00695C"/>
            </a:solidFill>
            <a:prstDash val="solid"/>
          </a:ln>
        </p:spPr>
      </p:sp>
      <p:pic>
        <p:nvPicPr>
          <p:cNvPr id="13" name="Image 2" descr="preencoded.png">    </p:cNvPr>
          <p:cNvPicPr>
            <a:picLocks noChangeAspect="1"/>
          </p:cNvPicPr>
          <p:nvPr/>
        </p:nvPicPr>
        <p:blipFill>
          <a:blip r:embed="rId3"/>
          <a:stretch>
            <a:fillRect/>
          </a:stretch>
        </p:blipFill>
        <p:spPr>
          <a:xfrm>
            <a:off x="2505456" y="978408"/>
            <a:ext cx="475488" cy="475488"/>
          </a:xfrm>
          <a:prstGeom prst="rect">
            <a:avLst/>
          </a:prstGeom>
        </p:spPr>
      </p:pic>
      <p:sp>
        <p:nvSpPr>
          <p:cNvPr id="14" name="Text 9"/>
          <p:cNvSpPr/>
          <p:nvPr/>
        </p:nvSpPr>
        <p:spPr>
          <a:xfrm>
            <a:off x="1938528" y="1572768"/>
            <a:ext cx="1600200" cy="411480"/>
          </a:xfrm>
          <a:prstGeom prst="rect">
            <a:avLst/>
          </a:prstGeom>
          <a:noFill/>
          <a:ln/>
        </p:spPr>
        <p:txBody>
          <a:bodyPr wrap="square" rtlCol="0" anchor="ctr"/>
          <a:lstStyle/>
          <a:p>
            <a:pPr algn="ctr" indent="0" marL="0">
              <a:buNone/>
            </a:pPr>
            <a:r>
              <a:rPr lang="en-US" sz="1050" b="1" dirty="0">
                <a:solidFill>
                  <a:srgbClr val="0F2D4A"/>
                </a:solidFill>
                <a:latin typeface="Calibri" pitchFamily="34" charset="0"/>
                <a:ea typeface="Calibri" pitchFamily="34" charset="-122"/>
                <a:cs typeface="Calibri" pitchFamily="34" charset="-120"/>
              </a:rPr>
              <a:t>2. Connection</a:t>
            </a:r>
            <a:endParaRPr lang="en-US" sz="1050" dirty="0"/>
          </a:p>
        </p:txBody>
      </p:sp>
      <p:sp>
        <p:nvSpPr>
          <p:cNvPr id="15" name="Text 10"/>
          <p:cNvSpPr/>
          <p:nvPr/>
        </p:nvSpPr>
        <p:spPr>
          <a:xfrm>
            <a:off x="1938528" y="1993392"/>
            <a:ext cx="1600200" cy="1097280"/>
          </a:xfrm>
          <a:prstGeom prst="rect">
            <a:avLst/>
          </a:prstGeom>
          <a:noFill/>
          <a:ln/>
        </p:spPr>
        <p:txBody>
          <a:bodyPr wrap="square" rtlCol="0" anchor="ctr"/>
          <a:lstStyle/>
          <a:p>
            <a:pPr algn="ctr" indent="0" marL="0">
              <a:buNone/>
            </a:pPr>
            <a:r>
              <a:rPr lang="en-US" sz="1000" dirty="0">
                <a:solidFill>
                  <a:srgbClr val="546E7A"/>
                </a:solidFill>
                <a:latin typeface="Calibri" pitchFamily="34" charset="0"/>
                <a:ea typeface="Calibri" pitchFamily="34" charset="-122"/>
                <a:cs typeface="Calibri" pitchFamily="34" charset="-120"/>
              </a:rPr>
              <a:t>Open a connection</a:t>
            </a:r>
            <a:endParaRPr lang="en-US" sz="1000" dirty="0"/>
          </a:p>
          <a:p>
            <a:pPr algn="ctr" indent="0" marL="0">
              <a:buNone/>
            </a:pPr>
            <a:r>
              <a:rPr lang="en-US" sz="1000" dirty="0">
                <a:solidFill>
                  <a:srgbClr val="546E7A"/>
                </a:solidFill>
                <a:latin typeface="Calibri" pitchFamily="34" charset="0"/>
                <a:ea typeface="Calibri" pitchFamily="34" charset="-122"/>
                <a:cs typeface="Calibri" pitchFamily="34" charset="-120"/>
              </a:rPr>
              <a:t>getConnection()</a:t>
            </a:r>
            <a:endParaRPr lang="en-US" sz="1000" dirty="0"/>
          </a:p>
        </p:txBody>
      </p:sp>
      <p:pic>
        <p:nvPicPr>
          <p:cNvPr id="16" name="Image 3" descr="preencoded.png">    </p:cNvPr>
          <p:cNvPicPr>
            <a:picLocks noChangeAspect="1"/>
          </p:cNvPicPr>
          <p:nvPr/>
        </p:nvPicPr>
        <p:blipFill>
          <a:blip r:embed="rId4"/>
          <a:stretch>
            <a:fillRect/>
          </a:stretch>
        </p:blipFill>
        <p:spPr>
          <a:xfrm>
            <a:off x="3538728" y="1920240"/>
            <a:ext cx="155448" cy="256032"/>
          </a:xfrm>
          <a:prstGeom prst="rect">
            <a:avLst/>
          </a:prstGeom>
        </p:spPr>
      </p:pic>
      <p:sp>
        <p:nvSpPr>
          <p:cNvPr id="17" name="Shape 11"/>
          <p:cNvSpPr/>
          <p:nvPr/>
        </p:nvSpPr>
        <p:spPr>
          <a:xfrm>
            <a:off x="3694176" y="914400"/>
            <a:ext cx="1600200" cy="2286000"/>
          </a:xfrm>
          <a:prstGeom prst="rect">
            <a:avLst/>
          </a:prstGeom>
          <a:solidFill>
            <a:srgbClr val="FFFFFF"/>
          </a:solidFill>
          <a:ln w="12700">
            <a:solidFill>
              <a:srgbClr val="CFD8DC"/>
            </a:solidFill>
            <a:prstDash val="solid"/>
          </a:ln>
          <a:effectLst>
            <a:outerShdw sx="100000" sy="100000" kx="0" ky="0" algn="bl" rotWithShape="0" blurRad="63500" dist="25400" dir="8100000">
              <a:srgbClr val="000000">
                <a:alpha val="12000"/>
              </a:srgbClr>
            </a:outerShdw>
          </a:effectLst>
        </p:spPr>
      </p:sp>
      <p:sp>
        <p:nvSpPr>
          <p:cNvPr id="18" name="Shape 12"/>
          <p:cNvSpPr/>
          <p:nvPr/>
        </p:nvSpPr>
        <p:spPr>
          <a:xfrm>
            <a:off x="3694176" y="914400"/>
            <a:ext cx="1600200" cy="658368"/>
          </a:xfrm>
          <a:prstGeom prst="rect">
            <a:avLst/>
          </a:prstGeom>
          <a:solidFill>
            <a:srgbClr val="4527A0"/>
          </a:solidFill>
          <a:ln w="12700">
            <a:solidFill>
              <a:srgbClr val="4527A0"/>
            </a:solidFill>
            <a:prstDash val="solid"/>
          </a:ln>
        </p:spPr>
      </p:sp>
      <p:pic>
        <p:nvPicPr>
          <p:cNvPr id="19" name="Image 4" descr="preencoded.png">    </p:cNvPr>
          <p:cNvPicPr>
            <a:picLocks noChangeAspect="1"/>
          </p:cNvPicPr>
          <p:nvPr/>
        </p:nvPicPr>
        <p:blipFill>
          <a:blip r:embed="rId5"/>
          <a:stretch>
            <a:fillRect/>
          </a:stretch>
        </p:blipFill>
        <p:spPr>
          <a:xfrm>
            <a:off x="4261104" y="978408"/>
            <a:ext cx="475488" cy="475488"/>
          </a:xfrm>
          <a:prstGeom prst="rect">
            <a:avLst/>
          </a:prstGeom>
        </p:spPr>
      </p:pic>
      <p:sp>
        <p:nvSpPr>
          <p:cNvPr id="20" name="Text 13"/>
          <p:cNvSpPr/>
          <p:nvPr/>
        </p:nvSpPr>
        <p:spPr>
          <a:xfrm>
            <a:off x="3694176" y="1572768"/>
            <a:ext cx="1600200" cy="411480"/>
          </a:xfrm>
          <a:prstGeom prst="rect">
            <a:avLst/>
          </a:prstGeom>
          <a:noFill/>
          <a:ln/>
        </p:spPr>
        <p:txBody>
          <a:bodyPr wrap="square" rtlCol="0" anchor="ctr"/>
          <a:lstStyle/>
          <a:p>
            <a:pPr algn="ctr" indent="0" marL="0">
              <a:buNone/>
            </a:pPr>
            <a:r>
              <a:rPr lang="en-US" sz="1050" b="1" dirty="0">
                <a:solidFill>
                  <a:srgbClr val="0F2D4A"/>
                </a:solidFill>
                <a:latin typeface="Calibri" pitchFamily="34" charset="0"/>
                <a:ea typeface="Calibri" pitchFamily="34" charset="-122"/>
                <a:cs typeface="Calibri" pitchFamily="34" charset="-120"/>
              </a:rPr>
              <a:t>3. PreparedStatement</a:t>
            </a:r>
            <a:endParaRPr lang="en-US" sz="1050" dirty="0"/>
          </a:p>
        </p:txBody>
      </p:sp>
      <p:sp>
        <p:nvSpPr>
          <p:cNvPr id="21" name="Text 14"/>
          <p:cNvSpPr/>
          <p:nvPr/>
        </p:nvSpPr>
        <p:spPr>
          <a:xfrm>
            <a:off x="3694176" y="1993392"/>
            <a:ext cx="1600200" cy="1097280"/>
          </a:xfrm>
          <a:prstGeom prst="rect">
            <a:avLst/>
          </a:prstGeom>
          <a:noFill/>
          <a:ln/>
        </p:spPr>
        <p:txBody>
          <a:bodyPr wrap="square" rtlCol="0" anchor="ctr"/>
          <a:lstStyle/>
          <a:p>
            <a:pPr algn="ctr" indent="0" marL="0">
              <a:buNone/>
            </a:pPr>
            <a:r>
              <a:rPr lang="en-US" sz="1000" dirty="0">
                <a:solidFill>
                  <a:srgbClr val="546E7A"/>
                </a:solidFill>
                <a:latin typeface="Calibri" pitchFamily="34" charset="0"/>
                <a:ea typeface="Calibri" pitchFamily="34" charset="-122"/>
                <a:cs typeface="Calibri" pitchFamily="34" charset="-120"/>
              </a:rPr>
              <a:t>SQL template + parameters</a:t>
            </a:r>
            <a:endParaRPr lang="en-US" sz="1000" dirty="0"/>
          </a:p>
          <a:p>
            <a:pPr algn="ctr" indent="0" marL="0">
              <a:buNone/>
            </a:pPr>
            <a:r>
              <a:rPr lang="en-US" sz="1000" dirty="0">
                <a:solidFill>
                  <a:srgbClr val="546E7A"/>
                </a:solidFill>
                <a:latin typeface="Calibri" pitchFamily="34" charset="0"/>
                <a:ea typeface="Calibri" pitchFamily="34" charset="-122"/>
                <a:cs typeface="Calibri" pitchFamily="34" charset="-120"/>
              </a:rPr>
              <a:t>(safe!)</a:t>
            </a:r>
            <a:endParaRPr lang="en-US" sz="1000" dirty="0"/>
          </a:p>
        </p:txBody>
      </p:sp>
      <p:pic>
        <p:nvPicPr>
          <p:cNvPr id="22" name="Image 5" descr="preencoded.png">    </p:cNvPr>
          <p:cNvPicPr>
            <a:picLocks noChangeAspect="1"/>
          </p:cNvPicPr>
          <p:nvPr/>
        </p:nvPicPr>
        <p:blipFill>
          <a:blip r:embed="rId6"/>
          <a:stretch>
            <a:fillRect/>
          </a:stretch>
        </p:blipFill>
        <p:spPr>
          <a:xfrm>
            <a:off x="5294376" y="1920240"/>
            <a:ext cx="155448" cy="256032"/>
          </a:xfrm>
          <a:prstGeom prst="rect">
            <a:avLst/>
          </a:prstGeom>
        </p:spPr>
      </p:pic>
      <p:sp>
        <p:nvSpPr>
          <p:cNvPr id="23" name="Shape 15"/>
          <p:cNvSpPr/>
          <p:nvPr/>
        </p:nvSpPr>
        <p:spPr>
          <a:xfrm>
            <a:off x="5449824" y="914400"/>
            <a:ext cx="1600200" cy="2286000"/>
          </a:xfrm>
          <a:prstGeom prst="rect">
            <a:avLst/>
          </a:prstGeom>
          <a:solidFill>
            <a:srgbClr val="FFFFFF"/>
          </a:solidFill>
          <a:ln w="12700">
            <a:solidFill>
              <a:srgbClr val="CFD8DC"/>
            </a:solidFill>
            <a:prstDash val="solid"/>
          </a:ln>
          <a:effectLst>
            <a:outerShdw sx="100000" sy="100000" kx="0" ky="0" algn="bl" rotWithShape="0" blurRad="63500" dist="25400" dir="8100000">
              <a:srgbClr val="000000">
                <a:alpha val="12000"/>
              </a:srgbClr>
            </a:outerShdw>
          </a:effectLst>
        </p:spPr>
      </p:sp>
      <p:sp>
        <p:nvSpPr>
          <p:cNvPr id="24" name="Shape 16"/>
          <p:cNvSpPr/>
          <p:nvPr/>
        </p:nvSpPr>
        <p:spPr>
          <a:xfrm>
            <a:off x="5449824" y="914400"/>
            <a:ext cx="1600200" cy="658368"/>
          </a:xfrm>
          <a:prstGeom prst="rect">
            <a:avLst/>
          </a:prstGeom>
          <a:solidFill>
            <a:srgbClr val="BF360C"/>
          </a:solidFill>
          <a:ln w="12700">
            <a:solidFill>
              <a:srgbClr val="BF360C"/>
            </a:solidFill>
            <a:prstDash val="solid"/>
          </a:ln>
        </p:spPr>
      </p:sp>
      <p:pic>
        <p:nvPicPr>
          <p:cNvPr id="25" name="Image 6" descr="preencoded.png">    </p:cNvPr>
          <p:cNvPicPr>
            <a:picLocks noChangeAspect="1"/>
          </p:cNvPicPr>
          <p:nvPr/>
        </p:nvPicPr>
        <p:blipFill>
          <a:blip r:embed="rId7"/>
          <a:stretch>
            <a:fillRect/>
          </a:stretch>
        </p:blipFill>
        <p:spPr>
          <a:xfrm>
            <a:off x="6016752" y="978408"/>
            <a:ext cx="475488" cy="475488"/>
          </a:xfrm>
          <a:prstGeom prst="rect">
            <a:avLst/>
          </a:prstGeom>
        </p:spPr>
      </p:pic>
      <p:sp>
        <p:nvSpPr>
          <p:cNvPr id="26" name="Text 17"/>
          <p:cNvSpPr/>
          <p:nvPr/>
        </p:nvSpPr>
        <p:spPr>
          <a:xfrm>
            <a:off x="5449824" y="1572768"/>
            <a:ext cx="1600200" cy="411480"/>
          </a:xfrm>
          <a:prstGeom prst="rect">
            <a:avLst/>
          </a:prstGeom>
          <a:noFill/>
          <a:ln/>
        </p:spPr>
        <p:txBody>
          <a:bodyPr wrap="square" rtlCol="0" anchor="ctr"/>
          <a:lstStyle/>
          <a:p>
            <a:pPr algn="ctr" indent="0" marL="0">
              <a:buNone/>
            </a:pPr>
            <a:r>
              <a:rPr lang="en-US" sz="1050" b="1" dirty="0">
                <a:solidFill>
                  <a:srgbClr val="0F2D4A"/>
                </a:solidFill>
                <a:latin typeface="Calibri" pitchFamily="34" charset="0"/>
                <a:ea typeface="Calibri" pitchFamily="34" charset="-122"/>
                <a:cs typeface="Calibri" pitchFamily="34" charset="-120"/>
              </a:rPr>
              <a:t>4. ResultSet</a:t>
            </a:r>
            <a:endParaRPr lang="en-US" sz="1050" dirty="0"/>
          </a:p>
        </p:txBody>
      </p:sp>
      <p:sp>
        <p:nvSpPr>
          <p:cNvPr id="27" name="Text 18"/>
          <p:cNvSpPr/>
          <p:nvPr/>
        </p:nvSpPr>
        <p:spPr>
          <a:xfrm>
            <a:off x="5449824" y="1993392"/>
            <a:ext cx="1600200" cy="1097280"/>
          </a:xfrm>
          <a:prstGeom prst="rect">
            <a:avLst/>
          </a:prstGeom>
          <a:noFill/>
          <a:ln/>
        </p:spPr>
        <p:txBody>
          <a:bodyPr wrap="square" rtlCol="0" anchor="ctr"/>
          <a:lstStyle/>
          <a:p>
            <a:pPr algn="ctr" indent="0" marL="0">
              <a:buNone/>
            </a:pPr>
            <a:r>
              <a:rPr lang="en-US" sz="1000" dirty="0">
                <a:solidFill>
                  <a:srgbClr val="546E7A"/>
                </a:solidFill>
                <a:latin typeface="Calibri" pitchFamily="34" charset="0"/>
                <a:ea typeface="Calibri" pitchFamily="34" charset="-122"/>
                <a:cs typeface="Calibri" pitchFamily="34" charset="-120"/>
              </a:rPr>
              <a:t>Read rows</a:t>
            </a:r>
            <a:endParaRPr lang="en-US" sz="1000" dirty="0"/>
          </a:p>
          <a:p>
            <a:pPr algn="ctr" indent="0" marL="0">
              <a:buNone/>
            </a:pPr>
            <a:r>
              <a:rPr lang="en-US" sz="1000" dirty="0">
                <a:solidFill>
                  <a:srgbClr val="546E7A"/>
                </a:solidFill>
                <a:latin typeface="Calibri" pitchFamily="34" charset="0"/>
                <a:ea typeface="Calibri" pitchFamily="34" charset="-122"/>
                <a:cs typeface="Calibri" pitchFamily="34" charset="-120"/>
              </a:rPr>
              <a:t>of the result</a:t>
            </a:r>
            <a:endParaRPr lang="en-US" sz="1000" dirty="0"/>
          </a:p>
        </p:txBody>
      </p:sp>
      <p:pic>
        <p:nvPicPr>
          <p:cNvPr id="28" name="Image 7" descr="preencoded.png">    </p:cNvPr>
          <p:cNvPicPr>
            <a:picLocks noChangeAspect="1"/>
          </p:cNvPicPr>
          <p:nvPr/>
        </p:nvPicPr>
        <p:blipFill>
          <a:blip r:embed="rId8"/>
          <a:stretch>
            <a:fillRect/>
          </a:stretch>
        </p:blipFill>
        <p:spPr>
          <a:xfrm>
            <a:off x="7050024" y="1920240"/>
            <a:ext cx="155448" cy="256032"/>
          </a:xfrm>
          <a:prstGeom prst="rect">
            <a:avLst/>
          </a:prstGeom>
        </p:spPr>
      </p:pic>
      <p:sp>
        <p:nvSpPr>
          <p:cNvPr id="29" name="Shape 19"/>
          <p:cNvSpPr/>
          <p:nvPr/>
        </p:nvSpPr>
        <p:spPr>
          <a:xfrm>
            <a:off x="7205472" y="914400"/>
            <a:ext cx="1600200" cy="2286000"/>
          </a:xfrm>
          <a:prstGeom prst="rect">
            <a:avLst/>
          </a:prstGeom>
          <a:solidFill>
            <a:srgbClr val="FFFFFF"/>
          </a:solidFill>
          <a:ln w="12700">
            <a:solidFill>
              <a:srgbClr val="CFD8DC"/>
            </a:solidFill>
            <a:prstDash val="solid"/>
          </a:ln>
          <a:effectLst>
            <a:outerShdw sx="100000" sy="100000" kx="0" ky="0" algn="bl" rotWithShape="0" blurRad="63500" dist="25400" dir="8100000">
              <a:srgbClr val="000000">
                <a:alpha val="12000"/>
              </a:srgbClr>
            </a:outerShdw>
          </a:effectLst>
        </p:spPr>
      </p:sp>
      <p:sp>
        <p:nvSpPr>
          <p:cNvPr id="30" name="Shape 20"/>
          <p:cNvSpPr/>
          <p:nvPr/>
        </p:nvSpPr>
        <p:spPr>
          <a:xfrm>
            <a:off x="7205472" y="914400"/>
            <a:ext cx="1600200" cy="658368"/>
          </a:xfrm>
          <a:prstGeom prst="rect">
            <a:avLst/>
          </a:prstGeom>
          <a:solidFill>
            <a:srgbClr val="1B5E20"/>
          </a:solidFill>
          <a:ln w="12700">
            <a:solidFill>
              <a:srgbClr val="1B5E20"/>
            </a:solidFill>
            <a:prstDash val="solid"/>
          </a:ln>
        </p:spPr>
      </p:sp>
      <p:pic>
        <p:nvPicPr>
          <p:cNvPr id="31" name="Image 8" descr="preencoded.png">    </p:cNvPr>
          <p:cNvPicPr>
            <a:picLocks noChangeAspect="1"/>
          </p:cNvPicPr>
          <p:nvPr/>
        </p:nvPicPr>
        <p:blipFill>
          <a:blip r:embed="rId9"/>
          <a:stretch>
            <a:fillRect/>
          </a:stretch>
        </p:blipFill>
        <p:spPr>
          <a:xfrm>
            <a:off x="7772400" y="978408"/>
            <a:ext cx="475488" cy="475488"/>
          </a:xfrm>
          <a:prstGeom prst="rect">
            <a:avLst/>
          </a:prstGeom>
        </p:spPr>
      </p:pic>
      <p:sp>
        <p:nvSpPr>
          <p:cNvPr id="32" name="Text 21"/>
          <p:cNvSpPr/>
          <p:nvPr/>
        </p:nvSpPr>
        <p:spPr>
          <a:xfrm>
            <a:off x="7205472" y="1572768"/>
            <a:ext cx="1600200" cy="411480"/>
          </a:xfrm>
          <a:prstGeom prst="rect">
            <a:avLst/>
          </a:prstGeom>
          <a:noFill/>
          <a:ln/>
        </p:spPr>
        <p:txBody>
          <a:bodyPr wrap="square" rtlCol="0" anchor="ctr"/>
          <a:lstStyle/>
          <a:p>
            <a:pPr algn="ctr" indent="0" marL="0">
              <a:buNone/>
            </a:pPr>
            <a:r>
              <a:rPr lang="en-US" sz="1050" b="1" dirty="0">
                <a:solidFill>
                  <a:srgbClr val="0F2D4A"/>
                </a:solidFill>
                <a:latin typeface="Calibri" pitchFamily="34" charset="0"/>
                <a:ea typeface="Calibri" pitchFamily="34" charset="-122"/>
                <a:cs typeface="Calibri" pitchFamily="34" charset="-120"/>
              </a:rPr>
              <a:t>5. Close</a:t>
            </a:r>
            <a:endParaRPr lang="en-US" sz="1050" dirty="0"/>
          </a:p>
        </p:txBody>
      </p:sp>
      <p:sp>
        <p:nvSpPr>
          <p:cNvPr id="33" name="Text 22"/>
          <p:cNvSpPr/>
          <p:nvPr/>
        </p:nvSpPr>
        <p:spPr>
          <a:xfrm>
            <a:off x="7205472" y="1993392"/>
            <a:ext cx="1600200" cy="1097280"/>
          </a:xfrm>
          <a:prstGeom prst="rect">
            <a:avLst/>
          </a:prstGeom>
          <a:noFill/>
          <a:ln/>
        </p:spPr>
        <p:txBody>
          <a:bodyPr wrap="square" rtlCol="0" anchor="ctr"/>
          <a:lstStyle/>
          <a:p>
            <a:pPr algn="ctr" indent="0" marL="0">
              <a:buNone/>
            </a:pPr>
            <a:r>
              <a:rPr lang="en-US" sz="1000" dirty="0">
                <a:solidFill>
                  <a:srgbClr val="546E7A"/>
                </a:solidFill>
                <a:latin typeface="Calibri" pitchFamily="34" charset="0"/>
                <a:ea typeface="Calibri" pitchFamily="34" charset="-122"/>
                <a:cs typeface="Calibri" pitchFamily="34" charset="-120"/>
              </a:rPr>
              <a:t>try-with-resources</a:t>
            </a:r>
            <a:endParaRPr lang="en-US" sz="1000" dirty="0"/>
          </a:p>
          <a:p>
            <a:pPr algn="ctr" indent="0" marL="0">
              <a:buNone/>
            </a:pPr>
            <a:r>
              <a:rPr lang="en-US" sz="1000" dirty="0">
                <a:solidFill>
                  <a:srgbClr val="546E7A"/>
                </a:solidFill>
                <a:latin typeface="Calibri" pitchFamily="34" charset="0"/>
                <a:ea typeface="Calibri" pitchFamily="34" charset="-122"/>
                <a:cs typeface="Calibri" pitchFamily="34" charset="-120"/>
              </a:rPr>
              <a:t>closes everything</a:t>
            </a:r>
            <a:endParaRPr lang="en-US" sz="1000" dirty="0"/>
          </a:p>
        </p:txBody>
      </p:sp>
      <p:sp>
        <p:nvSpPr>
          <p:cNvPr id="34" name="Shape 23"/>
          <p:cNvSpPr/>
          <p:nvPr/>
        </p:nvSpPr>
        <p:spPr>
          <a:xfrm>
            <a:off x="182880" y="3337560"/>
            <a:ext cx="5120640" cy="1627632"/>
          </a:xfrm>
          <a:prstGeom prst="rect">
            <a:avLst/>
          </a:prstGeom>
          <a:solidFill>
            <a:srgbClr val="0D1B2A"/>
          </a:solidFill>
          <a:ln w="12700">
            <a:solidFill>
              <a:srgbClr val="00897B"/>
            </a:solidFill>
            <a:prstDash val="solid"/>
          </a:ln>
        </p:spPr>
      </p:sp>
      <p:sp>
        <p:nvSpPr>
          <p:cNvPr id="35" name="Text 24"/>
          <p:cNvSpPr/>
          <p:nvPr/>
        </p:nvSpPr>
        <p:spPr>
          <a:xfrm>
            <a:off x="347472" y="3456432"/>
            <a:ext cx="4846320" cy="1389888"/>
          </a:xfrm>
          <a:prstGeom prst="rect">
            <a:avLst/>
          </a:prstGeom>
          <a:noFill/>
          <a:ln/>
        </p:spPr>
        <p:txBody>
          <a:bodyPr wrap="square" rtlCol="0" anchor="t"/>
          <a:lstStyle/>
          <a:p>
            <a:pPr indent="0" marL="0">
              <a:buNone/>
            </a:pPr>
            <a:r>
              <a:rPr lang="en-US" sz="1050" dirty="0">
                <a:solidFill>
                  <a:srgbClr val="81D4FA"/>
                </a:solidFill>
                <a:latin typeface="Consolas" pitchFamily="34" charset="0"/>
                <a:ea typeface="Consolas" pitchFamily="34" charset="-122"/>
                <a:cs typeface="Consolas" pitchFamily="34" charset="-120"/>
              </a:rPr>
              <a:t>String sql = "SELECT * FROM movies\n</a:t>
            </a:r>
            <a:pPr indent="0" marL="0">
              <a:buNone/>
            </a:pPr>
            <a:r>
              <a:rPr lang="en-US" sz="1050" dirty="0">
                <a:solidFill>
                  <a:srgbClr val="81D4FA"/>
                </a:solidFill>
                <a:latin typeface="Consolas" pitchFamily="34" charset="0"/>
                <a:ea typeface="Consolas" pitchFamily="34" charset="-122"/>
                <a:cs typeface="Consolas" pitchFamily="34" charset="-120"/>
              </a:rPr>
              <a:t>  WHERE LOWER(title) LIKE LOWER(?)";</a:t>
            </a:r>
            <a:endParaRPr lang="en-US" sz="1050" dirty="0"/>
          </a:p>
          <a:p>
            <a:pPr indent="0" marL="0">
              <a:buNone/>
            </a:pPr>
            <a:r>
              <a:rPr lang="en-US" sz="1050" dirty="0">
                <a:solidFill>
                  <a:srgbClr val="A5D6A7"/>
                </a:solidFill>
                <a:latin typeface="Consolas" pitchFamily="34" charset="0"/>
                <a:ea typeface="Consolas" pitchFamily="34" charset="-122"/>
                <a:cs typeface="Consolas" pitchFamily="34" charset="-120"/>
              </a:rPr>
              <a:t>try (Connection con = ds.getConnection();</a:t>
            </a:r>
            <a:endParaRPr lang="en-US" sz="1050" dirty="0"/>
          </a:p>
          <a:p>
            <a:pPr indent="0" marL="0">
              <a:buNone/>
            </a:pPr>
            <a:r>
              <a:rPr lang="en-US" sz="1050" dirty="0">
                <a:solidFill>
                  <a:srgbClr val="A5D6A7"/>
                </a:solidFill>
                <a:latin typeface="Consolas" pitchFamily="34" charset="0"/>
                <a:ea typeface="Consolas" pitchFamily="34" charset="-122"/>
                <a:cs typeface="Consolas" pitchFamily="34" charset="-120"/>
              </a:rPr>
              <a:t>     PreparedStatement ps = con.prepareStatement(sql)) {</a:t>
            </a:r>
            <a:endParaRPr lang="en-US" sz="1050" dirty="0"/>
          </a:p>
          <a:p>
            <a:pPr indent="0" marL="0">
              <a:buNone/>
            </a:pPr>
            <a:r>
              <a:rPr lang="en-US" sz="1050" dirty="0">
                <a:solidFill>
                  <a:srgbClr val="F9A825"/>
                </a:solidFill>
                <a:latin typeface="Consolas" pitchFamily="34" charset="0"/>
                <a:ea typeface="Consolas" pitchFamily="34" charset="-122"/>
                <a:cs typeface="Consolas" pitchFamily="34" charset="-120"/>
              </a:rPr>
              <a:t>  ps.setString(1, "%" + titlePart + "%");</a:t>
            </a:r>
            <a:endParaRPr lang="en-US" sz="1050" dirty="0"/>
          </a:p>
          <a:p>
            <a:pPr indent="0" marL="0">
              <a:buNone/>
            </a:pPr>
            <a:r>
              <a:rPr lang="en-US" sz="1050" dirty="0">
                <a:solidFill>
                  <a:srgbClr val="CE93D8"/>
                </a:solidFill>
                <a:latin typeface="Consolas" pitchFamily="34" charset="0"/>
                <a:ea typeface="Consolas" pitchFamily="34" charset="-122"/>
                <a:cs typeface="Consolas" pitchFamily="34" charset="-120"/>
              </a:rPr>
              <a:t>  ResultSet rs = ps.executeQuery();</a:t>
            </a:r>
            <a:endParaRPr lang="en-US" sz="1050" dirty="0"/>
          </a:p>
        </p:txBody>
      </p:sp>
      <p:pic>
        <p:nvPicPr>
          <p:cNvPr id="36" name="Image 9" descr="preencoded.png">    </p:cNvPr>
          <p:cNvPicPr>
            <a:picLocks noChangeAspect="1"/>
          </p:cNvPicPr>
          <p:nvPr/>
        </p:nvPicPr>
        <p:blipFill>
          <a:blip r:embed="rId10"/>
          <a:stretch>
            <a:fillRect/>
          </a:stretch>
        </p:blipFill>
        <p:spPr>
          <a:xfrm>
            <a:off x="5486400" y="3410712"/>
            <a:ext cx="347472" cy="347472"/>
          </a:xfrm>
          <a:prstGeom prst="rect">
            <a:avLst/>
          </a:prstGeom>
        </p:spPr>
      </p:pic>
      <p:sp>
        <p:nvSpPr>
          <p:cNvPr id="37" name="Text 25"/>
          <p:cNvSpPr/>
          <p:nvPr/>
        </p:nvSpPr>
        <p:spPr>
          <a:xfrm>
            <a:off x="5943600" y="3401568"/>
            <a:ext cx="3017520" cy="384048"/>
          </a:xfrm>
          <a:prstGeom prst="rect">
            <a:avLst/>
          </a:prstGeom>
          <a:noFill/>
          <a:ln/>
        </p:spPr>
        <p:txBody>
          <a:bodyPr wrap="square" rtlCol="0" anchor="ctr"/>
          <a:lstStyle/>
          <a:p>
            <a:pPr indent="0" marL="0">
              <a:buNone/>
            </a:pPr>
            <a:r>
              <a:rPr lang="en-US" sz="1200" b="1" dirty="0">
                <a:solidFill>
                  <a:srgbClr val="E65100"/>
                </a:solidFill>
                <a:latin typeface="Calibri" pitchFamily="34" charset="0"/>
                <a:ea typeface="Calibri" pitchFamily="34" charset="-122"/>
                <a:cs typeface="Calibri" pitchFamily="34" charset="-120"/>
              </a:rPr>
              <a:t>❌  Do NOT do: sql + userInput (SQL injection!)</a:t>
            </a:r>
            <a:endParaRPr lang="en-US" sz="1200" dirty="0"/>
          </a:p>
        </p:txBody>
      </p:sp>
      <p:pic>
        <p:nvPicPr>
          <p:cNvPr id="38" name="Image 10" descr="preencoded.png">    </p:cNvPr>
          <p:cNvPicPr>
            <a:picLocks noChangeAspect="1"/>
          </p:cNvPicPr>
          <p:nvPr/>
        </p:nvPicPr>
        <p:blipFill>
          <a:blip r:embed="rId11"/>
          <a:stretch>
            <a:fillRect/>
          </a:stretch>
        </p:blipFill>
        <p:spPr>
          <a:xfrm>
            <a:off x="5486400" y="3886200"/>
            <a:ext cx="347472" cy="347472"/>
          </a:xfrm>
          <a:prstGeom prst="rect">
            <a:avLst/>
          </a:prstGeom>
        </p:spPr>
      </p:pic>
      <p:sp>
        <p:nvSpPr>
          <p:cNvPr id="39" name="Text 26"/>
          <p:cNvSpPr/>
          <p:nvPr/>
        </p:nvSpPr>
        <p:spPr>
          <a:xfrm>
            <a:off x="5943600" y="3877056"/>
            <a:ext cx="3017520" cy="384048"/>
          </a:xfrm>
          <a:prstGeom prst="rect">
            <a:avLst/>
          </a:prstGeom>
          <a:noFill/>
          <a:ln/>
        </p:spPr>
        <p:txBody>
          <a:bodyPr wrap="square" rtlCol="0" anchor="ctr"/>
          <a:lstStyle/>
          <a:p>
            <a:pPr indent="0" marL="0">
              <a:buNone/>
            </a:pPr>
            <a:r>
              <a:rPr lang="en-US" sz="1200" b="1" dirty="0">
                <a:solidFill>
                  <a:srgbClr val="2E7D32"/>
                </a:solidFill>
                <a:latin typeface="Calibri" pitchFamily="34" charset="0"/>
                <a:ea typeface="Calibri" pitchFamily="34" charset="-122"/>
                <a:cs typeface="Calibri" pitchFamily="34" charset="-120"/>
              </a:rPr>
              <a:t>✅  PreparedStatement separates SQL and data</a:t>
            </a:r>
            <a:endParaRPr lang="en-US" sz="1200" dirty="0"/>
          </a:p>
        </p:txBody>
      </p:sp>
      <p:pic>
        <p:nvPicPr>
          <p:cNvPr id="40" name="Image 11" descr="preencoded.png">    </p:cNvPr>
          <p:cNvPicPr>
            <a:picLocks noChangeAspect="1"/>
          </p:cNvPicPr>
          <p:nvPr/>
        </p:nvPicPr>
        <p:blipFill>
          <a:blip r:embed="rId12"/>
          <a:stretch>
            <a:fillRect/>
          </a:stretch>
        </p:blipFill>
        <p:spPr>
          <a:xfrm>
            <a:off x="5486400" y="4361688"/>
            <a:ext cx="347472" cy="347472"/>
          </a:xfrm>
          <a:prstGeom prst="rect">
            <a:avLst/>
          </a:prstGeom>
        </p:spPr>
      </p:pic>
      <p:sp>
        <p:nvSpPr>
          <p:cNvPr id="41" name="Text 27"/>
          <p:cNvSpPr/>
          <p:nvPr/>
        </p:nvSpPr>
        <p:spPr>
          <a:xfrm>
            <a:off x="5943600" y="4352544"/>
            <a:ext cx="3017520" cy="384048"/>
          </a:xfrm>
          <a:prstGeom prst="rect">
            <a:avLst/>
          </a:prstGeom>
          <a:noFill/>
          <a:ln/>
        </p:spPr>
        <p:txBody>
          <a:bodyPr wrap="square" rtlCol="0" anchor="ctr"/>
          <a:lstStyle/>
          <a:p>
            <a:pPr indent="0" marL="0">
              <a:buNone/>
            </a:pPr>
            <a:r>
              <a:rPr lang="en-US" sz="1200" b="1" dirty="0">
                <a:solidFill>
                  <a:srgbClr val="2E7D32"/>
                </a:solidFill>
                <a:latin typeface="Calibri" pitchFamily="34" charset="0"/>
                <a:ea typeface="Calibri" pitchFamily="34" charset="-122"/>
                <a:cs typeface="Calibri" pitchFamily="34" charset="-120"/>
              </a:rPr>
              <a:t>✅  try-with-resources closes resources automatically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E2E"/>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6A1B9A"/>
          </a:solidFill>
          <a:ln w="12700">
            <a:solidFill>
              <a:srgbClr val="6A1B9A"/>
            </a:solidFill>
            <a:prstDash val="solid"/>
          </a:ln>
        </p:spPr>
      </p:sp>
      <p:sp>
        <p:nvSpPr>
          <p:cNvPr id="3" name="Text 1"/>
          <p:cNvSpPr/>
          <p:nvPr/>
        </p:nvSpPr>
        <p:spPr>
          <a:xfrm>
            <a:off x="274320" y="109728"/>
            <a:ext cx="457200" cy="530352"/>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4" name="Text 2"/>
          <p:cNvSpPr/>
          <p:nvPr/>
        </p:nvSpPr>
        <p:spPr>
          <a:xfrm>
            <a:off x="868680" y="128016"/>
            <a:ext cx="7772400" cy="484632"/>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DAO — an interface between code and SQL</a:t>
            </a:r>
            <a:endParaRPr lang="en-US" sz="2400" dirty="0"/>
          </a:p>
        </p:txBody>
      </p:sp>
      <p:sp>
        <p:nvSpPr>
          <p:cNvPr id="5" name="Shape 3"/>
          <p:cNvSpPr/>
          <p:nvPr/>
        </p:nvSpPr>
        <p:spPr>
          <a:xfrm>
            <a:off x="274320" y="914400"/>
            <a:ext cx="2560320" cy="2606040"/>
          </a:xfrm>
          <a:prstGeom prst="rect">
            <a:avLst/>
          </a:prstGeom>
          <a:solidFill>
            <a:srgbClr val="132235"/>
          </a:solidFill>
          <a:ln w="12700">
            <a:solidFill>
              <a:srgbClr val="1565C0"/>
            </a:solidFill>
            <a:prstDash val="solid"/>
          </a:ln>
          <a:effectLst>
            <a:outerShdw sx="100000" sy="100000" kx="0" ky="0" algn="bl" rotWithShape="0" blurRad="63500" dist="25400" dir="8100000">
              <a:srgbClr val="000000">
                <a:alpha val="12000"/>
              </a:srgbClr>
            </a:outerShdw>
          </a:effectLst>
        </p:spPr>
      </p:sp>
      <p:sp>
        <p:nvSpPr>
          <p:cNvPr id="6" name="Shape 4"/>
          <p:cNvSpPr/>
          <p:nvPr/>
        </p:nvSpPr>
        <p:spPr>
          <a:xfrm>
            <a:off x="274320" y="914400"/>
            <a:ext cx="2560320" cy="594360"/>
          </a:xfrm>
          <a:prstGeom prst="rect">
            <a:avLst/>
          </a:prstGeom>
          <a:solidFill>
            <a:srgbClr val="1565C0"/>
          </a:solidFill>
          <a:ln w="12700">
            <a:solidFill>
              <a:srgbClr val="1565C0"/>
            </a:solidFill>
            <a:prstDash val="solid"/>
          </a:ln>
        </p:spPr>
      </p:sp>
      <p:pic>
        <p:nvPicPr>
          <p:cNvPr id="7" name="Image 0" descr="preencoded.png">    </p:cNvPr>
          <p:cNvPicPr>
            <a:picLocks noChangeAspect="1"/>
          </p:cNvPicPr>
          <p:nvPr/>
        </p:nvPicPr>
        <p:blipFill>
          <a:blip r:embed="rId1"/>
          <a:stretch>
            <a:fillRect/>
          </a:stretch>
        </p:blipFill>
        <p:spPr>
          <a:xfrm>
            <a:off x="1298448" y="987552"/>
            <a:ext cx="502920" cy="457200"/>
          </a:xfrm>
          <a:prstGeom prst="rect">
            <a:avLst/>
          </a:prstGeom>
        </p:spPr>
      </p:pic>
      <p:sp>
        <p:nvSpPr>
          <p:cNvPr id="8" name="Text 5"/>
          <p:cNvSpPr/>
          <p:nvPr/>
        </p:nvSpPr>
        <p:spPr>
          <a:xfrm>
            <a:off x="274320" y="1554480"/>
            <a:ext cx="2560320" cy="5486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Main / Test</a:t>
            </a:r>
            <a:endParaRPr lang="en-US" sz="1300" dirty="0"/>
          </a:p>
        </p:txBody>
      </p:sp>
      <p:sp>
        <p:nvSpPr>
          <p:cNvPr id="9" name="Text 6"/>
          <p:cNvSpPr/>
          <p:nvPr/>
        </p:nvSpPr>
        <p:spPr>
          <a:xfrm>
            <a:off x="274320" y="2103120"/>
            <a:ext cx="2560320" cy="1280160"/>
          </a:xfrm>
          <a:prstGeom prst="rect">
            <a:avLst/>
          </a:prstGeom>
          <a:noFill/>
          <a:ln/>
        </p:spPr>
        <p:txBody>
          <a:bodyPr wrap="square" rtlCol="0" anchor="t"/>
          <a:lstStyle/>
          <a:p>
            <a:pPr algn="ctr" indent="0" marL="0">
              <a:buNone/>
            </a:pPr>
            <a:r>
              <a:rPr lang="en-US" sz="1100" dirty="0">
                <a:solidFill>
                  <a:srgbClr val="B3C8E0"/>
                </a:solidFill>
                <a:latin typeface="Consolas" pitchFamily="34" charset="0"/>
                <a:ea typeface="Consolas" pitchFamily="34" charset="-122"/>
                <a:cs typeface="Consolas" pitchFamily="34" charset="-120"/>
              </a:rPr>
              <a:t>Calls</a:t>
            </a:r>
            <a:endParaRPr lang="en-US" sz="1100" dirty="0"/>
          </a:p>
          <a:p>
            <a:pPr algn="ctr" indent="0" marL="0">
              <a:buNone/>
            </a:pPr>
            <a:r>
              <a:rPr lang="en-US" sz="1100" dirty="0">
                <a:solidFill>
                  <a:srgbClr val="B3C8E0"/>
                </a:solidFill>
                <a:latin typeface="Consolas" pitchFamily="34" charset="0"/>
                <a:ea typeface="Consolas" pitchFamily="34" charset="-122"/>
                <a:cs typeface="Consolas" pitchFamily="34" charset="-120"/>
              </a:rPr>
              <a:t>DAO methods</a:t>
            </a:r>
            <a:endParaRPr lang="en-US" sz="1100" dirty="0"/>
          </a:p>
        </p:txBody>
      </p:sp>
      <p:pic>
        <p:nvPicPr>
          <p:cNvPr id="10" name="Image 1" descr="preencoded.png">    </p:cNvPr>
          <p:cNvPicPr>
            <a:picLocks noChangeAspect="1"/>
          </p:cNvPicPr>
          <p:nvPr/>
        </p:nvPicPr>
        <p:blipFill>
          <a:blip r:embed="rId2"/>
          <a:stretch>
            <a:fillRect/>
          </a:stretch>
        </p:blipFill>
        <p:spPr>
          <a:xfrm>
            <a:off x="2834640" y="2103120"/>
            <a:ext cx="320040" cy="320040"/>
          </a:xfrm>
          <a:prstGeom prst="rect">
            <a:avLst/>
          </a:prstGeom>
        </p:spPr>
      </p:pic>
      <p:sp>
        <p:nvSpPr>
          <p:cNvPr id="11" name="Shape 7"/>
          <p:cNvSpPr/>
          <p:nvPr/>
        </p:nvSpPr>
        <p:spPr>
          <a:xfrm>
            <a:off x="3200400" y="914400"/>
            <a:ext cx="2560320" cy="2606040"/>
          </a:xfrm>
          <a:prstGeom prst="rect">
            <a:avLst/>
          </a:prstGeom>
          <a:solidFill>
            <a:srgbClr val="132235"/>
          </a:solidFill>
          <a:ln w="12700">
            <a:solidFill>
              <a:srgbClr val="6A1B9A"/>
            </a:solidFill>
            <a:prstDash val="solid"/>
          </a:ln>
          <a:effectLst>
            <a:outerShdw sx="100000" sy="100000" kx="0" ky="0" algn="bl" rotWithShape="0" blurRad="63500" dist="25400" dir="8100000">
              <a:srgbClr val="000000">
                <a:alpha val="12000"/>
              </a:srgbClr>
            </a:outerShdw>
          </a:effectLst>
        </p:spPr>
      </p:sp>
      <p:sp>
        <p:nvSpPr>
          <p:cNvPr id="12" name="Shape 8"/>
          <p:cNvSpPr/>
          <p:nvPr/>
        </p:nvSpPr>
        <p:spPr>
          <a:xfrm>
            <a:off x="3200400" y="914400"/>
            <a:ext cx="2560320" cy="594360"/>
          </a:xfrm>
          <a:prstGeom prst="rect">
            <a:avLst/>
          </a:prstGeom>
          <a:solidFill>
            <a:srgbClr val="6A1B9A"/>
          </a:solidFill>
          <a:ln w="12700">
            <a:solidFill>
              <a:srgbClr val="6A1B9A"/>
            </a:solidFill>
            <a:prstDash val="solid"/>
          </a:ln>
        </p:spPr>
      </p:sp>
      <p:pic>
        <p:nvPicPr>
          <p:cNvPr id="13" name="Image 2" descr="preencoded.png">    </p:cNvPr>
          <p:cNvPicPr>
            <a:picLocks noChangeAspect="1"/>
          </p:cNvPicPr>
          <p:nvPr/>
        </p:nvPicPr>
        <p:blipFill>
          <a:blip r:embed="rId3"/>
          <a:stretch>
            <a:fillRect/>
          </a:stretch>
        </p:blipFill>
        <p:spPr>
          <a:xfrm>
            <a:off x="4224528" y="987552"/>
            <a:ext cx="502920" cy="457200"/>
          </a:xfrm>
          <a:prstGeom prst="rect">
            <a:avLst/>
          </a:prstGeom>
        </p:spPr>
      </p:pic>
      <p:sp>
        <p:nvSpPr>
          <p:cNvPr id="14" name="Text 9"/>
          <p:cNvSpPr/>
          <p:nvPr/>
        </p:nvSpPr>
        <p:spPr>
          <a:xfrm>
            <a:off x="3200400" y="1554480"/>
            <a:ext cx="2560320" cy="5486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MovieDAO</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(interface)</a:t>
            </a:r>
            <a:endParaRPr lang="en-US" sz="1300" dirty="0"/>
          </a:p>
        </p:txBody>
      </p:sp>
      <p:sp>
        <p:nvSpPr>
          <p:cNvPr id="15" name="Text 10"/>
          <p:cNvSpPr/>
          <p:nvPr/>
        </p:nvSpPr>
        <p:spPr>
          <a:xfrm>
            <a:off x="3200400" y="2103120"/>
            <a:ext cx="2560320" cy="1280160"/>
          </a:xfrm>
          <a:prstGeom prst="rect">
            <a:avLst/>
          </a:prstGeom>
          <a:noFill/>
          <a:ln/>
        </p:spPr>
        <p:txBody>
          <a:bodyPr wrap="square" rtlCol="0" anchor="t"/>
          <a:lstStyle/>
          <a:p>
            <a:pPr algn="ctr" indent="0" marL="0">
              <a:buNone/>
            </a:pPr>
            <a:r>
              <a:rPr lang="en-US" sz="1100" dirty="0">
                <a:solidFill>
                  <a:srgbClr val="B3C8E0"/>
                </a:solidFill>
                <a:latin typeface="Consolas" pitchFamily="34" charset="0"/>
                <a:ea typeface="Consolas" pitchFamily="34" charset="-122"/>
                <a:cs typeface="Consolas" pitchFamily="34" charset="-120"/>
              </a:rPr>
              <a:t>findAll()</a:t>
            </a:r>
            <a:endParaRPr lang="en-US" sz="1100" dirty="0"/>
          </a:p>
          <a:p>
            <a:pPr algn="ctr" indent="0" marL="0">
              <a:buNone/>
            </a:pPr>
            <a:r>
              <a:rPr lang="en-US" sz="1100" dirty="0">
                <a:solidFill>
                  <a:srgbClr val="B3C8E0"/>
                </a:solidFill>
                <a:latin typeface="Consolas" pitchFamily="34" charset="0"/>
                <a:ea typeface="Consolas" pitchFamily="34" charset="-122"/>
                <a:cs typeface="Consolas" pitchFamily="34" charset="-120"/>
              </a:rPr>
              <a:t>findByTitle()</a:t>
            </a:r>
            <a:endParaRPr lang="en-US" sz="1100" dirty="0"/>
          </a:p>
          <a:p>
            <a:pPr algn="ctr" indent="0" marL="0">
              <a:buNone/>
            </a:pPr>
            <a:r>
              <a:rPr lang="en-US" sz="1100" dirty="0">
                <a:solidFill>
                  <a:srgbClr val="B3C8E0"/>
                </a:solidFill>
                <a:latin typeface="Consolas" pitchFamily="34" charset="0"/>
                <a:ea typeface="Consolas" pitchFamily="34" charset="-122"/>
                <a:cs typeface="Consolas" pitchFamily="34" charset="-120"/>
              </a:rPr>
              <a:t>save()</a:t>
            </a:r>
            <a:endParaRPr lang="en-US" sz="1100" dirty="0"/>
          </a:p>
          <a:p>
            <a:pPr algn="ctr" indent="0" marL="0">
              <a:buNone/>
            </a:pPr>
            <a:r>
              <a:rPr lang="en-US" sz="1100" dirty="0">
                <a:solidFill>
                  <a:srgbClr val="B3C8E0"/>
                </a:solidFill>
                <a:latin typeface="Consolas" pitchFamily="34" charset="0"/>
                <a:ea typeface="Consolas" pitchFamily="34" charset="-122"/>
                <a:cs typeface="Consolas" pitchFamily="34" charset="-120"/>
              </a:rPr>
              <a:t>delete()</a:t>
            </a:r>
            <a:endParaRPr lang="en-US" sz="1100" dirty="0"/>
          </a:p>
        </p:txBody>
      </p:sp>
      <p:pic>
        <p:nvPicPr>
          <p:cNvPr id="16" name="Image 3" descr="preencoded.png">    </p:cNvPr>
          <p:cNvPicPr>
            <a:picLocks noChangeAspect="1"/>
          </p:cNvPicPr>
          <p:nvPr/>
        </p:nvPicPr>
        <p:blipFill>
          <a:blip r:embed="rId4"/>
          <a:stretch>
            <a:fillRect/>
          </a:stretch>
        </p:blipFill>
        <p:spPr>
          <a:xfrm>
            <a:off x="5760720" y="2103120"/>
            <a:ext cx="320040" cy="320040"/>
          </a:xfrm>
          <a:prstGeom prst="rect">
            <a:avLst/>
          </a:prstGeom>
        </p:spPr>
      </p:pic>
      <p:sp>
        <p:nvSpPr>
          <p:cNvPr id="17" name="Shape 11"/>
          <p:cNvSpPr/>
          <p:nvPr/>
        </p:nvSpPr>
        <p:spPr>
          <a:xfrm>
            <a:off x="6126480" y="914400"/>
            <a:ext cx="2560320" cy="2606040"/>
          </a:xfrm>
          <a:prstGeom prst="rect">
            <a:avLst/>
          </a:prstGeom>
          <a:solidFill>
            <a:srgbClr val="132235"/>
          </a:solidFill>
          <a:ln w="12700">
            <a:solidFill>
              <a:srgbClr val="00695C"/>
            </a:solidFill>
            <a:prstDash val="solid"/>
          </a:ln>
          <a:effectLst>
            <a:outerShdw sx="100000" sy="100000" kx="0" ky="0" algn="bl" rotWithShape="0" blurRad="63500" dist="25400" dir="8100000">
              <a:srgbClr val="000000">
                <a:alpha val="12000"/>
              </a:srgbClr>
            </a:outerShdw>
          </a:effectLst>
        </p:spPr>
      </p:sp>
      <p:sp>
        <p:nvSpPr>
          <p:cNvPr id="18" name="Shape 12"/>
          <p:cNvSpPr/>
          <p:nvPr/>
        </p:nvSpPr>
        <p:spPr>
          <a:xfrm>
            <a:off x="6126480" y="914400"/>
            <a:ext cx="2560320" cy="594360"/>
          </a:xfrm>
          <a:prstGeom prst="rect">
            <a:avLst/>
          </a:prstGeom>
          <a:solidFill>
            <a:srgbClr val="00695C"/>
          </a:solidFill>
          <a:ln w="12700">
            <a:solidFill>
              <a:srgbClr val="00695C"/>
            </a:solidFill>
            <a:prstDash val="solid"/>
          </a:ln>
        </p:spPr>
      </p:sp>
      <p:pic>
        <p:nvPicPr>
          <p:cNvPr id="19" name="Image 4" descr="preencoded.png">    </p:cNvPr>
          <p:cNvPicPr>
            <a:picLocks noChangeAspect="1"/>
          </p:cNvPicPr>
          <p:nvPr/>
        </p:nvPicPr>
        <p:blipFill>
          <a:blip r:embed="rId5"/>
          <a:stretch>
            <a:fillRect/>
          </a:stretch>
        </p:blipFill>
        <p:spPr>
          <a:xfrm>
            <a:off x="7150608" y="987552"/>
            <a:ext cx="502920" cy="457200"/>
          </a:xfrm>
          <a:prstGeom prst="rect">
            <a:avLst/>
          </a:prstGeom>
        </p:spPr>
      </p:pic>
      <p:sp>
        <p:nvSpPr>
          <p:cNvPr id="20" name="Text 13"/>
          <p:cNvSpPr/>
          <p:nvPr/>
        </p:nvSpPr>
        <p:spPr>
          <a:xfrm>
            <a:off x="6126480" y="1554480"/>
            <a:ext cx="2560320" cy="5486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MovieDAOImpl</a:t>
            </a:r>
            <a:endParaRPr lang="en-US" sz="1300" dirty="0"/>
          </a:p>
        </p:txBody>
      </p:sp>
      <p:sp>
        <p:nvSpPr>
          <p:cNvPr id="21" name="Text 14"/>
          <p:cNvSpPr/>
          <p:nvPr/>
        </p:nvSpPr>
        <p:spPr>
          <a:xfrm>
            <a:off x="6126480" y="2103120"/>
            <a:ext cx="2560320" cy="1280160"/>
          </a:xfrm>
          <a:prstGeom prst="rect">
            <a:avLst/>
          </a:prstGeom>
          <a:noFill/>
          <a:ln/>
        </p:spPr>
        <p:txBody>
          <a:bodyPr wrap="square" rtlCol="0" anchor="t"/>
          <a:lstStyle/>
          <a:p>
            <a:pPr algn="ctr" indent="0" marL="0">
              <a:buNone/>
            </a:pPr>
            <a:r>
              <a:rPr lang="en-US" sz="1100" dirty="0">
                <a:solidFill>
                  <a:srgbClr val="B3C8E0"/>
                </a:solidFill>
                <a:latin typeface="Consolas" pitchFamily="34" charset="0"/>
                <a:ea typeface="Consolas" pitchFamily="34" charset="-122"/>
                <a:cs typeface="Consolas" pitchFamily="34" charset="-120"/>
              </a:rPr>
              <a:t>SQL + JDBC</a:t>
            </a:r>
            <a:endParaRPr lang="en-US" sz="1100" dirty="0"/>
          </a:p>
          <a:p>
            <a:pPr algn="ctr" indent="0" marL="0">
              <a:buNone/>
            </a:pPr>
            <a:r>
              <a:rPr lang="en-US" sz="1100" dirty="0">
                <a:solidFill>
                  <a:srgbClr val="B3C8E0"/>
                </a:solidFill>
                <a:latin typeface="Consolas" pitchFamily="34" charset="0"/>
                <a:ea typeface="Consolas" pitchFamily="34" charset="-122"/>
                <a:cs typeface="Consolas" pitchFamily="34" charset="-120"/>
              </a:rPr>
              <a:t>inside</a:t>
            </a:r>
            <a:endParaRPr lang="en-US" sz="1100" dirty="0"/>
          </a:p>
        </p:txBody>
      </p:sp>
      <p:sp>
        <p:nvSpPr>
          <p:cNvPr id="22" name="Shape 15"/>
          <p:cNvSpPr/>
          <p:nvPr/>
        </p:nvSpPr>
        <p:spPr>
          <a:xfrm>
            <a:off x="274320" y="3657600"/>
            <a:ext cx="8595360" cy="1353312"/>
          </a:xfrm>
          <a:prstGeom prst="rect">
            <a:avLst/>
          </a:prstGeom>
          <a:solidFill>
            <a:srgbClr val="1A0035"/>
          </a:solidFill>
          <a:ln w="12700">
            <a:solidFill>
              <a:srgbClr val="6A1B9A"/>
            </a:solidFill>
            <a:prstDash val="solid"/>
          </a:ln>
        </p:spPr>
      </p:sp>
      <p:sp>
        <p:nvSpPr>
          <p:cNvPr id="23" name="Text 16"/>
          <p:cNvSpPr/>
          <p:nvPr/>
        </p:nvSpPr>
        <p:spPr>
          <a:xfrm>
            <a:off x="457200" y="3703320"/>
            <a:ext cx="3200400" cy="347472"/>
          </a:xfrm>
          <a:prstGeom prst="rect">
            <a:avLst/>
          </a:prstGeom>
          <a:noFill/>
          <a:ln/>
        </p:spPr>
        <p:txBody>
          <a:bodyPr wrap="square" rtlCol="0" anchor="ctr"/>
          <a:lstStyle/>
          <a:p>
            <a:pPr indent="0" marL="0">
              <a:buNone/>
            </a:pPr>
            <a:r>
              <a:rPr lang="en-US" sz="1300" b="1" dirty="0">
                <a:solidFill>
                  <a:srgbClr val="CE93D8"/>
                </a:solidFill>
                <a:latin typeface="Calibri" pitchFamily="34" charset="0"/>
                <a:ea typeface="Calibri" pitchFamily="34" charset="-122"/>
                <a:cs typeface="Calibri" pitchFamily="34" charset="-120"/>
              </a:rPr>
              <a:t>Transactions (Task 3b)</a:t>
            </a:r>
            <a:endParaRPr lang="en-US" sz="1300" dirty="0"/>
          </a:p>
        </p:txBody>
      </p:sp>
      <p:sp>
        <p:nvSpPr>
          <p:cNvPr id="24" name="Text 17"/>
          <p:cNvSpPr/>
          <p:nvPr/>
        </p:nvSpPr>
        <p:spPr>
          <a:xfrm>
            <a:off x="457200" y="4096512"/>
            <a:ext cx="5303520" cy="841248"/>
          </a:xfrm>
          <a:prstGeom prst="rect">
            <a:avLst/>
          </a:prstGeom>
          <a:noFill/>
          <a:ln/>
        </p:spPr>
        <p:txBody>
          <a:bodyPr wrap="square" rtlCol="0" anchor="t"/>
          <a:lstStyle/>
          <a:p>
            <a:pPr indent="0" marL="0">
              <a:buNone/>
            </a:pPr>
            <a:r>
              <a:rPr lang="en-US" sz="1100" dirty="0">
                <a:solidFill>
                  <a:srgbClr val="81D4FA"/>
                </a:solidFill>
                <a:latin typeface="Consolas" pitchFamily="34" charset="0"/>
                <a:ea typeface="Consolas" pitchFamily="34" charset="-122"/>
                <a:cs typeface="Consolas" pitchFamily="34" charset="-120"/>
              </a:rPr>
              <a:t>con.setAutoCommit(false);  </a:t>
            </a:r>
            <a:endParaRPr lang="en-US" sz="1100" dirty="0"/>
          </a:p>
          <a:p>
            <a:pPr indent="0" marL="0">
              <a:buNone/>
            </a:pPr>
            <a:r>
              <a:rPr lang="en-US" sz="1100" dirty="0">
                <a:solidFill>
                  <a:srgbClr val="A5D6A7"/>
                </a:solidFill>
                <a:latin typeface="Consolas" pitchFamily="34" charset="0"/>
                <a:ea typeface="Consolas" pitchFamily="34" charset="-122"/>
                <a:cs typeface="Consolas" pitchFamily="34" charset="-120"/>
              </a:rPr>
              <a:t>try { debit(); credit(); con.commit(); } </a:t>
            </a:r>
            <a:endParaRPr lang="en-US" sz="1100" dirty="0"/>
          </a:p>
          <a:p>
            <a:pPr indent="0" marL="0">
              <a:buNone/>
            </a:pPr>
            <a:r>
              <a:rPr lang="en-US" sz="1100" dirty="0">
                <a:solidFill>
                  <a:srgbClr val="EF9A9A"/>
                </a:solidFill>
                <a:latin typeface="Consolas" pitchFamily="34" charset="0"/>
                <a:ea typeface="Consolas" pitchFamily="34" charset="-122"/>
                <a:cs typeface="Consolas" pitchFamily="34" charset="-120"/>
              </a:rPr>
              <a:t>catch (Exception e) { con.rollback(); }</a:t>
            </a:r>
            <a:endParaRPr lang="en-US" sz="1100" dirty="0"/>
          </a:p>
        </p:txBody>
      </p:sp>
      <p:sp>
        <p:nvSpPr>
          <p:cNvPr id="25" name="Text 18"/>
          <p:cNvSpPr/>
          <p:nvPr/>
        </p:nvSpPr>
        <p:spPr>
          <a:xfrm>
            <a:off x="5943600" y="3767328"/>
            <a:ext cx="2743200" cy="1005840"/>
          </a:xfrm>
          <a:prstGeom prst="rect">
            <a:avLst/>
          </a:prstGeom>
          <a:noFill/>
          <a:ln/>
        </p:spPr>
        <p:txBody>
          <a:bodyPr wrap="square" rtlCol="0" anchor="ctr"/>
          <a:lstStyle/>
          <a:p>
            <a:pPr indent="0" marL="0">
              <a:buNone/>
            </a:pPr>
            <a:r>
              <a:rPr lang="en-US" sz="1200" i="1" dirty="0">
                <a:solidFill>
                  <a:srgbClr val="CE93D8"/>
                </a:solidFill>
                <a:latin typeface="Calibri" pitchFamily="34" charset="0"/>
                <a:ea typeface="Calibri" pitchFamily="34" charset="-122"/>
                <a:cs typeface="Calibri" pitchFamily="34" charset="-120"/>
              </a:rPr>
              <a:t>Commit only if BOTH operations succeed.</a:t>
            </a:r>
            <a:endParaRPr lang="en-US" sz="1200" dirty="0"/>
          </a:p>
          <a:p>
            <a:pPr indent="0" marL="0">
              <a:buNone/>
            </a:pPr>
            <a:r>
              <a:rPr lang="en-US" sz="1200" i="1" dirty="0">
                <a:solidFill>
                  <a:srgbClr val="CE93D8"/>
                </a:solidFill>
                <a:latin typeface="Calibri" pitchFamily="34" charset="0"/>
                <a:ea typeface="Calibri" pitchFamily="34" charset="-122"/>
                <a:cs typeface="Calibri" pitchFamily="34" charset="-120"/>
              </a:rPr>
              <a:t>Otherwise — rollback and the money is not transferred.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BF360C"/>
          </a:solidFill>
          <a:ln w="12700">
            <a:solidFill>
              <a:srgbClr val="BF360C"/>
            </a:solidFill>
            <a:prstDash val="solid"/>
          </a:ln>
        </p:spPr>
      </p:sp>
      <p:sp>
        <p:nvSpPr>
          <p:cNvPr id="3" name="Text 1"/>
          <p:cNvSpPr/>
          <p:nvPr/>
        </p:nvSpPr>
        <p:spPr>
          <a:xfrm>
            <a:off x="274320" y="109728"/>
            <a:ext cx="457200" cy="530352"/>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4" name="Text 2"/>
          <p:cNvSpPr/>
          <p:nvPr/>
        </p:nvSpPr>
        <p:spPr>
          <a:xfrm>
            <a:off x="868680" y="128016"/>
            <a:ext cx="7772400" cy="484632"/>
          </a:xfrm>
          <a:prstGeom prst="rect">
            <a:avLst/>
          </a:prstGeom>
          <a:noFill/>
          <a:ln/>
        </p:spPr>
        <p:txBody>
          <a:bodyPr wrap="square" rtlCol="0" anchor="ctr"/>
          <a:lstStyle/>
          <a:p>
            <a:pPr indent="0" marL="0">
              <a:buNone/>
            </a:pPr>
            <a:r>
              <a:rPr lang="en-US" sz="2300" b="1" dirty="0">
                <a:solidFill>
                  <a:srgbClr val="FFFFFF"/>
                </a:solidFill>
                <a:latin typeface="Calibri" pitchFamily="34" charset="0"/>
                <a:ea typeface="Calibri" pitchFamily="34" charset="-122"/>
                <a:cs typeface="Calibri" pitchFamily="34" charset="-120"/>
              </a:rPr>
              <a:t>Hibernate ORM — Java objects instead of SQL tables</a:t>
            </a:r>
            <a:endParaRPr lang="en-US" sz="2300" dirty="0"/>
          </a:p>
        </p:txBody>
      </p:sp>
      <p:sp>
        <p:nvSpPr>
          <p:cNvPr id="5" name="Shape 3"/>
          <p:cNvSpPr/>
          <p:nvPr/>
        </p:nvSpPr>
        <p:spPr>
          <a:xfrm>
            <a:off x="274320" y="886968"/>
            <a:ext cx="2926080" cy="3108960"/>
          </a:xfrm>
          <a:prstGeom prst="rect">
            <a:avLst/>
          </a:prstGeom>
          <a:solidFill>
            <a:srgbClr val="FFFFFF"/>
          </a:solidFill>
          <a:ln w="12700">
            <a:solidFill>
              <a:srgbClr val="E0E0E0"/>
            </a:solidFill>
            <a:prstDash val="solid"/>
          </a:ln>
          <a:effectLst>
            <a:outerShdw sx="100000" sy="100000" kx="0" ky="0" algn="bl" rotWithShape="0" blurRad="63500" dist="25400" dir="8100000">
              <a:srgbClr val="000000">
                <a:alpha val="12000"/>
              </a:srgbClr>
            </a:outerShdw>
          </a:effectLst>
        </p:spPr>
      </p:sp>
      <p:sp>
        <p:nvSpPr>
          <p:cNvPr id="6" name="Shape 4"/>
          <p:cNvSpPr/>
          <p:nvPr/>
        </p:nvSpPr>
        <p:spPr>
          <a:xfrm>
            <a:off x="274320" y="886968"/>
            <a:ext cx="2926080" cy="457200"/>
          </a:xfrm>
          <a:prstGeom prst="rect">
            <a:avLst/>
          </a:prstGeom>
          <a:solidFill>
            <a:srgbClr val="37474F"/>
          </a:solidFill>
          <a:ln w="12700">
            <a:solidFill>
              <a:srgbClr val="37474F"/>
            </a:solidFill>
            <a:prstDash val="solid"/>
          </a:ln>
        </p:spPr>
      </p:sp>
      <p:sp>
        <p:nvSpPr>
          <p:cNvPr id="7" name="Text 5"/>
          <p:cNvSpPr/>
          <p:nvPr/>
        </p:nvSpPr>
        <p:spPr>
          <a:xfrm>
            <a:off x="274320" y="886968"/>
            <a:ext cx="2926080" cy="457200"/>
          </a:xfrm>
          <a:prstGeom prst="rect">
            <a:avLst/>
          </a:prstGeom>
          <a:noFill/>
          <a:ln/>
        </p:spPr>
        <p:txBody>
          <a:bodyPr wrap="square"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Java Class (Movie.java)</a:t>
            </a:r>
            <a:endParaRPr lang="en-US" sz="1200" dirty="0"/>
          </a:p>
        </p:txBody>
      </p:sp>
      <p:sp>
        <p:nvSpPr>
          <p:cNvPr id="8" name="Text 6"/>
          <p:cNvSpPr/>
          <p:nvPr/>
        </p:nvSpPr>
        <p:spPr>
          <a:xfrm>
            <a:off x="411480" y="1417320"/>
            <a:ext cx="2697480" cy="2468880"/>
          </a:xfrm>
          <a:prstGeom prst="rect">
            <a:avLst/>
          </a:prstGeom>
          <a:noFill/>
          <a:ln/>
        </p:spPr>
        <p:txBody>
          <a:bodyPr wrap="square" rtlCol="0" anchor="t"/>
          <a:lstStyle/>
          <a:p>
            <a:pPr indent="0" marL="0">
              <a:buNone/>
            </a:pPr>
            <a:r>
              <a:rPr lang="en-US" sz="1100" dirty="0">
                <a:solidFill>
                  <a:srgbClr val="F57F17"/>
                </a:solidFill>
                <a:latin typeface="Consolas" pitchFamily="34" charset="0"/>
                <a:ea typeface="Consolas" pitchFamily="34" charset="-122"/>
                <a:cs typeface="Consolas" pitchFamily="34" charset="-120"/>
              </a:rPr>
              <a:t>@Entity
</a:t>
            </a:r>
            <a:pPr indent="0" marL="0">
              <a:buNone/>
            </a:pPr>
            <a:r>
              <a:rPr lang="en-US" sz="1100" dirty="0">
                <a:solidFill>
                  <a:srgbClr val="37474F"/>
                </a:solidFill>
                <a:latin typeface="Consolas" pitchFamily="34" charset="0"/>
                <a:ea typeface="Consolas" pitchFamily="34" charset="-122"/>
                <a:cs typeface="Consolas" pitchFamily="34" charset="-120"/>
              </a:rPr>
              <a:t>@Table(name=</a:t>
            </a:r>
            <a:pPr indent="0" marL="0">
              <a:buNone/>
            </a:pPr>
            <a:r>
              <a:rPr lang="en-US" sz="1100" dirty="0">
                <a:solidFill>
                  <a:srgbClr val="E65100"/>
                </a:solidFill>
                <a:latin typeface="Consolas" pitchFamily="34" charset="0"/>
                <a:ea typeface="Consolas" pitchFamily="34" charset="-122"/>
                <a:cs typeface="Consolas" pitchFamily="34" charset="-120"/>
              </a:rPr>
              <a:t>"movies"</a:t>
            </a:r>
            <a:pPr indent="0" marL="0">
              <a:buNone/>
            </a:pPr>
            <a:r>
              <a:rPr lang="en-US" sz="1100" dirty="0">
                <a:solidFill>
                  <a:srgbClr val="37474F"/>
                </a:solidFill>
                <a:latin typeface="Consolas" pitchFamily="34" charset="0"/>
                <a:ea typeface="Consolas" pitchFamily="34" charset="-122"/>
                <a:cs typeface="Consolas" pitchFamily="34" charset="-120"/>
              </a:rPr>
              <a:t>)
</a:t>
            </a:r>
            <a:pPr indent="0" marL="0">
              <a:buNone/>
            </a:pPr>
            <a:r>
              <a:rPr lang="en-US" sz="1100" dirty="0">
                <a:solidFill>
                  <a:srgbClr val="1565C0"/>
                </a:solidFill>
                <a:latin typeface="Consolas" pitchFamily="34" charset="0"/>
                <a:ea typeface="Consolas" pitchFamily="34" charset="-122"/>
                <a:cs typeface="Consolas" pitchFamily="34" charset="-120"/>
              </a:rPr>
              <a:t>class Movie {
</a:t>
            </a:r>
            <a:pPr indent="0" marL="0">
              <a:buNone/>
            </a:pPr>
            <a:r>
              <a:rPr lang="en-US" sz="1100" dirty="0">
                <a:solidFill>
                  <a:srgbClr val="F57F17"/>
                </a:solidFill>
                <a:latin typeface="Consolas" pitchFamily="34" charset="0"/>
                <a:ea typeface="Consolas" pitchFamily="34" charset="-122"/>
                <a:cs typeface="Consolas" pitchFamily="34" charset="-120"/>
              </a:rPr>
              <a:t>  @Id @GeneratedValue
</a:t>
            </a:r>
            <a:pPr indent="0" marL="0">
              <a:buNone/>
            </a:pPr>
            <a:r>
              <a:rPr lang="en-US" sz="1100" dirty="0">
                <a:solidFill>
                  <a:srgbClr val="37474F"/>
                </a:solidFill>
                <a:latin typeface="Consolas" pitchFamily="34" charset="0"/>
                <a:ea typeface="Consolas" pitchFamily="34" charset="-122"/>
                <a:cs typeface="Consolas" pitchFamily="34" charset="-120"/>
              </a:rPr>
              <a:t>  private Integer </a:t>
            </a:r>
            <a:pPr indent="0" marL="0">
              <a:buNone/>
            </a:pPr>
            <a:r>
              <a:rPr lang="en-US" sz="1100" dirty="0">
                <a:solidFill>
                  <a:srgbClr val="1A237E"/>
                </a:solidFill>
                <a:latin typeface="Consolas" pitchFamily="34" charset="0"/>
                <a:ea typeface="Consolas" pitchFamily="34" charset="-122"/>
                <a:cs typeface="Consolas" pitchFamily="34" charset="-120"/>
              </a:rPr>
              <a:t>id;
</a:t>
            </a:r>
            <a:pPr indent="0" marL="0">
              <a:buNone/>
            </a:pPr>
            <a:r>
              <a:rPr lang="en-US" sz="1100" dirty="0">
                <a:solidFill>
                  <a:srgbClr val="37474F"/>
                </a:solidFill>
                <a:latin typeface="Consolas" pitchFamily="34" charset="0"/>
                <a:ea typeface="Consolas" pitchFamily="34" charset="-122"/>
                <a:cs typeface="Consolas" pitchFamily="34" charset="-120"/>
              </a:rPr>
              <a:t>  @Column(name=</a:t>
            </a:r>
            <a:pPr indent="0" marL="0">
              <a:buNone/>
            </a:pPr>
            <a:r>
              <a:rPr lang="en-US" sz="1100" dirty="0">
                <a:solidFill>
                  <a:srgbClr val="E65100"/>
                </a:solidFill>
                <a:latin typeface="Consolas" pitchFamily="34" charset="0"/>
                <a:ea typeface="Consolas" pitchFamily="34" charset="-122"/>
                <a:cs typeface="Consolas" pitchFamily="34" charset="-120"/>
              </a:rPr>
              <a:t>"title"</a:t>
            </a:r>
            <a:pPr indent="0" marL="0">
              <a:buNone/>
            </a:pPr>
            <a:r>
              <a:rPr lang="en-US" sz="1100" dirty="0">
                <a:solidFill>
                  <a:srgbClr val="37474F"/>
                </a:solidFill>
                <a:latin typeface="Consolas" pitchFamily="34" charset="0"/>
                <a:ea typeface="Consolas" pitchFamily="34" charset="-122"/>
                <a:cs typeface="Consolas" pitchFamily="34" charset="-120"/>
              </a:rPr>
              <a:t>)
</a:t>
            </a:r>
            <a:pPr indent="0" marL="0">
              <a:buNone/>
            </a:pPr>
            <a:r>
              <a:rPr lang="en-US" sz="1100" dirty="0">
                <a:solidFill>
                  <a:srgbClr val="37474F"/>
                </a:solidFill>
                <a:latin typeface="Consolas" pitchFamily="34" charset="0"/>
                <a:ea typeface="Consolas" pitchFamily="34" charset="-122"/>
                <a:cs typeface="Consolas" pitchFamily="34" charset="-120"/>
              </a:rPr>
              <a:t>  private String </a:t>
            </a:r>
            <a:pPr indent="0" marL="0">
              <a:buNone/>
            </a:pPr>
            <a:r>
              <a:rPr lang="en-US" sz="1100" dirty="0">
                <a:solidFill>
                  <a:srgbClr val="1A237E"/>
                </a:solidFill>
                <a:latin typeface="Consolas" pitchFamily="34" charset="0"/>
                <a:ea typeface="Consolas" pitchFamily="34" charset="-122"/>
                <a:cs typeface="Consolas" pitchFamily="34" charset="-120"/>
              </a:rPr>
              <a:t>title;
</a:t>
            </a:r>
            <a:pPr indent="0" marL="0">
              <a:buNone/>
            </a:pPr>
            <a:r>
              <a:rPr lang="en-US" sz="1100" dirty="0">
                <a:solidFill>
                  <a:srgbClr val="9E9E9E"/>
                </a:solidFill>
                <a:latin typeface="Consolas" pitchFamily="34" charset="0"/>
                <a:ea typeface="Consolas" pitchFamily="34" charset="-122"/>
                <a:cs typeface="Consolas" pitchFamily="34" charset="-120"/>
              </a:rPr>
              <a:t>  // getters / setters
</a:t>
            </a:r>
            <a:pPr indent="0" marL="0">
              <a:buNone/>
            </a:pPr>
            <a:r>
              <a:rPr lang="en-US" sz="1100" dirty="0">
                <a:solidFill>
                  <a:srgbClr val="1565C0"/>
                </a:solidFill>
                <a:latin typeface="Consolas" pitchFamily="34" charset="0"/>
                <a:ea typeface="Consolas" pitchFamily="34" charset="-122"/>
                <a:cs typeface="Consolas" pitchFamily="34" charset="-120"/>
              </a:rPr>
              <a:t>}</a:t>
            </a:r>
            <a:endParaRPr lang="en-US" sz="1100" dirty="0"/>
          </a:p>
        </p:txBody>
      </p:sp>
      <p:sp>
        <p:nvSpPr>
          <p:cNvPr id="9" name="Text 7"/>
          <p:cNvSpPr/>
          <p:nvPr/>
        </p:nvSpPr>
        <p:spPr>
          <a:xfrm>
            <a:off x="3291840" y="1737360"/>
            <a:ext cx="1005840" cy="1097280"/>
          </a:xfrm>
          <a:prstGeom prst="rect">
            <a:avLst/>
          </a:prstGeom>
          <a:noFill/>
          <a:ln/>
        </p:spPr>
        <p:txBody>
          <a:bodyPr wrap="square" rtlCol="0" anchor="ctr"/>
          <a:lstStyle/>
          <a:p>
            <a:pPr algn="ctr" indent="0" marL="0">
              <a:buNone/>
            </a:pPr>
            <a:r>
              <a:rPr lang="en-US" sz="2600" b="1" dirty="0">
                <a:solidFill>
                  <a:srgbClr val="BF360C"/>
                </a:solidFill>
              </a:rPr>
              <a:t>⟺</a:t>
            </a:r>
            <a:endParaRPr lang="en-US" sz="2600" dirty="0"/>
          </a:p>
          <a:p>
            <a:pPr algn="ctr" indent="0" marL="0">
              <a:buNone/>
            </a:pPr>
            <a:r>
              <a:rPr lang="en-US" sz="2600" b="1" dirty="0">
                <a:solidFill>
                  <a:srgbClr val="BF360C"/>
                </a:solidFill>
              </a:rPr>
              <a:t>ORM</a:t>
            </a:r>
            <a:endParaRPr lang="en-US" sz="2600" dirty="0"/>
          </a:p>
        </p:txBody>
      </p:sp>
      <p:sp>
        <p:nvSpPr>
          <p:cNvPr id="10" name="Shape 8"/>
          <p:cNvSpPr/>
          <p:nvPr/>
        </p:nvSpPr>
        <p:spPr>
          <a:xfrm>
            <a:off x="4389120" y="886968"/>
            <a:ext cx="2743200" cy="3108960"/>
          </a:xfrm>
          <a:prstGeom prst="rect">
            <a:avLst/>
          </a:prstGeom>
          <a:solidFill>
            <a:srgbClr val="FFFFFF"/>
          </a:solidFill>
          <a:ln w="12700">
            <a:solidFill>
              <a:srgbClr val="E0E0E0"/>
            </a:solidFill>
            <a:prstDash val="solid"/>
          </a:ln>
          <a:effectLst>
            <a:outerShdw sx="100000" sy="100000" kx="0" ky="0" algn="bl" rotWithShape="0" blurRad="63500" dist="25400" dir="8100000">
              <a:srgbClr val="000000">
                <a:alpha val="12000"/>
              </a:srgbClr>
            </a:outerShdw>
          </a:effectLst>
        </p:spPr>
      </p:sp>
      <p:sp>
        <p:nvSpPr>
          <p:cNvPr id="11" name="Shape 9"/>
          <p:cNvSpPr/>
          <p:nvPr/>
        </p:nvSpPr>
        <p:spPr>
          <a:xfrm>
            <a:off x="4389120" y="886968"/>
            <a:ext cx="2743200" cy="457200"/>
          </a:xfrm>
          <a:prstGeom prst="rect">
            <a:avLst/>
          </a:prstGeom>
          <a:solidFill>
            <a:srgbClr val="37474F"/>
          </a:solidFill>
          <a:ln w="12700">
            <a:solidFill>
              <a:srgbClr val="37474F"/>
            </a:solidFill>
            <a:prstDash val="solid"/>
          </a:ln>
        </p:spPr>
      </p:sp>
      <p:sp>
        <p:nvSpPr>
          <p:cNvPr id="12" name="Text 10"/>
          <p:cNvSpPr/>
          <p:nvPr/>
        </p:nvSpPr>
        <p:spPr>
          <a:xfrm>
            <a:off x="4389120" y="886968"/>
            <a:ext cx="2743200" cy="457200"/>
          </a:xfrm>
          <a:prstGeom prst="rect">
            <a:avLst/>
          </a:prstGeom>
          <a:noFill/>
          <a:ln/>
        </p:spPr>
        <p:txBody>
          <a:bodyPr wrap="square"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DB Table (movies)</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480560" y="1417320"/>
          <a:ext cx="2560320" cy="914400"/>
        </p:xfrm>
        <a:graphic>
          <a:graphicData uri="http://schemas.openxmlformats.org/drawingml/2006/table">
            <a:tbl>
              <a:tblPr/>
              <a:tblGrid>
                <a:gridCol w="548640"/>
                <a:gridCol w="1554480"/>
                <a:gridCol w="640080"/>
              </a:tblGrid>
              <a:tr h="0">
                <a:tc>
                  <a:txBody>
                    <a:bodyPr/>
                    <a:lstStyle/>
                    <a:p>
                      <a:pPr algn="ctr" indent="0" marL="0">
                        <a:buNone/>
                      </a:pPr>
                      <a:r>
                        <a:rPr lang="en-US" sz="1100" b="1" dirty="0">
                          <a:solidFill>
                            <a:srgbClr val="263238"/>
                          </a:solidFill>
                          <a:latin typeface="Consolas" pitchFamily="34" charset="0"/>
                          <a:ea typeface="Consolas" pitchFamily="34" charset="-122"/>
                          <a:cs typeface="Consolas" pitchFamily="34" charset="-120"/>
                        </a:rPr>
                        <a:t>id</a:t>
                      </a:r>
                      <a:endParaRPr lang="en-US" sz="1100" dirty="0">
                        <a:latin typeface="Consolas" charset="0"/>
                        <a:ea typeface="Consolas" charset="0"/>
                        <a:cs typeface="Consolas" charset="0"/>
                      </a:endParaRPr>
                    </a:p>
                  </a:txBody>
                  <a:tcPr marL="91440" marR="91440" marT="45720" marB="45720">
                    <a:lnL w="12700" cap="flat" cmpd="sng" algn="ctr">
                      <a:solidFill>
                        <a:srgbClr val="CFD8DC"/>
                      </a:solidFill>
                      <a:prstDash val="solid"/>
                      <a:round/>
                      <a:headEnd type="none" w="med" len="med"/>
                      <a:tailEnd type="none" w="med" len="med"/>
                    </a:lnL>
                    <a:lnR w="12700" cap="flat" cmpd="sng" algn="ctr">
                      <a:solidFill>
                        <a:srgbClr val="CFD8DC"/>
                      </a:solidFill>
                      <a:prstDash val="solid"/>
                      <a:round/>
                      <a:headEnd type="none" w="med" len="med"/>
                      <a:tailEnd type="none" w="med" len="med"/>
                    </a:lnR>
                    <a:lnT w="12700" cap="flat" cmpd="sng" algn="ctr">
                      <a:solidFill>
                        <a:srgbClr val="CFD8DC"/>
                      </a:solidFill>
                      <a:prstDash val="solid"/>
                      <a:round/>
                      <a:headEnd type="none" w="med" len="med"/>
                      <a:tailEnd type="none" w="med" len="med"/>
                    </a:lnT>
                    <a:lnB w="12700" cap="flat" cmpd="sng" algn="ctr">
                      <a:solidFill>
                        <a:srgbClr val="CFD8DC"/>
                      </a:solidFill>
                      <a:prstDash val="solid"/>
                      <a:round/>
                      <a:headEnd type="none" w="med" len="med"/>
                      <a:tailEnd type="none" w="med" len="med"/>
                    </a:lnB>
                    <a:solidFill>
                      <a:srgbClr val="ECEFF1"/>
                    </a:solidFill>
                  </a:tcPr>
                </a:tc>
                <a:tc>
                  <a:txBody>
                    <a:bodyPr/>
                    <a:lstStyle/>
                    <a:p>
                      <a:pPr algn="ctr" indent="0" marL="0">
                        <a:buNone/>
                      </a:pPr>
                      <a:r>
                        <a:rPr lang="en-US" sz="1100" b="1" dirty="0">
                          <a:solidFill>
                            <a:srgbClr val="263238"/>
                          </a:solidFill>
                          <a:latin typeface="Consolas" pitchFamily="34" charset="0"/>
                          <a:ea typeface="Consolas" pitchFamily="34" charset="-122"/>
                          <a:cs typeface="Consolas" pitchFamily="34" charset="-120"/>
                        </a:rPr>
                        <a:t>title</a:t>
                      </a:r>
                      <a:endParaRPr lang="en-US" sz="1100" dirty="0">
                        <a:latin typeface="Consolas" charset="0"/>
                        <a:ea typeface="Consolas" charset="0"/>
                        <a:cs typeface="Consolas" charset="0"/>
                      </a:endParaRPr>
                    </a:p>
                  </a:txBody>
                  <a:tcPr marL="91440" marR="91440" marT="45720" marB="45720">
                    <a:lnL w="12700" cap="flat" cmpd="sng" algn="ctr">
                      <a:solidFill>
                        <a:srgbClr val="CFD8DC"/>
                      </a:solidFill>
                      <a:prstDash val="solid"/>
                      <a:round/>
                      <a:headEnd type="none" w="med" len="med"/>
                      <a:tailEnd type="none" w="med" len="med"/>
                    </a:lnL>
                    <a:lnR w="12700" cap="flat" cmpd="sng" algn="ctr">
                      <a:solidFill>
                        <a:srgbClr val="CFD8DC"/>
                      </a:solidFill>
                      <a:prstDash val="solid"/>
                      <a:round/>
                      <a:headEnd type="none" w="med" len="med"/>
                      <a:tailEnd type="none" w="med" len="med"/>
                    </a:lnR>
                    <a:lnT w="12700" cap="flat" cmpd="sng" algn="ctr">
                      <a:solidFill>
                        <a:srgbClr val="CFD8DC"/>
                      </a:solidFill>
                      <a:prstDash val="solid"/>
                      <a:round/>
                      <a:headEnd type="none" w="med" len="med"/>
                      <a:tailEnd type="none" w="med" len="med"/>
                    </a:lnT>
                    <a:lnB w="12700" cap="flat" cmpd="sng" algn="ctr">
                      <a:solidFill>
                        <a:srgbClr val="CFD8DC"/>
                      </a:solidFill>
                      <a:prstDash val="solid"/>
                      <a:round/>
                      <a:headEnd type="none" w="med" len="med"/>
                      <a:tailEnd type="none" w="med" len="med"/>
                    </a:lnB>
                    <a:solidFill>
                      <a:srgbClr val="ECEFF1"/>
                    </a:solidFill>
                  </a:tcPr>
                </a:tc>
                <a:tc>
                  <a:txBody>
                    <a:bodyPr/>
                    <a:lstStyle/>
                    <a:p>
                      <a:pPr algn="ctr" indent="0" marL="0">
                        <a:buNone/>
                      </a:pPr>
                      <a:r>
                        <a:rPr lang="en-US" sz="1100" b="1" dirty="0">
                          <a:solidFill>
                            <a:srgbClr val="263238"/>
                          </a:solidFill>
                          <a:latin typeface="Consolas" pitchFamily="34" charset="0"/>
                          <a:ea typeface="Consolas" pitchFamily="34" charset="-122"/>
                          <a:cs typeface="Consolas" pitchFamily="34" charset="-120"/>
                        </a:rPr>
                        <a:t>year</a:t>
                      </a:r>
                      <a:endParaRPr lang="en-US" sz="1100" dirty="0">
                        <a:latin typeface="Consolas" charset="0"/>
                        <a:ea typeface="Consolas" charset="0"/>
                        <a:cs typeface="Consolas" charset="0"/>
                      </a:endParaRPr>
                    </a:p>
                  </a:txBody>
                  <a:tcPr marL="91440" marR="91440" marT="45720" marB="45720">
                    <a:lnL w="12700" cap="flat" cmpd="sng" algn="ctr">
                      <a:solidFill>
                        <a:srgbClr val="CFD8DC"/>
                      </a:solidFill>
                      <a:prstDash val="solid"/>
                      <a:round/>
                      <a:headEnd type="none" w="med" len="med"/>
                      <a:tailEnd type="none" w="med" len="med"/>
                    </a:lnL>
                    <a:lnR w="12700" cap="flat" cmpd="sng" algn="ctr">
                      <a:solidFill>
                        <a:srgbClr val="CFD8DC"/>
                      </a:solidFill>
                      <a:prstDash val="solid"/>
                      <a:round/>
                      <a:headEnd type="none" w="med" len="med"/>
                      <a:tailEnd type="none" w="med" len="med"/>
                    </a:lnR>
                    <a:lnT w="12700" cap="flat" cmpd="sng" algn="ctr">
                      <a:solidFill>
                        <a:srgbClr val="CFD8DC"/>
                      </a:solidFill>
                      <a:prstDash val="solid"/>
                      <a:round/>
                      <a:headEnd type="none" w="med" len="med"/>
                      <a:tailEnd type="none" w="med" len="med"/>
                    </a:lnT>
                    <a:lnB w="12700" cap="flat" cmpd="sng" algn="ctr">
                      <a:solidFill>
                        <a:srgbClr val="CFD8DC"/>
                      </a:solidFill>
                      <a:prstDash val="solid"/>
                      <a:round/>
                      <a:headEnd type="none" w="med" len="med"/>
                      <a:tailEnd type="none" w="med" len="med"/>
                    </a:lnB>
                    <a:solidFill>
                      <a:srgbClr val="ECEFF1"/>
                    </a:solidFill>
                  </a:tcPr>
                </a:tc>
              </a:tr>
              <a:tr h="0">
                <a:tc>
                  <a:txBody>
                    <a:bodyPr/>
                    <a:lstStyle/>
                    <a:p>
                      <a:pPr algn="ctr" indent="0" marL="0">
                        <a:buNone/>
                      </a:pPr>
                      <a:r>
                        <a:rPr lang="en-US" sz="1100" dirty="0">
                          <a:solidFill>
                            <a:srgbClr val="1565C0"/>
                          </a:solidFill>
                          <a:latin typeface="Consolas" pitchFamily="34" charset="0"/>
                          <a:ea typeface="Consolas" pitchFamily="34" charset="-122"/>
                          <a:cs typeface="Consolas" pitchFamily="34" charset="-120"/>
                        </a:rPr>
                        <a:t>1</a:t>
                      </a:r>
                      <a:endParaRPr lang="en-US" sz="1100" dirty="0">
                        <a:latin typeface="Consolas" charset="0"/>
                        <a:ea typeface="Consolas" charset="0"/>
                        <a:cs typeface="Consolas" charset="0"/>
                      </a:endParaRPr>
                    </a:p>
                  </a:txBody>
                  <a:tcPr marL="91440" marR="91440" marT="45720" marB="45720">
                    <a:lnL w="12700" cap="flat" cmpd="sng" algn="ctr">
                      <a:solidFill>
                        <a:srgbClr val="CFD8DC"/>
                      </a:solidFill>
                      <a:prstDash val="solid"/>
                      <a:round/>
                      <a:headEnd type="none" w="med" len="med"/>
                      <a:tailEnd type="none" w="med" len="med"/>
                    </a:lnL>
                    <a:lnR w="12700" cap="flat" cmpd="sng" algn="ctr">
                      <a:solidFill>
                        <a:srgbClr val="CFD8DC"/>
                      </a:solidFill>
                      <a:prstDash val="solid"/>
                      <a:round/>
                      <a:headEnd type="none" w="med" len="med"/>
                      <a:tailEnd type="none" w="med" len="med"/>
                    </a:lnR>
                    <a:lnT w="12700" cap="flat" cmpd="sng" algn="ctr">
                      <a:solidFill>
                        <a:srgbClr val="CFD8DC"/>
                      </a:solidFill>
                      <a:prstDash val="solid"/>
                      <a:round/>
                      <a:headEnd type="none" w="med" len="med"/>
                      <a:tailEnd type="none" w="med" len="med"/>
                    </a:lnT>
                    <a:lnB w="12700" cap="flat" cmpd="sng" algn="ctr">
                      <a:solidFill>
                        <a:srgbClr val="CFD8DC"/>
                      </a:solidFill>
                      <a:prstDash val="solid"/>
                      <a:round/>
                      <a:headEnd type="none" w="med" len="med"/>
                      <a:tailEnd type="none" w="med" len="med"/>
                    </a:lnB>
                  </a:tcPr>
                </a:tc>
                <a:tc>
                  <a:txBody>
                    <a:bodyPr/>
                    <a:lstStyle/>
                    <a:p>
                      <a:pPr algn="ctr" indent="0" marL="0">
                        <a:buNone/>
                      </a:pPr>
                      <a:r>
                        <a:rPr lang="en-US" sz="1100" dirty="0">
                          <a:solidFill>
                            <a:srgbClr val="E65100"/>
                          </a:solidFill>
                          <a:latin typeface="Consolas" pitchFamily="34" charset="0"/>
                          <a:ea typeface="Consolas" pitchFamily="34" charset="-122"/>
                          <a:cs typeface="Consolas" pitchFamily="34" charset="-120"/>
                        </a:rPr>
                        <a:t>Interstellar</a:t>
                      </a:r>
                      <a:endParaRPr lang="en-US" sz="1100" dirty="0">
                        <a:latin typeface="Consolas" charset="0"/>
                        <a:ea typeface="Consolas" charset="0"/>
                        <a:cs typeface="Consolas" charset="0"/>
                      </a:endParaRPr>
                    </a:p>
                  </a:txBody>
                  <a:tcPr marL="91440" marR="91440" marT="45720" marB="45720">
                    <a:lnL w="12700" cap="flat" cmpd="sng" algn="ctr">
                      <a:solidFill>
                        <a:srgbClr val="CFD8DC"/>
                      </a:solidFill>
                      <a:prstDash val="solid"/>
                      <a:round/>
                      <a:headEnd type="none" w="med" len="med"/>
                      <a:tailEnd type="none" w="med" len="med"/>
                    </a:lnL>
                    <a:lnR w="12700" cap="flat" cmpd="sng" algn="ctr">
                      <a:solidFill>
                        <a:srgbClr val="CFD8DC"/>
                      </a:solidFill>
                      <a:prstDash val="solid"/>
                      <a:round/>
                      <a:headEnd type="none" w="med" len="med"/>
                      <a:tailEnd type="none" w="med" len="med"/>
                    </a:lnR>
                    <a:lnT w="12700" cap="flat" cmpd="sng" algn="ctr">
                      <a:solidFill>
                        <a:srgbClr val="CFD8DC"/>
                      </a:solidFill>
                      <a:prstDash val="solid"/>
                      <a:round/>
                      <a:headEnd type="none" w="med" len="med"/>
                      <a:tailEnd type="none" w="med" len="med"/>
                    </a:lnT>
                    <a:lnB w="12700" cap="flat" cmpd="sng" algn="ctr">
                      <a:solidFill>
                        <a:srgbClr val="CFD8DC"/>
                      </a:solidFill>
                      <a:prstDash val="solid"/>
                      <a:round/>
                      <a:headEnd type="none" w="med" len="med"/>
                      <a:tailEnd type="none" w="med" len="med"/>
                    </a:lnB>
                  </a:tcPr>
                </a:tc>
                <a:tc>
                  <a:txBody>
                    <a:bodyPr/>
                    <a:lstStyle/>
                    <a:p>
                      <a:pPr algn="ctr" indent="0" marL="0">
                        <a:buNone/>
                      </a:pPr>
                      <a:r>
                        <a:rPr lang="en-US" sz="1100" dirty="0">
                          <a:solidFill>
                            <a:srgbClr val="2E7D32"/>
                          </a:solidFill>
                          <a:latin typeface="Consolas" pitchFamily="34" charset="0"/>
                          <a:ea typeface="Consolas" pitchFamily="34" charset="-122"/>
                          <a:cs typeface="Consolas" pitchFamily="34" charset="-120"/>
                        </a:rPr>
                        <a:t>2014</a:t>
                      </a:r>
                      <a:endParaRPr lang="en-US" sz="1100" dirty="0">
                        <a:latin typeface="Consolas" charset="0"/>
                        <a:ea typeface="Consolas" charset="0"/>
                        <a:cs typeface="Consolas" charset="0"/>
                      </a:endParaRPr>
                    </a:p>
                  </a:txBody>
                  <a:tcPr marL="91440" marR="91440" marT="45720" marB="45720">
                    <a:lnL w="12700" cap="flat" cmpd="sng" algn="ctr">
                      <a:solidFill>
                        <a:srgbClr val="CFD8DC"/>
                      </a:solidFill>
                      <a:prstDash val="solid"/>
                      <a:round/>
                      <a:headEnd type="none" w="med" len="med"/>
                      <a:tailEnd type="none" w="med" len="med"/>
                    </a:lnL>
                    <a:lnR w="12700" cap="flat" cmpd="sng" algn="ctr">
                      <a:solidFill>
                        <a:srgbClr val="CFD8DC"/>
                      </a:solidFill>
                      <a:prstDash val="solid"/>
                      <a:round/>
                      <a:headEnd type="none" w="med" len="med"/>
                      <a:tailEnd type="none" w="med" len="med"/>
                    </a:lnR>
                    <a:lnT w="12700" cap="flat" cmpd="sng" algn="ctr">
                      <a:solidFill>
                        <a:srgbClr val="CFD8DC"/>
                      </a:solidFill>
                      <a:prstDash val="solid"/>
                      <a:round/>
                      <a:headEnd type="none" w="med" len="med"/>
                      <a:tailEnd type="none" w="med" len="med"/>
                    </a:lnT>
                    <a:lnB w="12700" cap="flat" cmpd="sng" algn="ctr">
                      <a:solidFill>
                        <a:srgbClr val="CFD8DC"/>
                      </a:solidFill>
                      <a:prstDash val="solid"/>
                      <a:round/>
                      <a:headEnd type="none" w="med" len="med"/>
                      <a:tailEnd type="none" w="med" len="med"/>
                    </a:lnB>
                  </a:tcPr>
                </a:tc>
              </a:tr>
              <a:tr h="0">
                <a:tc>
                  <a:txBody>
                    <a:bodyPr/>
                    <a:lstStyle/>
                    <a:p>
                      <a:pPr algn="ctr" indent="0" marL="0">
                        <a:buNone/>
                      </a:pPr>
                      <a:r>
                        <a:rPr lang="en-US" sz="1100" dirty="0">
                          <a:solidFill>
                            <a:srgbClr val="1565C0"/>
                          </a:solidFill>
                          <a:latin typeface="Consolas" pitchFamily="34" charset="0"/>
                          <a:ea typeface="Consolas" pitchFamily="34" charset="-122"/>
                          <a:cs typeface="Consolas" pitchFamily="34" charset="-120"/>
                        </a:rPr>
                        <a:t>2</a:t>
                      </a:r>
                      <a:endParaRPr lang="en-US" sz="1100" dirty="0">
                        <a:latin typeface="Consolas" charset="0"/>
                        <a:ea typeface="Consolas" charset="0"/>
                        <a:cs typeface="Consolas" charset="0"/>
                      </a:endParaRPr>
                    </a:p>
                  </a:txBody>
                  <a:tcPr marL="91440" marR="91440" marT="45720" marB="45720">
                    <a:lnL w="12700" cap="flat" cmpd="sng" algn="ctr">
                      <a:solidFill>
                        <a:srgbClr val="CFD8DC"/>
                      </a:solidFill>
                      <a:prstDash val="solid"/>
                      <a:round/>
                      <a:headEnd type="none" w="med" len="med"/>
                      <a:tailEnd type="none" w="med" len="med"/>
                    </a:lnL>
                    <a:lnR w="12700" cap="flat" cmpd="sng" algn="ctr">
                      <a:solidFill>
                        <a:srgbClr val="CFD8DC"/>
                      </a:solidFill>
                      <a:prstDash val="solid"/>
                      <a:round/>
                      <a:headEnd type="none" w="med" len="med"/>
                      <a:tailEnd type="none" w="med" len="med"/>
                    </a:lnR>
                    <a:lnT w="12700" cap="flat" cmpd="sng" algn="ctr">
                      <a:solidFill>
                        <a:srgbClr val="CFD8DC"/>
                      </a:solidFill>
                      <a:prstDash val="solid"/>
                      <a:round/>
                      <a:headEnd type="none" w="med" len="med"/>
                      <a:tailEnd type="none" w="med" len="med"/>
                    </a:lnT>
                    <a:lnB w="12700" cap="flat" cmpd="sng" algn="ctr">
                      <a:solidFill>
                        <a:srgbClr val="CFD8DC"/>
                      </a:solidFill>
                      <a:prstDash val="solid"/>
                      <a:round/>
                      <a:headEnd type="none" w="med" len="med"/>
                      <a:tailEnd type="none" w="med" len="med"/>
                    </a:lnB>
                  </a:tcPr>
                </a:tc>
                <a:tc>
                  <a:txBody>
                    <a:bodyPr/>
                    <a:lstStyle/>
                    <a:p>
                      <a:pPr algn="ctr" indent="0" marL="0">
                        <a:buNone/>
                      </a:pPr>
                      <a:r>
                        <a:rPr lang="en-US" sz="1100" dirty="0">
                          <a:solidFill>
                            <a:srgbClr val="E65100"/>
                          </a:solidFill>
                          <a:latin typeface="Consolas" pitchFamily="34" charset="0"/>
                          <a:ea typeface="Consolas" pitchFamily="34" charset="-122"/>
                          <a:cs typeface="Consolas" pitchFamily="34" charset="-120"/>
                        </a:rPr>
                        <a:t>The Matrix</a:t>
                      </a:r>
                      <a:endParaRPr lang="en-US" sz="1100" dirty="0">
                        <a:latin typeface="Consolas" charset="0"/>
                        <a:ea typeface="Consolas" charset="0"/>
                        <a:cs typeface="Consolas" charset="0"/>
                      </a:endParaRPr>
                    </a:p>
                  </a:txBody>
                  <a:tcPr marL="91440" marR="91440" marT="45720" marB="45720">
                    <a:lnL w="12700" cap="flat" cmpd="sng" algn="ctr">
                      <a:solidFill>
                        <a:srgbClr val="CFD8DC"/>
                      </a:solidFill>
                      <a:prstDash val="solid"/>
                      <a:round/>
                      <a:headEnd type="none" w="med" len="med"/>
                      <a:tailEnd type="none" w="med" len="med"/>
                    </a:lnL>
                    <a:lnR w="12700" cap="flat" cmpd="sng" algn="ctr">
                      <a:solidFill>
                        <a:srgbClr val="CFD8DC"/>
                      </a:solidFill>
                      <a:prstDash val="solid"/>
                      <a:round/>
                      <a:headEnd type="none" w="med" len="med"/>
                      <a:tailEnd type="none" w="med" len="med"/>
                    </a:lnR>
                    <a:lnT w="12700" cap="flat" cmpd="sng" algn="ctr">
                      <a:solidFill>
                        <a:srgbClr val="CFD8DC"/>
                      </a:solidFill>
                      <a:prstDash val="solid"/>
                      <a:round/>
                      <a:headEnd type="none" w="med" len="med"/>
                      <a:tailEnd type="none" w="med" len="med"/>
                    </a:lnT>
                    <a:lnB w="12700" cap="flat" cmpd="sng" algn="ctr">
                      <a:solidFill>
                        <a:srgbClr val="CFD8DC"/>
                      </a:solidFill>
                      <a:prstDash val="solid"/>
                      <a:round/>
                      <a:headEnd type="none" w="med" len="med"/>
                      <a:tailEnd type="none" w="med" len="med"/>
                    </a:lnB>
                  </a:tcPr>
                </a:tc>
                <a:tc>
                  <a:txBody>
                    <a:bodyPr/>
                    <a:lstStyle/>
                    <a:p>
                      <a:pPr algn="ctr" indent="0" marL="0">
                        <a:buNone/>
                      </a:pPr>
                      <a:r>
                        <a:rPr lang="en-US" sz="1100" dirty="0">
                          <a:solidFill>
                            <a:srgbClr val="2E7D32"/>
                          </a:solidFill>
                          <a:latin typeface="Consolas" pitchFamily="34" charset="0"/>
                          <a:ea typeface="Consolas" pitchFamily="34" charset="-122"/>
                          <a:cs typeface="Consolas" pitchFamily="34" charset="-120"/>
                        </a:rPr>
                        <a:t>1999</a:t>
                      </a:r>
                      <a:endParaRPr lang="en-US" sz="1100" dirty="0">
                        <a:latin typeface="Consolas" charset="0"/>
                        <a:ea typeface="Consolas" charset="0"/>
                        <a:cs typeface="Consolas" charset="0"/>
                      </a:endParaRPr>
                    </a:p>
                  </a:txBody>
                  <a:tcPr marL="91440" marR="91440" marT="45720" marB="45720">
                    <a:lnL w="12700" cap="flat" cmpd="sng" algn="ctr">
                      <a:solidFill>
                        <a:srgbClr val="CFD8DC"/>
                      </a:solidFill>
                      <a:prstDash val="solid"/>
                      <a:round/>
                      <a:headEnd type="none" w="med" len="med"/>
                      <a:tailEnd type="none" w="med" len="med"/>
                    </a:lnL>
                    <a:lnR w="12700" cap="flat" cmpd="sng" algn="ctr">
                      <a:solidFill>
                        <a:srgbClr val="CFD8DC"/>
                      </a:solidFill>
                      <a:prstDash val="solid"/>
                      <a:round/>
                      <a:headEnd type="none" w="med" len="med"/>
                      <a:tailEnd type="none" w="med" len="med"/>
                    </a:lnR>
                    <a:lnT w="12700" cap="flat" cmpd="sng" algn="ctr">
                      <a:solidFill>
                        <a:srgbClr val="CFD8DC"/>
                      </a:solidFill>
                      <a:prstDash val="solid"/>
                      <a:round/>
                      <a:headEnd type="none" w="med" len="med"/>
                      <a:tailEnd type="none" w="med" len="med"/>
                    </a:lnT>
                    <a:lnB w="12700" cap="flat" cmpd="sng" algn="ctr">
                      <a:solidFill>
                        <a:srgbClr val="CFD8DC"/>
                      </a:solidFill>
                      <a:prstDash val="solid"/>
                      <a:round/>
                      <a:headEnd type="none" w="med" len="med"/>
                      <a:tailEnd type="none" w="med" len="med"/>
                    </a:lnB>
                  </a:tcPr>
                </a:tc>
              </a:tr>
              <a:tr h="0">
                <a:tc>
                  <a:txBody>
                    <a:bodyPr/>
                    <a:lstStyle/>
                    <a:p>
                      <a:pPr algn="ctr" indent="0" marL="0">
                        <a:buNone/>
                      </a:pPr>
                      <a:r>
                        <a:rPr lang="en-US" sz="1100" dirty="0">
                          <a:solidFill>
                            <a:srgbClr val="1565C0"/>
                          </a:solidFill>
                          <a:latin typeface="Consolas" pitchFamily="34" charset="0"/>
                          <a:ea typeface="Consolas" pitchFamily="34" charset="-122"/>
                          <a:cs typeface="Consolas" pitchFamily="34" charset="-120"/>
                        </a:rPr>
                        <a:t>3</a:t>
                      </a:r>
                      <a:endParaRPr lang="en-US" sz="1100" dirty="0">
                        <a:latin typeface="Consolas" charset="0"/>
                        <a:ea typeface="Consolas" charset="0"/>
                        <a:cs typeface="Consolas" charset="0"/>
                      </a:endParaRPr>
                    </a:p>
                  </a:txBody>
                  <a:tcPr marL="91440" marR="91440" marT="45720" marB="45720">
                    <a:lnL w="12700" cap="flat" cmpd="sng" algn="ctr">
                      <a:solidFill>
                        <a:srgbClr val="CFD8DC"/>
                      </a:solidFill>
                      <a:prstDash val="solid"/>
                      <a:round/>
                      <a:headEnd type="none" w="med" len="med"/>
                      <a:tailEnd type="none" w="med" len="med"/>
                    </a:lnL>
                    <a:lnR w="12700" cap="flat" cmpd="sng" algn="ctr">
                      <a:solidFill>
                        <a:srgbClr val="CFD8DC"/>
                      </a:solidFill>
                      <a:prstDash val="solid"/>
                      <a:round/>
                      <a:headEnd type="none" w="med" len="med"/>
                      <a:tailEnd type="none" w="med" len="med"/>
                    </a:lnR>
                    <a:lnT w="12700" cap="flat" cmpd="sng" algn="ctr">
                      <a:solidFill>
                        <a:srgbClr val="CFD8DC"/>
                      </a:solidFill>
                      <a:prstDash val="solid"/>
                      <a:round/>
                      <a:headEnd type="none" w="med" len="med"/>
                      <a:tailEnd type="none" w="med" len="med"/>
                    </a:lnT>
                    <a:lnB w="12700" cap="flat" cmpd="sng" algn="ctr">
                      <a:solidFill>
                        <a:srgbClr val="CFD8DC"/>
                      </a:solidFill>
                      <a:prstDash val="solid"/>
                      <a:round/>
                      <a:headEnd type="none" w="med" len="med"/>
                      <a:tailEnd type="none" w="med" len="med"/>
                    </a:lnB>
                  </a:tcPr>
                </a:tc>
                <a:tc>
                  <a:txBody>
                    <a:bodyPr/>
                    <a:lstStyle/>
                    <a:p>
                      <a:pPr algn="ctr" indent="0" marL="0">
                        <a:buNone/>
                      </a:pPr>
                      <a:r>
                        <a:rPr lang="en-US" sz="1100" dirty="0">
                          <a:solidFill>
                            <a:srgbClr val="E65100"/>
                          </a:solidFill>
                          <a:latin typeface="Consolas" pitchFamily="34" charset="0"/>
                          <a:ea typeface="Consolas" pitchFamily="34" charset="-122"/>
                          <a:cs typeface="Consolas" pitchFamily="34" charset="-120"/>
                        </a:rPr>
                        <a:t>Dune</a:t>
                      </a:r>
                      <a:endParaRPr lang="en-US" sz="1100" dirty="0">
                        <a:latin typeface="Consolas" charset="0"/>
                        <a:ea typeface="Consolas" charset="0"/>
                        <a:cs typeface="Consolas" charset="0"/>
                      </a:endParaRPr>
                    </a:p>
                  </a:txBody>
                  <a:tcPr marL="91440" marR="91440" marT="45720" marB="45720">
                    <a:lnL w="12700" cap="flat" cmpd="sng" algn="ctr">
                      <a:solidFill>
                        <a:srgbClr val="CFD8DC"/>
                      </a:solidFill>
                      <a:prstDash val="solid"/>
                      <a:round/>
                      <a:headEnd type="none" w="med" len="med"/>
                      <a:tailEnd type="none" w="med" len="med"/>
                    </a:lnL>
                    <a:lnR w="12700" cap="flat" cmpd="sng" algn="ctr">
                      <a:solidFill>
                        <a:srgbClr val="CFD8DC"/>
                      </a:solidFill>
                      <a:prstDash val="solid"/>
                      <a:round/>
                      <a:headEnd type="none" w="med" len="med"/>
                      <a:tailEnd type="none" w="med" len="med"/>
                    </a:lnR>
                    <a:lnT w="12700" cap="flat" cmpd="sng" algn="ctr">
                      <a:solidFill>
                        <a:srgbClr val="CFD8DC"/>
                      </a:solidFill>
                      <a:prstDash val="solid"/>
                      <a:round/>
                      <a:headEnd type="none" w="med" len="med"/>
                      <a:tailEnd type="none" w="med" len="med"/>
                    </a:lnT>
                    <a:lnB w="12700" cap="flat" cmpd="sng" algn="ctr">
                      <a:solidFill>
                        <a:srgbClr val="CFD8DC"/>
                      </a:solidFill>
                      <a:prstDash val="solid"/>
                      <a:round/>
                      <a:headEnd type="none" w="med" len="med"/>
                      <a:tailEnd type="none" w="med" len="med"/>
                    </a:lnB>
                  </a:tcPr>
                </a:tc>
                <a:tc>
                  <a:txBody>
                    <a:bodyPr/>
                    <a:lstStyle/>
                    <a:p>
                      <a:pPr algn="ctr" indent="0" marL="0">
                        <a:buNone/>
                      </a:pPr>
                      <a:r>
                        <a:rPr lang="en-US" sz="1100" dirty="0">
                          <a:solidFill>
                            <a:srgbClr val="2E7D32"/>
                          </a:solidFill>
                          <a:latin typeface="Consolas" pitchFamily="34" charset="0"/>
                          <a:ea typeface="Consolas" pitchFamily="34" charset="-122"/>
                          <a:cs typeface="Consolas" pitchFamily="34" charset="-120"/>
                        </a:rPr>
                        <a:t>2021</a:t>
                      </a:r>
                      <a:endParaRPr lang="en-US" sz="1100" dirty="0">
                        <a:latin typeface="Consolas" charset="0"/>
                        <a:ea typeface="Consolas" charset="0"/>
                        <a:cs typeface="Consolas" charset="0"/>
                      </a:endParaRPr>
                    </a:p>
                  </a:txBody>
                  <a:tcPr marL="91440" marR="91440" marT="45720" marB="45720">
                    <a:lnL w="12700" cap="flat" cmpd="sng" algn="ctr">
                      <a:solidFill>
                        <a:srgbClr val="CFD8DC"/>
                      </a:solidFill>
                      <a:prstDash val="solid"/>
                      <a:round/>
                      <a:headEnd type="none" w="med" len="med"/>
                      <a:tailEnd type="none" w="med" len="med"/>
                    </a:lnL>
                    <a:lnR w="12700" cap="flat" cmpd="sng" algn="ctr">
                      <a:solidFill>
                        <a:srgbClr val="CFD8DC"/>
                      </a:solidFill>
                      <a:prstDash val="solid"/>
                      <a:round/>
                      <a:headEnd type="none" w="med" len="med"/>
                      <a:tailEnd type="none" w="med" len="med"/>
                    </a:lnR>
                    <a:lnT w="12700" cap="flat" cmpd="sng" algn="ctr">
                      <a:solidFill>
                        <a:srgbClr val="CFD8DC"/>
                      </a:solidFill>
                      <a:prstDash val="solid"/>
                      <a:round/>
                      <a:headEnd type="none" w="med" len="med"/>
                      <a:tailEnd type="none" w="med" len="med"/>
                    </a:lnT>
                    <a:lnB w="12700" cap="flat" cmpd="sng" algn="ctr">
                      <a:solidFill>
                        <a:srgbClr val="CFD8DC"/>
                      </a:solidFill>
                      <a:prstDash val="solid"/>
                      <a:round/>
                      <a:headEnd type="none" w="med" len="med"/>
                      <a:tailEnd type="none" w="med" len="med"/>
                    </a:lnB>
                  </a:tcPr>
                </a:tc>
              </a:tr>
            </a:tbl>
          </a:graphicData>
        </a:graphic>
      </p:graphicFrame>
      <p:sp>
        <p:nvSpPr>
          <p:cNvPr id="14" name="Text 11"/>
          <p:cNvSpPr/>
          <p:nvPr/>
        </p:nvSpPr>
        <p:spPr>
          <a:xfrm>
            <a:off x="7360920" y="914400"/>
            <a:ext cx="1645920" cy="347472"/>
          </a:xfrm>
          <a:prstGeom prst="rect">
            <a:avLst/>
          </a:prstGeom>
          <a:noFill/>
          <a:ln/>
        </p:spPr>
        <p:txBody>
          <a:bodyPr wrap="square" rtlCol="0" anchor="ctr"/>
          <a:lstStyle/>
          <a:p>
            <a:pPr indent="0" marL="0">
              <a:buNone/>
            </a:pPr>
            <a:r>
              <a:rPr lang="en-US" sz="1200" b="1" dirty="0">
                <a:solidFill>
                  <a:srgbClr val="0F2D4A"/>
                </a:solidFill>
                <a:latin typeface="Calibri" pitchFamily="34" charset="0"/>
                <a:ea typeface="Calibri" pitchFamily="34" charset="-122"/>
                <a:cs typeface="Calibri" pitchFamily="34" charset="-120"/>
              </a:rPr>
              <a:t>Key annotations</a:t>
            </a:r>
            <a:endParaRPr lang="en-US" sz="1200" dirty="0"/>
          </a:p>
        </p:txBody>
      </p:sp>
      <p:sp>
        <p:nvSpPr>
          <p:cNvPr id="15" name="Shape 12"/>
          <p:cNvSpPr/>
          <p:nvPr/>
        </p:nvSpPr>
        <p:spPr>
          <a:xfrm>
            <a:off x="7360920" y="1325880"/>
            <a:ext cx="1645920" cy="457200"/>
          </a:xfrm>
          <a:prstGeom prst="rect">
            <a:avLst/>
          </a:prstGeom>
          <a:solidFill>
            <a:srgbClr val="FBE9E7"/>
          </a:solidFill>
          <a:ln w="12700">
            <a:solidFill>
              <a:srgbClr val="BF360C"/>
            </a:solidFill>
            <a:prstDash val="solid"/>
          </a:ln>
        </p:spPr>
      </p:sp>
      <p:sp>
        <p:nvSpPr>
          <p:cNvPr id="16" name="Text 13"/>
          <p:cNvSpPr/>
          <p:nvPr/>
        </p:nvSpPr>
        <p:spPr>
          <a:xfrm>
            <a:off x="7406640" y="1344168"/>
            <a:ext cx="1554480" cy="228600"/>
          </a:xfrm>
          <a:prstGeom prst="rect">
            <a:avLst/>
          </a:prstGeom>
          <a:noFill/>
          <a:ln/>
        </p:spPr>
        <p:txBody>
          <a:bodyPr wrap="square" rtlCol="0" anchor="ctr"/>
          <a:lstStyle/>
          <a:p>
            <a:pPr indent="0" marL="0">
              <a:buNone/>
            </a:pPr>
            <a:r>
              <a:rPr lang="en-US" sz="1000" b="1" dirty="0">
                <a:solidFill>
                  <a:srgbClr val="BF360C"/>
                </a:solidFill>
                <a:latin typeface="Consolas" pitchFamily="34" charset="0"/>
                <a:ea typeface="Consolas" pitchFamily="34" charset="-122"/>
                <a:cs typeface="Consolas" pitchFamily="34" charset="-120"/>
              </a:rPr>
              <a:t>@Entity</a:t>
            </a:r>
            <a:endParaRPr lang="en-US" sz="1000" dirty="0"/>
          </a:p>
        </p:txBody>
      </p:sp>
      <p:sp>
        <p:nvSpPr>
          <p:cNvPr id="17" name="Text 14"/>
          <p:cNvSpPr/>
          <p:nvPr/>
        </p:nvSpPr>
        <p:spPr>
          <a:xfrm>
            <a:off x="7406640" y="1545336"/>
            <a:ext cx="1554480" cy="201168"/>
          </a:xfrm>
          <a:prstGeom prst="rect">
            <a:avLst/>
          </a:prstGeom>
          <a:noFill/>
          <a:ln/>
        </p:spPr>
        <p:txBody>
          <a:bodyPr wrap="square" rtlCol="0" anchor="ctr"/>
          <a:lstStyle/>
          <a:p>
            <a:pPr indent="0" marL="0">
              <a:buNone/>
            </a:pPr>
            <a:r>
              <a:rPr lang="en-US" sz="950" dirty="0">
                <a:solidFill>
                  <a:srgbClr val="546E7A"/>
                </a:solidFill>
                <a:latin typeface="Calibri" pitchFamily="34" charset="0"/>
                <a:ea typeface="Calibri" pitchFamily="34" charset="-122"/>
                <a:cs typeface="Calibri" pitchFamily="34" charset="-120"/>
              </a:rPr>
              <a:t>The class is a table</a:t>
            </a:r>
            <a:endParaRPr lang="en-US" sz="950" dirty="0"/>
          </a:p>
        </p:txBody>
      </p:sp>
      <p:sp>
        <p:nvSpPr>
          <p:cNvPr id="18" name="Shape 15"/>
          <p:cNvSpPr/>
          <p:nvPr/>
        </p:nvSpPr>
        <p:spPr>
          <a:xfrm>
            <a:off x="7360920" y="1847088"/>
            <a:ext cx="1645920" cy="457200"/>
          </a:xfrm>
          <a:prstGeom prst="rect">
            <a:avLst/>
          </a:prstGeom>
          <a:solidFill>
            <a:srgbClr val="FBE9E7"/>
          </a:solidFill>
          <a:ln w="12700">
            <a:solidFill>
              <a:srgbClr val="BF360C"/>
            </a:solidFill>
            <a:prstDash val="solid"/>
          </a:ln>
        </p:spPr>
      </p:sp>
      <p:sp>
        <p:nvSpPr>
          <p:cNvPr id="19" name="Text 16"/>
          <p:cNvSpPr/>
          <p:nvPr/>
        </p:nvSpPr>
        <p:spPr>
          <a:xfrm>
            <a:off x="7406640" y="1865376"/>
            <a:ext cx="1554480" cy="228600"/>
          </a:xfrm>
          <a:prstGeom prst="rect">
            <a:avLst/>
          </a:prstGeom>
          <a:noFill/>
          <a:ln/>
        </p:spPr>
        <p:txBody>
          <a:bodyPr wrap="square" rtlCol="0" anchor="ctr"/>
          <a:lstStyle/>
          <a:p>
            <a:pPr indent="0" marL="0">
              <a:buNone/>
            </a:pPr>
            <a:r>
              <a:rPr lang="en-US" sz="1000" b="1" dirty="0">
                <a:solidFill>
                  <a:srgbClr val="BF360C"/>
                </a:solidFill>
                <a:latin typeface="Consolas" pitchFamily="34" charset="0"/>
                <a:ea typeface="Consolas" pitchFamily="34" charset="-122"/>
                <a:cs typeface="Consolas" pitchFamily="34" charset="-120"/>
              </a:rPr>
              <a:t>@Id</a:t>
            </a:r>
            <a:endParaRPr lang="en-US" sz="1000" dirty="0"/>
          </a:p>
        </p:txBody>
      </p:sp>
      <p:sp>
        <p:nvSpPr>
          <p:cNvPr id="20" name="Text 17"/>
          <p:cNvSpPr/>
          <p:nvPr/>
        </p:nvSpPr>
        <p:spPr>
          <a:xfrm>
            <a:off x="7406640" y="2066544"/>
            <a:ext cx="1554480" cy="201168"/>
          </a:xfrm>
          <a:prstGeom prst="rect">
            <a:avLst/>
          </a:prstGeom>
          <a:noFill/>
          <a:ln/>
        </p:spPr>
        <p:txBody>
          <a:bodyPr wrap="square" rtlCol="0" anchor="ctr"/>
          <a:lstStyle/>
          <a:p>
            <a:pPr indent="0" marL="0">
              <a:buNone/>
            </a:pPr>
            <a:r>
              <a:rPr lang="en-US" sz="950" dirty="0">
                <a:solidFill>
                  <a:srgbClr val="546E7A"/>
                </a:solidFill>
                <a:latin typeface="Calibri" pitchFamily="34" charset="0"/>
                <a:ea typeface="Calibri" pitchFamily="34" charset="-122"/>
                <a:cs typeface="Calibri" pitchFamily="34" charset="-120"/>
              </a:rPr>
              <a:t>Primary key</a:t>
            </a:r>
            <a:endParaRPr lang="en-US" sz="950" dirty="0"/>
          </a:p>
        </p:txBody>
      </p:sp>
      <p:sp>
        <p:nvSpPr>
          <p:cNvPr id="21" name="Shape 18"/>
          <p:cNvSpPr/>
          <p:nvPr/>
        </p:nvSpPr>
        <p:spPr>
          <a:xfrm>
            <a:off x="7360920" y="2368296"/>
            <a:ext cx="1645920" cy="457200"/>
          </a:xfrm>
          <a:prstGeom prst="rect">
            <a:avLst/>
          </a:prstGeom>
          <a:solidFill>
            <a:srgbClr val="FBE9E7"/>
          </a:solidFill>
          <a:ln w="12700">
            <a:solidFill>
              <a:srgbClr val="BF360C"/>
            </a:solidFill>
            <a:prstDash val="solid"/>
          </a:ln>
        </p:spPr>
      </p:sp>
      <p:sp>
        <p:nvSpPr>
          <p:cNvPr id="22" name="Text 19"/>
          <p:cNvSpPr/>
          <p:nvPr/>
        </p:nvSpPr>
        <p:spPr>
          <a:xfrm>
            <a:off x="7406640" y="2386584"/>
            <a:ext cx="1554480" cy="228600"/>
          </a:xfrm>
          <a:prstGeom prst="rect">
            <a:avLst/>
          </a:prstGeom>
          <a:noFill/>
          <a:ln/>
        </p:spPr>
        <p:txBody>
          <a:bodyPr wrap="square" rtlCol="0" anchor="ctr"/>
          <a:lstStyle/>
          <a:p>
            <a:pPr indent="0" marL="0">
              <a:buNone/>
            </a:pPr>
            <a:r>
              <a:rPr lang="en-US" sz="1000" b="1" dirty="0">
                <a:solidFill>
                  <a:srgbClr val="BF360C"/>
                </a:solidFill>
                <a:latin typeface="Consolas" pitchFamily="34" charset="0"/>
                <a:ea typeface="Consolas" pitchFamily="34" charset="-122"/>
                <a:cs typeface="Consolas" pitchFamily="34" charset="-120"/>
              </a:rPr>
              <a:t>@GeneratedValue</a:t>
            </a:r>
            <a:endParaRPr lang="en-US" sz="1000" dirty="0"/>
          </a:p>
        </p:txBody>
      </p:sp>
      <p:sp>
        <p:nvSpPr>
          <p:cNvPr id="23" name="Text 20"/>
          <p:cNvSpPr/>
          <p:nvPr/>
        </p:nvSpPr>
        <p:spPr>
          <a:xfrm>
            <a:off x="7406640" y="2587752"/>
            <a:ext cx="1554480" cy="201168"/>
          </a:xfrm>
          <a:prstGeom prst="rect">
            <a:avLst/>
          </a:prstGeom>
          <a:noFill/>
          <a:ln/>
        </p:spPr>
        <p:txBody>
          <a:bodyPr wrap="square" rtlCol="0" anchor="ctr"/>
          <a:lstStyle/>
          <a:p>
            <a:pPr indent="0" marL="0">
              <a:buNone/>
            </a:pPr>
            <a:r>
              <a:rPr lang="en-US" sz="950" dirty="0">
                <a:solidFill>
                  <a:srgbClr val="546E7A"/>
                </a:solidFill>
                <a:latin typeface="Calibri" pitchFamily="34" charset="0"/>
                <a:ea typeface="Calibri" pitchFamily="34" charset="-122"/>
                <a:cs typeface="Calibri" pitchFamily="34" charset="-120"/>
              </a:rPr>
              <a:t>Auto-increment ID</a:t>
            </a:r>
            <a:endParaRPr lang="en-US" sz="950" dirty="0"/>
          </a:p>
        </p:txBody>
      </p:sp>
      <p:sp>
        <p:nvSpPr>
          <p:cNvPr id="24" name="Shape 21"/>
          <p:cNvSpPr/>
          <p:nvPr/>
        </p:nvSpPr>
        <p:spPr>
          <a:xfrm>
            <a:off x="7360920" y="2889504"/>
            <a:ext cx="1645920" cy="457200"/>
          </a:xfrm>
          <a:prstGeom prst="rect">
            <a:avLst/>
          </a:prstGeom>
          <a:solidFill>
            <a:srgbClr val="FBE9E7"/>
          </a:solidFill>
          <a:ln w="12700">
            <a:solidFill>
              <a:srgbClr val="BF360C"/>
            </a:solidFill>
            <a:prstDash val="solid"/>
          </a:ln>
        </p:spPr>
      </p:sp>
      <p:sp>
        <p:nvSpPr>
          <p:cNvPr id="25" name="Text 22"/>
          <p:cNvSpPr/>
          <p:nvPr/>
        </p:nvSpPr>
        <p:spPr>
          <a:xfrm>
            <a:off x="7406640" y="2907792"/>
            <a:ext cx="1554480" cy="228600"/>
          </a:xfrm>
          <a:prstGeom prst="rect">
            <a:avLst/>
          </a:prstGeom>
          <a:noFill/>
          <a:ln/>
        </p:spPr>
        <p:txBody>
          <a:bodyPr wrap="square" rtlCol="0" anchor="ctr"/>
          <a:lstStyle/>
          <a:p>
            <a:pPr indent="0" marL="0">
              <a:buNone/>
            </a:pPr>
            <a:r>
              <a:rPr lang="en-US" sz="1000" b="1" dirty="0">
                <a:solidFill>
                  <a:srgbClr val="BF360C"/>
                </a:solidFill>
                <a:latin typeface="Consolas" pitchFamily="34" charset="0"/>
                <a:ea typeface="Consolas" pitchFamily="34" charset="-122"/>
                <a:cs typeface="Consolas" pitchFamily="34" charset="-120"/>
              </a:rPr>
              <a:t>@Column</a:t>
            </a:r>
            <a:endParaRPr lang="en-US" sz="1000" dirty="0"/>
          </a:p>
        </p:txBody>
      </p:sp>
      <p:sp>
        <p:nvSpPr>
          <p:cNvPr id="26" name="Text 23"/>
          <p:cNvSpPr/>
          <p:nvPr/>
        </p:nvSpPr>
        <p:spPr>
          <a:xfrm>
            <a:off x="7406640" y="3108960"/>
            <a:ext cx="1554480" cy="201168"/>
          </a:xfrm>
          <a:prstGeom prst="rect">
            <a:avLst/>
          </a:prstGeom>
          <a:noFill/>
          <a:ln/>
        </p:spPr>
        <p:txBody>
          <a:bodyPr wrap="square" rtlCol="0" anchor="ctr"/>
          <a:lstStyle/>
          <a:p>
            <a:pPr indent="0" marL="0">
              <a:buNone/>
            </a:pPr>
            <a:r>
              <a:rPr lang="en-US" sz="950" dirty="0">
                <a:solidFill>
                  <a:srgbClr val="546E7A"/>
                </a:solidFill>
                <a:latin typeface="Calibri" pitchFamily="34" charset="0"/>
                <a:ea typeface="Calibri" pitchFamily="34" charset="-122"/>
                <a:cs typeface="Calibri" pitchFamily="34" charset="-120"/>
              </a:rPr>
              <a:t>Map a field to a column</a:t>
            </a:r>
            <a:endParaRPr lang="en-US" sz="950" dirty="0"/>
          </a:p>
        </p:txBody>
      </p:sp>
      <p:sp>
        <p:nvSpPr>
          <p:cNvPr id="27" name="Shape 24"/>
          <p:cNvSpPr/>
          <p:nvPr/>
        </p:nvSpPr>
        <p:spPr>
          <a:xfrm>
            <a:off x="7360920" y="3410712"/>
            <a:ext cx="1645920" cy="457200"/>
          </a:xfrm>
          <a:prstGeom prst="rect">
            <a:avLst/>
          </a:prstGeom>
          <a:solidFill>
            <a:srgbClr val="FBE9E7"/>
          </a:solidFill>
          <a:ln w="12700">
            <a:solidFill>
              <a:srgbClr val="BF360C"/>
            </a:solidFill>
            <a:prstDash val="solid"/>
          </a:ln>
        </p:spPr>
      </p:sp>
      <p:sp>
        <p:nvSpPr>
          <p:cNvPr id="28" name="Text 25"/>
          <p:cNvSpPr/>
          <p:nvPr/>
        </p:nvSpPr>
        <p:spPr>
          <a:xfrm>
            <a:off x="7406640" y="3429000"/>
            <a:ext cx="1554480" cy="228600"/>
          </a:xfrm>
          <a:prstGeom prst="rect">
            <a:avLst/>
          </a:prstGeom>
          <a:noFill/>
          <a:ln/>
        </p:spPr>
        <p:txBody>
          <a:bodyPr wrap="square" rtlCol="0" anchor="ctr"/>
          <a:lstStyle/>
          <a:p>
            <a:pPr indent="0" marL="0">
              <a:buNone/>
            </a:pPr>
            <a:r>
              <a:rPr lang="en-US" sz="1000" b="1" dirty="0">
                <a:solidFill>
                  <a:srgbClr val="BF360C"/>
                </a:solidFill>
                <a:latin typeface="Consolas" pitchFamily="34" charset="0"/>
                <a:ea typeface="Consolas" pitchFamily="34" charset="-122"/>
                <a:cs typeface="Consolas" pitchFamily="34" charset="-120"/>
              </a:rPr>
              <a:t>Session</a:t>
            </a:r>
            <a:endParaRPr lang="en-US" sz="1000" dirty="0"/>
          </a:p>
        </p:txBody>
      </p:sp>
      <p:sp>
        <p:nvSpPr>
          <p:cNvPr id="29" name="Text 26"/>
          <p:cNvSpPr/>
          <p:nvPr/>
        </p:nvSpPr>
        <p:spPr>
          <a:xfrm>
            <a:off x="7406640" y="3630168"/>
            <a:ext cx="1554480" cy="201168"/>
          </a:xfrm>
          <a:prstGeom prst="rect">
            <a:avLst/>
          </a:prstGeom>
          <a:noFill/>
          <a:ln/>
        </p:spPr>
        <p:txBody>
          <a:bodyPr wrap="square" rtlCol="0" anchor="ctr"/>
          <a:lstStyle/>
          <a:p>
            <a:pPr indent="0" marL="0">
              <a:buNone/>
            </a:pPr>
            <a:r>
              <a:rPr lang="en-US" sz="950" dirty="0">
                <a:solidFill>
                  <a:srgbClr val="546E7A"/>
                </a:solidFill>
                <a:latin typeface="Calibri" pitchFamily="34" charset="0"/>
                <a:ea typeface="Calibri" pitchFamily="34" charset="-122"/>
                <a:cs typeface="Calibri" pitchFamily="34" charset="-120"/>
              </a:rPr>
              <a:t>Hibernate working context</a:t>
            </a:r>
            <a:endParaRPr lang="en-US" sz="950" dirty="0"/>
          </a:p>
        </p:txBody>
      </p:sp>
      <p:sp>
        <p:nvSpPr>
          <p:cNvPr id="30" name="Shape 27"/>
          <p:cNvSpPr/>
          <p:nvPr/>
        </p:nvSpPr>
        <p:spPr>
          <a:xfrm>
            <a:off x="274320" y="4114800"/>
            <a:ext cx="8595360" cy="868680"/>
          </a:xfrm>
          <a:prstGeom prst="rect">
            <a:avLst/>
          </a:prstGeom>
          <a:solidFill>
            <a:srgbClr val="0D1B2A"/>
          </a:solidFill>
          <a:ln w="12700">
            <a:solidFill>
              <a:srgbClr val="BF360C"/>
            </a:solidFill>
            <a:prstDash val="solid"/>
          </a:ln>
        </p:spPr>
      </p:sp>
      <p:sp>
        <p:nvSpPr>
          <p:cNvPr id="31" name="Text 28"/>
          <p:cNvSpPr/>
          <p:nvPr/>
        </p:nvSpPr>
        <p:spPr>
          <a:xfrm>
            <a:off x="457200" y="4151376"/>
            <a:ext cx="2286000" cy="256032"/>
          </a:xfrm>
          <a:prstGeom prst="rect">
            <a:avLst/>
          </a:prstGeom>
          <a:noFill/>
          <a:ln/>
        </p:spPr>
        <p:txBody>
          <a:bodyPr wrap="square" rtlCol="0" anchor="ctr"/>
          <a:lstStyle/>
          <a:p>
            <a:pPr indent="0" marL="0">
              <a:buNone/>
            </a:pPr>
            <a:r>
              <a:rPr lang="en-US" sz="1100" b="1" dirty="0">
                <a:solidFill>
                  <a:srgbClr val="EF9A9A"/>
                </a:solidFill>
                <a:latin typeface="Calibri" pitchFamily="34" charset="0"/>
                <a:ea typeface="Calibri" pitchFamily="34" charset="-122"/>
                <a:cs typeface="Calibri" pitchFamily="34" charset="-120"/>
              </a:rPr>
              <a:t>Queries in Hibernate</a:t>
            </a:r>
            <a:endParaRPr lang="en-US" sz="1100" dirty="0"/>
          </a:p>
        </p:txBody>
      </p:sp>
      <p:sp>
        <p:nvSpPr>
          <p:cNvPr id="32" name="Text 29"/>
          <p:cNvSpPr/>
          <p:nvPr/>
        </p:nvSpPr>
        <p:spPr>
          <a:xfrm>
            <a:off x="457200" y="4425696"/>
            <a:ext cx="8229600" cy="502920"/>
          </a:xfrm>
          <a:prstGeom prst="rect">
            <a:avLst/>
          </a:prstGeom>
          <a:noFill/>
          <a:ln/>
        </p:spPr>
        <p:txBody>
          <a:bodyPr wrap="square" rtlCol="0" anchor="t"/>
          <a:lstStyle/>
          <a:p>
            <a:pPr indent="0" marL="0">
              <a:buNone/>
            </a:pPr>
            <a:r>
              <a:rPr lang="en-US" sz="1050" b="1" dirty="0">
                <a:solidFill>
                  <a:srgbClr val="EF9A9A"/>
                </a:solidFill>
                <a:latin typeface="Consolas" pitchFamily="34" charset="0"/>
                <a:ea typeface="Consolas" pitchFamily="34" charset="-122"/>
                <a:cs typeface="Consolas" pitchFamily="34" charset="-120"/>
              </a:rPr>
              <a:t>HQL:  </a:t>
            </a:r>
            <a:pPr indent="0" marL="0">
              <a:buNone/>
            </a:pPr>
            <a:r>
              <a:rPr lang="en-US" sz="1050" dirty="0">
                <a:solidFill>
                  <a:srgbClr val="A5D6A7"/>
                </a:solidFill>
                <a:latin typeface="Consolas" pitchFamily="34" charset="0"/>
                <a:ea typeface="Consolas" pitchFamily="34" charset="-122"/>
                <a:cs typeface="Consolas" pitchFamily="34" charset="-120"/>
              </a:rPr>
              <a:t>session.createQuery("FROM Movie WHERE title LIKE :t").setParameter("t", "%"+q+"%")  </a:t>
            </a:r>
            <a:pPr indent="0" marL="0">
              <a:buNone/>
            </a:pPr>
            <a:r>
              <a:rPr lang="en-US" sz="1050" b="1" dirty="0">
                <a:solidFill>
                  <a:srgbClr val="EF9A9A"/>
                </a:solidFill>
                <a:latin typeface="Consolas" pitchFamily="34" charset="0"/>
                <a:ea typeface="Consolas" pitchFamily="34" charset="-122"/>
                <a:cs typeface="Consolas" pitchFamily="34" charset="-120"/>
              </a:rPr>
              <a:t>Criteria:  </a:t>
            </a:r>
            <a:pPr indent="0" marL="0">
              <a:buNone/>
            </a:pPr>
            <a:r>
              <a:rPr lang="en-US" sz="1050" dirty="0">
                <a:solidFill>
                  <a:srgbClr val="F9A825"/>
                </a:solidFill>
                <a:latin typeface="Consolas" pitchFamily="34" charset="0"/>
                <a:ea typeface="Consolas" pitchFamily="34" charset="-122"/>
                <a:cs typeface="Consolas" pitchFamily="34" charset="-120"/>
              </a:rPr>
              <a:t>cb.like(root.get("title"), "%"+q+"%")</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E2E"/>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65100"/>
          </a:solidFill>
          <a:ln w="12700">
            <a:solidFill>
              <a:srgbClr val="E65100"/>
            </a:solidFill>
            <a:prstDash val="solid"/>
          </a:ln>
        </p:spPr>
      </p:sp>
      <p:pic>
        <p:nvPicPr>
          <p:cNvPr id="3" name="Image 0" descr="preencoded.png">    </p:cNvPr>
          <p:cNvPicPr>
            <a:picLocks noChangeAspect="1"/>
          </p:cNvPicPr>
          <p:nvPr/>
        </p:nvPicPr>
        <p:blipFill>
          <a:blip r:embed="rId1"/>
          <a:stretch>
            <a:fillRect/>
          </a:stretch>
        </p:blipFill>
        <p:spPr>
          <a:xfrm>
            <a:off x="274320" y="164592"/>
            <a:ext cx="457200" cy="457200"/>
          </a:xfrm>
          <a:prstGeom prst="rect">
            <a:avLst/>
          </a:prstGeom>
        </p:spPr>
      </p:pic>
      <p:sp>
        <p:nvSpPr>
          <p:cNvPr id="4" name="Text 1"/>
          <p:cNvSpPr/>
          <p:nvPr/>
        </p:nvSpPr>
        <p:spPr>
          <a:xfrm>
            <a:off x="868680" y="128016"/>
            <a:ext cx="7772400" cy="5029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Common mistakes — avoid them!</a:t>
            </a:r>
            <a:endParaRPr lang="en-US" sz="2400" dirty="0"/>
          </a:p>
        </p:txBody>
      </p:sp>
      <p:sp>
        <p:nvSpPr>
          <p:cNvPr id="5" name="Shape 2"/>
          <p:cNvSpPr/>
          <p:nvPr/>
        </p:nvSpPr>
        <p:spPr>
          <a:xfrm>
            <a:off x="228600" y="896112"/>
            <a:ext cx="8686800" cy="1280160"/>
          </a:xfrm>
          <a:prstGeom prst="rect">
            <a:avLst/>
          </a:prstGeom>
          <a:solidFill>
            <a:srgbClr val="12141F"/>
          </a:solidFill>
          <a:ln w="12700">
            <a:solidFill>
              <a:srgbClr val="E65100"/>
            </a:solidFill>
            <a:prstDash val="solid"/>
          </a:ln>
        </p:spPr>
      </p:sp>
      <p:sp>
        <p:nvSpPr>
          <p:cNvPr id="6" name="Text 3"/>
          <p:cNvSpPr/>
          <p:nvPr/>
        </p:nvSpPr>
        <p:spPr>
          <a:xfrm>
            <a:off x="384048" y="941832"/>
            <a:ext cx="8229600" cy="274320"/>
          </a:xfrm>
          <a:prstGeom prst="rect">
            <a:avLst/>
          </a:prstGeom>
          <a:noFill/>
          <a:ln/>
        </p:spPr>
        <p:txBody>
          <a:bodyPr wrap="square" rtlCol="0" anchor="ctr"/>
          <a:lstStyle/>
          <a:p>
            <a:pPr indent="0" marL="0">
              <a:buNone/>
            </a:pPr>
            <a:r>
              <a:rPr lang="en-US" sz="1200" b="1" dirty="0">
                <a:solidFill>
                  <a:srgbClr val="EF9A9A"/>
                </a:solidFill>
                <a:latin typeface="Calibri" pitchFamily="34" charset="0"/>
                <a:ea typeface="Calibri" pitchFamily="34" charset="-122"/>
                <a:cs typeface="Calibri" pitchFamily="34" charset="-120"/>
              </a:rPr>
              <a:t>SQL injection through concatenation</a:t>
            </a:r>
            <a:endParaRPr lang="en-US" sz="1200" dirty="0"/>
          </a:p>
        </p:txBody>
      </p:sp>
      <p:sp>
        <p:nvSpPr>
          <p:cNvPr id="7" name="Shape 4"/>
          <p:cNvSpPr/>
          <p:nvPr/>
        </p:nvSpPr>
        <p:spPr>
          <a:xfrm>
            <a:off x="384048" y="1243584"/>
            <a:ext cx="4023360" cy="777240"/>
          </a:xfrm>
          <a:prstGeom prst="rect">
            <a:avLst/>
          </a:prstGeom>
          <a:solidFill>
            <a:srgbClr val="1A0000"/>
          </a:solidFill>
          <a:ln w="12700">
            <a:solidFill>
              <a:srgbClr val="E53935"/>
            </a:solidFill>
            <a:prstDash val="solid"/>
          </a:ln>
        </p:spPr>
      </p:sp>
      <p:sp>
        <p:nvSpPr>
          <p:cNvPr id="8" name="Text 5"/>
          <p:cNvSpPr/>
          <p:nvPr/>
        </p:nvSpPr>
        <p:spPr>
          <a:xfrm>
            <a:off x="384048" y="1243584"/>
            <a:ext cx="4023360" cy="228600"/>
          </a:xfrm>
          <a:prstGeom prst="rect">
            <a:avLst/>
          </a:prstGeom>
          <a:noFill/>
          <a:ln/>
        </p:spPr>
        <p:txBody>
          <a:bodyPr wrap="square" rtlCol="0" anchor="ctr"/>
          <a:lstStyle/>
          <a:p>
            <a:pPr algn="ctr" indent="0" marL="0">
              <a:buNone/>
            </a:pPr>
            <a:r>
              <a:rPr lang="en-US" sz="950" b="1" dirty="0">
                <a:solidFill>
                  <a:srgbClr val="EF5350"/>
                </a:solidFill>
                <a:latin typeface="Calibri" pitchFamily="34" charset="0"/>
                <a:ea typeface="Calibri" pitchFamily="34" charset="-122"/>
                <a:cs typeface="Calibri" pitchFamily="34" charset="-120"/>
              </a:rPr>
              <a:t>❌ Incorrect</a:t>
            </a:r>
            <a:endParaRPr lang="en-US" sz="950" dirty="0"/>
          </a:p>
        </p:txBody>
      </p:sp>
      <p:sp>
        <p:nvSpPr>
          <p:cNvPr id="9" name="Text 6"/>
          <p:cNvSpPr/>
          <p:nvPr/>
        </p:nvSpPr>
        <p:spPr>
          <a:xfrm>
            <a:off x="457200" y="1463040"/>
            <a:ext cx="3886200" cy="530352"/>
          </a:xfrm>
          <a:prstGeom prst="rect">
            <a:avLst/>
          </a:prstGeom>
          <a:noFill/>
          <a:ln/>
        </p:spPr>
        <p:txBody>
          <a:bodyPr wrap="square" rtlCol="0" anchor="t"/>
          <a:lstStyle/>
          <a:p>
            <a:pPr indent="0" marL="0">
              <a:buNone/>
            </a:pPr>
            <a:r>
              <a:rPr lang="en-US" sz="950" dirty="0">
                <a:solidFill>
                  <a:srgbClr val="FFCDD2"/>
                </a:solidFill>
                <a:latin typeface="Consolas" pitchFamily="34" charset="0"/>
                <a:ea typeface="Consolas" pitchFamily="34" charset="-122"/>
                <a:cs typeface="Consolas" pitchFamily="34" charset="-120"/>
              </a:rPr>
              <a:t>String sql = "SELECT * FROM movies WHERE title = '" + input + "'";</a:t>
            </a:r>
            <a:endParaRPr lang="en-US" sz="950" dirty="0"/>
          </a:p>
        </p:txBody>
      </p:sp>
      <p:sp>
        <p:nvSpPr>
          <p:cNvPr id="10" name="Shape 7"/>
          <p:cNvSpPr/>
          <p:nvPr/>
        </p:nvSpPr>
        <p:spPr>
          <a:xfrm>
            <a:off x="4645152" y="1243584"/>
            <a:ext cx="4114800" cy="777240"/>
          </a:xfrm>
          <a:prstGeom prst="rect">
            <a:avLst/>
          </a:prstGeom>
          <a:solidFill>
            <a:srgbClr val="001A00"/>
          </a:solidFill>
          <a:ln w="12700">
            <a:solidFill>
              <a:srgbClr val="43A047"/>
            </a:solidFill>
            <a:prstDash val="solid"/>
          </a:ln>
        </p:spPr>
      </p:sp>
      <p:sp>
        <p:nvSpPr>
          <p:cNvPr id="11" name="Text 8"/>
          <p:cNvSpPr/>
          <p:nvPr/>
        </p:nvSpPr>
        <p:spPr>
          <a:xfrm>
            <a:off x="4645152" y="1243584"/>
            <a:ext cx="4114800" cy="228600"/>
          </a:xfrm>
          <a:prstGeom prst="rect">
            <a:avLst/>
          </a:prstGeom>
          <a:noFill/>
          <a:ln/>
        </p:spPr>
        <p:txBody>
          <a:bodyPr wrap="square" rtlCol="0" anchor="ctr"/>
          <a:lstStyle/>
          <a:p>
            <a:pPr algn="ctr" indent="0" marL="0">
              <a:buNone/>
            </a:pPr>
            <a:r>
              <a:rPr lang="en-US" sz="950" b="1" dirty="0">
                <a:solidFill>
                  <a:srgbClr val="66BB6A"/>
                </a:solidFill>
                <a:latin typeface="Calibri" pitchFamily="34" charset="0"/>
                <a:ea typeface="Calibri" pitchFamily="34" charset="-122"/>
                <a:cs typeface="Calibri" pitchFamily="34" charset="-120"/>
              </a:rPr>
              <a:t>✅ Correct</a:t>
            </a:r>
            <a:endParaRPr lang="en-US" sz="950" dirty="0"/>
          </a:p>
        </p:txBody>
      </p:sp>
      <p:sp>
        <p:nvSpPr>
          <p:cNvPr id="12" name="Text 9"/>
          <p:cNvSpPr/>
          <p:nvPr/>
        </p:nvSpPr>
        <p:spPr>
          <a:xfrm>
            <a:off x="4718304" y="1463040"/>
            <a:ext cx="3977640" cy="530352"/>
          </a:xfrm>
          <a:prstGeom prst="rect">
            <a:avLst/>
          </a:prstGeom>
          <a:noFill/>
          <a:ln/>
        </p:spPr>
        <p:txBody>
          <a:bodyPr wrap="square" rtlCol="0" anchor="t"/>
          <a:lstStyle/>
          <a:p>
            <a:pPr indent="0" marL="0">
              <a:buNone/>
            </a:pPr>
            <a:r>
              <a:rPr lang="en-US" sz="950" dirty="0">
                <a:solidFill>
                  <a:srgbClr val="C8E6C9"/>
                </a:solidFill>
                <a:latin typeface="Consolas" pitchFamily="34" charset="0"/>
                <a:ea typeface="Consolas" pitchFamily="34" charset="-122"/>
                <a:cs typeface="Consolas" pitchFamily="34" charset="-120"/>
              </a:rPr>
              <a:t>ps = con.prepareStatement("SELECT * FROM movies WHERE title LIKE ?");</a:t>
            </a:r>
            <a:endParaRPr lang="en-US" sz="950" dirty="0"/>
          </a:p>
          <a:p>
            <a:pPr indent="0" marL="0">
              <a:buNone/>
            </a:pPr>
            <a:r>
              <a:rPr lang="en-US" sz="950" dirty="0">
                <a:solidFill>
                  <a:srgbClr val="C8E6C9"/>
                </a:solidFill>
                <a:latin typeface="Consolas" pitchFamily="34" charset="0"/>
                <a:ea typeface="Consolas" pitchFamily="34" charset="-122"/>
                <a:cs typeface="Consolas" pitchFamily="34" charset="-120"/>
              </a:rPr>
              <a:t>ps.setString(1, "%" + input + "%");</a:t>
            </a:r>
            <a:endParaRPr lang="en-US" sz="950" dirty="0"/>
          </a:p>
        </p:txBody>
      </p:sp>
      <p:sp>
        <p:nvSpPr>
          <p:cNvPr id="13" name="Shape 10"/>
          <p:cNvSpPr/>
          <p:nvPr/>
        </p:nvSpPr>
        <p:spPr>
          <a:xfrm>
            <a:off x="228600" y="2286000"/>
            <a:ext cx="8686800" cy="1280160"/>
          </a:xfrm>
          <a:prstGeom prst="rect">
            <a:avLst/>
          </a:prstGeom>
          <a:solidFill>
            <a:srgbClr val="12141F"/>
          </a:solidFill>
          <a:ln w="12700">
            <a:solidFill>
              <a:srgbClr val="E65100"/>
            </a:solidFill>
            <a:prstDash val="solid"/>
          </a:ln>
        </p:spPr>
      </p:sp>
      <p:sp>
        <p:nvSpPr>
          <p:cNvPr id="14" name="Text 11"/>
          <p:cNvSpPr/>
          <p:nvPr/>
        </p:nvSpPr>
        <p:spPr>
          <a:xfrm>
            <a:off x="384048" y="2331720"/>
            <a:ext cx="8229600" cy="274320"/>
          </a:xfrm>
          <a:prstGeom prst="rect">
            <a:avLst/>
          </a:prstGeom>
          <a:noFill/>
          <a:ln/>
        </p:spPr>
        <p:txBody>
          <a:bodyPr wrap="square" rtlCol="0" anchor="ctr"/>
          <a:lstStyle/>
          <a:p>
            <a:pPr indent="0" marL="0">
              <a:buNone/>
            </a:pPr>
            <a:r>
              <a:rPr lang="en-US" sz="1200" b="1" dirty="0">
                <a:solidFill>
                  <a:srgbClr val="EF9A9A"/>
                </a:solidFill>
                <a:latin typeface="Calibri" pitchFamily="34" charset="0"/>
                <a:ea typeface="Calibri" pitchFamily="34" charset="-122"/>
                <a:cs typeface="Calibri" pitchFamily="34" charset="-120"/>
              </a:rPr>
              <a:t>Connection / Statement / ResultSet not closed</a:t>
            </a:r>
            <a:endParaRPr lang="en-US" sz="1200" dirty="0"/>
          </a:p>
        </p:txBody>
      </p:sp>
      <p:sp>
        <p:nvSpPr>
          <p:cNvPr id="15" name="Shape 12"/>
          <p:cNvSpPr/>
          <p:nvPr/>
        </p:nvSpPr>
        <p:spPr>
          <a:xfrm>
            <a:off x="384048" y="2633472"/>
            <a:ext cx="4023360" cy="777240"/>
          </a:xfrm>
          <a:prstGeom prst="rect">
            <a:avLst/>
          </a:prstGeom>
          <a:solidFill>
            <a:srgbClr val="1A0000"/>
          </a:solidFill>
          <a:ln w="12700">
            <a:solidFill>
              <a:srgbClr val="E53935"/>
            </a:solidFill>
            <a:prstDash val="solid"/>
          </a:ln>
        </p:spPr>
      </p:sp>
      <p:sp>
        <p:nvSpPr>
          <p:cNvPr id="16" name="Text 13"/>
          <p:cNvSpPr/>
          <p:nvPr/>
        </p:nvSpPr>
        <p:spPr>
          <a:xfrm>
            <a:off x="384048" y="2633472"/>
            <a:ext cx="4023360" cy="228600"/>
          </a:xfrm>
          <a:prstGeom prst="rect">
            <a:avLst/>
          </a:prstGeom>
          <a:noFill/>
          <a:ln/>
        </p:spPr>
        <p:txBody>
          <a:bodyPr wrap="square" rtlCol="0" anchor="ctr"/>
          <a:lstStyle/>
          <a:p>
            <a:pPr algn="ctr" indent="0" marL="0">
              <a:buNone/>
            </a:pPr>
            <a:r>
              <a:rPr lang="en-US" sz="950" b="1" dirty="0">
                <a:solidFill>
                  <a:srgbClr val="EF5350"/>
                </a:solidFill>
                <a:latin typeface="Calibri" pitchFamily="34" charset="0"/>
                <a:ea typeface="Calibri" pitchFamily="34" charset="-122"/>
                <a:cs typeface="Calibri" pitchFamily="34" charset="-120"/>
              </a:rPr>
              <a:t>❌ Incorrect</a:t>
            </a:r>
            <a:endParaRPr lang="en-US" sz="950" dirty="0"/>
          </a:p>
        </p:txBody>
      </p:sp>
      <p:sp>
        <p:nvSpPr>
          <p:cNvPr id="17" name="Text 14"/>
          <p:cNvSpPr/>
          <p:nvPr/>
        </p:nvSpPr>
        <p:spPr>
          <a:xfrm>
            <a:off x="457200" y="2852928"/>
            <a:ext cx="3886200" cy="530352"/>
          </a:xfrm>
          <a:prstGeom prst="rect">
            <a:avLst/>
          </a:prstGeom>
          <a:noFill/>
          <a:ln/>
        </p:spPr>
        <p:txBody>
          <a:bodyPr wrap="square" rtlCol="0" anchor="t"/>
          <a:lstStyle/>
          <a:p>
            <a:pPr indent="0" marL="0">
              <a:buNone/>
            </a:pPr>
            <a:r>
              <a:rPr lang="en-US" sz="950" dirty="0">
                <a:solidFill>
                  <a:srgbClr val="FFCDD2"/>
                </a:solidFill>
                <a:latin typeface="Consolas" pitchFamily="34" charset="0"/>
                <a:ea typeface="Consolas" pitchFamily="34" charset="-122"/>
                <a:cs typeface="Consolas" pitchFamily="34" charset="-120"/>
              </a:rPr>
              <a:t>Connection con = DriverManager.getConnection(url);</a:t>
            </a:r>
            <a:endParaRPr lang="en-US" sz="950" dirty="0"/>
          </a:p>
          <a:p>
            <a:pPr indent="0" marL="0">
              <a:buNone/>
            </a:pPr>
            <a:r>
              <a:rPr lang="en-US" sz="950" dirty="0">
                <a:solidFill>
                  <a:srgbClr val="FFCDD2"/>
                </a:solidFill>
                <a:latin typeface="Consolas" pitchFamily="34" charset="0"/>
                <a:ea typeface="Consolas" pitchFamily="34" charset="-122"/>
                <a:cs typeface="Consolas" pitchFamily="34" charset="-120"/>
              </a:rPr>
              <a:t>// ... (connection is not closed!)</a:t>
            </a:r>
            <a:endParaRPr lang="en-US" sz="950" dirty="0"/>
          </a:p>
        </p:txBody>
      </p:sp>
      <p:sp>
        <p:nvSpPr>
          <p:cNvPr id="18" name="Shape 15"/>
          <p:cNvSpPr/>
          <p:nvPr/>
        </p:nvSpPr>
        <p:spPr>
          <a:xfrm>
            <a:off x="4645152" y="2633472"/>
            <a:ext cx="4114800" cy="777240"/>
          </a:xfrm>
          <a:prstGeom prst="rect">
            <a:avLst/>
          </a:prstGeom>
          <a:solidFill>
            <a:srgbClr val="001A00"/>
          </a:solidFill>
          <a:ln w="12700">
            <a:solidFill>
              <a:srgbClr val="43A047"/>
            </a:solidFill>
            <a:prstDash val="solid"/>
          </a:ln>
        </p:spPr>
      </p:sp>
      <p:sp>
        <p:nvSpPr>
          <p:cNvPr id="19" name="Text 16"/>
          <p:cNvSpPr/>
          <p:nvPr/>
        </p:nvSpPr>
        <p:spPr>
          <a:xfrm>
            <a:off x="4645152" y="2633472"/>
            <a:ext cx="4114800" cy="228600"/>
          </a:xfrm>
          <a:prstGeom prst="rect">
            <a:avLst/>
          </a:prstGeom>
          <a:noFill/>
          <a:ln/>
        </p:spPr>
        <p:txBody>
          <a:bodyPr wrap="square" rtlCol="0" anchor="ctr"/>
          <a:lstStyle/>
          <a:p>
            <a:pPr algn="ctr" indent="0" marL="0">
              <a:buNone/>
            </a:pPr>
            <a:r>
              <a:rPr lang="en-US" sz="950" b="1" dirty="0">
                <a:solidFill>
                  <a:srgbClr val="66BB6A"/>
                </a:solidFill>
                <a:latin typeface="Calibri" pitchFamily="34" charset="0"/>
                <a:ea typeface="Calibri" pitchFamily="34" charset="-122"/>
                <a:cs typeface="Calibri" pitchFamily="34" charset="-120"/>
              </a:rPr>
              <a:t>✅ Correct</a:t>
            </a:r>
            <a:endParaRPr lang="en-US" sz="950" dirty="0"/>
          </a:p>
        </p:txBody>
      </p:sp>
      <p:sp>
        <p:nvSpPr>
          <p:cNvPr id="20" name="Text 17"/>
          <p:cNvSpPr/>
          <p:nvPr/>
        </p:nvSpPr>
        <p:spPr>
          <a:xfrm>
            <a:off x="4718304" y="2852928"/>
            <a:ext cx="3977640" cy="530352"/>
          </a:xfrm>
          <a:prstGeom prst="rect">
            <a:avLst/>
          </a:prstGeom>
          <a:noFill/>
          <a:ln/>
        </p:spPr>
        <p:txBody>
          <a:bodyPr wrap="square" rtlCol="0" anchor="t"/>
          <a:lstStyle/>
          <a:p>
            <a:pPr indent="0" marL="0">
              <a:buNone/>
            </a:pPr>
            <a:r>
              <a:rPr lang="en-US" sz="950" dirty="0">
                <a:solidFill>
                  <a:srgbClr val="C8E6C9"/>
                </a:solidFill>
                <a:latin typeface="Consolas" pitchFamily="34" charset="0"/>
                <a:ea typeface="Consolas" pitchFamily="34" charset="-122"/>
                <a:cs typeface="Consolas" pitchFamily="34" charset="-120"/>
              </a:rPr>
              <a:t>try (Connection con = DriverManager.getConnection(url);</a:t>
            </a:r>
            <a:endParaRPr lang="en-US" sz="950" dirty="0"/>
          </a:p>
          <a:p>
            <a:pPr indent="0" marL="0">
              <a:buNone/>
            </a:pPr>
            <a:r>
              <a:rPr lang="en-US" sz="950" dirty="0">
                <a:solidFill>
                  <a:srgbClr val="C8E6C9"/>
                </a:solidFill>
                <a:latin typeface="Consolas" pitchFamily="34" charset="0"/>
                <a:ea typeface="Consolas" pitchFamily="34" charset="-122"/>
                <a:cs typeface="Consolas" pitchFamily="34" charset="-120"/>
              </a:rPr>
              <a:t>     PreparedStatement ps = ...) { ... }</a:t>
            </a:r>
            <a:endParaRPr lang="en-US" sz="950" dirty="0"/>
          </a:p>
        </p:txBody>
      </p:sp>
      <p:sp>
        <p:nvSpPr>
          <p:cNvPr id="21" name="Shape 18"/>
          <p:cNvSpPr/>
          <p:nvPr/>
        </p:nvSpPr>
        <p:spPr>
          <a:xfrm>
            <a:off x="228600" y="3675888"/>
            <a:ext cx="8686800" cy="1280160"/>
          </a:xfrm>
          <a:prstGeom prst="rect">
            <a:avLst/>
          </a:prstGeom>
          <a:solidFill>
            <a:srgbClr val="12141F"/>
          </a:solidFill>
          <a:ln w="12700">
            <a:solidFill>
              <a:srgbClr val="E65100"/>
            </a:solidFill>
            <a:prstDash val="solid"/>
          </a:ln>
        </p:spPr>
      </p:sp>
      <p:sp>
        <p:nvSpPr>
          <p:cNvPr id="22" name="Text 19"/>
          <p:cNvSpPr/>
          <p:nvPr/>
        </p:nvSpPr>
        <p:spPr>
          <a:xfrm>
            <a:off x="384048" y="3721608"/>
            <a:ext cx="8229600" cy="274320"/>
          </a:xfrm>
          <a:prstGeom prst="rect">
            <a:avLst/>
          </a:prstGeom>
          <a:noFill/>
          <a:ln/>
        </p:spPr>
        <p:txBody>
          <a:bodyPr wrap="square" rtlCol="0" anchor="ctr"/>
          <a:lstStyle/>
          <a:p>
            <a:pPr indent="0" marL="0">
              <a:buNone/>
            </a:pPr>
            <a:r>
              <a:rPr lang="en-US" sz="1200" b="1" dirty="0">
                <a:solidFill>
                  <a:srgbClr val="EF9A9A"/>
                </a:solidFill>
                <a:latin typeface="Calibri" pitchFamily="34" charset="0"/>
                <a:ea typeface="Calibri" pitchFamily="34" charset="-122"/>
                <a:cs typeface="Calibri" pitchFamily="34" charset="-120"/>
              </a:rPr>
              <a:t>Using a table name instead of the class name in HQL</a:t>
            </a:r>
            <a:endParaRPr lang="en-US" sz="1200" dirty="0"/>
          </a:p>
        </p:txBody>
      </p:sp>
      <p:sp>
        <p:nvSpPr>
          <p:cNvPr id="23" name="Shape 20"/>
          <p:cNvSpPr/>
          <p:nvPr/>
        </p:nvSpPr>
        <p:spPr>
          <a:xfrm>
            <a:off x="384048" y="4023360"/>
            <a:ext cx="4023360" cy="777240"/>
          </a:xfrm>
          <a:prstGeom prst="rect">
            <a:avLst/>
          </a:prstGeom>
          <a:solidFill>
            <a:srgbClr val="1A0000"/>
          </a:solidFill>
          <a:ln w="12700">
            <a:solidFill>
              <a:srgbClr val="E53935"/>
            </a:solidFill>
            <a:prstDash val="solid"/>
          </a:ln>
        </p:spPr>
      </p:sp>
      <p:sp>
        <p:nvSpPr>
          <p:cNvPr id="24" name="Text 21"/>
          <p:cNvSpPr/>
          <p:nvPr/>
        </p:nvSpPr>
        <p:spPr>
          <a:xfrm>
            <a:off x="384048" y="4023360"/>
            <a:ext cx="4023360" cy="228600"/>
          </a:xfrm>
          <a:prstGeom prst="rect">
            <a:avLst/>
          </a:prstGeom>
          <a:noFill/>
          <a:ln/>
        </p:spPr>
        <p:txBody>
          <a:bodyPr wrap="square" rtlCol="0" anchor="ctr"/>
          <a:lstStyle/>
          <a:p>
            <a:pPr algn="ctr" indent="0" marL="0">
              <a:buNone/>
            </a:pPr>
            <a:r>
              <a:rPr lang="en-US" sz="950" b="1" dirty="0">
                <a:solidFill>
                  <a:srgbClr val="EF5350"/>
                </a:solidFill>
                <a:latin typeface="Calibri" pitchFamily="34" charset="0"/>
                <a:ea typeface="Calibri" pitchFamily="34" charset="-122"/>
                <a:cs typeface="Calibri" pitchFamily="34" charset="-120"/>
              </a:rPr>
              <a:t>❌ Incorrect</a:t>
            </a:r>
            <a:endParaRPr lang="en-US" sz="950" dirty="0"/>
          </a:p>
        </p:txBody>
      </p:sp>
      <p:sp>
        <p:nvSpPr>
          <p:cNvPr id="25" name="Text 22"/>
          <p:cNvSpPr/>
          <p:nvPr/>
        </p:nvSpPr>
        <p:spPr>
          <a:xfrm>
            <a:off x="457200" y="4242816"/>
            <a:ext cx="3886200" cy="530352"/>
          </a:xfrm>
          <a:prstGeom prst="rect">
            <a:avLst/>
          </a:prstGeom>
          <a:noFill/>
          <a:ln/>
        </p:spPr>
        <p:txBody>
          <a:bodyPr wrap="square" rtlCol="0" anchor="t"/>
          <a:lstStyle/>
          <a:p>
            <a:pPr indent="0" marL="0">
              <a:buNone/>
            </a:pPr>
            <a:r>
              <a:rPr lang="en-US" sz="950" dirty="0">
                <a:solidFill>
                  <a:srgbClr val="FFCDD2"/>
                </a:solidFill>
                <a:latin typeface="Consolas" pitchFamily="34" charset="0"/>
                <a:ea typeface="Consolas" pitchFamily="34" charset="-122"/>
                <a:cs typeface="Consolas" pitchFamily="34" charset="-120"/>
              </a:rPr>
              <a:t>session.createQuery("FROM movies WHERE ...");</a:t>
            </a:r>
            <a:endParaRPr lang="en-US" sz="950" dirty="0"/>
          </a:p>
          <a:p>
            <a:pPr indent="0" marL="0">
              <a:buNone/>
            </a:pPr>
            <a:r>
              <a:rPr lang="en-US" sz="950" dirty="0">
                <a:solidFill>
                  <a:srgbClr val="FFCDD2"/>
                </a:solidFill>
                <a:latin typeface="Consolas" pitchFamily="34" charset="0"/>
                <a:ea typeface="Consolas" pitchFamily="34" charset="-122"/>
                <a:cs typeface="Consolas" pitchFamily="34" charset="-120"/>
              </a:rPr>
              <a:t>// error: "movies" is a table name, not a class name</a:t>
            </a:r>
            <a:endParaRPr lang="en-US" sz="950" dirty="0"/>
          </a:p>
        </p:txBody>
      </p:sp>
      <p:sp>
        <p:nvSpPr>
          <p:cNvPr id="26" name="Shape 23"/>
          <p:cNvSpPr/>
          <p:nvPr/>
        </p:nvSpPr>
        <p:spPr>
          <a:xfrm>
            <a:off x="4645152" y="4023360"/>
            <a:ext cx="4114800" cy="777240"/>
          </a:xfrm>
          <a:prstGeom prst="rect">
            <a:avLst/>
          </a:prstGeom>
          <a:solidFill>
            <a:srgbClr val="001A00"/>
          </a:solidFill>
          <a:ln w="12700">
            <a:solidFill>
              <a:srgbClr val="43A047"/>
            </a:solidFill>
            <a:prstDash val="solid"/>
          </a:ln>
        </p:spPr>
      </p:sp>
      <p:sp>
        <p:nvSpPr>
          <p:cNvPr id="27" name="Text 24"/>
          <p:cNvSpPr/>
          <p:nvPr/>
        </p:nvSpPr>
        <p:spPr>
          <a:xfrm>
            <a:off x="4645152" y="4023360"/>
            <a:ext cx="4114800" cy="228600"/>
          </a:xfrm>
          <a:prstGeom prst="rect">
            <a:avLst/>
          </a:prstGeom>
          <a:noFill/>
          <a:ln/>
        </p:spPr>
        <p:txBody>
          <a:bodyPr wrap="square" rtlCol="0" anchor="ctr"/>
          <a:lstStyle/>
          <a:p>
            <a:pPr algn="ctr" indent="0" marL="0">
              <a:buNone/>
            </a:pPr>
            <a:r>
              <a:rPr lang="en-US" sz="950" b="1" dirty="0">
                <a:solidFill>
                  <a:srgbClr val="66BB6A"/>
                </a:solidFill>
                <a:latin typeface="Calibri" pitchFamily="34" charset="0"/>
                <a:ea typeface="Calibri" pitchFamily="34" charset="-122"/>
                <a:cs typeface="Calibri" pitchFamily="34" charset="-120"/>
              </a:rPr>
              <a:t>✅ Correct</a:t>
            </a:r>
            <a:endParaRPr lang="en-US" sz="950" dirty="0"/>
          </a:p>
        </p:txBody>
      </p:sp>
      <p:sp>
        <p:nvSpPr>
          <p:cNvPr id="28" name="Text 25"/>
          <p:cNvSpPr/>
          <p:nvPr/>
        </p:nvSpPr>
        <p:spPr>
          <a:xfrm>
            <a:off x="4718304" y="4242816"/>
            <a:ext cx="3977640" cy="530352"/>
          </a:xfrm>
          <a:prstGeom prst="rect">
            <a:avLst/>
          </a:prstGeom>
          <a:noFill/>
          <a:ln/>
        </p:spPr>
        <p:txBody>
          <a:bodyPr wrap="square" rtlCol="0" anchor="t"/>
          <a:lstStyle/>
          <a:p>
            <a:pPr indent="0" marL="0">
              <a:buNone/>
            </a:pPr>
            <a:r>
              <a:rPr lang="en-US" sz="950" dirty="0">
                <a:solidFill>
                  <a:srgbClr val="C8E6C9"/>
                </a:solidFill>
                <a:latin typeface="Consolas" pitchFamily="34" charset="0"/>
                <a:ea typeface="Consolas" pitchFamily="34" charset="-122"/>
                <a:cs typeface="Consolas" pitchFamily="34" charset="-120"/>
              </a:rPr>
              <a:t>session.createQuery("FROM Movie WHERE ...");</a:t>
            </a:r>
            <a:endParaRPr lang="en-US" sz="950" dirty="0"/>
          </a:p>
          <a:p>
            <a:pPr indent="0" marL="0">
              <a:buNone/>
            </a:pPr>
            <a:r>
              <a:rPr lang="en-US" sz="950" dirty="0">
                <a:solidFill>
                  <a:srgbClr val="C8E6C9"/>
                </a:solidFill>
                <a:latin typeface="Consolas" pitchFamily="34" charset="0"/>
                <a:ea typeface="Consolas" pitchFamily="34" charset="-122"/>
                <a:cs typeface="Consolas" pitchFamily="34" charset="-120"/>
              </a:rPr>
              <a:t>// correct: "Movie" is the Java class name with @Entity</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5E20"/>
          </a:solidFill>
          <a:ln w="12700">
            <a:solidFill>
              <a:srgbClr val="1B5E20"/>
            </a:solidFill>
            <a:prstDash val="solid"/>
          </a:ln>
        </p:spPr>
      </p:sp>
      <p:pic>
        <p:nvPicPr>
          <p:cNvPr id="3" name="Image 0" descr="preencoded.png">    </p:cNvPr>
          <p:cNvPicPr>
            <a:picLocks noChangeAspect="1"/>
          </p:cNvPicPr>
          <p:nvPr/>
        </p:nvPicPr>
        <p:blipFill>
          <a:blip r:embed="rId1"/>
          <a:stretch>
            <a:fillRect/>
          </a:stretch>
        </p:blipFill>
        <p:spPr>
          <a:xfrm>
            <a:off x="274320" y="155448"/>
            <a:ext cx="457200" cy="457200"/>
          </a:xfrm>
          <a:prstGeom prst="rect">
            <a:avLst/>
          </a:prstGeom>
        </p:spPr>
      </p:pic>
      <p:sp>
        <p:nvSpPr>
          <p:cNvPr id="4" name="Text 1"/>
          <p:cNvSpPr/>
          <p:nvPr/>
        </p:nvSpPr>
        <p:spPr>
          <a:xfrm>
            <a:off x="868680" y="128016"/>
            <a:ext cx="7772400" cy="5029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What to do — full checklist</a:t>
            </a:r>
            <a:endParaRPr lang="en-US" sz="2400" dirty="0"/>
          </a:p>
        </p:txBody>
      </p:sp>
      <p:sp>
        <p:nvSpPr>
          <p:cNvPr id="5" name="Shape 2"/>
          <p:cNvSpPr/>
          <p:nvPr/>
        </p:nvSpPr>
        <p:spPr>
          <a:xfrm>
            <a:off x="182880" y="841248"/>
            <a:ext cx="2057400" cy="4160520"/>
          </a:xfrm>
          <a:prstGeom prst="rect">
            <a:avLst/>
          </a:prstGeom>
          <a:solidFill>
            <a:srgbClr val="FFFFFF"/>
          </a:solidFill>
          <a:ln w="12700">
            <a:solidFill>
              <a:srgbClr val="CFD8DC"/>
            </a:solidFill>
            <a:prstDash val="solid"/>
          </a:ln>
          <a:effectLst>
            <a:outerShdw sx="100000" sy="100000" kx="0" ky="0" algn="bl" rotWithShape="0" blurRad="63500" dist="25400" dir="8100000">
              <a:srgbClr val="000000">
                <a:alpha val="12000"/>
              </a:srgbClr>
            </a:outerShdw>
          </a:effectLst>
        </p:spPr>
      </p:sp>
      <p:sp>
        <p:nvSpPr>
          <p:cNvPr id="6" name="Shape 3"/>
          <p:cNvSpPr/>
          <p:nvPr/>
        </p:nvSpPr>
        <p:spPr>
          <a:xfrm>
            <a:off x="182880" y="841248"/>
            <a:ext cx="2057400" cy="475488"/>
          </a:xfrm>
          <a:prstGeom prst="rect">
            <a:avLst/>
          </a:prstGeom>
          <a:solidFill>
            <a:srgbClr val="1565C0"/>
          </a:solidFill>
          <a:ln w="12700">
            <a:solidFill>
              <a:srgbClr val="1565C0"/>
            </a:solidFill>
            <a:prstDash val="solid"/>
          </a:ln>
        </p:spPr>
      </p:sp>
      <p:sp>
        <p:nvSpPr>
          <p:cNvPr id="7" name="Text 4"/>
          <p:cNvSpPr/>
          <p:nvPr/>
        </p:nvSpPr>
        <p:spPr>
          <a:xfrm>
            <a:off x="182880" y="841248"/>
            <a:ext cx="2057400" cy="475488"/>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Maven</a:t>
            </a:r>
            <a:endParaRPr lang="en-US" sz="1250" dirty="0"/>
          </a:p>
        </p:txBody>
      </p:sp>
      <p:sp>
        <p:nvSpPr>
          <p:cNvPr id="8" name="Shape 5"/>
          <p:cNvSpPr/>
          <p:nvPr/>
        </p:nvSpPr>
        <p:spPr>
          <a:xfrm>
            <a:off x="292608" y="1389888"/>
            <a:ext cx="292608" cy="292608"/>
          </a:xfrm>
          <a:prstGeom prst="ellipse">
            <a:avLst/>
          </a:prstGeom>
          <a:solidFill>
            <a:srgbClr val="1565C0"/>
          </a:solidFill>
          <a:ln w="12700">
            <a:solidFill>
              <a:srgbClr val="1565C0"/>
            </a:solidFill>
            <a:prstDash val="solid"/>
          </a:ln>
        </p:spPr>
      </p:sp>
      <p:sp>
        <p:nvSpPr>
          <p:cNvPr id="9" name="Text 6"/>
          <p:cNvSpPr/>
          <p:nvPr/>
        </p:nvSpPr>
        <p:spPr>
          <a:xfrm>
            <a:off x="292608" y="1389888"/>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0" name="Text 7"/>
          <p:cNvSpPr/>
          <p:nvPr/>
        </p:nvSpPr>
        <p:spPr>
          <a:xfrm>
            <a:off x="640080" y="1371600"/>
            <a:ext cx="1536192" cy="804672"/>
          </a:xfrm>
          <a:prstGeom prst="rect">
            <a:avLst/>
          </a:prstGeom>
          <a:noFill/>
          <a:ln/>
        </p:spPr>
        <p:txBody>
          <a:bodyPr wrap="square" rtlCol="0" anchor="t"/>
          <a:lstStyle/>
          <a:p>
            <a:pPr indent="0" marL="0">
              <a:buNone/>
            </a:pPr>
            <a:r>
              <a:rPr lang="en-US" sz="950" dirty="0">
                <a:solidFill>
                  <a:srgbClr val="263238"/>
                </a:solidFill>
                <a:latin typeface="Calibri" pitchFamily="34" charset="0"/>
                <a:ea typeface="Calibri" pitchFamily="34" charset="-122"/>
                <a:cs typeface="Calibri" pitchFamily="34" charset="-120"/>
              </a:rPr>
              <a:t>Create a Maven project with pom.xml (GAV + dependencies)</a:t>
            </a:r>
            <a:endParaRPr lang="en-US" sz="950" dirty="0"/>
          </a:p>
        </p:txBody>
      </p:sp>
      <p:sp>
        <p:nvSpPr>
          <p:cNvPr id="11" name="Shape 8"/>
          <p:cNvSpPr/>
          <p:nvPr/>
        </p:nvSpPr>
        <p:spPr>
          <a:xfrm>
            <a:off x="292608" y="2194560"/>
            <a:ext cx="292608" cy="292608"/>
          </a:xfrm>
          <a:prstGeom prst="ellipse">
            <a:avLst/>
          </a:prstGeom>
          <a:solidFill>
            <a:srgbClr val="1565C0"/>
          </a:solidFill>
          <a:ln w="12700">
            <a:solidFill>
              <a:srgbClr val="1565C0"/>
            </a:solidFill>
            <a:prstDash val="solid"/>
          </a:ln>
        </p:spPr>
      </p:sp>
      <p:sp>
        <p:nvSpPr>
          <p:cNvPr id="12" name="Text 9"/>
          <p:cNvSpPr/>
          <p:nvPr/>
        </p:nvSpPr>
        <p:spPr>
          <a:xfrm>
            <a:off x="292608" y="2194560"/>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Text 10"/>
          <p:cNvSpPr/>
          <p:nvPr/>
        </p:nvSpPr>
        <p:spPr>
          <a:xfrm>
            <a:off x="640080" y="2176272"/>
            <a:ext cx="1536192" cy="804672"/>
          </a:xfrm>
          <a:prstGeom prst="rect">
            <a:avLst/>
          </a:prstGeom>
          <a:noFill/>
          <a:ln/>
        </p:spPr>
        <p:txBody>
          <a:bodyPr wrap="square" rtlCol="0" anchor="t"/>
          <a:lstStyle/>
          <a:p>
            <a:pPr indent="0" marL="0">
              <a:buNone/>
            </a:pPr>
            <a:r>
              <a:rPr lang="en-US" sz="950" dirty="0">
                <a:solidFill>
                  <a:srgbClr val="263238"/>
                </a:solidFill>
                <a:latin typeface="Calibri" pitchFamily="34" charset="0"/>
                <a:ea typeface="Calibri" pitchFamily="34" charset="-122"/>
                <a:cs typeface="Calibri" pitchFamily="34" charset="-120"/>
              </a:rPr>
              <a:t>Run mvn compile, mvn package, mvn dependency:tree</a:t>
            </a:r>
            <a:endParaRPr lang="en-US" sz="950" dirty="0"/>
          </a:p>
        </p:txBody>
      </p:sp>
      <p:sp>
        <p:nvSpPr>
          <p:cNvPr id="14" name="Shape 11"/>
          <p:cNvSpPr/>
          <p:nvPr/>
        </p:nvSpPr>
        <p:spPr>
          <a:xfrm>
            <a:off x="292608" y="2999232"/>
            <a:ext cx="292608" cy="292608"/>
          </a:xfrm>
          <a:prstGeom prst="ellipse">
            <a:avLst/>
          </a:prstGeom>
          <a:solidFill>
            <a:srgbClr val="1565C0"/>
          </a:solidFill>
          <a:ln w="12700">
            <a:solidFill>
              <a:srgbClr val="1565C0"/>
            </a:solidFill>
            <a:prstDash val="solid"/>
          </a:ln>
        </p:spPr>
      </p:sp>
      <p:sp>
        <p:nvSpPr>
          <p:cNvPr id="15" name="Text 12"/>
          <p:cNvSpPr/>
          <p:nvPr/>
        </p:nvSpPr>
        <p:spPr>
          <a:xfrm>
            <a:off x="292608" y="2999232"/>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6" name="Text 13"/>
          <p:cNvSpPr/>
          <p:nvPr/>
        </p:nvSpPr>
        <p:spPr>
          <a:xfrm>
            <a:off x="640080" y="2980944"/>
            <a:ext cx="1536192" cy="804672"/>
          </a:xfrm>
          <a:prstGeom prst="rect">
            <a:avLst/>
          </a:prstGeom>
          <a:noFill/>
          <a:ln/>
        </p:spPr>
        <p:txBody>
          <a:bodyPr wrap="square" rtlCol="0" anchor="t"/>
          <a:lstStyle/>
          <a:p>
            <a:pPr indent="0" marL="0">
              <a:buNone/>
            </a:pPr>
            <a:r>
              <a:rPr lang="en-US" sz="950" dirty="0">
                <a:solidFill>
                  <a:srgbClr val="263238"/>
                </a:solidFill>
                <a:latin typeface="Calibri" pitchFamily="34" charset="0"/>
                <a:ea typeface="Calibri" pitchFamily="34" charset="-122"/>
                <a:cs typeface="Calibri" pitchFamily="34" charset="-120"/>
              </a:rPr>
              <a:t>Save screenshots of the command output</a:t>
            </a:r>
            <a:endParaRPr lang="en-US" sz="950" dirty="0"/>
          </a:p>
        </p:txBody>
      </p:sp>
      <p:sp>
        <p:nvSpPr>
          <p:cNvPr id="17" name="Shape 14"/>
          <p:cNvSpPr/>
          <p:nvPr/>
        </p:nvSpPr>
        <p:spPr>
          <a:xfrm>
            <a:off x="2395728" y="841248"/>
            <a:ext cx="2057400" cy="4160520"/>
          </a:xfrm>
          <a:prstGeom prst="rect">
            <a:avLst/>
          </a:prstGeom>
          <a:solidFill>
            <a:srgbClr val="FFFFFF"/>
          </a:solidFill>
          <a:ln w="12700">
            <a:solidFill>
              <a:srgbClr val="CFD8DC"/>
            </a:solidFill>
            <a:prstDash val="solid"/>
          </a:ln>
          <a:effectLst>
            <a:outerShdw sx="100000" sy="100000" kx="0" ky="0" algn="bl" rotWithShape="0" blurRad="63500" dist="25400" dir="8100000">
              <a:srgbClr val="000000">
                <a:alpha val="12000"/>
              </a:srgbClr>
            </a:outerShdw>
          </a:effectLst>
        </p:spPr>
      </p:sp>
      <p:sp>
        <p:nvSpPr>
          <p:cNvPr id="18" name="Shape 15"/>
          <p:cNvSpPr/>
          <p:nvPr/>
        </p:nvSpPr>
        <p:spPr>
          <a:xfrm>
            <a:off x="2395728" y="841248"/>
            <a:ext cx="2057400" cy="475488"/>
          </a:xfrm>
          <a:prstGeom prst="rect">
            <a:avLst/>
          </a:prstGeom>
          <a:solidFill>
            <a:srgbClr val="00695C"/>
          </a:solidFill>
          <a:ln w="12700">
            <a:solidFill>
              <a:srgbClr val="00695C"/>
            </a:solidFill>
            <a:prstDash val="solid"/>
          </a:ln>
        </p:spPr>
      </p:sp>
      <p:sp>
        <p:nvSpPr>
          <p:cNvPr id="19" name="Text 16"/>
          <p:cNvSpPr/>
          <p:nvPr/>
        </p:nvSpPr>
        <p:spPr>
          <a:xfrm>
            <a:off x="2395728" y="841248"/>
            <a:ext cx="2057400" cy="475488"/>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JDBC CRUD</a:t>
            </a:r>
            <a:endParaRPr lang="en-US" sz="1250" dirty="0"/>
          </a:p>
        </p:txBody>
      </p:sp>
      <p:sp>
        <p:nvSpPr>
          <p:cNvPr id="20" name="Shape 17"/>
          <p:cNvSpPr/>
          <p:nvPr/>
        </p:nvSpPr>
        <p:spPr>
          <a:xfrm>
            <a:off x="2505456" y="1389888"/>
            <a:ext cx="292608" cy="292608"/>
          </a:xfrm>
          <a:prstGeom prst="ellipse">
            <a:avLst/>
          </a:prstGeom>
          <a:solidFill>
            <a:srgbClr val="00695C"/>
          </a:solidFill>
          <a:ln w="12700">
            <a:solidFill>
              <a:srgbClr val="00695C"/>
            </a:solidFill>
            <a:prstDash val="solid"/>
          </a:ln>
        </p:spPr>
      </p:sp>
      <p:sp>
        <p:nvSpPr>
          <p:cNvPr id="21" name="Text 18"/>
          <p:cNvSpPr/>
          <p:nvPr/>
        </p:nvSpPr>
        <p:spPr>
          <a:xfrm>
            <a:off x="2505456" y="1389888"/>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2" name="Text 19"/>
          <p:cNvSpPr/>
          <p:nvPr/>
        </p:nvSpPr>
        <p:spPr>
          <a:xfrm>
            <a:off x="2852928" y="1371600"/>
            <a:ext cx="1536192" cy="804672"/>
          </a:xfrm>
          <a:prstGeom prst="rect">
            <a:avLst/>
          </a:prstGeom>
          <a:noFill/>
          <a:ln/>
        </p:spPr>
        <p:txBody>
          <a:bodyPr wrap="square" rtlCol="0" anchor="t"/>
          <a:lstStyle/>
          <a:p>
            <a:pPr indent="0" marL="0">
              <a:buNone/>
            </a:pPr>
            <a:r>
              <a:rPr lang="en-US" sz="950" dirty="0">
                <a:solidFill>
                  <a:srgbClr val="263238"/>
                </a:solidFill>
                <a:latin typeface="Calibri" pitchFamily="34" charset="0"/>
                <a:ea typeface="Calibri" pitchFamily="34" charset="-122"/>
                <a:cs typeface="Calibri" pitchFamily="34" charset="-120"/>
              </a:rPr>
              <a:t>Create the movies table in H2</a:t>
            </a:r>
            <a:endParaRPr lang="en-US" sz="950" dirty="0"/>
          </a:p>
        </p:txBody>
      </p:sp>
      <p:sp>
        <p:nvSpPr>
          <p:cNvPr id="23" name="Shape 20"/>
          <p:cNvSpPr/>
          <p:nvPr/>
        </p:nvSpPr>
        <p:spPr>
          <a:xfrm>
            <a:off x="2505456" y="2194560"/>
            <a:ext cx="292608" cy="292608"/>
          </a:xfrm>
          <a:prstGeom prst="ellipse">
            <a:avLst/>
          </a:prstGeom>
          <a:solidFill>
            <a:srgbClr val="00695C"/>
          </a:solidFill>
          <a:ln w="12700">
            <a:solidFill>
              <a:srgbClr val="00695C"/>
            </a:solidFill>
            <a:prstDash val="solid"/>
          </a:ln>
        </p:spPr>
      </p:sp>
      <p:sp>
        <p:nvSpPr>
          <p:cNvPr id="24" name="Text 21"/>
          <p:cNvSpPr/>
          <p:nvPr/>
        </p:nvSpPr>
        <p:spPr>
          <a:xfrm>
            <a:off x="2505456" y="2194560"/>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5" name="Text 22"/>
          <p:cNvSpPr/>
          <p:nvPr/>
        </p:nvSpPr>
        <p:spPr>
          <a:xfrm>
            <a:off x="2852928" y="2176272"/>
            <a:ext cx="1536192" cy="804672"/>
          </a:xfrm>
          <a:prstGeom prst="rect">
            <a:avLst/>
          </a:prstGeom>
          <a:noFill/>
          <a:ln/>
        </p:spPr>
        <p:txBody>
          <a:bodyPr wrap="square" rtlCol="0" anchor="t"/>
          <a:lstStyle/>
          <a:p>
            <a:pPr indent="0" marL="0">
              <a:buNone/>
            </a:pPr>
            <a:r>
              <a:rPr lang="en-US" sz="950" dirty="0">
                <a:solidFill>
                  <a:srgbClr val="263238"/>
                </a:solidFill>
                <a:latin typeface="Calibri" pitchFamily="34" charset="0"/>
                <a:ea typeface="Calibri" pitchFamily="34" charset="-122"/>
                <a:cs typeface="Calibri" pitchFamily="34" charset="-120"/>
              </a:rPr>
              <a:t>Implement: INSERT / SELECT by part of title / UPDATE / DELETE</a:t>
            </a:r>
            <a:endParaRPr lang="en-US" sz="950" dirty="0"/>
          </a:p>
        </p:txBody>
      </p:sp>
      <p:sp>
        <p:nvSpPr>
          <p:cNvPr id="26" name="Shape 23"/>
          <p:cNvSpPr/>
          <p:nvPr/>
        </p:nvSpPr>
        <p:spPr>
          <a:xfrm>
            <a:off x="2505456" y="2999232"/>
            <a:ext cx="292608" cy="292608"/>
          </a:xfrm>
          <a:prstGeom prst="ellipse">
            <a:avLst/>
          </a:prstGeom>
          <a:solidFill>
            <a:srgbClr val="00695C"/>
          </a:solidFill>
          <a:ln w="12700">
            <a:solidFill>
              <a:srgbClr val="00695C"/>
            </a:solidFill>
            <a:prstDash val="solid"/>
          </a:ln>
        </p:spPr>
      </p:sp>
      <p:sp>
        <p:nvSpPr>
          <p:cNvPr id="27" name="Text 24"/>
          <p:cNvSpPr/>
          <p:nvPr/>
        </p:nvSpPr>
        <p:spPr>
          <a:xfrm>
            <a:off x="2505456" y="2999232"/>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8" name="Text 25"/>
          <p:cNvSpPr/>
          <p:nvPr/>
        </p:nvSpPr>
        <p:spPr>
          <a:xfrm>
            <a:off x="2852928" y="2980944"/>
            <a:ext cx="1536192" cy="804672"/>
          </a:xfrm>
          <a:prstGeom prst="rect">
            <a:avLst/>
          </a:prstGeom>
          <a:noFill/>
          <a:ln/>
        </p:spPr>
        <p:txBody>
          <a:bodyPr wrap="square" rtlCol="0" anchor="t"/>
          <a:lstStyle/>
          <a:p>
            <a:pPr indent="0" marL="0">
              <a:buNone/>
            </a:pPr>
            <a:r>
              <a:rPr lang="en-US" sz="950" dirty="0">
                <a:solidFill>
                  <a:srgbClr val="263238"/>
                </a:solidFill>
                <a:latin typeface="Calibri" pitchFamily="34" charset="0"/>
                <a:ea typeface="Calibri" pitchFamily="34" charset="-122"/>
                <a:cs typeface="Calibri" pitchFamily="34" charset="-120"/>
              </a:rPr>
              <a:t>Use PreparedStatement (NOT concatenation!)</a:t>
            </a:r>
            <a:endParaRPr lang="en-US" sz="950" dirty="0"/>
          </a:p>
        </p:txBody>
      </p:sp>
      <p:sp>
        <p:nvSpPr>
          <p:cNvPr id="29" name="Shape 26"/>
          <p:cNvSpPr/>
          <p:nvPr/>
        </p:nvSpPr>
        <p:spPr>
          <a:xfrm>
            <a:off x="2505456" y="3803904"/>
            <a:ext cx="292608" cy="292608"/>
          </a:xfrm>
          <a:prstGeom prst="ellipse">
            <a:avLst/>
          </a:prstGeom>
          <a:solidFill>
            <a:srgbClr val="00695C"/>
          </a:solidFill>
          <a:ln w="12700">
            <a:solidFill>
              <a:srgbClr val="00695C"/>
            </a:solidFill>
            <a:prstDash val="solid"/>
          </a:ln>
        </p:spPr>
      </p:sp>
      <p:sp>
        <p:nvSpPr>
          <p:cNvPr id="30" name="Text 27"/>
          <p:cNvSpPr/>
          <p:nvPr/>
        </p:nvSpPr>
        <p:spPr>
          <a:xfrm>
            <a:off x="2505456" y="3803904"/>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1" name="Text 28"/>
          <p:cNvSpPr/>
          <p:nvPr/>
        </p:nvSpPr>
        <p:spPr>
          <a:xfrm>
            <a:off x="2852928" y="3785616"/>
            <a:ext cx="1536192" cy="804672"/>
          </a:xfrm>
          <a:prstGeom prst="rect">
            <a:avLst/>
          </a:prstGeom>
          <a:noFill/>
          <a:ln/>
        </p:spPr>
        <p:txBody>
          <a:bodyPr wrap="square" rtlCol="0" anchor="t"/>
          <a:lstStyle/>
          <a:p>
            <a:pPr indent="0" marL="0">
              <a:buNone/>
            </a:pPr>
            <a:r>
              <a:rPr lang="en-US" sz="950" dirty="0">
                <a:solidFill>
                  <a:srgbClr val="263238"/>
                </a:solidFill>
                <a:latin typeface="Calibri" pitchFamily="34" charset="0"/>
                <a:ea typeface="Calibri" pitchFamily="34" charset="-122"/>
                <a:cs typeface="Calibri" pitchFamily="34" charset="-120"/>
              </a:rPr>
              <a:t>try-with-resources for Connection, Statement, ResultSet</a:t>
            </a:r>
            <a:endParaRPr lang="en-US" sz="950" dirty="0"/>
          </a:p>
        </p:txBody>
      </p:sp>
      <p:sp>
        <p:nvSpPr>
          <p:cNvPr id="32" name="Shape 29"/>
          <p:cNvSpPr/>
          <p:nvPr/>
        </p:nvSpPr>
        <p:spPr>
          <a:xfrm>
            <a:off x="4608576" y="841248"/>
            <a:ext cx="2057400" cy="4160520"/>
          </a:xfrm>
          <a:prstGeom prst="rect">
            <a:avLst/>
          </a:prstGeom>
          <a:solidFill>
            <a:srgbClr val="FFFFFF"/>
          </a:solidFill>
          <a:ln w="12700">
            <a:solidFill>
              <a:srgbClr val="CFD8DC"/>
            </a:solidFill>
            <a:prstDash val="solid"/>
          </a:ln>
          <a:effectLst>
            <a:outerShdw sx="100000" sy="100000" kx="0" ky="0" algn="bl" rotWithShape="0" blurRad="63500" dist="25400" dir="8100000">
              <a:srgbClr val="000000">
                <a:alpha val="12000"/>
              </a:srgbClr>
            </a:outerShdw>
          </a:effectLst>
        </p:spPr>
      </p:sp>
      <p:sp>
        <p:nvSpPr>
          <p:cNvPr id="33" name="Shape 30"/>
          <p:cNvSpPr/>
          <p:nvPr/>
        </p:nvSpPr>
        <p:spPr>
          <a:xfrm>
            <a:off x="4608576" y="841248"/>
            <a:ext cx="2057400" cy="475488"/>
          </a:xfrm>
          <a:prstGeom prst="rect">
            <a:avLst/>
          </a:prstGeom>
          <a:solidFill>
            <a:srgbClr val="6A1B9A"/>
          </a:solidFill>
          <a:ln w="12700">
            <a:solidFill>
              <a:srgbClr val="6A1B9A"/>
            </a:solidFill>
            <a:prstDash val="solid"/>
          </a:ln>
        </p:spPr>
      </p:sp>
      <p:sp>
        <p:nvSpPr>
          <p:cNvPr id="34" name="Text 31"/>
          <p:cNvSpPr/>
          <p:nvPr/>
        </p:nvSpPr>
        <p:spPr>
          <a:xfrm>
            <a:off x="4608576" y="841248"/>
            <a:ext cx="2057400" cy="475488"/>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DAO + Transactions</a:t>
            </a:r>
            <a:endParaRPr lang="en-US" sz="1250" dirty="0"/>
          </a:p>
        </p:txBody>
      </p:sp>
      <p:sp>
        <p:nvSpPr>
          <p:cNvPr id="35" name="Shape 32"/>
          <p:cNvSpPr/>
          <p:nvPr/>
        </p:nvSpPr>
        <p:spPr>
          <a:xfrm>
            <a:off x="4718304" y="1389888"/>
            <a:ext cx="292608" cy="292608"/>
          </a:xfrm>
          <a:prstGeom prst="ellipse">
            <a:avLst/>
          </a:prstGeom>
          <a:solidFill>
            <a:srgbClr val="6A1B9A"/>
          </a:solidFill>
          <a:ln w="12700">
            <a:solidFill>
              <a:srgbClr val="6A1B9A"/>
            </a:solidFill>
            <a:prstDash val="solid"/>
          </a:ln>
        </p:spPr>
      </p:sp>
      <p:sp>
        <p:nvSpPr>
          <p:cNvPr id="36" name="Text 33"/>
          <p:cNvSpPr/>
          <p:nvPr/>
        </p:nvSpPr>
        <p:spPr>
          <a:xfrm>
            <a:off x="4718304" y="1389888"/>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7" name="Text 34"/>
          <p:cNvSpPr/>
          <p:nvPr/>
        </p:nvSpPr>
        <p:spPr>
          <a:xfrm>
            <a:off x="5065776" y="1371600"/>
            <a:ext cx="1536192" cy="804672"/>
          </a:xfrm>
          <a:prstGeom prst="rect">
            <a:avLst/>
          </a:prstGeom>
          <a:noFill/>
          <a:ln/>
        </p:spPr>
        <p:txBody>
          <a:bodyPr wrap="square" rtlCol="0" anchor="t"/>
          <a:lstStyle/>
          <a:p>
            <a:pPr indent="0" marL="0">
              <a:buNone/>
            </a:pPr>
            <a:r>
              <a:rPr lang="en-US" sz="950" dirty="0">
                <a:solidFill>
                  <a:srgbClr val="263238"/>
                </a:solidFill>
                <a:latin typeface="Calibri" pitchFamily="34" charset="0"/>
                <a:ea typeface="Calibri" pitchFamily="34" charset="-122"/>
                <a:cs typeface="Calibri" pitchFamily="34" charset="-120"/>
              </a:rPr>
              <a:t>Create a MovieDAO interface with methods</a:t>
            </a:r>
            <a:endParaRPr lang="en-US" sz="950" dirty="0"/>
          </a:p>
        </p:txBody>
      </p:sp>
      <p:sp>
        <p:nvSpPr>
          <p:cNvPr id="38" name="Shape 35"/>
          <p:cNvSpPr/>
          <p:nvPr/>
        </p:nvSpPr>
        <p:spPr>
          <a:xfrm>
            <a:off x="4718304" y="2194560"/>
            <a:ext cx="292608" cy="292608"/>
          </a:xfrm>
          <a:prstGeom prst="ellipse">
            <a:avLst/>
          </a:prstGeom>
          <a:solidFill>
            <a:srgbClr val="6A1B9A"/>
          </a:solidFill>
          <a:ln w="12700">
            <a:solidFill>
              <a:srgbClr val="6A1B9A"/>
            </a:solidFill>
            <a:prstDash val="solid"/>
          </a:ln>
        </p:spPr>
      </p:sp>
      <p:sp>
        <p:nvSpPr>
          <p:cNvPr id="39" name="Text 36"/>
          <p:cNvSpPr/>
          <p:nvPr/>
        </p:nvSpPr>
        <p:spPr>
          <a:xfrm>
            <a:off x="4718304" y="2194560"/>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40" name="Text 37"/>
          <p:cNvSpPr/>
          <p:nvPr/>
        </p:nvSpPr>
        <p:spPr>
          <a:xfrm>
            <a:off x="5065776" y="2176272"/>
            <a:ext cx="1536192" cy="804672"/>
          </a:xfrm>
          <a:prstGeom prst="rect">
            <a:avLst/>
          </a:prstGeom>
          <a:noFill/>
          <a:ln/>
        </p:spPr>
        <p:txBody>
          <a:bodyPr wrap="square" rtlCol="0" anchor="t"/>
          <a:lstStyle/>
          <a:p>
            <a:pPr indent="0" marL="0">
              <a:buNone/>
            </a:pPr>
            <a:r>
              <a:rPr lang="en-US" sz="950" dirty="0">
                <a:solidFill>
                  <a:srgbClr val="263238"/>
                </a:solidFill>
                <a:latin typeface="Calibri" pitchFamily="34" charset="0"/>
                <a:ea typeface="Calibri" pitchFamily="34" charset="-122"/>
                <a:cs typeface="Calibri" pitchFamily="34" charset="-120"/>
              </a:rPr>
              <a:t>Implement MovieDAOImpl — SQL inside, hidden from the caller</a:t>
            </a:r>
            <a:endParaRPr lang="en-US" sz="950" dirty="0"/>
          </a:p>
        </p:txBody>
      </p:sp>
      <p:sp>
        <p:nvSpPr>
          <p:cNvPr id="41" name="Shape 38"/>
          <p:cNvSpPr/>
          <p:nvPr/>
        </p:nvSpPr>
        <p:spPr>
          <a:xfrm>
            <a:off x="4718304" y="2999232"/>
            <a:ext cx="292608" cy="292608"/>
          </a:xfrm>
          <a:prstGeom prst="ellipse">
            <a:avLst/>
          </a:prstGeom>
          <a:solidFill>
            <a:srgbClr val="6A1B9A"/>
          </a:solidFill>
          <a:ln w="12700">
            <a:solidFill>
              <a:srgbClr val="6A1B9A"/>
            </a:solidFill>
            <a:prstDash val="solid"/>
          </a:ln>
        </p:spPr>
      </p:sp>
      <p:sp>
        <p:nvSpPr>
          <p:cNvPr id="42" name="Text 39"/>
          <p:cNvSpPr/>
          <p:nvPr/>
        </p:nvSpPr>
        <p:spPr>
          <a:xfrm>
            <a:off x="4718304" y="2999232"/>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43" name="Text 40"/>
          <p:cNvSpPr/>
          <p:nvPr/>
        </p:nvSpPr>
        <p:spPr>
          <a:xfrm>
            <a:off x="5065776" y="2980944"/>
            <a:ext cx="1536192" cy="804672"/>
          </a:xfrm>
          <a:prstGeom prst="rect">
            <a:avLst/>
          </a:prstGeom>
          <a:noFill/>
          <a:ln/>
        </p:spPr>
        <p:txBody>
          <a:bodyPr wrap="square" rtlCol="0" anchor="t"/>
          <a:lstStyle/>
          <a:p>
            <a:pPr indent="0" marL="0">
              <a:buNone/>
            </a:pPr>
            <a:r>
              <a:rPr lang="en-US" sz="950" dirty="0">
                <a:solidFill>
                  <a:srgbClr val="263238"/>
                </a:solidFill>
                <a:latin typeface="Calibri" pitchFamily="34" charset="0"/>
                <a:ea typeface="Calibri" pitchFamily="34" charset="-122"/>
                <a:cs typeface="Calibri" pitchFamily="34" charset="-120"/>
              </a:rPr>
              <a:t>Implement transfer simulation (debit + credit in one transaction)</a:t>
            </a:r>
            <a:endParaRPr lang="en-US" sz="950" dirty="0"/>
          </a:p>
        </p:txBody>
      </p:sp>
      <p:sp>
        <p:nvSpPr>
          <p:cNvPr id="44" name="Shape 41"/>
          <p:cNvSpPr/>
          <p:nvPr/>
        </p:nvSpPr>
        <p:spPr>
          <a:xfrm>
            <a:off x="4718304" y="3803904"/>
            <a:ext cx="292608" cy="292608"/>
          </a:xfrm>
          <a:prstGeom prst="ellipse">
            <a:avLst/>
          </a:prstGeom>
          <a:solidFill>
            <a:srgbClr val="6A1B9A"/>
          </a:solidFill>
          <a:ln w="12700">
            <a:solidFill>
              <a:srgbClr val="6A1B9A"/>
            </a:solidFill>
            <a:prstDash val="solid"/>
          </a:ln>
        </p:spPr>
      </p:sp>
      <p:sp>
        <p:nvSpPr>
          <p:cNvPr id="45" name="Text 42"/>
          <p:cNvSpPr/>
          <p:nvPr/>
        </p:nvSpPr>
        <p:spPr>
          <a:xfrm>
            <a:off x="4718304" y="3803904"/>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46" name="Text 43"/>
          <p:cNvSpPr/>
          <p:nvPr/>
        </p:nvSpPr>
        <p:spPr>
          <a:xfrm>
            <a:off x="5065776" y="3785616"/>
            <a:ext cx="1536192" cy="804672"/>
          </a:xfrm>
          <a:prstGeom prst="rect">
            <a:avLst/>
          </a:prstGeom>
          <a:noFill/>
          <a:ln/>
        </p:spPr>
        <p:txBody>
          <a:bodyPr wrap="square" rtlCol="0" anchor="t"/>
          <a:lstStyle/>
          <a:p>
            <a:pPr indent="0" marL="0">
              <a:buNone/>
            </a:pPr>
            <a:r>
              <a:rPr lang="en-US" sz="950" dirty="0">
                <a:solidFill>
                  <a:srgbClr val="263238"/>
                </a:solidFill>
                <a:latin typeface="Calibri" pitchFamily="34" charset="0"/>
                <a:ea typeface="Calibri" pitchFamily="34" charset="-122"/>
                <a:cs typeface="Calibri" pitchFamily="34" charset="-120"/>
              </a:rPr>
              <a:t>setAutoCommit(false) → commit / rollback</a:t>
            </a:r>
            <a:endParaRPr lang="en-US" sz="950" dirty="0"/>
          </a:p>
        </p:txBody>
      </p:sp>
      <p:sp>
        <p:nvSpPr>
          <p:cNvPr id="47" name="Shape 44"/>
          <p:cNvSpPr/>
          <p:nvPr/>
        </p:nvSpPr>
        <p:spPr>
          <a:xfrm>
            <a:off x="6821424" y="841248"/>
            <a:ext cx="2057400" cy="4160520"/>
          </a:xfrm>
          <a:prstGeom prst="rect">
            <a:avLst/>
          </a:prstGeom>
          <a:solidFill>
            <a:srgbClr val="FFFFFF"/>
          </a:solidFill>
          <a:ln w="12700">
            <a:solidFill>
              <a:srgbClr val="CFD8DC"/>
            </a:solidFill>
            <a:prstDash val="solid"/>
          </a:ln>
          <a:effectLst>
            <a:outerShdw sx="100000" sy="100000" kx="0" ky="0" algn="bl" rotWithShape="0" blurRad="63500" dist="25400" dir="8100000">
              <a:srgbClr val="000000">
                <a:alpha val="12000"/>
              </a:srgbClr>
            </a:outerShdw>
          </a:effectLst>
        </p:spPr>
      </p:sp>
      <p:sp>
        <p:nvSpPr>
          <p:cNvPr id="48" name="Shape 45"/>
          <p:cNvSpPr/>
          <p:nvPr/>
        </p:nvSpPr>
        <p:spPr>
          <a:xfrm>
            <a:off x="6821424" y="841248"/>
            <a:ext cx="2057400" cy="475488"/>
          </a:xfrm>
          <a:prstGeom prst="rect">
            <a:avLst/>
          </a:prstGeom>
          <a:solidFill>
            <a:srgbClr val="BF360C"/>
          </a:solidFill>
          <a:ln w="12700">
            <a:solidFill>
              <a:srgbClr val="BF360C"/>
            </a:solidFill>
            <a:prstDash val="solid"/>
          </a:ln>
        </p:spPr>
      </p:sp>
      <p:sp>
        <p:nvSpPr>
          <p:cNvPr id="49" name="Text 46"/>
          <p:cNvSpPr/>
          <p:nvPr/>
        </p:nvSpPr>
        <p:spPr>
          <a:xfrm>
            <a:off x="6821424" y="841248"/>
            <a:ext cx="2057400" cy="475488"/>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Hibernate</a:t>
            </a:r>
            <a:endParaRPr lang="en-US" sz="1250" dirty="0"/>
          </a:p>
        </p:txBody>
      </p:sp>
      <p:sp>
        <p:nvSpPr>
          <p:cNvPr id="50" name="Shape 47"/>
          <p:cNvSpPr/>
          <p:nvPr/>
        </p:nvSpPr>
        <p:spPr>
          <a:xfrm>
            <a:off x="6931152" y="1389888"/>
            <a:ext cx="292608" cy="292608"/>
          </a:xfrm>
          <a:prstGeom prst="ellipse">
            <a:avLst/>
          </a:prstGeom>
          <a:solidFill>
            <a:srgbClr val="BF360C"/>
          </a:solidFill>
          <a:ln w="12700">
            <a:solidFill>
              <a:srgbClr val="BF360C"/>
            </a:solidFill>
            <a:prstDash val="solid"/>
          </a:ln>
        </p:spPr>
      </p:sp>
      <p:sp>
        <p:nvSpPr>
          <p:cNvPr id="51" name="Text 48"/>
          <p:cNvSpPr/>
          <p:nvPr/>
        </p:nvSpPr>
        <p:spPr>
          <a:xfrm>
            <a:off x="6931152" y="1389888"/>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52" name="Text 49"/>
          <p:cNvSpPr/>
          <p:nvPr/>
        </p:nvSpPr>
        <p:spPr>
          <a:xfrm>
            <a:off x="7278624" y="1371600"/>
            <a:ext cx="1536192" cy="804672"/>
          </a:xfrm>
          <a:prstGeom prst="rect">
            <a:avLst/>
          </a:prstGeom>
          <a:noFill/>
          <a:ln/>
        </p:spPr>
        <p:txBody>
          <a:bodyPr wrap="square" rtlCol="0" anchor="t"/>
          <a:lstStyle/>
          <a:p>
            <a:pPr indent="0" marL="0">
              <a:buNone/>
            </a:pPr>
            <a:r>
              <a:rPr lang="en-US" sz="950" dirty="0">
                <a:solidFill>
                  <a:srgbClr val="263238"/>
                </a:solidFill>
                <a:latin typeface="Calibri" pitchFamily="34" charset="0"/>
                <a:ea typeface="Calibri" pitchFamily="34" charset="-122"/>
                <a:cs typeface="Calibri" pitchFamily="34" charset="-120"/>
              </a:rPr>
              <a:t>Annotate the Movie class: @Entity @Table @Id @GeneratedValue @Column</a:t>
            </a:r>
            <a:endParaRPr lang="en-US" sz="950" dirty="0"/>
          </a:p>
        </p:txBody>
      </p:sp>
      <p:sp>
        <p:nvSpPr>
          <p:cNvPr id="53" name="Shape 50"/>
          <p:cNvSpPr/>
          <p:nvPr/>
        </p:nvSpPr>
        <p:spPr>
          <a:xfrm>
            <a:off x="6931152" y="2194560"/>
            <a:ext cx="292608" cy="292608"/>
          </a:xfrm>
          <a:prstGeom prst="ellipse">
            <a:avLst/>
          </a:prstGeom>
          <a:solidFill>
            <a:srgbClr val="BF360C"/>
          </a:solidFill>
          <a:ln w="12700">
            <a:solidFill>
              <a:srgbClr val="BF360C"/>
            </a:solidFill>
            <a:prstDash val="solid"/>
          </a:ln>
        </p:spPr>
      </p:sp>
      <p:sp>
        <p:nvSpPr>
          <p:cNvPr id="54" name="Text 51"/>
          <p:cNvSpPr/>
          <p:nvPr/>
        </p:nvSpPr>
        <p:spPr>
          <a:xfrm>
            <a:off x="6931152" y="2194560"/>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55" name="Text 52"/>
          <p:cNvSpPr/>
          <p:nvPr/>
        </p:nvSpPr>
        <p:spPr>
          <a:xfrm>
            <a:off x="7278624" y="2176272"/>
            <a:ext cx="1536192" cy="804672"/>
          </a:xfrm>
          <a:prstGeom prst="rect">
            <a:avLst/>
          </a:prstGeom>
          <a:noFill/>
          <a:ln/>
        </p:spPr>
        <p:txBody>
          <a:bodyPr wrap="square" rtlCol="0" anchor="t"/>
          <a:lstStyle/>
          <a:p>
            <a:pPr indent="0" marL="0">
              <a:buNone/>
            </a:pPr>
            <a:r>
              <a:rPr lang="en-US" sz="950" dirty="0">
                <a:solidFill>
                  <a:srgbClr val="263238"/>
                </a:solidFill>
                <a:latin typeface="Calibri" pitchFamily="34" charset="0"/>
                <a:ea typeface="Calibri" pitchFamily="34" charset="-122"/>
                <a:cs typeface="Calibri" pitchFamily="34" charset="-120"/>
              </a:rPr>
              <a:t>All CRUD operations through Session</a:t>
            </a:r>
            <a:endParaRPr lang="en-US" sz="950" dirty="0"/>
          </a:p>
        </p:txBody>
      </p:sp>
      <p:sp>
        <p:nvSpPr>
          <p:cNvPr id="56" name="Shape 53"/>
          <p:cNvSpPr/>
          <p:nvPr/>
        </p:nvSpPr>
        <p:spPr>
          <a:xfrm>
            <a:off x="6931152" y="2999232"/>
            <a:ext cx="292608" cy="292608"/>
          </a:xfrm>
          <a:prstGeom prst="ellipse">
            <a:avLst/>
          </a:prstGeom>
          <a:solidFill>
            <a:srgbClr val="BF360C"/>
          </a:solidFill>
          <a:ln w="12700">
            <a:solidFill>
              <a:srgbClr val="BF360C"/>
            </a:solidFill>
            <a:prstDash val="solid"/>
          </a:ln>
        </p:spPr>
      </p:sp>
      <p:sp>
        <p:nvSpPr>
          <p:cNvPr id="57" name="Text 54"/>
          <p:cNvSpPr/>
          <p:nvPr/>
        </p:nvSpPr>
        <p:spPr>
          <a:xfrm>
            <a:off x="6931152" y="2999232"/>
            <a:ext cx="292608"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58" name="Text 55"/>
          <p:cNvSpPr/>
          <p:nvPr/>
        </p:nvSpPr>
        <p:spPr>
          <a:xfrm>
            <a:off x="7278624" y="2980944"/>
            <a:ext cx="1536192" cy="804672"/>
          </a:xfrm>
          <a:prstGeom prst="rect">
            <a:avLst/>
          </a:prstGeom>
          <a:noFill/>
          <a:ln/>
        </p:spPr>
        <p:txBody>
          <a:bodyPr wrap="square" rtlCol="0" anchor="t"/>
          <a:lstStyle/>
          <a:p>
            <a:pPr indent="0" marL="0">
              <a:buNone/>
            </a:pPr>
            <a:r>
              <a:rPr lang="en-US" sz="950" dirty="0">
                <a:solidFill>
                  <a:srgbClr val="263238"/>
                </a:solidFill>
                <a:latin typeface="Calibri" pitchFamily="34" charset="0"/>
                <a:ea typeface="Calibri" pitchFamily="34" charset="-122"/>
                <a:cs typeface="Calibri" pitchFamily="34" charset="-120"/>
              </a:rPr>
              <a:t>Search by part of title using HQL AND Criteria API</a:t>
            </a:r>
            <a:endParaRPr lang="en-US" sz="950" dirty="0"/>
          </a:p>
        </p:txBody>
      </p:sp>
      <p:sp>
        <p:nvSpPr>
          <p:cNvPr id="59" name="Shape 56"/>
          <p:cNvSpPr/>
          <p:nvPr/>
        </p:nvSpPr>
        <p:spPr>
          <a:xfrm>
            <a:off x="182880" y="4800600"/>
            <a:ext cx="8778240" cy="256032"/>
          </a:xfrm>
          <a:prstGeom prst="rect">
            <a:avLst/>
          </a:prstGeom>
          <a:solidFill>
            <a:srgbClr val="E8F5E9"/>
          </a:solidFill>
          <a:ln w="12700">
            <a:solidFill>
              <a:srgbClr val="43A047"/>
            </a:solidFill>
            <a:prstDash val="solid"/>
          </a:ln>
        </p:spPr>
      </p:sp>
      <p:sp>
        <p:nvSpPr>
          <p:cNvPr id="60" name="Text 57"/>
          <p:cNvSpPr/>
          <p:nvPr/>
        </p:nvSpPr>
        <p:spPr>
          <a:xfrm>
            <a:off x="274320" y="4809744"/>
            <a:ext cx="8595360" cy="237744"/>
          </a:xfrm>
          <a:prstGeom prst="rect">
            <a:avLst/>
          </a:prstGeom>
          <a:noFill/>
          <a:ln/>
        </p:spPr>
        <p:txBody>
          <a:bodyPr wrap="square" rtlCol="0" anchor="ctr"/>
          <a:lstStyle/>
          <a:p>
            <a:pPr indent="0" marL="0">
              <a:buNone/>
            </a:pPr>
            <a:r>
              <a:rPr lang="en-US" sz="1150" b="1" dirty="0">
                <a:solidFill>
                  <a:srgbClr val="1B5E20"/>
                </a:solidFill>
                <a:latin typeface="Calibri" pitchFamily="34" charset="0"/>
                <a:ea typeface="Calibri" pitchFamily="34" charset="-122"/>
                <a:cs typeface="Calibri" pitchFamily="34" charset="-120"/>
              </a:rPr>
              <a:t>📋  Submit: launch screenshots + explanation of each step to the teacher</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E2E"/>
        </a:solidFill>
      </p:bgPr>
    </p:bg>
    <p:spTree>
      <p:nvGrpSpPr>
        <p:cNvPr id="1" name=""/>
        <p:cNvGrpSpPr/>
        <p:nvPr/>
      </p:nvGrpSpPr>
      <p:grpSpPr>
        <a:xfrm>
          <a:off x="0" y="0"/>
          <a:ext cx="0" cy="0"/>
          <a:chOff x="0" y="0"/>
          <a:chExt cx="0" cy="0"/>
        </a:xfrm>
      </p:grpSpPr>
      <p:sp>
        <p:nvSpPr>
          <p:cNvPr id="2" name="Text 0"/>
          <p:cNvSpPr/>
          <p:nvPr/>
        </p:nvSpPr>
        <p:spPr>
          <a:xfrm>
            <a:off x="365760" y="137160"/>
            <a:ext cx="8412480" cy="594360"/>
          </a:xfrm>
          <a:prstGeom prst="rect">
            <a:avLst/>
          </a:prstGeom>
          <a:noFill/>
          <a:ln/>
        </p:spPr>
        <p:txBody>
          <a:bodyPr wrap="square"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Comparison: JDBC vs DAO vs Hibernate</a:t>
            </a:r>
            <a:endParaRPr lang="en-US" sz="2700" dirty="0"/>
          </a:p>
        </p:txBody>
      </p:sp>
      <p:sp>
        <p:nvSpPr>
          <p:cNvPr id="3" name="Text 1"/>
          <p:cNvSpPr/>
          <p:nvPr/>
        </p:nvSpPr>
        <p:spPr>
          <a:xfrm>
            <a:off x="365760" y="731520"/>
            <a:ext cx="8412480" cy="320040"/>
          </a:xfrm>
          <a:prstGeom prst="rect">
            <a:avLst/>
          </a:prstGeom>
          <a:noFill/>
          <a:ln/>
        </p:spPr>
        <p:txBody>
          <a:bodyPr wrap="square" rtlCol="0" anchor="ctr"/>
          <a:lstStyle/>
          <a:p>
            <a:pPr indent="0" marL="0">
              <a:buNone/>
            </a:pPr>
            <a:r>
              <a:rPr lang="en-US" sz="1300" i="1" dirty="0">
                <a:solidFill>
                  <a:srgbClr val="90CAF9"/>
                </a:solidFill>
                <a:latin typeface="Calibri" pitchFamily="34" charset="0"/>
                <a:ea typeface="Calibri" pitchFamily="34" charset="-122"/>
                <a:cs typeface="Calibri" pitchFamily="34" charset="-120"/>
              </a:rPr>
              <a:t>One task — three levels of abstraction</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8503920" cy="914400"/>
        </p:xfrm>
        <a:graphic>
          <a:graphicData uri="http://schemas.openxmlformats.org/drawingml/2006/table">
            <a:tbl>
              <a:tblPr/>
              <a:tblGrid>
                <a:gridCol w="1874520"/>
                <a:gridCol w="2240280"/>
                <a:gridCol w="2240280"/>
                <a:gridCol w="2240280"/>
              </a:tblGrid>
              <a:tr h="52120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Criterion</a:t>
                      </a:r>
                      <a:endParaRPr lang="en-US" sz="1200" dirty="0">
                        <a:latin typeface="Calibri" charset="0"/>
                        <a:ea typeface="Calibri" charset="0"/>
                        <a:cs typeface="Calibri" charset="0"/>
                      </a:endParaRPr>
                    </a:p>
                  </a:txBody>
                  <a:tcPr marL="91440" marR="91440" marT="45720" marB="45720" anchor="ctr">
                    <a:lnL w="6350" cap="flat" cmpd="sng" algn="ctr">
                      <a:solidFill>
                        <a:srgbClr val="263238"/>
                      </a:solidFill>
                      <a:prstDash val="solid"/>
                      <a:round/>
                      <a:headEnd type="none" w="med" len="med"/>
                      <a:tailEnd type="none" w="med" len="med"/>
                    </a:lnL>
                    <a:lnR w="6350" cap="flat" cmpd="sng" algn="ctr">
                      <a:solidFill>
                        <a:srgbClr val="263238"/>
                      </a:solidFill>
                      <a:prstDash val="solid"/>
                      <a:round/>
                      <a:headEnd type="none" w="med" len="med"/>
                      <a:tailEnd type="none" w="med" len="med"/>
                    </a:lnR>
                    <a:lnT w="6350" cap="flat" cmpd="sng" algn="ctr">
                      <a:solidFill>
                        <a:srgbClr val="263238"/>
                      </a:solidFill>
                      <a:prstDash val="solid"/>
                      <a:round/>
                      <a:headEnd type="none" w="med" len="med"/>
                      <a:tailEnd type="none" w="med" len="med"/>
                    </a:lnT>
                    <a:lnB w="6350" cap="flat" cmpd="sng" algn="ctr">
                      <a:solidFill>
                        <a:srgbClr val="263238"/>
                      </a:solidFill>
                      <a:prstDash val="solid"/>
                      <a:round/>
                      <a:headEnd type="none" w="med" len="med"/>
                      <a:tailEnd type="none" w="med" len="med"/>
                    </a:lnB>
                    <a:solidFill>
                      <a:srgbClr val="37474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JDBC</a:t>
                      </a:r>
                      <a:endParaRPr lang="en-US" sz="1200" dirty="0">
                        <a:latin typeface="Calibri" charset="0"/>
                        <a:ea typeface="Calibri" charset="0"/>
                        <a:cs typeface="Calibri" charset="0"/>
                      </a:endParaRPr>
                    </a:p>
                  </a:txBody>
                  <a:tcPr marL="91440" marR="91440" marT="45720" marB="45720" anchor="ctr">
                    <a:lnL w="6350" cap="flat" cmpd="sng" algn="ctr">
                      <a:solidFill>
                        <a:srgbClr val="263238"/>
                      </a:solidFill>
                      <a:prstDash val="solid"/>
                      <a:round/>
                      <a:headEnd type="none" w="med" len="med"/>
                      <a:tailEnd type="none" w="med" len="med"/>
                    </a:lnL>
                    <a:lnR w="6350" cap="flat" cmpd="sng" algn="ctr">
                      <a:solidFill>
                        <a:srgbClr val="263238"/>
                      </a:solidFill>
                      <a:prstDash val="solid"/>
                      <a:round/>
                      <a:headEnd type="none" w="med" len="med"/>
                      <a:tailEnd type="none" w="med" len="med"/>
                    </a:lnR>
                    <a:lnT w="6350" cap="flat" cmpd="sng" algn="ctr">
                      <a:solidFill>
                        <a:srgbClr val="263238"/>
                      </a:solidFill>
                      <a:prstDash val="solid"/>
                      <a:round/>
                      <a:headEnd type="none" w="med" len="med"/>
                      <a:tailEnd type="none" w="med" len="med"/>
                    </a:lnT>
                    <a:lnB w="6350" cap="flat" cmpd="sng" algn="ctr">
                      <a:solidFill>
                        <a:srgbClr val="263238"/>
                      </a:solidFill>
                      <a:prstDash val="solid"/>
                      <a:round/>
                      <a:headEnd type="none" w="med" len="med"/>
                      <a:tailEnd type="none" w="med" len="med"/>
                    </a:lnB>
                    <a:solidFill>
                      <a:srgbClr val="00695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DAO (JDBC inside)</a:t>
                      </a:r>
                      <a:endParaRPr lang="en-US" sz="1200" dirty="0">
                        <a:latin typeface="Calibri" charset="0"/>
                        <a:ea typeface="Calibri" charset="0"/>
                        <a:cs typeface="Calibri" charset="0"/>
                      </a:endParaRPr>
                    </a:p>
                  </a:txBody>
                  <a:tcPr marL="91440" marR="91440" marT="45720" marB="45720" anchor="ctr">
                    <a:lnL w="6350" cap="flat" cmpd="sng" algn="ctr">
                      <a:solidFill>
                        <a:srgbClr val="263238"/>
                      </a:solidFill>
                      <a:prstDash val="solid"/>
                      <a:round/>
                      <a:headEnd type="none" w="med" len="med"/>
                      <a:tailEnd type="none" w="med" len="med"/>
                    </a:lnL>
                    <a:lnR w="6350" cap="flat" cmpd="sng" algn="ctr">
                      <a:solidFill>
                        <a:srgbClr val="263238"/>
                      </a:solidFill>
                      <a:prstDash val="solid"/>
                      <a:round/>
                      <a:headEnd type="none" w="med" len="med"/>
                      <a:tailEnd type="none" w="med" len="med"/>
                    </a:lnR>
                    <a:lnT w="6350" cap="flat" cmpd="sng" algn="ctr">
                      <a:solidFill>
                        <a:srgbClr val="263238"/>
                      </a:solidFill>
                      <a:prstDash val="solid"/>
                      <a:round/>
                      <a:headEnd type="none" w="med" len="med"/>
                      <a:tailEnd type="none" w="med" len="med"/>
                    </a:lnT>
                    <a:lnB w="6350" cap="flat" cmpd="sng" algn="ctr">
                      <a:solidFill>
                        <a:srgbClr val="263238"/>
                      </a:solidFill>
                      <a:prstDash val="solid"/>
                      <a:round/>
                      <a:headEnd type="none" w="med" len="med"/>
                      <a:tailEnd type="none" w="med" len="med"/>
                    </a:lnB>
                    <a:solidFill>
                      <a:srgbClr val="6A1B9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Hibernate ORM</a:t>
                      </a:r>
                      <a:endParaRPr lang="en-US" sz="1200" dirty="0">
                        <a:latin typeface="Calibri" charset="0"/>
                        <a:ea typeface="Calibri" charset="0"/>
                        <a:cs typeface="Calibri" charset="0"/>
                      </a:endParaRPr>
                    </a:p>
                  </a:txBody>
                  <a:tcPr marL="91440" marR="91440" marT="45720" marB="45720" anchor="ctr">
                    <a:lnL w="6350" cap="flat" cmpd="sng" algn="ctr">
                      <a:solidFill>
                        <a:srgbClr val="263238"/>
                      </a:solidFill>
                      <a:prstDash val="solid"/>
                      <a:round/>
                      <a:headEnd type="none" w="med" len="med"/>
                      <a:tailEnd type="none" w="med" len="med"/>
                    </a:lnL>
                    <a:lnR w="6350" cap="flat" cmpd="sng" algn="ctr">
                      <a:solidFill>
                        <a:srgbClr val="263238"/>
                      </a:solidFill>
                      <a:prstDash val="solid"/>
                      <a:round/>
                      <a:headEnd type="none" w="med" len="med"/>
                      <a:tailEnd type="none" w="med" len="med"/>
                    </a:lnR>
                    <a:lnT w="6350" cap="flat" cmpd="sng" algn="ctr">
                      <a:solidFill>
                        <a:srgbClr val="263238"/>
                      </a:solidFill>
                      <a:prstDash val="solid"/>
                      <a:round/>
                      <a:headEnd type="none" w="med" len="med"/>
                      <a:tailEnd type="none" w="med" len="med"/>
                    </a:lnT>
                    <a:lnB w="6350" cap="flat" cmpd="sng" algn="ctr">
                      <a:solidFill>
                        <a:srgbClr val="263238"/>
                      </a:solidFill>
                      <a:prstDash val="solid"/>
                      <a:round/>
                      <a:headEnd type="none" w="med" len="med"/>
                      <a:tailEnd type="none" w="med" len="med"/>
                    </a:lnB>
                    <a:solidFill>
                      <a:srgbClr val="BF360C"/>
                    </a:solidFill>
                  </a:tcPr>
                </a:tc>
              </a:tr>
              <a:tr h="521208">
                <a:tc>
                  <a:txBody>
                    <a:bodyPr/>
                    <a:lstStyle/>
                    <a:p>
                      <a:pPr algn="l" indent="0" marL="0">
                        <a:buNone/>
                      </a:pPr>
                      <a:r>
                        <a:rPr lang="en-US" sz="1100" b="1" dirty="0">
                          <a:solidFill>
                            <a:srgbClr val="90CAF9"/>
                          </a:solidFill>
                          <a:latin typeface="Calibri" pitchFamily="34" charset="0"/>
                          <a:ea typeface="Calibri" pitchFamily="34" charset="-122"/>
                          <a:cs typeface="Calibri" pitchFamily="34" charset="-120"/>
                        </a:rPr>
                        <a:t>SQL control</a:t>
                      </a:r>
                      <a:endParaRPr lang="en-US" sz="1100" dirty="0">
                        <a:latin typeface="Calibri" charset="0"/>
                        <a:ea typeface="Calibri" charset="0"/>
                        <a:cs typeface="Calibri" charset="0"/>
                      </a:endParaRPr>
                    </a:p>
                  </a:txBody>
                  <a:tcPr marL="91440" marR="91440" marT="45720" marB="45720" anchor="ctr">
                    <a:lnL w="6350" cap="flat" cmpd="sng" algn="ctr">
                      <a:solidFill>
                        <a:srgbClr val="263238"/>
                      </a:solidFill>
                      <a:prstDash val="solid"/>
                      <a:round/>
                      <a:headEnd type="none" w="med" len="med"/>
                      <a:tailEnd type="none" w="med" len="med"/>
                    </a:lnL>
                    <a:lnR w="6350" cap="flat" cmpd="sng" algn="ctr">
                      <a:solidFill>
                        <a:srgbClr val="263238"/>
                      </a:solidFill>
                      <a:prstDash val="solid"/>
                      <a:round/>
                      <a:headEnd type="none" w="med" len="med"/>
                      <a:tailEnd type="none" w="med" len="med"/>
                    </a:lnR>
                    <a:lnT w="6350" cap="flat" cmpd="sng" algn="ctr">
                      <a:solidFill>
                        <a:srgbClr val="263238"/>
                      </a:solidFill>
                      <a:prstDash val="solid"/>
                      <a:round/>
                      <a:headEnd type="none" w="med" len="med"/>
                      <a:tailEnd type="none" w="med" len="med"/>
                    </a:lnT>
                    <a:lnB w="6350" cap="flat" cmpd="sng" algn="ctr">
                      <a:solidFill>
                        <a:srgbClr val="263238"/>
                      </a:solidFill>
                      <a:prstDash val="solid"/>
                      <a:round/>
                      <a:headEnd type="none" w="med" len="med"/>
                      <a:tailEnd type="none" w="med" len="med"/>
                    </a:lnB>
                    <a:solidFill>
                      <a:srgbClr val="132235"/>
                    </a:solidFill>
                  </a:tcPr>
                </a:tc>
                <a:tc>
                  <a:txBody>
                    <a:bodyPr/>
                    <a:lstStyle/>
                    <a:p>
                      <a:pPr algn="ctr" indent="0" marL="0">
                        <a:buNone/>
                      </a:pPr>
                      <a:r>
                        <a:rPr lang="en-US" sz="1100" dirty="0">
                          <a:solidFill>
                            <a:srgbClr val="CFD8DC"/>
                          </a:solidFill>
                          <a:latin typeface="Calibri" pitchFamily="34" charset="0"/>
                          <a:ea typeface="Calibri" pitchFamily="34" charset="-122"/>
                          <a:cs typeface="Calibri" pitchFamily="34" charset="-120"/>
                        </a:rPr>
                        <a:t>Full — you write it yourself</a:t>
                      </a:r>
                      <a:endParaRPr lang="en-US" sz="1100" dirty="0">
                        <a:latin typeface="Calibri" charset="0"/>
                        <a:ea typeface="Calibri" charset="0"/>
                        <a:cs typeface="Calibri" charset="0"/>
                      </a:endParaRPr>
                    </a:p>
                  </a:txBody>
                  <a:tcPr marL="91440" marR="91440" marT="45720" marB="45720" anchor="ctr">
                    <a:lnL w="6350" cap="flat" cmpd="sng" algn="ctr">
                      <a:solidFill>
                        <a:srgbClr val="263238"/>
                      </a:solidFill>
                      <a:prstDash val="solid"/>
                      <a:round/>
                      <a:headEnd type="none" w="med" len="med"/>
                      <a:tailEnd type="none" w="med" len="med"/>
                    </a:lnL>
                    <a:lnR w="6350" cap="flat" cmpd="sng" algn="ctr">
                      <a:solidFill>
                        <a:srgbClr val="263238"/>
                      </a:solidFill>
                      <a:prstDash val="solid"/>
                      <a:round/>
                      <a:headEnd type="none" w="med" len="med"/>
                      <a:tailEnd type="none" w="med" len="med"/>
                    </a:lnR>
                    <a:lnT w="6350" cap="flat" cmpd="sng" algn="ctr">
                      <a:solidFill>
                        <a:srgbClr val="263238"/>
                      </a:solidFill>
                      <a:prstDash val="solid"/>
                      <a:round/>
                      <a:headEnd type="none" w="med" len="med"/>
                      <a:tailEnd type="none" w="med" len="med"/>
                    </a:lnT>
                    <a:lnB w="6350" cap="flat" cmpd="sng" algn="ctr">
                      <a:solidFill>
                        <a:srgbClr val="263238"/>
                      </a:solidFill>
                      <a:prstDash val="solid"/>
                      <a:round/>
                      <a:headEnd type="none" w="med" len="med"/>
                      <a:tailEnd type="none" w="med" len="med"/>
                    </a:lnB>
                    <a:solidFill>
                      <a:srgbClr val="132235"/>
                    </a:solidFill>
                  </a:tcPr>
                </a:tc>
                <a:tc>
                  <a:txBody>
                    <a:bodyPr/>
                    <a:lstStyle/>
                    <a:p>
                      <a:pPr algn="ctr" indent="0" marL="0">
                        <a:buNone/>
                      </a:pPr>
                      <a:r>
                        <a:rPr lang="en-US" sz="1100" dirty="0">
                          <a:solidFill>
                            <a:srgbClr val="CFD8DC"/>
                          </a:solidFill>
                          <a:latin typeface="Calibri" pitchFamily="34" charset="0"/>
                          <a:ea typeface="Calibri" pitchFamily="34" charset="-122"/>
                          <a:cs typeface="Calibri" pitchFamily="34" charset="-120"/>
                        </a:rPr>
                        <a:t>Full — inside the implementation</a:t>
                      </a:r>
                      <a:endParaRPr lang="en-US" sz="1100" dirty="0">
                        <a:latin typeface="Calibri" charset="0"/>
                        <a:ea typeface="Calibri" charset="0"/>
                        <a:cs typeface="Calibri" charset="0"/>
                      </a:endParaRPr>
                    </a:p>
                  </a:txBody>
                  <a:tcPr marL="91440" marR="91440" marT="45720" marB="45720" anchor="ctr">
                    <a:lnL w="6350" cap="flat" cmpd="sng" algn="ctr">
                      <a:solidFill>
                        <a:srgbClr val="263238"/>
                      </a:solidFill>
                      <a:prstDash val="solid"/>
                      <a:round/>
                      <a:headEnd type="none" w="med" len="med"/>
                      <a:tailEnd type="none" w="med" len="med"/>
                    </a:lnL>
                    <a:lnR w="6350" cap="flat" cmpd="sng" algn="ctr">
                      <a:solidFill>
                        <a:srgbClr val="263238"/>
                      </a:solidFill>
                      <a:prstDash val="solid"/>
                      <a:round/>
                      <a:headEnd type="none" w="med" len="med"/>
                      <a:tailEnd type="none" w="med" len="med"/>
                    </a:lnR>
                    <a:lnT w="6350" cap="flat" cmpd="sng" algn="ctr">
                      <a:solidFill>
                        <a:srgbClr val="263238"/>
                      </a:solidFill>
                      <a:prstDash val="solid"/>
                      <a:round/>
                      <a:headEnd type="none" w="med" len="med"/>
                      <a:tailEnd type="none" w="med" len="med"/>
                    </a:lnT>
                    <a:lnB w="6350" cap="flat" cmpd="sng" algn="ctr">
                      <a:solidFill>
                        <a:srgbClr val="263238"/>
                      </a:solidFill>
                      <a:prstDash val="solid"/>
                      <a:round/>
                      <a:headEnd type="none" w="med" len="med"/>
                      <a:tailEnd type="none" w="med" len="med"/>
                    </a:lnB>
                    <a:solidFill>
                      <a:srgbClr val="132235"/>
                    </a:solidFill>
                  </a:tcPr>
                </a:tc>
                <a:tc>
                  <a:txBody>
                    <a:bodyPr/>
                    <a:lstStyle/>
                    <a:p>
                      <a:pPr algn="ctr" indent="0" marL="0">
                        <a:buNone/>
                      </a:pPr>
                      <a:r>
                        <a:rPr lang="en-US" sz="1100" dirty="0">
                          <a:solidFill>
                            <a:srgbClr val="CFD8DC"/>
                          </a:solidFill>
                          <a:latin typeface="Calibri" pitchFamily="34" charset="0"/>
                          <a:ea typeface="Calibri" pitchFamily="34" charset="-122"/>
                          <a:cs typeface="Calibri" pitchFamily="34" charset="-120"/>
                        </a:rPr>
                        <a:t>Minimal — ORM generates it</a:t>
                      </a:r>
                      <a:endParaRPr lang="en-US" sz="1100" dirty="0">
                        <a:latin typeface="Calibri" charset="0"/>
                        <a:ea typeface="Calibri" charset="0"/>
                        <a:cs typeface="Calibri" charset="0"/>
                      </a:endParaRPr>
                    </a:p>
                  </a:txBody>
                  <a:tcPr marL="91440" marR="91440" marT="45720" marB="45720" anchor="ctr">
                    <a:lnL w="6350" cap="flat" cmpd="sng" algn="ctr">
                      <a:solidFill>
                        <a:srgbClr val="263238"/>
                      </a:solidFill>
                      <a:prstDash val="solid"/>
                      <a:round/>
                      <a:headEnd type="none" w="med" len="med"/>
                      <a:tailEnd type="none" w="med" len="med"/>
                    </a:lnL>
                    <a:lnR w="6350" cap="flat" cmpd="sng" algn="ctr">
                      <a:solidFill>
                        <a:srgbClr val="263238"/>
                      </a:solidFill>
                      <a:prstDash val="solid"/>
                      <a:round/>
                      <a:headEnd type="none" w="med" len="med"/>
                      <a:tailEnd type="none" w="med" len="med"/>
                    </a:lnR>
                    <a:lnT w="6350" cap="flat" cmpd="sng" algn="ctr">
                      <a:solidFill>
                        <a:srgbClr val="263238"/>
                      </a:solidFill>
                      <a:prstDash val="solid"/>
                      <a:round/>
                      <a:headEnd type="none" w="med" len="med"/>
                      <a:tailEnd type="none" w="med" len="med"/>
                    </a:lnT>
                    <a:lnB w="6350" cap="flat" cmpd="sng" algn="ctr">
                      <a:solidFill>
                        <a:srgbClr val="263238"/>
                      </a:solidFill>
                      <a:prstDash val="solid"/>
                      <a:round/>
                      <a:headEnd type="none" w="med" len="med"/>
                      <a:tailEnd type="none" w="med" len="med"/>
                    </a:lnB>
                    <a:solidFill>
                      <a:srgbClr val="132235"/>
                    </a:solidFill>
                  </a:tcPr>
                </a:tc>
              </a:tr>
              <a:tr h="521208">
                <a:tc>
                  <a:txBody>
                    <a:bodyPr/>
                    <a:lstStyle/>
                    <a:p>
                      <a:pPr algn="l" indent="0" marL="0">
                        <a:buNone/>
                      </a:pPr>
                      <a:r>
                        <a:rPr lang="en-US" sz="1100" b="1" dirty="0">
                          <a:solidFill>
                            <a:srgbClr val="90CAF9"/>
                          </a:solidFill>
                          <a:latin typeface="Calibri" pitchFamily="34" charset="0"/>
                          <a:ea typeface="Calibri" pitchFamily="34" charset="-122"/>
                          <a:cs typeface="Calibri" pitchFamily="34" charset="-120"/>
                        </a:rPr>
                        <a:t>Readability</a:t>
                      </a:r>
                      <a:endParaRPr lang="en-US" sz="1100" dirty="0">
                        <a:latin typeface="Calibri" charset="0"/>
                        <a:ea typeface="Calibri" charset="0"/>
                        <a:cs typeface="Calibri" charset="0"/>
                      </a:endParaRPr>
                    </a:p>
                  </a:txBody>
                  <a:tcPr marL="91440" marR="91440" marT="45720" marB="45720" anchor="ctr">
                    <a:lnL w="6350" cap="flat" cmpd="sng" algn="ctr">
                      <a:solidFill>
                        <a:srgbClr val="263238"/>
                      </a:solidFill>
                      <a:prstDash val="solid"/>
                      <a:round/>
                      <a:headEnd type="none" w="med" len="med"/>
                      <a:tailEnd type="none" w="med" len="med"/>
                    </a:lnL>
                    <a:lnR w="6350" cap="flat" cmpd="sng" algn="ctr">
                      <a:solidFill>
                        <a:srgbClr val="263238"/>
                      </a:solidFill>
                      <a:prstDash val="solid"/>
                      <a:round/>
                      <a:headEnd type="none" w="med" len="med"/>
                      <a:tailEnd type="none" w="med" len="med"/>
                    </a:lnR>
                    <a:lnT w="6350" cap="flat" cmpd="sng" algn="ctr">
                      <a:solidFill>
                        <a:srgbClr val="263238"/>
                      </a:solidFill>
                      <a:prstDash val="solid"/>
                      <a:round/>
                      <a:headEnd type="none" w="med" len="med"/>
                      <a:tailEnd type="none" w="med" len="med"/>
                    </a:lnT>
                    <a:lnB w="6350" cap="flat" cmpd="sng" algn="ctr">
                      <a:solidFill>
                        <a:srgbClr val="263238"/>
                      </a:solidFill>
                      <a:prstDash val="solid"/>
                      <a:round/>
                      <a:headEnd type="none" w="med" len="med"/>
                      <a:tailEnd type="none" w="med" len="med"/>
                    </a:lnB>
                    <a:solidFill>
                      <a:srgbClr val="0F1E2E"/>
                    </a:solidFill>
                  </a:tcPr>
                </a:tc>
                <a:tc>
                  <a:txBody>
                    <a:bodyPr/>
                    <a:lstStyle/>
                    <a:p>
                      <a:pPr algn="ctr" indent="0" marL="0">
                        <a:buNone/>
                      </a:pPr>
                      <a:r>
                        <a:rPr lang="en-US" sz="1100" dirty="0">
                          <a:solidFill>
                            <a:srgbClr val="CFD8DC"/>
                          </a:solidFill>
                          <a:latin typeface="Calibri" pitchFamily="34" charset="0"/>
                          <a:ea typeface="Calibri" pitchFamily="34" charset="-122"/>
                          <a:cs typeface="Calibri" pitchFamily="34" charset="-120"/>
                        </a:rPr>
                        <a:t>Low — lots of code</a:t>
                      </a:r>
                      <a:endParaRPr lang="en-US" sz="1100" dirty="0">
                        <a:latin typeface="Calibri" charset="0"/>
                        <a:ea typeface="Calibri" charset="0"/>
                        <a:cs typeface="Calibri" charset="0"/>
                      </a:endParaRPr>
                    </a:p>
                  </a:txBody>
                  <a:tcPr marL="91440" marR="91440" marT="45720" marB="45720" anchor="ctr">
                    <a:lnL w="6350" cap="flat" cmpd="sng" algn="ctr">
                      <a:solidFill>
                        <a:srgbClr val="263238"/>
                      </a:solidFill>
                      <a:prstDash val="solid"/>
                      <a:round/>
                      <a:headEnd type="none" w="med" len="med"/>
                      <a:tailEnd type="none" w="med" len="med"/>
                    </a:lnL>
                    <a:lnR w="6350" cap="flat" cmpd="sng" algn="ctr">
                      <a:solidFill>
                        <a:srgbClr val="263238"/>
                      </a:solidFill>
                      <a:prstDash val="solid"/>
                      <a:round/>
                      <a:headEnd type="none" w="med" len="med"/>
                      <a:tailEnd type="none" w="med" len="med"/>
                    </a:lnR>
                    <a:lnT w="6350" cap="flat" cmpd="sng" algn="ctr">
                      <a:solidFill>
                        <a:srgbClr val="263238"/>
                      </a:solidFill>
                      <a:prstDash val="solid"/>
                      <a:round/>
                      <a:headEnd type="none" w="med" len="med"/>
                      <a:tailEnd type="none" w="med" len="med"/>
                    </a:lnT>
                    <a:lnB w="6350" cap="flat" cmpd="sng" algn="ctr">
                      <a:solidFill>
                        <a:srgbClr val="263238"/>
                      </a:solidFill>
                      <a:prstDash val="solid"/>
                      <a:round/>
                      <a:headEnd type="none" w="med" len="med"/>
                      <a:tailEnd type="none" w="med" len="med"/>
                    </a:lnB>
                    <a:solidFill>
                      <a:srgbClr val="0F1E2E"/>
                    </a:solidFill>
                  </a:tcPr>
                </a:tc>
                <a:tc>
                  <a:txBody>
                    <a:bodyPr/>
                    <a:lstStyle/>
                    <a:p>
                      <a:pPr algn="ctr" indent="0" marL="0">
                        <a:buNone/>
                      </a:pPr>
                      <a:r>
                        <a:rPr lang="en-US" sz="1100" dirty="0">
                          <a:solidFill>
                            <a:srgbClr val="CFD8DC"/>
                          </a:solidFill>
                          <a:latin typeface="Calibri" pitchFamily="34" charset="0"/>
                          <a:ea typeface="Calibri" pitchFamily="34" charset="-122"/>
                          <a:cs typeface="Calibri" pitchFamily="34" charset="-120"/>
                        </a:rPr>
                        <a:t>Medium — clean API</a:t>
                      </a:r>
                      <a:endParaRPr lang="en-US" sz="1100" dirty="0">
                        <a:latin typeface="Calibri" charset="0"/>
                        <a:ea typeface="Calibri" charset="0"/>
                        <a:cs typeface="Calibri" charset="0"/>
                      </a:endParaRPr>
                    </a:p>
                  </a:txBody>
                  <a:tcPr marL="91440" marR="91440" marT="45720" marB="45720" anchor="ctr">
                    <a:lnL w="6350" cap="flat" cmpd="sng" algn="ctr">
                      <a:solidFill>
                        <a:srgbClr val="263238"/>
                      </a:solidFill>
                      <a:prstDash val="solid"/>
                      <a:round/>
                      <a:headEnd type="none" w="med" len="med"/>
                      <a:tailEnd type="none" w="med" len="med"/>
                    </a:lnL>
                    <a:lnR w="6350" cap="flat" cmpd="sng" algn="ctr">
                      <a:solidFill>
                        <a:srgbClr val="263238"/>
                      </a:solidFill>
                      <a:prstDash val="solid"/>
                      <a:round/>
                      <a:headEnd type="none" w="med" len="med"/>
                      <a:tailEnd type="none" w="med" len="med"/>
                    </a:lnR>
                    <a:lnT w="6350" cap="flat" cmpd="sng" algn="ctr">
                      <a:solidFill>
                        <a:srgbClr val="263238"/>
                      </a:solidFill>
                      <a:prstDash val="solid"/>
                      <a:round/>
                      <a:headEnd type="none" w="med" len="med"/>
                      <a:tailEnd type="none" w="med" len="med"/>
                    </a:lnT>
                    <a:lnB w="6350" cap="flat" cmpd="sng" algn="ctr">
                      <a:solidFill>
                        <a:srgbClr val="263238"/>
                      </a:solidFill>
                      <a:prstDash val="solid"/>
                      <a:round/>
                      <a:headEnd type="none" w="med" len="med"/>
                      <a:tailEnd type="none" w="med" len="med"/>
                    </a:lnB>
                    <a:solidFill>
                      <a:srgbClr val="0F1E2E"/>
                    </a:solidFill>
                  </a:tcPr>
                </a:tc>
                <a:tc>
                  <a:txBody>
                    <a:bodyPr/>
                    <a:lstStyle/>
                    <a:p>
                      <a:pPr algn="ctr" indent="0" marL="0">
                        <a:buNone/>
                      </a:pPr>
                      <a:r>
                        <a:rPr lang="en-US" sz="1100" dirty="0">
                          <a:solidFill>
                            <a:srgbClr val="CFD8DC"/>
                          </a:solidFill>
                          <a:latin typeface="Calibri" pitchFamily="34" charset="0"/>
                          <a:ea typeface="Calibri" pitchFamily="34" charset="-122"/>
                          <a:cs typeface="Calibri" pitchFamily="34" charset="-120"/>
                        </a:rPr>
                        <a:t>High — you work with objects</a:t>
                      </a:r>
                      <a:endParaRPr lang="en-US" sz="1100" dirty="0">
                        <a:latin typeface="Calibri" charset="0"/>
                        <a:ea typeface="Calibri" charset="0"/>
                        <a:cs typeface="Calibri" charset="0"/>
                      </a:endParaRPr>
                    </a:p>
                  </a:txBody>
                  <a:tcPr marL="91440" marR="91440" marT="45720" marB="45720" anchor="ctr">
                    <a:lnL w="6350" cap="flat" cmpd="sng" algn="ctr">
                      <a:solidFill>
                        <a:srgbClr val="263238"/>
                      </a:solidFill>
                      <a:prstDash val="solid"/>
                      <a:round/>
                      <a:headEnd type="none" w="med" len="med"/>
                      <a:tailEnd type="none" w="med" len="med"/>
                    </a:lnL>
                    <a:lnR w="6350" cap="flat" cmpd="sng" algn="ctr">
                      <a:solidFill>
                        <a:srgbClr val="263238"/>
                      </a:solidFill>
                      <a:prstDash val="solid"/>
                      <a:round/>
                      <a:headEnd type="none" w="med" len="med"/>
                      <a:tailEnd type="none" w="med" len="med"/>
                    </a:lnR>
                    <a:lnT w="6350" cap="flat" cmpd="sng" algn="ctr">
                      <a:solidFill>
                        <a:srgbClr val="263238"/>
                      </a:solidFill>
                      <a:prstDash val="solid"/>
                      <a:round/>
                      <a:headEnd type="none" w="med" len="med"/>
                      <a:tailEnd type="none" w="med" len="med"/>
                    </a:lnT>
                    <a:lnB w="6350" cap="flat" cmpd="sng" algn="ctr">
                      <a:solidFill>
                        <a:srgbClr val="263238"/>
                      </a:solidFill>
                      <a:prstDash val="solid"/>
                      <a:round/>
                      <a:headEnd type="none" w="med" len="med"/>
                      <a:tailEnd type="none" w="med" len="med"/>
                    </a:lnB>
                    <a:solidFill>
                      <a:srgbClr val="0F1E2E"/>
                    </a:solidFill>
                  </a:tcPr>
                </a:tc>
              </a:tr>
              <a:tr h="521208">
                <a:tc>
                  <a:txBody>
                    <a:bodyPr/>
                    <a:lstStyle/>
                    <a:p>
                      <a:pPr algn="l" indent="0" marL="0">
                        <a:buNone/>
                      </a:pPr>
                      <a:r>
                        <a:rPr lang="en-US" sz="1100" b="1" dirty="0">
                          <a:solidFill>
                            <a:srgbClr val="90CAF9"/>
                          </a:solidFill>
                          <a:latin typeface="Calibri" pitchFamily="34" charset="0"/>
                          <a:ea typeface="Calibri" pitchFamily="34" charset="-122"/>
                          <a:cs typeface="Calibri" pitchFamily="34" charset="-120"/>
                        </a:rPr>
                        <a:t>Database dependency</a:t>
                      </a:r>
                      <a:endParaRPr lang="en-US" sz="1100" dirty="0">
                        <a:latin typeface="Calibri" charset="0"/>
                        <a:ea typeface="Calibri" charset="0"/>
                        <a:cs typeface="Calibri" charset="0"/>
                      </a:endParaRPr>
                    </a:p>
                  </a:txBody>
                  <a:tcPr marL="91440" marR="91440" marT="45720" marB="45720" anchor="ctr">
                    <a:lnL w="6350" cap="flat" cmpd="sng" algn="ctr">
                      <a:solidFill>
                        <a:srgbClr val="263238"/>
                      </a:solidFill>
                      <a:prstDash val="solid"/>
                      <a:round/>
                      <a:headEnd type="none" w="med" len="med"/>
                      <a:tailEnd type="none" w="med" len="med"/>
                    </a:lnL>
                    <a:lnR w="6350" cap="flat" cmpd="sng" algn="ctr">
                      <a:solidFill>
                        <a:srgbClr val="263238"/>
                      </a:solidFill>
                      <a:prstDash val="solid"/>
                      <a:round/>
                      <a:headEnd type="none" w="med" len="med"/>
                      <a:tailEnd type="none" w="med" len="med"/>
                    </a:lnR>
                    <a:lnT w="6350" cap="flat" cmpd="sng" algn="ctr">
                      <a:solidFill>
                        <a:srgbClr val="263238"/>
                      </a:solidFill>
                      <a:prstDash val="solid"/>
                      <a:round/>
                      <a:headEnd type="none" w="med" len="med"/>
                      <a:tailEnd type="none" w="med" len="med"/>
                    </a:lnT>
                    <a:lnB w="6350" cap="flat" cmpd="sng" algn="ctr">
                      <a:solidFill>
                        <a:srgbClr val="263238"/>
                      </a:solidFill>
                      <a:prstDash val="solid"/>
                      <a:round/>
                      <a:headEnd type="none" w="med" len="med"/>
                      <a:tailEnd type="none" w="med" len="med"/>
                    </a:lnB>
                    <a:solidFill>
                      <a:srgbClr val="132235"/>
                    </a:solidFill>
                  </a:tcPr>
                </a:tc>
                <a:tc>
                  <a:txBody>
                    <a:bodyPr/>
                    <a:lstStyle/>
                    <a:p>
                      <a:pPr algn="ctr" indent="0" marL="0">
                        <a:buNone/>
                      </a:pPr>
                      <a:r>
                        <a:rPr lang="en-US" sz="1100" dirty="0">
                          <a:solidFill>
                            <a:srgbClr val="CFD8DC"/>
                          </a:solidFill>
                          <a:latin typeface="Calibri" pitchFamily="34" charset="0"/>
                          <a:ea typeface="Calibri" pitchFamily="34" charset="-122"/>
                          <a:cs typeface="Calibri" pitchFamily="34" charset="-120"/>
                        </a:rPr>
                        <a:t>Direct</a:t>
                      </a:r>
                      <a:endParaRPr lang="en-US" sz="1100" dirty="0">
                        <a:latin typeface="Calibri" charset="0"/>
                        <a:ea typeface="Calibri" charset="0"/>
                        <a:cs typeface="Calibri" charset="0"/>
                      </a:endParaRPr>
                    </a:p>
                  </a:txBody>
                  <a:tcPr marL="91440" marR="91440" marT="45720" marB="45720" anchor="ctr">
                    <a:lnL w="6350" cap="flat" cmpd="sng" algn="ctr">
                      <a:solidFill>
                        <a:srgbClr val="263238"/>
                      </a:solidFill>
                      <a:prstDash val="solid"/>
                      <a:round/>
                      <a:headEnd type="none" w="med" len="med"/>
                      <a:tailEnd type="none" w="med" len="med"/>
                    </a:lnL>
                    <a:lnR w="6350" cap="flat" cmpd="sng" algn="ctr">
                      <a:solidFill>
                        <a:srgbClr val="263238"/>
                      </a:solidFill>
                      <a:prstDash val="solid"/>
                      <a:round/>
                      <a:headEnd type="none" w="med" len="med"/>
                      <a:tailEnd type="none" w="med" len="med"/>
                    </a:lnR>
                    <a:lnT w="6350" cap="flat" cmpd="sng" algn="ctr">
                      <a:solidFill>
                        <a:srgbClr val="263238"/>
                      </a:solidFill>
                      <a:prstDash val="solid"/>
                      <a:round/>
                      <a:headEnd type="none" w="med" len="med"/>
                      <a:tailEnd type="none" w="med" len="med"/>
                    </a:lnT>
                    <a:lnB w="6350" cap="flat" cmpd="sng" algn="ctr">
                      <a:solidFill>
                        <a:srgbClr val="263238"/>
                      </a:solidFill>
                      <a:prstDash val="solid"/>
                      <a:round/>
                      <a:headEnd type="none" w="med" len="med"/>
                      <a:tailEnd type="none" w="med" len="med"/>
                    </a:lnB>
                    <a:solidFill>
                      <a:srgbClr val="132235"/>
                    </a:solidFill>
                  </a:tcPr>
                </a:tc>
                <a:tc>
                  <a:txBody>
                    <a:bodyPr/>
                    <a:lstStyle/>
                    <a:p>
                      <a:pPr algn="ctr" indent="0" marL="0">
                        <a:buNone/>
                      </a:pPr>
                      <a:r>
                        <a:rPr lang="en-US" sz="1100" dirty="0">
                          <a:solidFill>
                            <a:srgbClr val="CFD8DC"/>
                          </a:solidFill>
                          <a:latin typeface="Calibri" pitchFamily="34" charset="0"/>
                          <a:ea typeface="Calibri" pitchFamily="34" charset="-122"/>
                          <a:cs typeface="Calibri" pitchFamily="34" charset="-120"/>
                        </a:rPr>
                        <a:t>Hidden behind an interface</a:t>
                      </a:r>
                      <a:endParaRPr lang="en-US" sz="1100" dirty="0">
                        <a:latin typeface="Calibri" charset="0"/>
                        <a:ea typeface="Calibri" charset="0"/>
                        <a:cs typeface="Calibri" charset="0"/>
                      </a:endParaRPr>
                    </a:p>
                  </a:txBody>
                  <a:tcPr marL="91440" marR="91440" marT="45720" marB="45720" anchor="ctr">
                    <a:lnL w="6350" cap="flat" cmpd="sng" algn="ctr">
                      <a:solidFill>
                        <a:srgbClr val="263238"/>
                      </a:solidFill>
                      <a:prstDash val="solid"/>
                      <a:round/>
                      <a:headEnd type="none" w="med" len="med"/>
                      <a:tailEnd type="none" w="med" len="med"/>
                    </a:lnL>
                    <a:lnR w="6350" cap="flat" cmpd="sng" algn="ctr">
                      <a:solidFill>
                        <a:srgbClr val="263238"/>
                      </a:solidFill>
                      <a:prstDash val="solid"/>
                      <a:round/>
                      <a:headEnd type="none" w="med" len="med"/>
                      <a:tailEnd type="none" w="med" len="med"/>
                    </a:lnR>
                    <a:lnT w="6350" cap="flat" cmpd="sng" algn="ctr">
                      <a:solidFill>
                        <a:srgbClr val="263238"/>
                      </a:solidFill>
                      <a:prstDash val="solid"/>
                      <a:round/>
                      <a:headEnd type="none" w="med" len="med"/>
                      <a:tailEnd type="none" w="med" len="med"/>
                    </a:lnT>
                    <a:lnB w="6350" cap="flat" cmpd="sng" algn="ctr">
                      <a:solidFill>
                        <a:srgbClr val="263238"/>
                      </a:solidFill>
                      <a:prstDash val="solid"/>
                      <a:round/>
                      <a:headEnd type="none" w="med" len="med"/>
                      <a:tailEnd type="none" w="med" len="med"/>
                    </a:lnB>
                    <a:solidFill>
                      <a:srgbClr val="132235"/>
                    </a:solidFill>
                  </a:tcPr>
                </a:tc>
                <a:tc>
                  <a:txBody>
                    <a:bodyPr/>
                    <a:lstStyle/>
                    <a:p>
                      <a:pPr algn="ctr" indent="0" marL="0">
                        <a:buNone/>
                      </a:pPr>
                      <a:r>
                        <a:rPr lang="en-US" sz="1100" dirty="0">
                          <a:solidFill>
                            <a:srgbClr val="CFD8DC"/>
                          </a:solidFill>
                          <a:latin typeface="Calibri" pitchFamily="34" charset="0"/>
                          <a:ea typeface="Calibri" pitchFamily="34" charset="-122"/>
                          <a:cs typeface="Calibri" pitchFamily="34" charset="-120"/>
                        </a:rPr>
                        <a:t>Fully hidden</a:t>
                      </a:r>
                      <a:endParaRPr lang="en-US" sz="1100" dirty="0">
                        <a:latin typeface="Calibri" charset="0"/>
                        <a:ea typeface="Calibri" charset="0"/>
                        <a:cs typeface="Calibri" charset="0"/>
                      </a:endParaRPr>
                    </a:p>
                  </a:txBody>
                  <a:tcPr marL="91440" marR="91440" marT="45720" marB="45720" anchor="ctr">
                    <a:lnL w="6350" cap="flat" cmpd="sng" algn="ctr">
                      <a:solidFill>
                        <a:srgbClr val="263238"/>
                      </a:solidFill>
                      <a:prstDash val="solid"/>
                      <a:round/>
                      <a:headEnd type="none" w="med" len="med"/>
                      <a:tailEnd type="none" w="med" len="med"/>
                    </a:lnL>
                    <a:lnR w="6350" cap="flat" cmpd="sng" algn="ctr">
                      <a:solidFill>
                        <a:srgbClr val="263238"/>
                      </a:solidFill>
                      <a:prstDash val="solid"/>
                      <a:round/>
                      <a:headEnd type="none" w="med" len="med"/>
                      <a:tailEnd type="none" w="med" len="med"/>
                    </a:lnR>
                    <a:lnT w="6350" cap="flat" cmpd="sng" algn="ctr">
                      <a:solidFill>
                        <a:srgbClr val="263238"/>
                      </a:solidFill>
                      <a:prstDash val="solid"/>
                      <a:round/>
                      <a:headEnd type="none" w="med" len="med"/>
                      <a:tailEnd type="none" w="med" len="med"/>
                    </a:lnT>
                    <a:lnB w="6350" cap="flat" cmpd="sng" algn="ctr">
                      <a:solidFill>
                        <a:srgbClr val="263238"/>
                      </a:solidFill>
                      <a:prstDash val="solid"/>
                      <a:round/>
                      <a:headEnd type="none" w="med" len="med"/>
                      <a:tailEnd type="none" w="med" len="med"/>
                    </a:lnB>
                    <a:solidFill>
                      <a:srgbClr val="132235"/>
                    </a:solidFill>
                  </a:tcPr>
                </a:tc>
              </a:tr>
              <a:tr h="521208">
                <a:tc>
                  <a:txBody>
                    <a:bodyPr/>
                    <a:lstStyle/>
                    <a:p>
                      <a:pPr algn="l" indent="0" marL="0">
                        <a:buNone/>
                      </a:pPr>
                      <a:r>
                        <a:rPr lang="en-US" sz="1100" b="1" dirty="0">
                          <a:solidFill>
                            <a:srgbClr val="90CAF9"/>
                          </a:solidFill>
                          <a:latin typeface="Calibri" pitchFamily="34" charset="0"/>
                          <a:ea typeface="Calibri" pitchFamily="34" charset="-122"/>
                          <a:cs typeface="Calibri" pitchFamily="34" charset="-120"/>
                        </a:rPr>
                        <a:t>Transactions</a:t>
                      </a:r>
                      <a:endParaRPr lang="en-US" sz="1100" dirty="0">
                        <a:latin typeface="Calibri" charset="0"/>
                        <a:ea typeface="Calibri" charset="0"/>
                        <a:cs typeface="Calibri" charset="0"/>
                      </a:endParaRPr>
                    </a:p>
                  </a:txBody>
                  <a:tcPr marL="91440" marR="91440" marT="45720" marB="45720" anchor="ctr">
                    <a:lnL w="6350" cap="flat" cmpd="sng" algn="ctr">
                      <a:solidFill>
                        <a:srgbClr val="263238"/>
                      </a:solidFill>
                      <a:prstDash val="solid"/>
                      <a:round/>
                      <a:headEnd type="none" w="med" len="med"/>
                      <a:tailEnd type="none" w="med" len="med"/>
                    </a:lnL>
                    <a:lnR w="6350" cap="flat" cmpd="sng" algn="ctr">
                      <a:solidFill>
                        <a:srgbClr val="263238"/>
                      </a:solidFill>
                      <a:prstDash val="solid"/>
                      <a:round/>
                      <a:headEnd type="none" w="med" len="med"/>
                      <a:tailEnd type="none" w="med" len="med"/>
                    </a:lnR>
                    <a:lnT w="6350" cap="flat" cmpd="sng" algn="ctr">
                      <a:solidFill>
                        <a:srgbClr val="263238"/>
                      </a:solidFill>
                      <a:prstDash val="solid"/>
                      <a:round/>
                      <a:headEnd type="none" w="med" len="med"/>
                      <a:tailEnd type="none" w="med" len="med"/>
                    </a:lnT>
                    <a:lnB w="6350" cap="flat" cmpd="sng" algn="ctr">
                      <a:solidFill>
                        <a:srgbClr val="263238"/>
                      </a:solidFill>
                      <a:prstDash val="solid"/>
                      <a:round/>
                      <a:headEnd type="none" w="med" len="med"/>
                      <a:tailEnd type="none" w="med" len="med"/>
                    </a:lnB>
                    <a:solidFill>
                      <a:srgbClr val="0F1E2E"/>
                    </a:solidFill>
                  </a:tcPr>
                </a:tc>
                <a:tc>
                  <a:txBody>
                    <a:bodyPr/>
                    <a:lstStyle/>
                    <a:p>
                      <a:pPr algn="ctr" indent="0" marL="0">
                        <a:buNone/>
                      </a:pPr>
                      <a:r>
                        <a:rPr lang="en-US" sz="1100" dirty="0">
                          <a:solidFill>
                            <a:srgbClr val="CFD8DC"/>
                          </a:solidFill>
                          <a:latin typeface="Calibri" pitchFamily="34" charset="0"/>
                          <a:ea typeface="Calibri" pitchFamily="34" charset="-122"/>
                          <a:cs typeface="Calibri" pitchFamily="34" charset="-120"/>
                        </a:rPr>
                        <a:t>Manual</a:t>
                      </a:r>
                      <a:endParaRPr lang="en-US" sz="1100" dirty="0">
                        <a:latin typeface="Calibri" charset="0"/>
                        <a:ea typeface="Calibri" charset="0"/>
                        <a:cs typeface="Calibri" charset="0"/>
                      </a:endParaRPr>
                    </a:p>
                  </a:txBody>
                  <a:tcPr marL="91440" marR="91440" marT="45720" marB="45720" anchor="ctr">
                    <a:lnL w="6350" cap="flat" cmpd="sng" algn="ctr">
                      <a:solidFill>
                        <a:srgbClr val="263238"/>
                      </a:solidFill>
                      <a:prstDash val="solid"/>
                      <a:round/>
                      <a:headEnd type="none" w="med" len="med"/>
                      <a:tailEnd type="none" w="med" len="med"/>
                    </a:lnL>
                    <a:lnR w="6350" cap="flat" cmpd="sng" algn="ctr">
                      <a:solidFill>
                        <a:srgbClr val="263238"/>
                      </a:solidFill>
                      <a:prstDash val="solid"/>
                      <a:round/>
                      <a:headEnd type="none" w="med" len="med"/>
                      <a:tailEnd type="none" w="med" len="med"/>
                    </a:lnR>
                    <a:lnT w="6350" cap="flat" cmpd="sng" algn="ctr">
                      <a:solidFill>
                        <a:srgbClr val="263238"/>
                      </a:solidFill>
                      <a:prstDash val="solid"/>
                      <a:round/>
                      <a:headEnd type="none" w="med" len="med"/>
                      <a:tailEnd type="none" w="med" len="med"/>
                    </a:lnT>
                    <a:lnB w="6350" cap="flat" cmpd="sng" algn="ctr">
                      <a:solidFill>
                        <a:srgbClr val="263238"/>
                      </a:solidFill>
                      <a:prstDash val="solid"/>
                      <a:round/>
                      <a:headEnd type="none" w="med" len="med"/>
                      <a:tailEnd type="none" w="med" len="med"/>
                    </a:lnB>
                    <a:solidFill>
                      <a:srgbClr val="0F1E2E"/>
                    </a:solidFill>
                  </a:tcPr>
                </a:tc>
                <a:tc>
                  <a:txBody>
                    <a:bodyPr/>
                    <a:lstStyle/>
                    <a:p>
                      <a:pPr algn="ctr" indent="0" marL="0">
                        <a:buNone/>
                      </a:pPr>
                      <a:r>
                        <a:rPr lang="en-US" sz="1100" dirty="0">
                          <a:solidFill>
                            <a:srgbClr val="CFD8DC"/>
                          </a:solidFill>
                          <a:latin typeface="Calibri" pitchFamily="34" charset="0"/>
                          <a:ea typeface="Calibri" pitchFamily="34" charset="-122"/>
                          <a:cs typeface="Calibri" pitchFamily="34" charset="-120"/>
                        </a:rPr>
                        <a:t>Manual or through DAO</a:t>
                      </a:r>
                      <a:endParaRPr lang="en-US" sz="1100" dirty="0">
                        <a:latin typeface="Calibri" charset="0"/>
                        <a:ea typeface="Calibri" charset="0"/>
                        <a:cs typeface="Calibri" charset="0"/>
                      </a:endParaRPr>
                    </a:p>
                  </a:txBody>
                  <a:tcPr marL="91440" marR="91440" marT="45720" marB="45720" anchor="ctr">
                    <a:lnL w="6350" cap="flat" cmpd="sng" algn="ctr">
                      <a:solidFill>
                        <a:srgbClr val="263238"/>
                      </a:solidFill>
                      <a:prstDash val="solid"/>
                      <a:round/>
                      <a:headEnd type="none" w="med" len="med"/>
                      <a:tailEnd type="none" w="med" len="med"/>
                    </a:lnL>
                    <a:lnR w="6350" cap="flat" cmpd="sng" algn="ctr">
                      <a:solidFill>
                        <a:srgbClr val="263238"/>
                      </a:solidFill>
                      <a:prstDash val="solid"/>
                      <a:round/>
                      <a:headEnd type="none" w="med" len="med"/>
                      <a:tailEnd type="none" w="med" len="med"/>
                    </a:lnR>
                    <a:lnT w="6350" cap="flat" cmpd="sng" algn="ctr">
                      <a:solidFill>
                        <a:srgbClr val="263238"/>
                      </a:solidFill>
                      <a:prstDash val="solid"/>
                      <a:round/>
                      <a:headEnd type="none" w="med" len="med"/>
                      <a:tailEnd type="none" w="med" len="med"/>
                    </a:lnT>
                    <a:lnB w="6350" cap="flat" cmpd="sng" algn="ctr">
                      <a:solidFill>
                        <a:srgbClr val="263238"/>
                      </a:solidFill>
                      <a:prstDash val="solid"/>
                      <a:round/>
                      <a:headEnd type="none" w="med" len="med"/>
                      <a:tailEnd type="none" w="med" len="med"/>
                    </a:lnB>
                    <a:solidFill>
                      <a:srgbClr val="0F1E2E"/>
                    </a:solidFill>
                  </a:tcPr>
                </a:tc>
                <a:tc>
                  <a:txBody>
                    <a:bodyPr/>
                    <a:lstStyle/>
                    <a:p>
                      <a:pPr algn="ctr" indent="0" marL="0">
                        <a:buNone/>
                      </a:pPr>
                      <a:r>
                        <a:rPr lang="en-US" sz="1100" dirty="0">
                          <a:solidFill>
                            <a:srgbClr val="CFD8DC"/>
                          </a:solidFill>
                          <a:latin typeface="Calibri" pitchFamily="34" charset="0"/>
                          <a:ea typeface="Calibri" pitchFamily="34" charset="-122"/>
                          <a:cs typeface="Calibri" pitchFamily="34" charset="-120"/>
                        </a:rPr>
                        <a:t>@Transactional or Session</a:t>
                      </a:r>
                      <a:endParaRPr lang="en-US" sz="1100" dirty="0">
                        <a:latin typeface="Calibri" charset="0"/>
                        <a:ea typeface="Calibri" charset="0"/>
                        <a:cs typeface="Calibri" charset="0"/>
                      </a:endParaRPr>
                    </a:p>
                  </a:txBody>
                  <a:tcPr marL="91440" marR="91440" marT="45720" marB="45720" anchor="ctr">
                    <a:lnL w="6350" cap="flat" cmpd="sng" algn="ctr">
                      <a:solidFill>
                        <a:srgbClr val="263238"/>
                      </a:solidFill>
                      <a:prstDash val="solid"/>
                      <a:round/>
                      <a:headEnd type="none" w="med" len="med"/>
                      <a:tailEnd type="none" w="med" len="med"/>
                    </a:lnL>
                    <a:lnR w="6350" cap="flat" cmpd="sng" algn="ctr">
                      <a:solidFill>
                        <a:srgbClr val="263238"/>
                      </a:solidFill>
                      <a:prstDash val="solid"/>
                      <a:round/>
                      <a:headEnd type="none" w="med" len="med"/>
                      <a:tailEnd type="none" w="med" len="med"/>
                    </a:lnR>
                    <a:lnT w="6350" cap="flat" cmpd="sng" algn="ctr">
                      <a:solidFill>
                        <a:srgbClr val="263238"/>
                      </a:solidFill>
                      <a:prstDash val="solid"/>
                      <a:round/>
                      <a:headEnd type="none" w="med" len="med"/>
                      <a:tailEnd type="none" w="med" len="med"/>
                    </a:lnT>
                    <a:lnB w="6350" cap="flat" cmpd="sng" algn="ctr">
                      <a:solidFill>
                        <a:srgbClr val="263238"/>
                      </a:solidFill>
                      <a:prstDash val="solid"/>
                      <a:round/>
                      <a:headEnd type="none" w="med" len="med"/>
                      <a:tailEnd type="none" w="med" len="med"/>
                    </a:lnB>
                    <a:solidFill>
                      <a:srgbClr val="0F1E2E"/>
                    </a:solidFill>
                  </a:tcPr>
                </a:tc>
              </a:tr>
              <a:tr h="521208">
                <a:tc>
                  <a:txBody>
                    <a:bodyPr/>
                    <a:lstStyle/>
                    <a:p>
                      <a:pPr algn="l" indent="0" marL="0">
                        <a:buNone/>
                      </a:pPr>
                      <a:r>
                        <a:rPr lang="en-US" sz="1100" b="1" dirty="0">
                          <a:solidFill>
                            <a:srgbClr val="90CAF9"/>
                          </a:solidFill>
                          <a:latin typeface="Calibri" pitchFamily="34" charset="0"/>
                          <a:ea typeface="Calibri" pitchFamily="34" charset="-122"/>
                          <a:cs typeface="Calibri" pitchFamily="34" charset="-120"/>
                        </a:rPr>
                        <a:t>Query flexibility</a:t>
                      </a:r>
                      <a:endParaRPr lang="en-US" sz="1100" dirty="0">
                        <a:latin typeface="Calibri" charset="0"/>
                        <a:ea typeface="Calibri" charset="0"/>
                        <a:cs typeface="Calibri" charset="0"/>
                      </a:endParaRPr>
                    </a:p>
                  </a:txBody>
                  <a:tcPr marL="91440" marR="91440" marT="45720" marB="45720" anchor="ctr">
                    <a:lnL w="6350" cap="flat" cmpd="sng" algn="ctr">
                      <a:solidFill>
                        <a:srgbClr val="263238"/>
                      </a:solidFill>
                      <a:prstDash val="solid"/>
                      <a:round/>
                      <a:headEnd type="none" w="med" len="med"/>
                      <a:tailEnd type="none" w="med" len="med"/>
                    </a:lnL>
                    <a:lnR w="6350" cap="flat" cmpd="sng" algn="ctr">
                      <a:solidFill>
                        <a:srgbClr val="263238"/>
                      </a:solidFill>
                      <a:prstDash val="solid"/>
                      <a:round/>
                      <a:headEnd type="none" w="med" len="med"/>
                      <a:tailEnd type="none" w="med" len="med"/>
                    </a:lnR>
                    <a:lnT w="6350" cap="flat" cmpd="sng" algn="ctr">
                      <a:solidFill>
                        <a:srgbClr val="263238"/>
                      </a:solidFill>
                      <a:prstDash val="solid"/>
                      <a:round/>
                      <a:headEnd type="none" w="med" len="med"/>
                      <a:tailEnd type="none" w="med" len="med"/>
                    </a:lnT>
                    <a:lnB w="6350" cap="flat" cmpd="sng" algn="ctr">
                      <a:solidFill>
                        <a:srgbClr val="263238"/>
                      </a:solidFill>
                      <a:prstDash val="solid"/>
                      <a:round/>
                      <a:headEnd type="none" w="med" len="med"/>
                      <a:tailEnd type="none" w="med" len="med"/>
                    </a:lnB>
                    <a:solidFill>
                      <a:srgbClr val="132235"/>
                    </a:solidFill>
                  </a:tcPr>
                </a:tc>
                <a:tc>
                  <a:txBody>
                    <a:bodyPr/>
                    <a:lstStyle/>
                    <a:p>
                      <a:pPr algn="ctr" indent="0" marL="0">
                        <a:buNone/>
                      </a:pPr>
                      <a:r>
                        <a:rPr lang="en-US" sz="1100" dirty="0">
                          <a:solidFill>
                            <a:srgbClr val="CFD8DC"/>
                          </a:solidFill>
                          <a:latin typeface="Calibri" pitchFamily="34" charset="0"/>
                          <a:ea typeface="Calibri" pitchFamily="34" charset="-122"/>
                          <a:cs typeface="Calibri" pitchFamily="34" charset="-120"/>
                        </a:rPr>
                        <a:t>Maximum</a:t>
                      </a:r>
                      <a:endParaRPr lang="en-US" sz="1100" dirty="0">
                        <a:latin typeface="Calibri" charset="0"/>
                        <a:ea typeface="Calibri" charset="0"/>
                        <a:cs typeface="Calibri" charset="0"/>
                      </a:endParaRPr>
                    </a:p>
                  </a:txBody>
                  <a:tcPr marL="91440" marR="91440" marT="45720" marB="45720" anchor="ctr">
                    <a:lnL w="6350" cap="flat" cmpd="sng" algn="ctr">
                      <a:solidFill>
                        <a:srgbClr val="263238"/>
                      </a:solidFill>
                      <a:prstDash val="solid"/>
                      <a:round/>
                      <a:headEnd type="none" w="med" len="med"/>
                      <a:tailEnd type="none" w="med" len="med"/>
                    </a:lnL>
                    <a:lnR w="6350" cap="flat" cmpd="sng" algn="ctr">
                      <a:solidFill>
                        <a:srgbClr val="263238"/>
                      </a:solidFill>
                      <a:prstDash val="solid"/>
                      <a:round/>
                      <a:headEnd type="none" w="med" len="med"/>
                      <a:tailEnd type="none" w="med" len="med"/>
                    </a:lnR>
                    <a:lnT w="6350" cap="flat" cmpd="sng" algn="ctr">
                      <a:solidFill>
                        <a:srgbClr val="263238"/>
                      </a:solidFill>
                      <a:prstDash val="solid"/>
                      <a:round/>
                      <a:headEnd type="none" w="med" len="med"/>
                      <a:tailEnd type="none" w="med" len="med"/>
                    </a:lnT>
                    <a:lnB w="6350" cap="flat" cmpd="sng" algn="ctr">
                      <a:solidFill>
                        <a:srgbClr val="263238"/>
                      </a:solidFill>
                      <a:prstDash val="solid"/>
                      <a:round/>
                      <a:headEnd type="none" w="med" len="med"/>
                      <a:tailEnd type="none" w="med" len="med"/>
                    </a:lnB>
                    <a:solidFill>
                      <a:srgbClr val="132235"/>
                    </a:solidFill>
                  </a:tcPr>
                </a:tc>
                <a:tc>
                  <a:txBody>
                    <a:bodyPr/>
                    <a:lstStyle/>
                    <a:p>
                      <a:pPr algn="ctr" indent="0" marL="0">
                        <a:buNone/>
                      </a:pPr>
                      <a:r>
                        <a:rPr lang="en-US" sz="1100" dirty="0">
                          <a:solidFill>
                            <a:srgbClr val="CFD8DC"/>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91440" marR="91440" marT="45720" marB="45720" anchor="ctr">
                    <a:lnL w="6350" cap="flat" cmpd="sng" algn="ctr">
                      <a:solidFill>
                        <a:srgbClr val="263238"/>
                      </a:solidFill>
                      <a:prstDash val="solid"/>
                      <a:round/>
                      <a:headEnd type="none" w="med" len="med"/>
                      <a:tailEnd type="none" w="med" len="med"/>
                    </a:lnL>
                    <a:lnR w="6350" cap="flat" cmpd="sng" algn="ctr">
                      <a:solidFill>
                        <a:srgbClr val="263238"/>
                      </a:solidFill>
                      <a:prstDash val="solid"/>
                      <a:round/>
                      <a:headEnd type="none" w="med" len="med"/>
                      <a:tailEnd type="none" w="med" len="med"/>
                    </a:lnR>
                    <a:lnT w="6350" cap="flat" cmpd="sng" algn="ctr">
                      <a:solidFill>
                        <a:srgbClr val="263238"/>
                      </a:solidFill>
                      <a:prstDash val="solid"/>
                      <a:round/>
                      <a:headEnd type="none" w="med" len="med"/>
                      <a:tailEnd type="none" w="med" len="med"/>
                    </a:lnT>
                    <a:lnB w="6350" cap="flat" cmpd="sng" algn="ctr">
                      <a:solidFill>
                        <a:srgbClr val="263238"/>
                      </a:solidFill>
                      <a:prstDash val="solid"/>
                      <a:round/>
                      <a:headEnd type="none" w="med" len="med"/>
                      <a:tailEnd type="none" w="med" len="med"/>
                    </a:lnB>
                    <a:solidFill>
                      <a:srgbClr val="132235"/>
                    </a:solidFill>
                  </a:tcPr>
                </a:tc>
                <a:tc>
                  <a:txBody>
                    <a:bodyPr/>
                    <a:lstStyle/>
                    <a:p>
                      <a:pPr algn="ctr" indent="0" marL="0">
                        <a:buNone/>
                      </a:pPr>
                      <a:r>
                        <a:rPr lang="en-US" sz="1100" dirty="0">
                          <a:solidFill>
                            <a:srgbClr val="CFD8DC"/>
                          </a:solidFill>
                          <a:latin typeface="Calibri" pitchFamily="34" charset="0"/>
                          <a:ea typeface="Calibri" pitchFamily="34" charset="-122"/>
                          <a:cs typeface="Calibri" pitchFamily="34" charset="-120"/>
                        </a:rPr>
                        <a:t>HQL / Criteria API</a:t>
                      </a:r>
                      <a:endParaRPr lang="en-US" sz="1100" dirty="0">
                        <a:latin typeface="Calibri" charset="0"/>
                        <a:ea typeface="Calibri" charset="0"/>
                        <a:cs typeface="Calibri" charset="0"/>
                      </a:endParaRPr>
                    </a:p>
                  </a:txBody>
                  <a:tcPr marL="91440" marR="91440" marT="45720" marB="45720" anchor="ctr">
                    <a:lnL w="6350" cap="flat" cmpd="sng" algn="ctr">
                      <a:solidFill>
                        <a:srgbClr val="263238"/>
                      </a:solidFill>
                      <a:prstDash val="solid"/>
                      <a:round/>
                      <a:headEnd type="none" w="med" len="med"/>
                      <a:tailEnd type="none" w="med" len="med"/>
                    </a:lnL>
                    <a:lnR w="6350" cap="flat" cmpd="sng" algn="ctr">
                      <a:solidFill>
                        <a:srgbClr val="263238"/>
                      </a:solidFill>
                      <a:prstDash val="solid"/>
                      <a:round/>
                      <a:headEnd type="none" w="med" len="med"/>
                      <a:tailEnd type="none" w="med" len="med"/>
                    </a:lnR>
                    <a:lnT w="6350" cap="flat" cmpd="sng" algn="ctr">
                      <a:solidFill>
                        <a:srgbClr val="263238"/>
                      </a:solidFill>
                      <a:prstDash val="solid"/>
                      <a:round/>
                      <a:headEnd type="none" w="med" len="med"/>
                      <a:tailEnd type="none" w="med" len="med"/>
                    </a:lnT>
                    <a:lnB w="6350" cap="flat" cmpd="sng" algn="ctr">
                      <a:solidFill>
                        <a:srgbClr val="263238"/>
                      </a:solidFill>
                      <a:prstDash val="solid"/>
                      <a:round/>
                      <a:headEnd type="none" w="med" len="med"/>
                      <a:tailEnd type="none" w="med" len="med"/>
                    </a:lnB>
                    <a:solidFill>
                      <a:srgbClr val="132235"/>
                    </a:solidFill>
                  </a:tcPr>
                </a:tc>
              </a:tr>
              <a:tr h="521208">
                <a:tc>
                  <a:txBody>
                    <a:bodyPr/>
                    <a:lstStyle/>
                    <a:p>
                      <a:pPr algn="l" indent="0" marL="0">
                        <a:buNone/>
                      </a:pPr>
                      <a:r>
                        <a:rPr lang="en-US" sz="1100" b="1" dirty="0">
                          <a:solidFill>
                            <a:srgbClr val="90CAF9"/>
                          </a:solidFill>
                          <a:latin typeface="Calibri" pitchFamily="34" charset="0"/>
                          <a:ea typeface="Calibri" pitchFamily="34" charset="-122"/>
                          <a:cs typeface="Calibri" pitchFamily="34" charset="-120"/>
                        </a:rPr>
                        <a:t>When to use</a:t>
                      </a:r>
                      <a:endParaRPr lang="en-US" sz="1100" dirty="0">
                        <a:latin typeface="Calibri" charset="0"/>
                        <a:ea typeface="Calibri" charset="0"/>
                        <a:cs typeface="Calibri" charset="0"/>
                      </a:endParaRPr>
                    </a:p>
                  </a:txBody>
                  <a:tcPr marL="91440" marR="91440" marT="45720" marB="45720" anchor="ctr">
                    <a:lnL w="6350" cap="flat" cmpd="sng" algn="ctr">
                      <a:solidFill>
                        <a:srgbClr val="263238"/>
                      </a:solidFill>
                      <a:prstDash val="solid"/>
                      <a:round/>
                      <a:headEnd type="none" w="med" len="med"/>
                      <a:tailEnd type="none" w="med" len="med"/>
                    </a:lnL>
                    <a:lnR w="6350" cap="flat" cmpd="sng" algn="ctr">
                      <a:solidFill>
                        <a:srgbClr val="263238"/>
                      </a:solidFill>
                      <a:prstDash val="solid"/>
                      <a:round/>
                      <a:headEnd type="none" w="med" len="med"/>
                      <a:tailEnd type="none" w="med" len="med"/>
                    </a:lnR>
                    <a:lnT w="6350" cap="flat" cmpd="sng" algn="ctr">
                      <a:solidFill>
                        <a:srgbClr val="263238"/>
                      </a:solidFill>
                      <a:prstDash val="solid"/>
                      <a:round/>
                      <a:headEnd type="none" w="med" len="med"/>
                      <a:tailEnd type="none" w="med" len="med"/>
                    </a:lnT>
                    <a:lnB w="6350" cap="flat" cmpd="sng" algn="ctr">
                      <a:solidFill>
                        <a:srgbClr val="263238"/>
                      </a:solidFill>
                      <a:prstDash val="solid"/>
                      <a:round/>
                      <a:headEnd type="none" w="med" len="med"/>
                      <a:tailEnd type="none" w="med" len="med"/>
                    </a:lnB>
                    <a:solidFill>
                      <a:srgbClr val="0F1E2E"/>
                    </a:solidFill>
                  </a:tcPr>
                </a:tc>
                <a:tc>
                  <a:txBody>
                    <a:bodyPr/>
                    <a:lstStyle/>
                    <a:p>
                      <a:pPr algn="ctr" indent="0" marL="0">
                        <a:buNone/>
                      </a:pPr>
                      <a:r>
                        <a:rPr lang="en-US" sz="1100" dirty="0">
                          <a:solidFill>
                            <a:srgbClr val="CFD8DC"/>
                          </a:solidFill>
                          <a:latin typeface="Calibri" pitchFamily="34" charset="0"/>
                          <a:ea typeface="Calibri" pitchFamily="34" charset="-122"/>
                          <a:cs typeface="Calibri" pitchFamily="34" charset="-120"/>
                        </a:rPr>
                        <a:t>Simple scripts, learning</a:t>
                      </a:r>
                      <a:endParaRPr lang="en-US" sz="1100" dirty="0">
                        <a:latin typeface="Calibri" charset="0"/>
                        <a:ea typeface="Calibri" charset="0"/>
                        <a:cs typeface="Calibri" charset="0"/>
                      </a:endParaRPr>
                    </a:p>
                  </a:txBody>
                  <a:tcPr marL="91440" marR="91440" marT="45720" marB="45720" anchor="ctr">
                    <a:lnL w="6350" cap="flat" cmpd="sng" algn="ctr">
                      <a:solidFill>
                        <a:srgbClr val="263238"/>
                      </a:solidFill>
                      <a:prstDash val="solid"/>
                      <a:round/>
                      <a:headEnd type="none" w="med" len="med"/>
                      <a:tailEnd type="none" w="med" len="med"/>
                    </a:lnL>
                    <a:lnR w="6350" cap="flat" cmpd="sng" algn="ctr">
                      <a:solidFill>
                        <a:srgbClr val="263238"/>
                      </a:solidFill>
                      <a:prstDash val="solid"/>
                      <a:round/>
                      <a:headEnd type="none" w="med" len="med"/>
                      <a:tailEnd type="none" w="med" len="med"/>
                    </a:lnR>
                    <a:lnT w="6350" cap="flat" cmpd="sng" algn="ctr">
                      <a:solidFill>
                        <a:srgbClr val="263238"/>
                      </a:solidFill>
                      <a:prstDash val="solid"/>
                      <a:round/>
                      <a:headEnd type="none" w="med" len="med"/>
                      <a:tailEnd type="none" w="med" len="med"/>
                    </a:lnT>
                    <a:lnB w="6350" cap="flat" cmpd="sng" algn="ctr">
                      <a:solidFill>
                        <a:srgbClr val="263238"/>
                      </a:solidFill>
                      <a:prstDash val="solid"/>
                      <a:round/>
                      <a:headEnd type="none" w="med" len="med"/>
                      <a:tailEnd type="none" w="med" len="med"/>
                    </a:lnB>
                    <a:solidFill>
                      <a:srgbClr val="0F1E2E"/>
                    </a:solidFill>
                  </a:tcPr>
                </a:tc>
                <a:tc>
                  <a:txBody>
                    <a:bodyPr/>
                    <a:lstStyle/>
                    <a:p>
                      <a:pPr algn="ctr" indent="0" marL="0">
                        <a:buNone/>
                      </a:pPr>
                      <a:r>
                        <a:rPr lang="en-US" sz="1100" dirty="0">
                          <a:solidFill>
                            <a:srgbClr val="CFD8DC"/>
                          </a:solidFill>
                          <a:latin typeface="Calibri" pitchFamily="34" charset="0"/>
                          <a:ea typeface="Calibri" pitchFamily="34" charset="-122"/>
                          <a:cs typeface="Calibri" pitchFamily="34" charset="-120"/>
                        </a:rPr>
                        <a:t>Production DAO layer</a:t>
                      </a:r>
                      <a:endParaRPr lang="en-US" sz="1100" dirty="0">
                        <a:latin typeface="Calibri" charset="0"/>
                        <a:ea typeface="Calibri" charset="0"/>
                        <a:cs typeface="Calibri" charset="0"/>
                      </a:endParaRPr>
                    </a:p>
                  </a:txBody>
                  <a:tcPr marL="91440" marR="91440" marT="45720" marB="45720" anchor="ctr">
                    <a:lnL w="6350" cap="flat" cmpd="sng" algn="ctr">
                      <a:solidFill>
                        <a:srgbClr val="263238"/>
                      </a:solidFill>
                      <a:prstDash val="solid"/>
                      <a:round/>
                      <a:headEnd type="none" w="med" len="med"/>
                      <a:tailEnd type="none" w="med" len="med"/>
                    </a:lnL>
                    <a:lnR w="6350" cap="flat" cmpd="sng" algn="ctr">
                      <a:solidFill>
                        <a:srgbClr val="263238"/>
                      </a:solidFill>
                      <a:prstDash val="solid"/>
                      <a:round/>
                      <a:headEnd type="none" w="med" len="med"/>
                      <a:tailEnd type="none" w="med" len="med"/>
                    </a:lnR>
                    <a:lnT w="6350" cap="flat" cmpd="sng" algn="ctr">
                      <a:solidFill>
                        <a:srgbClr val="263238"/>
                      </a:solidFill>
                      <a:prstDash val="solid"/>
                      <a:round/>
                      <a:headEnd type="none" w="med" len="med"/>
                      <a:tailEnd type="none" w="med" len="med"/>
                    </a:lnT>
                    <a:lnB w="6350" cap="flat" cmpd="sng" algn="ctr">
                      <a:solidFill>
                        <a:srgbClr val="263238"/>
                      </a:solidFill>
                      <a:prstDash val="solid"/>
                      <a:round/>
                      <a:headEnd type="none" w="med" len="med"/>
                      <a:tailEnd type="none" w="med" len="med"/>
                    </a:lnB>
                    <a:solidFill>
                      <a:srgbClr val="0F1E2E"/>
                    </a:solidFill>
                  </a:tcPr>
                </a:tc>
                <a:tc>
                  <a:txBody>
                    <a:bodyPr/>
                    <a:lstStyle/>
                    <a:p>
                      <a:pPr algn="ctr" indent="0" marL="0">
                        <a:buNone/>
                      </a:pPr>
                      <a:r>
                        <a:rPr lang="en-US" sz="1100" dirty="0">
                          <a:solidFill>
                            <a:srgbClr val="CFD8DC"/>
                          </a:solidFill>
                          <a:latin typeface="Calibri" pitchFamily="34" charset="0"/>
                          <a:ea typeface="Calibri" pitchFamily="34" charset="-122"/>
                          <a:cs typeface="Calibri" pitchFamily="34" charset="-120"/>
                        </a:rPr>
                        <a:t>Fast development, ORM</a:t>
                      </a:r>
                      <a:endParaRPr lang="en-US" sz="1100" dirty="0">
                        <a:latin typeface="Calibri" charset="0"/>
                        <a:ea typeface="Calibri" charset="0"/>
                        <a:cs typeface="Calibri" charset="0"/>
                      </a:endParaRPr>
                    </a:p>
                  </a:txBody>
                  <a:tcPr marL="91440" marR="91440" marT="45720" marB="45720" anchor="ctr">
                    <a:lnL w="6350" cap="flat" cmpd="sng" algn="ctr">
                      <a:solidFill>
                        <a:srgbClr val="263238"/>
                      </a:solidFill>
                      <a:prstDash val="solid"/>
                      <a:round/>
                      <a:headEnd type="none" w="med" len="med"/>
                      <a:tailEnd type="none" w="med" len="med"/>
                    </a:lnL>
                    <a:lnR w="6350" cap="flat" cmpd="sng" algn="ctr">
                      <a:solidFill>
                        <a:srgbClr val="263238"/>
                      </a:solidFill>
                      <a:prstDash val="solid"/>
                      <a:round/>
                      <a:headEnd type="none" w="med" len="med"/>
                      <a:tailEnd type="none" w="med" len="med"/>
                    </a:lnR>
                    <a:lnT w="6350" cap="flat" cmpd="sng" algn="ctr">
                      <a:solidFill>
                        <a:srgbClr val="263238"/>
                      </a:solidFill>
                      <a:prstDash val="solid"/>
                      <a:round/>
                      <a:headEnd type="none" w="med" len="med"/>
                      <a:tailEnd type="none" w="med" len="med"/>
                    </a:lnT>
                    <a:lnB w="6350" cap="flat" cmpd="sng" algn="ctr">
                      <a:solidFill>
                        <a:srgbClr val="263238"/>
                      </a:solidFill>
                      <a:prstDash val="solid"/>
                      <a:round/>
                      <a:headEnd type="none" w="med" len="med"/>
                      <a:tailEnd type="none" w="med" len="med"/>
                    </a:lnB>
                    <a:solidFill>
                      <a:srgbClr val="0F1E2E"/>
                    </a:solidFill>
                  </a:tcPr>
                </a:tc>
              </a:tr>
            </a:tbl>
          </a:graphicData>
        </a:graphic>
      </p:graphicFrame>
      <p:sp>
        <p:nvSpPr>
          <p:cNvPr id="5" name="Text 2"/>
          <p:cNvSpPr/>
          <p:nvPr/>
        </p:nvSpPr>
        <p:spPr>
          <a:xfrm>
            <a:off x="320040" y="4800600"/>
            <a:ext cx="8503920" cy="274320"/>
          </a:xfrm>
          <a:prstGeom prst="rect">
            <a:avLst/>
          </a:prstGeom>
          <a:noFill/>
          <a:ln/>
        </p:spPr>
        <p:txBody>
          <a:bodyPr wrap="square" rtlCol="0" anchor="ctr"/>
          <a:lstStyle/>
          <a:p>
            <a:pPr algn="ctr" indent="0" marL="0">
              <a:buNone/>
            </a:pPr>
            <a:r>
              <a:rPr lang="en-US" sz="1200" i="1" dirty="0">
                <a:solidFill>
                  <a:srgbClr val="A5D6A7"/>
                </a:solidFill>
                <a:latin typeface="Calibri" pitchFamily="34" charset="0"/>
                <a:ea typeface="Calibri" pitchFamily="34" charset="-122"/>
                <a:cs typeface="Calibri" pitchFamily="34" charset="-120"/>
              </a:rPr>
              <a:t>Practice 6 covers ALL three levels — this is the path of a professional Java developer.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E2E"/>
        </a:solidFill>
      </p:bgPr>
    </p:bg>
    <p:spTree>
      <p:nvGrpSpPr>
        <p:cNvPr id="1" name=""/>
        <p:cNvGrpSpPr/>
        <p:nvPr/>
      </p:nvGrpSpPr>
      <p:grpSpPr>
        <a:xfrm>
          <a:off x="0" y="0"/>
          <a:ext cx="0" cy="0"/>
          <a:chOff x="0" y="0"/>
          <a:chExt cx="0" cy="0"/>
        </a:xfrm>
      </p:grpSpPr>
      <p:sp>
        <p:nvSpPr>
          <p:cNvPr id="2" name="Shape 0"/>
          <p:cNvSpPr/>
          <p:nvPr/>
        </p:nvSpPr>
        <p:spPr>
          <a:xfrm>
            <a:off x="0" y="0"/>
            <a:ext cx="4389120" cy="5143500"/>
          </a:xfrm>
          <a:prstGeom prst="rect">
            <a:avLst/>
          </a:prstGeom>
          <a:solidFill>
            <a:srgbClr val="0A2240"/>
          </a:solidFill>
          <a:ln w="12700">
            <a:solidFill>
              <a:srgbClr val="0A2240"/>
            </a:solidFill>
            <a:prstDash val="solid"/>
          </a:ln>
        </p:spPr>
      </p:sp>
      <p:sp>
        <p:nvSpPr>
          <p:cNvPr id="3" name="Text 1"/>
          <p:cNvSpPr/>
          <p:nvPr/>
        </p:nvSpPr>
        <p:spPr>
          <a:xfrm>
            <a:off x="274320" y="274320"/>
            <a:ext cx="3840480" cy="59436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Final test</a:t>
            </a:r>
            <a:endParaRPr lang="en-US" sz="2600" dirty="0"/>
          </a:p>
        </p:txBody>
      </p:sp>
      <p:sp>
        <p:nvSpPr>
          <p:cNvPr id="4" name="Shape 2"/>
          <p:cNvSpPr/>
          <p:nvPr/>
        </p:nvSpPr>
        <p:spPr>
          <a:xfrm>
            <a:off x="320040" y="1005840"/>
            <a:ext cx="566928" cy="566928"/>
          </a:xfrm>
          <a:prstGeom prst="ellipse">
            <a:avLst/>
          </a:prstGeom>
          <a:solidFill>
            <a:srgbClr val="1565C0"/>
          </a:solidFill>
          <a:ln w="12700">
            <a:solidFill>
              <a:srgbClr val="1565C0"/>
            </a:solidFill>
            <a:prstDash val="solid"/>
          </a:ln>
        </p:spPr>
      </p:sp>
      <p:pic>
        <p:nvPicPr>
          <p:cNvPr id="5" name="Image 0" descr="preencoded.png">    </p:cNvPr>
          <p:cNvPicPr>
            <a:picLocks noChangeAspect="1"/>
          </p:cNvPicPr>
          <p:nvPr/>
        </p:nvPicPr>
        <p:blipFill>
          <a:blip r:embed="rId1"/>
          <a:stretch>
            <a:fillRect/>
          </a:stretch>
        </p:blipFill>
        <p:spPr>
          <a:xfrm>
            <a:off x="384048" y="1069848"/>
            <a:ext cx="438912" cy="438912"/>
          </a:xfrm>
          <a:prstGeom prst="rect">
            <a:avLst/>
          </a:prstGeom>
        </p:spPr>
      </p:pic>
      <p:sp>
        <p:nvSpPr>
          <p:cNvPr id="6" name="Text 3"/>
          <p:cNvSpPr/>
          <p:nvPr/>
        </p:nvSpPr>
        <p:spPr>
          <a:xfrm>
            <a:off x="1005840" y="1060704"/>
            <a:ext cx="3291840" cy="457200"/>
          </a:xfrm>
          <a:prstGeom prst="rect">
            <a:avLst/>
          </a:prstGeom>
          <a:noFill/>
          <a:ln/>
        </p:spPr>
        <p:txBody>
          <a:bodyPr wrap="square" rtlCol="0" anchor="ctr"/>
          <a:lstStyle/>
          <a:p>
            <a:pPr indent="0" marL="0">
              <a:buNone/>
            </a:pPr>
            <a:r>
              <a:rPr lang="en-US" sz="1400" dirty="0">
                <a:solidFill>
                  <a:srgbClr val="CFD8DC"/>
                </a:solidFill>
                <a:latin typeface="Calibri" pitchFamily="34" charset="0"/>
                <a:ea typeface="Calibri" pitchFamily="34" charset="-122"/>
                <a:cs typeface="Calibri" pitchFamily="34" charset="-120"/>
              </a:rPr>
              <a:t>60 questions — lectures 1–6 topics</a:t>
            </a:r>
            <a:endParaRPr lang="en-US" sz="1400" dirty="0"/>
          </a:p>
        </p:txBody>
      </p:sp>
      <p:sp>
        <p:nvSpPr>
          <p:cNvPr id="7" name="Shape 4"/>
          <p:cNvSpPr/>
          <p:nvPr/>
        </p:nvSpPr>
        <p:spPr>
          <a:xfrm>
            <a:off x="320040" y="1874520"/>
            <a:ext cx="566928" cy="566928"/>
          </a:xfrm>
          <a:prstGeom prst="ellipse">
            <a:avLst/>
          </a:prstGeom>
          <a:solidFill>
            <a:srgbClr val="1565C0"/>
          </a:solidFill>
          <a:ln w="12700">
            <a:solidFill>
              <a:srgbClr val="1565C0"/>
            </a:solidFill>
            <a:prstDash val="solid"/>
          </a:ln>
        </p:spPr>
      </p:sp>
      <p:pic>
        <p:nvPicPr>
          <p:cNvPr id="8" name="Image 1" descr="preencoded.png">    </p:cNvPr>
          <p:cNvPicPr>
            <a:picLocks noChangeAspect="1"/>
          </p:cNvPicPr>
          <p:nvPr/>
        </p:nvPicPr>
        <p:blipFill>
          <a:blip r:embed="rId2"/>
          <a:stretch>
            <a:fillRect/>
          </a:stretch>
        </p:blipFill>
        <p:spPr>
          <a:xfrm>
            <a:off x="384048" y="1938528"/>
            <a:ext cx="438912" cy="438912"/>
          </a:xfrm>
          <a:prstGeom prst="rect">
            <a:avLst/>
          </a:prstGeom>
        </p:spPr>
      </p:pic>
      <p:sp>
        <p:nvSpPr>
          <p:cNvPr id="9" name="Text 5"/>
          <p:cNvSpPr/>
          <p:nvPr/>
        </p:nvSpPr>
        <p:spPr>
          <a:xfrm>
            <a:off x="1005840" y="1929384"/>
            <a:ext cx="3291840" cy="457200"/>
          </a:xfrm>
          <a:prstGeom prst="rect">
            <a:avLst/>
          </a:prstGeom>
          <a:noFill/>
          <a:ln/>
        </p:spPr>
        <p:txBody>
          <a:bodyPr wrap="square" rtlCol="0" anchor="ctr"/>
          <a:lstStyle/>
          <a:p>
            <a:pPr indent="0" marL="0">
              <a:buNone/>
            </a:pPr>
            <a:r>
              <a:rPr lang="en-US" sz="1400" dirty="0">
                <a:solidFill>
                  <a:srgbClr val="CFD8DC"/>
                </a:solidFill>
                <a:latin typeface="Calibri" pitchFamily="34" charset="0"/>
                <a:ea typeface="Calibri" pitchFamily="34" charset="-122"/>
                <a:cs typeface="Calibri" pitchFamily="34" charset="-120"/>
              </a:rPr>
              <a:t>40 minutes — watch the time</a:t>
            </a:r>
            <a:endParaRPr lang="en-US" sz="1400" dirty="0"/>
          </a:p>
        </p:txBody>
      </p:sp>
      <p:sp>
        <p:nvSpPr>
          <p:cNvPr id="10" name="Shape 6"/>
          <p:cNvSpPr/>
          <p:nvPr/>
        </p:nvSpPr>
        <p:spPr>
          <a:xfrm>
            <a:off x="320040" y="2743200"/>
            <a:ext cx="566928" cy="566928"/>
          </a:xfrm>
          <a:prstGeom prst="ellipse">
            <a:avLst/>
          </a:prstGeom>
          <a:solidFill>
            <a:srgbClr val="1565C0"/>
          </a:solidFill>
          <a:ln w="12700">
            <a:solidFill>
              <a:srgbClr val="1565C0"/>
            </a:solidFill>
            <a:prstDash val="solid"/>
          </a:ln>
        </p:spPr>
      </p:sp>
      <p:pic>
        <p:nvPicPr>
          <p:cNvPr id="11" name="Image 2" descr="preencoded.png">    </p:cNvPr>
          <p:cNvPicPr>
            <a:picLocks noChangeAspect="1"/>
          </p:cNvPicPr>
          <p:nvPr/>
        </p:nvPicPr>
        <p:blipFill>
          <a:blip r:embed="rId3"/>
          <a:stretch>
            <a:fillRect/>
          </a:stretch>
        </p:blipFill>
        <p:spPr>
          <a:xfrm>
            <a:off x="384048" y="2807208"/>
            <a:ext cx="438912" cy="438912"/>
          </a:xfrm>
          <a:prstGeom prst="rect">
            <a:avLst/>
          </a:prstGeom>
        </p:spPr>
      </p:pic>
      <p:sp>
        <p:nvSpPr>
          <p:cNvPr id="12" name="Text 7"/>
          <p:cNvSpPr/>
          <p:nvPr/>
        </p:nvSpPr>
        <p:spPr>
          <a:xfrm>
            <a:off x="1005840" y="2798064"/>
            <a:ext cx="3291840" cy="457200"/>
          </a:xfrm>
          <a:prstGeom prst="rect">
            <a:avLst/>
          </a:prstGeom>
          <a:noFill/>
          <a:ln/>
        </p:spPr>
        <p:txBody>
          <a:bodyPr wrap="square" rtlCol="0" anchor="ctr"/>
          <a:lstStyle/>
          <a:p>
            <a:pPr indent="0" marL="0">
              <a:buNone/>
            </a:pPr>
            <a:r>
              <a:rPr lang="en-US" sz="1400" dirty="0">
                <a:solidFill>
                  <a:srgbClr val="CFD8DC"/>
                </a:solidFill>
                <a:latin typeface="Calibri" pitchFamily="34" charset="0"/>
                <a:ea typeface="Calibri" pitchFamily="34" charset="-122"/>
                <a:cs typeface="Calibri" pitchFamily="34" charset="-120"/>
              </a:rPr>
              <a:t>The teacher will provide the password</a:t>
            </a:r>
            <a:endParaRPr lang="en-US" sz="1400" dirty="0"/>
          </a:p>
        </p:txBody>
      </p:sp>
      <p:sp>
        <p:nvSpPr>
          <p:cNvPr id="13" name="Shape 8"/>
          <p:cNvSpPr/>
          <p:nvPr/>
        </p:nvSpPr>
        <p:spPr>
          <a:xfrm>
            <a:off x="320040" y="3611880"/>
            <a:ext cx="566928" cy="566928"/>
          </a:xfrm>
          <a:prstGeom prst="ellipse">
            <a:avLst/>
          </a:prstGeom>
          <a:solidFill>
            <a:srgbClr val="1565C0"/>
          </a:solidFill>
          <a:ln w="12700">
            <a:solidFill>
              <a:srgbClr val="1565C0"/>
            </a:solidFill>
            <a:prstDash val="solid"/>
          </a:ln>
        </p:spPr>
      </p:sp>
      <p:pic>
        <p:nvPicPr>
          <p:cNvPr id="14" name="Image 3" descr="preencoded.png">    </p:cNvPr>
          <p:cNvPicPr>
            <a:picLocks noChangeAspect="1"/>
          </p:cNvPicPr>
          <p:nvPr/>
        </p:nvPicPr>
        <p:blipFill>
          <a:blip r:embed="rId4"/>
          <a:stretch>
            <a:fillRect/>
          </a:stretch>
        </p:blipFill>
        <p:spPr>
          <a:xfrm>
            <a:off x="384048" y="3675888"/>
            <a:ext cx="438912" cy="438912"/>
          </a:xfrm>
          <a:prstGeom prst="rect">
            <a:avLst/>
          </a:prstGeom>
        </p:spPr>
      </p:pic>
      <p:sp>
        <p:nvSpPr>
          <p:cNvPr id="15" name="Text 9"/>
          <p:cNvSpPr/>
          <p:nvPr/>
        </p:nvSpPr>
        <p:spPr>
          <a:xfrm>
            <a:off x="1005840" y="3666744"/>
            <a:ext cx="3291840" cy="457200"/>
          </a:xfrm>
          <a:prstGeom prst="rect">
            <a:avLst/>
          </a:prstGeom>
          <a:noFill/>
          <a:ln/>
        </p:spPr>
        <p:txBody>
          <a:bodyPr wrap="square" rtlCol="0" anchor="ctr"/>
          <a:lstStyle/>
          <a:p>
            <a:pPr indent="0" marL="0">
              <a:buNone/>
            </a:pPr>
            <a:r>
              <a:rPr lang="en-US" sz="1400" dirty="0">
                <a:solidFill>
                  <a:srgbClr val="CFD8DC"/>
                </a:solidFill>
                <a:latin typeface="Calibri" pitchFamily="34" charset="0"/>
                <a:ea typeface="Calibri" pitchFamily="34" charset="-122"/>
                <a:cs typeface="Calibri" pitchFamily="34" charset="-120"/>
              </a:rPr>
              <a:t>One correct answer per question</a:t>
            </a:r>
            <a:endParaRPr lang="en-US" sz="1400" dirty="0"/>
          </a:p>
        </p:txBody>
      </p:sp>
      <p:sp>
        <p:nvSpPr>
          <p:cNvPr id="16" name="Text 10">
            <a:hlinkClick r:id="rId5" tooltip=""/>
          </p:cNvPr>
          <p:cNvSpPr/>
          <p:nvPr/>
        </p:nvSpPr>
        <p:spPr>
          <a:xfrm>
            <a:off x="320040" y="4617720"/>
            <a:ext cx="3749040" cy="384048"/>
          </a:xfrm>
          <a:prstGeom prst="rect">
            <a:avLst/>
          </a:prstGeom>
          <a:noFill/>
          <a:ln/>
        </p:spPr>
        <p:txBody>
          <a:bodyPr wrap="square" rtlCol="0" anchor="ctr"/>
          <a:lstStyle/>
          <a:p>
            <a:pPr indent="0" marL="0">
              <a:buNone/>
            </a:pPr>
            <a:r>
              <a:rPr lang="en-US" sz="1300" u="sng" dirty="0">
                <a:solidFill>
                  <a:srgbClr val="64B5F6"/>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exam.html</a:t>
            </a:r>
            <a:endParaRPr lang="en-US" sz="1300" dirty="0"/>
          </a:p>
        </p:txBody>
      </p:sp>
      <p:sp>
        <p:nvSpPr>
          <p:cNvPr id="17" name="Text 11"/>
          <p:cNvSpPr/>
          <p:nvPr/>
        </p:nvSpPr>
        <p:spPr>
          <a:xfrm>
            <a:off x="4663440" y="274320"/>
            <a:ext cx="420624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Useful resources</a:t>
            </a:r>
            <a:endParaRPr lang="en-US" sz="2200" dirty="0"/>
          </a:p>
        </p:txBody>
      </p:sp>
      <p:sp>
        <p:nvSpPr>
          <p:cNvPr id="18" name="Shape 12"/>
          <p:cNvSpPr/>
          <p:nvPr/>
        </p:nvSpPr>
        <p:spPr>
          <a:xfrm>
            <a:off x="4663440" y="896112"/>
            <a:ext cx="4206240" cy="704088"/>
          </a:xfrm>
          <a:prstGeom prst="rect">
            <a:avLst/>
          </a:prstGeom>
          <a:solidFill>
            <a:srgbClr val="132235"/>
          </a:solidFill>
          <a:ln w="12700">
            <a:solidFill>
              <a:srgbClr val="1565C0"/>
            </a:solidFill>
            <a:prstDash val="solid"/>
          </a:ln>
          <a:effectLst>
            <a:outerShdw sx="100000" sy="100000" kx="0" ky="0" algn="bl" rotWithShape="0" blurRad="63500" dist="25400" dir="8100000">
              <a:srgbClr val="000000">
                <a:alpha val="12000"/>
              </a:srgbClr>
            </a:outerShdw>
          </a:effectLst>
        </p:spPr>
      </p:sp>
      <p:sp>
        <p:nvSpPr>
          <p:cNvPr id="19" name="Shape 13"/>
          <p:cNvSpPr/>
          <p:nvPr/>
        </p:nvSpPr>
        <p:spPr>
          <a:xfrm>
            <a:off x="4663440" y="896112"/>
            <a:ext cx="164592" cy="704088"/>
          </a:xfrm>
          <a:prstGeom prst="rect">
            <a:avLst/>
          </a:prstGeom>
          <a:solidFill>
            <a:srgbClr val="1565C0"/>
          </a:solidFill>
          <a:ln w="12700">
            <a:solidFill>
              <a:srgbClr val="1565C0"/>
            </a:solidFill>
            <a:prstDash val="solid"/>
          </a:ln>
        </p:spPr>
      </p:sp>
      <p:sp>
        <p:nvSpPr>
          <p:cNvPr id="20" name="Text 14"/>
          <p:cNvSpPr/>
          <p:nvPr/>
        </p:nvSpPr>
        <p:spPr>
          <a:xfrm>
            <a:off x="4919472" y="950976"/>
            <a:ext cx="384048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Maven POM Reference</a:t>
            </a:r>
            <a:endParaRPr lang="en-US" sz="1200" dirty="0"/>
          </a:p>
        </p:txBody>
      </p:sp>
      <p:sp>
        <p:nvSpPr>
          <p:cNvPr id="21" name="Text 15">
            <a:hlinkClick r:id="rId6" tooltip=""/>
          </p:cNvPr>
          <p:cNvSpPr/>
          <p:nvPr/>
        </p:nvSpPr>
        <p:spPr>
          <a:xfrm>
            <a:off x="4919472" y="1243584"/>
            <a:ext cx="3840480" cy="274320"/>
          </a:xfrm>
          <a:prstGeom prst="rect">
            <a:avLst/>
          </a:prstGeom>
          <a:noFill/>
          <a:ln/>
        </p:spPr>
        <p:txBody>
          <a:bodyPr wrap="square" rtlCol="0" anchor="ctr"/>
          <a:lstStyle/>
          <a:p>
            <a:pPr indent="0" marL="0">
              <a:buNone/>
            </a:pPr>
            <a:r>
              <a:rPr lang="en-US" sz="950" u="sng" dirty="0">
                <a:solidFill>
                  <a:srgbClr val="64B5F6"/>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https://maven.apache.org/pom.html</a:t>
            </a:r>
            <a:endParaRPr lang="en-US" sz="950" dirty="0"/>
          </a:p>
        </p:txBody>
      </p:sp>
      <p:sp>
        <p:nvSpPr>
          <p:cNvPr id="22" name="Shape 16"/>
          <p:cNvSpPr/>
          <p:nvPr/>
        </p:nvSpPr>
        <p:spPr>
          <a:xfrm>
            <a:off x="4663440" y="1700784"/>
            <a:ext cx="4206240" cy="704088"/>
          </a:xfrm>
          <a:prstGeom prst="rect">
            <a:avLst/>
          </a:prstGeom>
          <a:solidFill>
            <a:srgbClr val="132235"/>
          </a:solidFill>
          <a:ln w="12700">
            <a:solidFill>
              <a:srgbClr val="00695C"/>
            </a:solidFill>
            <a:prstDash val="solid"/>
          </a:ln>
          <a:effectLst>
            <a:outerShdw sx="100000" sy="100000" kx="0" ky="0" algn="bl" rotWithShape="0" blurRad="63500" dist="25400" dir="8100000">
              <a:srgbClr val="000000">
                <a:alpha val="12000"/>
              </a:srgbClr>
            </a:outerShdw>
          </a:effectLst>
        </p:spPr>
      </p:sp>
      <p:sp>
        <p:nvSpPr>
          <p:cNvPr id="23" name="Shape 17"/>
          <p:cNvSpPr/>
          <p:nvPr/>
        </p:nvSpPr>
        <p:spPr>
          <a:xfrm>
            <a:off x="4663440" y="1700784"/>
            <a:ext cx="164592" cy="704088"/>
          </a:xfrm>
          <a:prstGeom prst="rect">
            <a:avLst/>
          </a:prstGeom>
          <a:solidFill>
            <a:srgbClr val="00695C"/>
          </a:solidFill>
          <a:ln w="12700">
            <a:solidFill>
              <a:srgbClr val="00695C"/>
            </a:solidFill>
            <a:prstDash val="solid"/>
          </a:ln>
        </p:spPr>
      </p:sp>
      <p:sp>
        <p:nvSpPr>
          <p:cNvPr id="24" name="Text 18"/>
          <p:cNvSpPr/>
          <p:nvPr/>
        </p:nvSpPr>
        <p:spPr>
          <a:xfrm>
            <a:off x="4919472" y="1755648"/>
            <a:ext cx="384048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JDBC PreparedStatement</a:t>
            </a:r>
            <a:endParaRPr lang="en-US" sz="1200" dirty="0"/>
          </a:p>
        </p:txBody>
      </p:sp>
      <p:sp>
        <p:nvSpPr>
          <p:cNvPr id="25" name="Text 19">
            <a:hlinkClick r:id="rId7" tooltip=""/>
          </p:cNvPr>
          <p:cNvSpPr/>
          <p:nvPr/>
        </p:nvSpPr>
        <p:spPr>
          <a:xfrm>
            <a:off x="4919472" y="2048256"/>
            <a:ext cx="3840480" cy="274320"/>
          </a:xfrm>
          <a:prstGeom prst="rect">
            <a:avLst/>
          </a:prstGeom>
          <a:noFill/>
          <a:ln/>
        </p:spPr>
        <p:txBody>
          <a:bodyPr wrap="square" rtlCol="0" anchor="ctr"/>
          <a:lstStyle/>
          <a:p>
            <a:pPr indent="0" marL="0">
              <a:buNone/>
            </a:pPr>
            <a:r>
              <a:rPr lang="en-US" sz="950" u="sng" dirty="0">
                <a:solidFill>
                  <a:srgbClr val="64B5F6"/>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https://docs.oracle.com/javase/tutorial/jdbc/basics/prepared.html</a:t>
            </a:r>
            <a:endParaRPr lang="en-US" sz="950" dirty="0"/>
          </a:p>
        </p:txBody>
      </p:sp>
      <p:sp>
        <p:nvSpPr>
          <p:cNvPr id="26" name="Shape 20"/>
          <p:cNvSpPr/>
          <p:nvPr/>
        </p:nvSpPr>
        <p:spPr>
          <a:xfrm>
            <a:off x="4663440" y="2505456"/>
            <a:ext cx="4206240" cy="704088"/>
          </a:xfrm>
          <a:prstGeom prst="rect">
            <a:avLst/>
          </a:prstGeom>
          <a:solidFill>
            <a:srgbClr val="132235"/>
          </a:solidFill>
          <a:ln w="12700">
            <a:solidFill>
              <a:srgbClr val="BF360C"/>
            </a:solidFill>
            <a:prstDash val="solid"/>
          </a:ln>
          <a:effectLst>
            <a:outerShdw sx="100000" sy="100000" kx="0" ky="0" algn="bl" rotWithShape="0" blurRad="63500" dist="25400" dir="8100000">
              <a:srgbClr val="000000">
                <a:alpha val="12000"/>
              </a:srgbClr>
            </a:outerShdw>
          </a:effectLst>
        </p:spPr>
      </p:sp>
      <p:sp>
        <p:nvSpPr>
          <p:cNvPr id="27" name="Shape 21"/>
          <p:cNvSpPr/>
          <p:nvPr/>
        </p:nvSpPr>
        <p:spPr>
          <a:xfrm>
            <a:off x="4663440" y="2505456"/>
            <a:ext cx="164592" cy="704088"/>
          </a:xfrm>
          <a:prstGeom prst="rect">
            <a:avLst/>
          </a:prstGeom>
          <a:solidFill>
            <a:srgbClr val="BF360C"/>
          </a:solidFill>
          <a:ln w="12700">
            <a:solidFill>
              <a:srgbClr val="BF360C"/>
            </a:solidFill>
            <a:prstDash val="solid"/>
          </a:ln>
        </p:spPr>
      </p:sp>
      <p:sp>
        <p:nvSpPr>
          <p:cNvPr id="28" name="Text 22"/>
          <p:cNvSpPr/>
          <p:nvPr/>
        </p:nvSpPr>
        <p:spPr>
          <a:xfrm>
            <a:off x="4919472" y="2560320"/>
            <a:ext cx="384048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Hibernate 6.4 Guide</a:t>
            </a:r>
            <a:endParaRPr lang="en-US" sz="1200" dirty="0"/>
          </a:p>
        </p:txBody>
      </p:sp>
      <p:sp>
        <p:nvSpPr>
          <p:cNvPr id="29" name="Text 23">
            <a:hlinkClick r:id="rId8" tooltip=""/>
          </p:cNvPr>
          <p:cNvSpPr/>
          <p:nvPr/>
        </p:nvSpPr>
        <p:spPr>
          <a:xfrm>
            <a:off x="4919472" y="2852928"/>
            <a:ext cx="3840480" cy="274320"/>
          </a:xfrm>
          <a:prstGeom prst="rect">
            <a:avLst/>
          </a:prstGeom>
          <a:noFill/>
          <a:ln/>
        </p:spPr>
        <p:txBody>
          <a:bodyPr wrap="square" rtlCol="0" anchor="ctr"/>
          <a:lstStyle/>
          <a:p>
            <a:pPr indent="0" marL="0">
              <a:buNone/>
            </a:pPr>
            <a:r>
              <a:rPr lang="en-US" sz="950" u="sng" dirty="0">
                <a:solidFill>
                  <a:srgbClr val="64B5F6"/>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https://docs.hibernate.org/orm/6.4/userguide/html_single/</a:t>
            </a:r>
            <a:endParaRPr lang="en-US" sz="950" dirty="0"/>
          </a:p>
        </p:txBody>
      </p:sp>
      <p:sp>
        <p:nvSpPr>
          <p:cNvPr id="30" name="Shape 24"/>
          <p:cNvSpPr/>
          <p:nvPr/>
        </p:nvSpPr>
        <p:spPr>
          <a:xfrm>
            <a:off x="4663440" y="3310128"/>
            <a:ext cx="4206240" cy="704088"/>
          </a:xfrm>
          <a:prstGeom prst="rect">
            <a:avLst/>
          </a:prstGeom>
          <a:solidFill>
            <a:srgbClr val="132235"/>
          </a:solidFill>
          <a:ln w="12700">
            <a:solidFill>
              <a:srgbClr val="6A1B9A"/>
            </a:solidFill>
            <a:prstDash val="solid"/>
          </a:ln>
          <a:effectLst>
            <a:outerShdw sx="100000" sy="100000" kx="0" ky="0" algn="bl" rotWithShape="0" blurRad="63500" dist="25400" dir="8100000">
              <a:srgbClr val="000000">
                <a:alpha val="12000"/>
              </a:srgbClr>
            </a:outerShdw>
          </a:effectLst>
        </p:spPr>
      </p:sp>
      <p:sp>
        <p:nvSpPr>
          <p:cNvPr id="31" name="Shape 25"/>
          <p:cNvSpPr/>
          <p:nvPr/>
        </p:nvSpPr>
        <p:spPr>
          <a:xfrm>
            <a:off x="4663440" y="3310128"/>
            <a:ext cx="164592" cy="704088"/>
          </a:xfrm>
          <a:prstGeom prst="rect">
            <a:avLst/>
          </a:prstGeom>
          <a:solidFill>
            <a:srgbClr val="6A1B9A"/>
          </a:solidFill>
          <a:ln w="12700">
            <a:solidFill>
              <a:srgbClr val="6A1B9A"/>
            </a:solidFill>
            <a:prstDash val="solid"/>
          </a:ln>
        </p:spPr>
      </p:sp>
      <p:sp>
        <p:nvSpPr>
          <p:cNvPr id="32" name="Text 26"/>
          <p:cNvSpPr/>
          <p:nvPr/>
        </p:nvSpPr>
        <p:spPr>
          <a:xfrm>
            <a:off x="4919472" y="3364992"/>
            <a:ext cx="384048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H2 Database Engine</a:t>
            </a:r>
            <a:endParaRPr lang="en-US" sz="1200" dirty="0"/>
          </a:p>
        </p:txBody>
      </p:sp>
      <p:sp>
        <p:nvSpPr>
          <p:cNvPr id="33" name="Text 27">
            <a:hlinkClick r:id="rId9" tooltip=""/>
          </p:cNvPr>
          <p:cNvSpPr/>
          <p:nvPr/>
        </p:nvSpPr>
        <p:spPr>
          <a:xfrm>
            <a:off x="4919472" y="3657600"/>
            <a:ext cx="3840480" cy="274320"/>
          </a:xfrm>
          <a:prstGeom prst="rect">
            <a:avLst/>
          </a:prstGeom>
          <a:noFill/>
          <a:ln/>
        </p:spPr>
        <p:txBody>
          <a:bodyPr wrap="square" rtlCol="0" anchor="ctr"/>
          <a:lstStyle/>
          <a:p>
            <a:pPr indent="0" marL="0">
              <a:buNone/>
            </a:pPr>
            <a:r>
              <a:rPr lang="en-US" sz="950" u="sng" dirty="0">
                <a:solidFill>
                  <a:srgbClr val="64B5F6"/>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https://www.h2database.com/</a:t>
            </a:r>
            <a:endParaRPr lang="en-US" sz="950" dirty="0"/>
          </a:p>
        </p:txBody>
      </p:sp>
      <p:sp>
        <p:nvSpPr>
          <p:cNvPr id="34" name="Shape 28"/>
          <p:cNvSpPr/>
          <p:nvPr/>
        </p:nvSpPr>
        <p:spPr>
          <a:xfrm>
            <a:off x="4663440" y="4114800"/>
            <a:ext cx="4206240" cy="704088"/>
          </a:xfrm>
          <a:prstGeom prst="rect">
            <a:avLst/>
          </a:prstGeom>
          <a:solidFill>
            <a:srgbClr val="132235"/>
          </a:solidFill>
          <a:ln w="12700">
            <a:solidFill>
              <a:srgbClr val="E65100"/>
            </a:solidFill>
            <a:prstDash val="solid"/>
          </a:ln>
          <a:effectLst>
            <a:outerShdw sx="100000" sy="100000" kx="0" ky="0" algn="bl" rotWithShape="0" blurRad="63500" dist="25400" dir="8100000">
              <a:srgbClr val="000000">
                <a:alpha val="12000"/>
              </a:srgbClr>
            </a:outerShdw>
          </a:effectLst>
        </p:spPr>
      </p:sp>
      <p:sp>
        <p:nvSpPr>
          <p:cNvPr id="35" name="Shape 29"/>
          <p:cNvSpPr/>
          <p:nvPr/>
        </p:nvSpPr>
        <p:spPr>
          <a:xfrm>
            <a:off x="4663440" y="4114800"/>
            <a:ext cx="164592" cy="704088"/>
          </a:xfrm>
          <a:prstGeom prst="rect">
            <a:avLst/>
          </a:prstGeom>
          <a:solidFill>
            <a:srgbClr val="E65100"/>
          </a:solidFill>
          <a:ln w="12700">
            <a:solidFill>
              <a:srgbClr val="E65100"/>
            </a:solidFill>
            <a:prstDash val="solid"/>
          </a:ln>
        </p:spPr>
      </p:sp>
      <p:sp>
        <p:nvSpPr>
          <p:cNvPr id="36" name="Text 30"/>
          <p:cNvSpPr/>
          <p:nvPr/>
        </p:nvSpPr>
        <p:spPr>
          <a:xfrm>
            <a:off x="4919472" y="4169664"/>
            <a:ext cx="384048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Spring Framework Docs</a:t>
            </a:r>
            <a:endParaRPr lang="en-US" sz="1200" dirty="0"/>
          </a:p>
        </p:txBody>
      </p:sp>
      <p:sp>
        <p:nvSpPr>
          <p:cNvPr id="37" name="Text 31">
            <a:hlinkClick r:id="rId10" tooltip=""/>
          </p:cNvPr>
          <p:cNvSpPr/>
          <p:nvPr/>
        </p:nvSpPr>
        <p:spPr>
          <a:xfrm>
            <a:off x="4919472" y="4462272"/>
            <a:ext cx="3840480" cy="274320"/>
          </a:xfrm>
          <a:prstGeom prst="rect">
            <a:avLst/>
          </a:prstGeom>
          <a:noFill/>
          <a:ln/>
        </p:spPr>
        <p:txBody>
          <a:bodyPr wrap="square" rtlCol="0" anchor="ctr"/>
          <a:lstStyle/>
          <a:p>
            <a:pPr indent="0" marL="0">
              <a:buNone/>
            </a:pPr>
            <a:r>
              <a:rPr lang="en-US" sz="950" u="sng" dirty="0">
                <a:solidFill>
                  <a:srgbClr val="64B5F6"/>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https://docs.spring.io/spring-framework/reference/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Практика 6 — Maven, JDBC, DAO, Hibernate</dc:title>
  <dc:subject>PptxGenJS Presentation</dc:subject>
  <dc:creator>PptxGenJS</dc:creator>
  <cp:lastModifiedBy>PptxGenJS</cp:lastModifiedBy>
  <cp:revision>1</cp:revision>
  <dcterms:created xsi:type="dcterms:W3CDTF">2026-05-28T20:55:55Z</dcterms:created>
  <dcterms:modified xsi:type="dcterms:W3CDTF">2026-05-28T20:55:55Z</dcterms:modified>
</cp:coreProperties>
</file>