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</p:sldIdLst>
  <p:sldSz cy="6858000" cx="12192000"/>
  <p:notesSz cx="6858000" cy="9144000"/>
  <p:embeddedFontLst>
    <p:embeddedFont>
      <p:font typeface="Carlito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Carlito-italic.fntdata"/><Relationship Id="rId61" Type="http://schemas.openxmlformats.org/officeDocument/2006/relationships/font" Target="fonts/Carlito-bold.fntdata"/><Relationship Id="rId20" Type="http://schemas.openxmlformats.org/officeDocument/2006/relationships/slide" Target="slides/slide16.xml"/><Relationship Id="rId63" Type="http://schemas.openxmlformats.org/officeDocument/2006/relationships/font" Target="fonts/Carlito-bold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Carlito-regular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/>
          <p:nvPr>
            <p:ph idx="2" type="sldImg"/>
          </p:nvPr>
        </p:nvSpPr>
        <p:spPr>
          <a:xfrm>
            <a:off x="139680" y="768240"/>
            <a:ext cx="6819480" cy="38365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1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:notes"/>
          <p:cNvSpPr txBox="1"/>
          <p:nvPr>
            <p:ph idx="12" type="sldNum"/>
          </p:nvPr>
        </p:nvSpPr>
        <p:spPr>
          <a:xfrm>
            <a:off x="144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a3ae5768d_1_415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fa3ae5768d_1_415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a3ae5768d_1_420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fa3ae5768d_1_420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3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4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5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6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1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7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1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18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fa3ae5768d_1_12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9" name="Google Shape;979;g3fa3ae5768d_1_12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g3fa3ae5768d_1_12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19:notes"/>
          <p:cNvSpPr/>
          <p:nvPr>
            <p:ph idx="2" type="sldImg"/>
          </p:nvPr>
        </p:nvSpPr>
        <p:spPr>
          <a:xfrm>
            <a:off x="0" y="81288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4" name="Google Shape;1034;p19:notes"/>
          <p:cNvSpPr txBox="1"/>
          <p:nvPr>
            <p:ph idx="1"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19:notes"/>
          <p:cNvSpPr txBox="1"/>
          <p:nvPr>
            <p:ph idx="12" type="sldNum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lang="en-US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2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20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3fa3ae5768d_1_430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0" name="Google Shape;1120;g3fa3ae5768d_1_430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g3fa3ae5768d_1_430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3fa3ae5768d_1_437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3fa3ae5768d_1_437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g3fa3ae5768d_1_437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3fa3ae5768d_1_457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5" name="Google Shape;1135;g3fa3ae5768d_1_457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g3fa3ae5768d_1_457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3fa3ae5768d_1_450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3fa3ae5768d_1_450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g3fa3ae5768d_1_450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3fa3ae5768d_1_443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3fa3ae5768d_1_443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g3fa3ae5768d_1_443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2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21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2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22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2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23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2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24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2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25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2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26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2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27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2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28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2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29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3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31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3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32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3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33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3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34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3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35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3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36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3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37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38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0" name="Google Shape;1350;p38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Comments</a:t>
            </a:r>
            <a:br>
              <a:rPr lang="en-US" sz="1200"/>
            </a:br>
            <a:r>
              <a:rPr b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Names given to variables are sometimes referred to as </a:t>
            </a:r>
            <a:r>
              <a:rPr b="0" i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identifiers</a:t>
            </a: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200"/>
            </a:br>
            <a:r>
              <a:rPr b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numeric expression is any combination of literals, variables, functions, and operators</a:t>
            </a:r>
            <a:br>
              <a:rPr lang="en-US" sz="1200"/>
            </a:b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 can be evaluated to produce a number. A single literal or variable is a special case</a:t>
            </a:r>
            <a:br>
              <a:rPr lang="en-US" sz="1200"/>
            </a:b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an expression.</a:t>
            </a:r>
            <a:br>
              <a:rPr lang="en-US" sz="1200"/>
            </a:br>
            <a:r>
              <a:rPr b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Numeric literals used in expressions or assigned to variables must not contain commas,</a:t>
            </a:r>
            <a:br>
              <a:rPr lang="en-US" sz="1200"/>
            </a:b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dollar signs, or percent signs. Also, mixed numbers, such as 8 1/2, are not allowed.</a:t>
            </a:r>
            <a:br>
              <a:rPr lang="en-US" sz="1200"/>
            </a:br>
            <a:r>
              <a:rPr b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the number </a:t>
            </a:r>
            <a:r>
              <a:rPr b="0" i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halfway between two successive whole numbers (such as 1.5, 2.5,</a:t>
            </a:r>
            <a:br>
              <a:rPr lang="en-US" sz="1200"/>
            </a:b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3.5, and 4.5), the </a:t>
            </a:r>
            <a:r>
              <a:rPr b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round </a:t>
            </a: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function rounds it to the nearest even number. For instance,</a:t>
            </a:r>
            <a:br>
              <a:rPr lang="en-US" sz="1200"/>
            </a:b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round(2.5) is 2 and round(3.5) is 4.</a:t>
            </a:r>
            <a:br>
              <a:rPr lang="en-US" sz="1200"/>
            </a:br>
            <a:r>
              <a:rPr b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scientific notation, numbers are written in the form </a:t>
            </a:r>
            <a:r>
              <a:rPr b="0" i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 10</a:t>
            </a:r>
            <a:r>
              <a:rPr b="0" i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where </a:t>
            </a:r>
            <a:r>
              <a:rPr b="0" i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number of</a:t>
            </a:r>
            <a:br>
              <a:rPr lang="en-US" sz="1200"/>
            </a:b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magnitude from 1 up to (but not including) 10, and </a:t>
            </a:r>
            <a:r>
              <a:rPr b="0" i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an integer. Python often displays</a:t>
            </a:r>
            <a:br>
              <a:rPr lang="en-US" sz="1200"/>
            </a:b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very large and very small numbers in </a:t>
            </a:r>
            <a:r>
              <a:rPr b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scientific notation</a:t>
            </a: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where </a:t>
            </a:r>
            <a:r>
              <a:rPr b="0" i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 10</a:t>
            </a:r>
            <a:r>
              <a:rPr b="0" i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written as </a:t>
            </a:r>
            <a:r>
              <a:rPr b="1" i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be+r</a:t>
            </a:r>
            <a:br>
              <a:rPr lang="en-US" sz="1200"/>
            </a:b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1" i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be-r</a:t>
            </a: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(The letter </a:t>
            </a:r>
            <a:r>
              <a:rPr b="0" i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an abbreviation for </a:t>
            </a:r>
            <a:r>
              <a:rPr b="0" i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</a:t>
            </a: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.) For instance, when the statement</a:t>
            </a:r>
            <a:br>
              <a:rPr lang="en-US" sz="1200"/>
            </a:br>
            <a:r>
              <a:rPr b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print(123.8 * (10 ** 25)) </a:t>
            </a: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executed, 1.238e+27 is displayed.</a:t>
            </a:r>
            <a:br>
              <a:rPr lang="en-US" sz="1200"/>
            </a:br>
            <a:r>
              <a:rPr b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</a:t>
            </a: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functions discussed in this section are referred to as </a:t>
            </a:r>
            <a:r>
              <a:rPr b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built-in functions </a:t>
            </a: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since they</a:t>
            </a:r>
            <a:br>
              <a:rPr lang="en-US" sz="1200"/>
            </a:b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part of the Python language. Chapter 4 shows how we can create our own functions. Such functions are commonly referred to as </a:t>
            </a:r>
            <a:r>
              <a:rPr b="0" i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user-defined functions</a:t>
            </a: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The term</a:t>
            </a:r>
            <a:br>
              <a:rPr lang="en-US" sz="2000"/>
            </a:br>
            <a:r>
              <a:rPr b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2.1 </a:t>
            </a: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Numbers ◆ 47</a:t>
            </a:r>
            <a:br>
              <a:rPr lang="en-US" sz="1200"/>
            </a:b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user-defined is a bit of a misnomer; such functions should really be called </a:t>
            </a:r>
            <a:r>
              <a:rPr b="0" i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programmerdefined functions</a:t>
            </a: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200"/>
            </a:br>
            <a:r>
              <a:rPr b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8. </a:t>
            </a: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IDLE color codes the different types of elements. For instance, normal text is displayed</a:t>
            </a:r>
            <a:br>
              <a:rPr lang="en-US" sz="1200"/>
            </a:b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black and built-in functions (such as </a:t>
            </a:r>
            <a:r>
              <a:rPr b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abs</a:t>
            </a: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round</a:t>
            </a: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are displayed in</a:t>
            </a:r>
            <a:br>
              <a:rPr lang="en-US" sz="1200"/>
            </a:b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purple.</a:t>
            </a:r>
            <a:br>
              <a:rPr lang="en-US" sz="1200"/>
            </a:br>
            <a:r>
              <a:rPr b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 </a:t>
            </a:r>
            <a:r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word "exception" is shorthand for "exceptional (that is, bad) event.</a:t>
            </a: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2000"/>
            </a:b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1" name="Google Shape;1351;p38:notes"/>
          <p:cNvSpPr txBox="1"/>
          <p:nvPr>
            <p:ph idx="12" type="sldNum"/>
          </p:nvPr>
        </p:nvSpPr>
        <p:spPr>
          <a:xfrm>
            <a:off x="144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3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39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g3fa3ae5768d_1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g3fa3ae5768d_1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3fa3ae5768d_1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g3fa3ae5768d_1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5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55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5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56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5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57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5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59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6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60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6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62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6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64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6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66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67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8" name="Google Shape;1458;p67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= 90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isinstance(x, int):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if x &gt;= 50 :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print('you passed the test')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else :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print('Sorry you failed')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else: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print('please inter integer number')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9" name="Google Shape;1459;p67:notes"/>
          <p:cNvSpPr txBox="1"/>
          <p:nvPr>
            <p:ph idx="12" type="sldNum"/>
          </p:nvPr>
        </p:nvSpPr>
        <p:spPr>
          <a:xfrm>
            <a:off x="144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6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68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6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69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g3fa3ae5768d_1_1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g3fa3ae5768d_1_1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84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3" name="Google Shape;1503;p84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x=20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c=0;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i in range(x):   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if i%2==0:     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print (' '*(c)+'*'*(x-i))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c=c+1;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4" name="Google Shape;1504;p84:notes"/>
          <p:cNvSpPr txBox="1"/>
          <p:nvPr>
            <p:ph idx="12" type="sldNum"/>
          </p:nvPr>
        </p:nvSpPr>
        <p:spPr>
          <a:xfrm>
            <a:off x="144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عنوان ومحتوى" type="blank">
  <p:cSld name="BLANK">
    <p:bg>
      <p:bgPr>
        <a:blipFill>
          <a:blip r:embed="rId2">
            <a:alphaModFix amt="50000"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" type="body"/>
          </p:nvPr>
        </p:nvSpPr>
        <p:spPr>
          <a:xfrm>
            <a:off x="818280" y="1114560"/>
            <a:ext cx="10493280" cy="50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1" algn="just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6CE10D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1" algn="just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D70BA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1" algn="just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7053DB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1" algn="just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A9D18E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1" algn="just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F4B18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11397240" y="6367320"/>
            <a:ext cx="475560" cy="28728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92D05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818280" y="188280"/>
            <a:ext cx="10493280" cy="76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000"/>
              <a:buFont typeface="Times New Roman"/>
              <a:buNone/>
              <a:defRPr b="1" i="0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" name="Google Shape;14;p2"/>
          <p:cNvSpPr/>
          <p:nvPr/>
        </p:nvSpPr>
        <p:spPr>
          <a:xfrm>
            <a:off x="11397240" y="6367320"/>
            <a:ext cx="503280" cy="21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800" u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9F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7365D"/>
          </a:solidFill>
          <a:ln cap="flat" cmpd="sng" w="12700">
            <a:solidFill>
              <a:srgbClr val="17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8075" lIns="90000" spcFirstLastPara="1" rIns="90000" wrap="square" tIns="28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" name="Google Shape;17;p3"/>
          <p:cNvCxnSpPr/>
          <p:nvPr/>
        </p:nvCxnSpPr>
        <p:spPr>
          <a:xfrm>
            <a:off x="502920" y="6492240"/>
            <a:ext cx="11183040" cy="360"/>
          </a:xfrm>
          <a:prstGeom prst="straightConnector1">
            <a:avLst/>
          </a:prstGeom>
          <a:noFill/>
          <a:ln cap="flat" cmpd="sng" w="1015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/>
          <p:nvPr/>
        </p:nvSpPr>
        <p:spPr>
          <a:xfrm>
            <a:off x="502920" y="6528960"/>
            <a:ext cx="512028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6A7786"/>
                </a:solidFill>
                <a:latin typeface="Arial"/>
                <a:ea typeface="Arial"/>
                <a:cs typeface="Arial"/>
                <a:sym typeface="Arial"/>
              </a:rPr>
              <a:t>Tishreen University • Communication Engineering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675120" y="6528960"/>
            <a:ext cx="46173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6A7786"/>
                </a:solidFill>
                <a:latin typeface="Arial"/>
                <a:ea typeface="Arial"/>
                <a:cs typeface="Arial"/>
                <a:sym typeface="Arial"/>
              </a:rPr>
              <a:t>Algorithms &amp; Data Structures in Python • 2026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11411640" y="6519600"/>
            <a:ext cx="3837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6A7786"/>
              </a:buClr>
              <a:buSzPts val="800"/>
              <a:buFont typeface="Arial"/>
              <a:buNone/>
              <a:defRPr b="0" sz="800" u="none" strike="noStrike">
                <a:solidFill>
                  <a:srgbClr val="6A778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6A7786"/>
              </a:buClr>
              <a:buSzPts val="800"/>
              <a:buFont typeface="Arial"/>
              <a:buNone/>
              <a:defRPr b="0" sz="800" u="none" strike="noStrike">
                <a:solidFill>
                  <a:srgbClr val="6A778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6A7786"/>
              </a:buClr>
              <a:buSzPts val="800"/>
              <a:buFont typeface="Arial"/>
              <a:buNone/>
              <a:defRPr b="0" sz="800" u="none" strike="noStrike">
                <a:solidFill>
                  <a:srgbClr val="6A778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6A7786"/>
              </a:buClr>
              <a:buSzPts val="800"/>
              <a:buFont typeface="Arial"/>
              <a:buNone/>
              <a:defRPr b="0" sz="800" u="none" strike="noStrike">
                <a:solidFill>
                  <a:srgbClr val="6A778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6A7786"/>
              </a:buClr>
              <a:buSzPts val="800"/>
              <a:buFont typeface="Arial"/>
              <a:buNone/>
              <a:defRPr b="0" sz="800" u="none" strike="noStrike">
                <a:solidFill>
                  <a:srgbClr val="6A778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6A7786"/>
              </a:buClr>
              <a:buSzPts val="800"/>
              <a:buFont typeface="Arial"/>
              <a:buNone/>
              <a:defRPr b="0" sz="800" u="none" strike="noStrike">
                <a:solidFill>
                  <a:srgbClr val="6A778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6A7786"/>
              </a:buClr>
              <a:buSzPts val="800"/>
              <a:buFont typeface="Arial"/>
              <a:buNone/>
              <a:defRPr b="0" sz="800" u="none" strike="noStrike">
                <a:solidFill>
                  <a:srgbClr val="6A778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6A7786"/>
              </a:buClr>
              <a:buSzPts val="800"/>
              <a:buFont typeface="Arial"/>
              <a:buNone/>
              <a:defRPr b="0" sz="800" u="none" strike="noStrike">
                <a:solidFill>
                  <a:srgbClr val="6A778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6A7786"/>
              </a:buClr>
              <a:buSzPts val="800"/>
              <a:buFont typeface="Arial"/>
              <a:buNone/>
              <a:defRPr b="0" sz="800" u="none" strike="noStrike">
                <a:solidFill>
                  <a:srgbClr val="6A778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8610" lvl="0" marL="457200" marR="0" rtl="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80035" lvl="2" marL="1371600" marR="0" rtl="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85750" lvl="4" marL="2286000" marR="0" rtl="0" algn="l">
              <a:lnSpc>
                <a:spcPct val="9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85750" lvl="5" marL="2743200" marR="0" rtl="0" algn="l">
              <a:lnSpc>
                <a:spcPct val="9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5750" lvl="6" marL="3200400" marR="0" rtl="0" algn="l">
              <a:lnSpc>
                <a:spcPct val="9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رغ">
  <p:cSld name="فارغ">
    <p:bg>
      <p:bgPr>
        <a:blipFill>
          <a:blip r:embed="rId2">
            <a:alphaModFix amt="50000"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idx="10" type="dt"/>
          </p:nvPr>
        </p:nvSpPr>
        <p:spPr>
          <a:xfrm>
            <a:off x="9878040" y="6356520"/>
            <a:ext cx="14752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11550240" y="6311880"/>
            <a:ext cx="54072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8610" lvl="0" marL="457200" marR="0" rtl="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80035" lvl="2" marL="1371600" marR="0" rtl="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85750" lvl="4" marL="2286000" marR="0" rtl="0" algn="l">
              <a:lnSpc>
                <a:spcPct val="9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85750" lvl="5" marL="2743200" marR="0" rtl="0" algn="l">
              <a:lnSpc>
                <a:spcPct val="9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5750" lvl="6" marL="3200400" marR="0" rtl="0" algn="l">
              <a:lnSpc>
                <a:spcPct val="9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شريحة عنوان" type="title">
  <p:cSld name="TITLE">
    <p:bg>
      <p:bgPr>
        <a:blipFill>
          <a:blip r:embed="rId2">
            <a:alphaModFix amt="50000"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838080" y="6343200"/>
            <a:ext cx="861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11550240" y="6311880"/>
            <a:ext cx="54072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حتوى مع تسمية توضيحية">
  <p:cSld name="محتوى مع تسمية توضيحية">
    <p:bg>
      <p:bgPr>
        <a:blipFill>
          <a:blip r:embed="rId2">
            <a:alphaModFix amt="50000"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1" algn="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1" algn="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1" algn="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1" algn="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1" algn="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1" algn="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080" y="6343200"/>
            <a:ext cx="861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11550240" y="6311880"/>
            <a:ext cx="54072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صورة مع تسمية توضيحية">
  <p:cSld name="صورة مع تسمية توضيحية">
    <p:bg>
      <p:bgPr>
        <a:blipFill>
          <a:blip r:embed="rId2">
            <a:alphaModFix amt="50000"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431800" lvl="0" marL="457200" marR="0" rtl="1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1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−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0040" lvl="2" marL="1371600" marR="0" rtl="1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1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−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0040" lvl="4" marL="2286000" marR="0" rtl="1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0040" lvl="5" marL="2743200" marR="0" rtl="1" algn="l">
              <a:lnSpc>
                <a:spcPct val="9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0040" lvl="6" marL="3200400" marR="0" rtl="1" algn="l">
              <a:lnSpc>
                <a:spcPct val="9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1" algn="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5" name="Google Shape;45;p7"/>
          <p:cNvSpPr txBox="1"/>
          <p:nvPr>
            <p:ph idx="10" type="dt"/>
          </p:nvPr>
        </p:nvSpPr>
        <p:spPr>
          <a:xfrm>
            <a:off x="838080" y="6343200"/>
            <a:ext cx="861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6" name="Google Shape;46;p7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11550240" y="6311880"/>
            <a:ext cx="54072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عنوان ونص عمودي" type="vertTx">
  <p:cSld name="VERTICAL_TEXT">
    <p:bg>
      <p:bgPr>
        <a:blipFill>
          <a:blip r:embed="rId2">
            <a:alphaModFix amt="50000"/>
          </a:blip>
          <a:stretch>
            <a:fillRect/>
          </a:stretch>
        </a:blip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0" name="Google Shape;50;p8"/>
          <p:cNvSpPr txBox="1"/>
          <p:nvPr>
            <p:ph idx="1" type="body"/>
          </p:nvPr>
        </p:nvSpPr>
        <p:spPr>
          <a:xfrm rot="5400000">
            <a:off x="3920220" y="-1256580"/>
            <a:ext cx="4350600" cy="1051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1" algn="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1" algn="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1" algn="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1" algn="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1" algn="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080" y="6343200"/>
            <a:ext cx="861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11550240" y="6311880"/>
            <a:ext cx="54072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عنوان ونص عموديان" type="vertTitleAndTx">
  <p:cSld name="VERTICAL_TITLE_AND_VERTICAL_TEXT">
    <p:bg>
      <p:bgPr>
        <a:blipFill>
          <a:blip r:embed="rId2">
            <a:alphaModFix amt="50000"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 rot="5400000">
            <a:off x="7133580" y="1956420"/>
            <a:ext cx="5811120" cy="262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 rot="5400000">
            <a:off x="1799280" y="-596160"/>
            <a:ext cx="5811120" cy="7733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1" algn="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1" algn="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1" algn="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1" algn="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1" algn="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7" name="Google Shape;57;p9"/>
          <p:cNvSpPr txBox="1"/>
          <p:nvPr>
            <p:ph idx="10" type="dt"/>
          </p:nvPr>
        </p:nvSpPr>
        <p:spPr>
          <a:xfrm>
            <a:off x="838080" y="6343200"/>
            <a:ext cx="861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" name="Google Shape;58;p9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11550240" y="6311880"/>
            <a:ext cx="54072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عنوان المقطع">
  <p:cSld name="عنوان المقطع">
    <p:bg>
      <p:bgPr>
        <a:blipFill>
          <a:blip r:embed="rId2">
            <a:alphaModFix amt="50000"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1" algn="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10"/>
          <p:cNvSpPr txBox="1"/>
          <p:nvPr>
            <p:ph idx="10" type="dt"/>
          </p:nvPr>
        </p:nvSpPr>
        <p:spPr>
          <a:xfrm>
            <a:off x="838080" y="6343200"/>
            <a:ext cx="861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11550240" y="6311880"/>
            <a:ext cx="54072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حتويان" type="twoObj">
  <p:cSld name="TWO_OBJECTS">
    <p:bg>
      <p:bgPr>
        <a:blipFill>
          <a:blip r:embed="rId2">
            <a:alphaModFix amt="50000"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1" algn="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1" algn="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1" algn="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1" algn="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1" algn="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9" name="Google Shape;69;p11"/>
          <p:cNvSpPr txBox="1"/>
          <p:nvPr>
            <p:ph idx="2"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1" algn="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1" algn="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1" algn="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1" algn="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1" algn="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0" name="Google Shape;70;p11"/>
          <p:cNvSpPr txBox="1"/>
          <p:nvPr>
            <p:ph idx="10" type="dt"/>
          </p:nvPr>
        </p:nvSpPr>
        <p:spPr>
          <a:xfrm>
            <a:off x="838080" y="6343200"/>
            <a:ext cx="861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1" name="Google Shape;71;p11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2" name="Google Shape;72;p11"/>
          <p:cNvSpPr txBox="1"/>
          <p:nvPr>
            <p:ph idx="12" type="sldNum"/>
          </p:nvPr>
        </p:nvSpPr>
        <p:spPr>
          <a:xfrm>
            <a:off x="11550240" y="6311880"/>
            <a:ext cx="54072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قارنة">
  <p:cSld name="مقارنة">
    <p:bg>
      <p:bgPr>
        <a:blipFill>
          <a:blip r:embed="rId2">
            <a:alphaModFix amt="50000"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5" name="Google Shape;75;p12"/>
          <p:cNvSpPr txBox="1"/>
          <p:nvPr>
            <p:ph idx="1"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1" algn="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6" name="Google Shape;76;p12"/>
          <p:cNvSpPr txBox="1"/>
          <p:nvPr>
            <p:ph idx="2"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1" algn="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1" algn="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1" algn="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1" algn="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1" algn="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7" name="Google Shape;77;p12"/>
          <p:cNvSpPr txBox="1"/>
          <p:nvPr>
            <p:ph idx="3"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1" algn="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8" name="Google Shape;78;p12"/>
          <p:cNvSpPr txBox="1"/>
          <p:nvPr>
            <p:ph idx="4"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1" algn="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1" algn="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1" algn="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1" algn="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1" algn="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838080" y="6343200"/>
            <a:ext cx="861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0" name="Google Shape;80;p12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11550240" y="6311880"/>
            <a:ext cx="54072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عنوان فقط" type="titleOnly">
  <p:cSld name="TITLE_ONLY">
    <p:bg>
      <p:bgPr>
        <a:blipFill>
          <a:blip r:embed="rId2">
            <a:alphaModFix amt="50000"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4" name="Google Shape;84;p13"/>
          <p:cNvSpPr txBox="1"/>
          <p:nvPr>
            <p:ph idx="10" type="dt"/>
          </p:nvPr>
        </p:nvSpPr>
        <p:spPr>
          <a:xfrm>
            <a:off x="838080" y="6343200"/>
            <a:ext cx="861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5" name="Google Shape;85;p13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11550240" y="6311880"/>
            <a:ext cx="54072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عنوان ومحتوى 1">
  <p:cSld name="عنوان ومحتوى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idx="1" type="body"/>
          </p:nvPr>
        </p:nvSpPr>
        <p:spPr>
          <a:xfrm>
            <a:off x="818147" y="1114475"/>
            <a:ext cx="10494000" cy="50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rtl="1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CE10D"/>
              </a:buClr>
              <a:buSzPts val="2800"/>
              <a:buChar char="●"/>
              <a:defRPr sz="2800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rtl="1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70BA2"/>
              </a:buClr>
              <a:buSzPts val="2400"/>
              <a:buFont typeface="Arial"/>
              <a:buChar char="•"/>
              <a:defRPr sz="2400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rtl="1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53DB"/>
              </a:buClr>
              <a:buSzPts val="2000"/>
              <a:buChar char="■"/>
              <a:defRPr sz="2000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rtl="1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sz="1800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rtl="1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4B081"/>
              </a:buClr>
              <a:buSzPts val="1800"/>
              <a:buFont typeface="Arial"/>
              <a:buChar char="•"/>
              <a:defRPr sz="1800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9" name="Google Shape;89;p14"/>
          <p:cNvSpPr/>
          <p:nvPr/>
        </p:nvSpPr>
        <p:spPr>
          <a:xfrm>
            <a:off x="11397339" y="6367473"/>
            <a:ext cx="476400" cy="2880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rgbClr val="92D05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4"/>
          <p:cNvSpPr txBox="1"/>
          <p:nvPr>
            <p:ph type="title"/>
          </p:nvPr>
        </p:nvSpPr>
        <p:spPr>
          <a:xfrm>
            <a:off x="818145" y="188298"/>
            <a:ext cx="104940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000"/>
              <a:buFont typeface="Times New Roman"/>
              <a:buChar char="●"/>
              <a:defRPr b="1" sz="40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/>
        </p:nvSpPr>
        <p:spPr>
          <a:xfrm>
            <a:off x="11397339" y="6367473"/>
            <a:ext cx="5040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8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800" u="none" cap="none" strike="noStrik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 1">
  <p:cSld name="MASTER_1">
    <p:bg>
      <p:bgPr>
        <a:solidFill>
          <a:srgbClr val="F7F9FC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/>
          <p:nvPr/>
        </p:nvSpPr>
        <p:spPr>
          <a:xfrm>
            <a:off x="0" y="0"/>
            <a:ext cx="12191700" cy="73200"/>
          </a:xfrm>
          <a:prstGeom prst="rect">
            <a:avLst/>
          </a:prstGeom>
          <a:solidFill>
            <a:srgbClr val="17365D"/>
          </a:solidFill>
          <a:ln cap="flat" cmpd="sng" w="12700">
            <a:solidFill>
              <a:srgbClr val="17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" name="Google Shape;94;p15"/>
          <p:cNvCxnSpPr/>
          <p:nvPr/>
        </p:nvCxnSpPr>
        <p:spPr>
          <a:xfrm>
            <a:off x="502920" y="6492240"/>
            <a:ext cx="11183100" cy="0"/>
          </a:xfrm>
          <a:prstGeom prst="straightConnector1">
            <a:avLst/>
          </a:prstGeom>
          <a:noFill/>
          <a:ln cap="flat" cmpd="sng" w="1015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15"/>
          <p:cNvSpPr/>
          <p:nvPr/>
        </p:nvSpPr>
        <p:spPr>
          <a:xfrm>
            <a:off x="502920" y="6528816"/>
            <a:ext cx="5120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78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A7786"/>
                </a:solidFill>
                <a:latin typeface="Arial"/>
                <a:ea typeface="Arial"/>
                <a:cs typeface="Arial"/>
                <a:sym typeface="Arial"/>
              </a:rPr>
              <a:t>Tishreen University • Communication Engineering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6675120" y="6528816"/>
            <a:ext cx="4617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778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A7786"/>
                </a:solidFill>
                <a:latin typeface="Arial"/>
                <a:ea typeface="Arial"/>
                <a:cs typeface="Arial"/>
                <a:sym typeface="Arial"/>
              </a:rPr>
              <a:t>Algorithms &amp; Data Structures in Python • 2026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5"/>
          <p:cNvSpPr txBox="1"/>
          <p:nvPr>
            <p:ph idx="12" type="sldNum"/>
          </p:nvPr>
        </p:nvSpPr>
        <p:spPr>
          <a:xfrm>
            <a:off x="11411712" y="6519672"/>
            <a:ext cx="38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A778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A778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A778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A778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A778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A778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A778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A778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A778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idx="10" type="dt"/>
          </p:nvPr>
        </p:nvSpPr>
        <p:spPr>
          <a:xfrm>
            <a:off x="45721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312428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655337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slide" Target="/ppt/slides/slide9.xml"/><Relationship Id="rId4" Type="http://schemas.openxmlformats.org/officeDocument/2006/relationships/slide" Target="/ppt/slides/slide10.xml"/><Relationship Id="rId5" Type="http://schemas.openxmlformats.org/officeDocument/2006/relationships/slide" Target="/ppt/slides/slide11.xml"/><Relationship Id="rId6" Type="http://schemas.openxmlformats.org/officeDocument/2006/relationships/slide" Target="/ppt/slides/slide12.xml"/><Relationship Id="rId7" Type="http://schemas.openxmlformats.org/officeDocument/2006/relationships/slide" Target="/ppt/slides/slide13.xml"/><Relationship Id="rId8" Type="http://schemas.openxmlformats.org/officeDocument/2006/relationships/slide" Target="/ppt/slides/slide14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slide" Target="/ppt/slides/slide9.xml"/><Relationship Id="rId4" Type="http://schemas.openxmlformats.org/officeDocument/2006/relationships/slide" Target="/ppt/slides/slide10.xml"/><Relationship Id="rId5" Type="http://schemas.openxmlformats.org/officeDocument/2006/relationships/slide" Target="/ppt/slides/slide11.xml"/><Relationship Id="rId6" Type="http://schemas.openxmlformats.org/officeDocument/2006/relationships/slide" Target="/ppt/slides/slide12.xml"/><Relationship Id="rId7" Type="http://schemas.openxmlformats.org/officeDocument/2006/relationships/slide" Target="/ppt/slides/slide13.xml"/><Relationship Id="rId8" Type="http://schemas.openxmlformats.org/officeDocument/2006/relationships/slide" Target="/ppt/slides/slide14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slide" Target="/ppt/slides/slide9.xml"/><Relationship Id="rId4" Type="http://schemas.openxmlformats.org/officeDocument/2006/relationships/slide" Target="/ppt/slides/slide10.xml"/><Relationship Id="rId5" Type="http://schemas.openxmlformats.org/officeDocument/2006/relationships/slide" Target="/ppt/slides/slide11.xml"/><Relationship Id="rId6" Type="http://schemas.openxmlformats.org/officeDocument/2006/relationships/slide" Target="/ppt/slides/slide12.xml"/><Relationship Id="rId7" Type="http://schemas.openxmlformats.org/officeDocument/2006/relationships/slide" Target="/ppt/slides/slide13.xml"/><Relationship Id="rId8" Type="http://schemas.openxmlformats.org/officeDocument/2006/relationships/slide" Target="/ppt/slides/slide14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slide" Target="/ppt/slides/slide9.xml"/><Relationship Id="rId4" Type="http://schemas.openxmlformats.org/officeDocument/2006/relationships/slide" Target="/ppt/slides/slide10.xml"/><Relationship Id="rId5" Type="http://schemas.openxmlformats.org/officeDocument/2006/relationships/slide" Target="/ppt/slides/slide11.xml"/><Relationship Id="rId6" Type="http://schemas.openxmlformats.org/officeDocument/2006/relationships/slide" Target="/ppt/slides/slide12.xml"/><Relationship Id="rId7" Type="http://schemas.openxmlformats.org/officeDocument/2006/relationships/slide" Target="/ppt/slides/slide13.xml"/><Relationship Id="rId8" Type="http://schemas.openxmlformats.org/officeDocument/2006/relationships/slide" Target="/ppt/slides/slide14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slide" Target="/ppt/slides/slide9.xml"/><Relationship Id="rId4" Type="http://schemas.openxmlformats.org/officeDocument/2006/relationships/slide" Target="/ppt/slides/slide10.xml"/><Relationship Id="rId5" Type="http://schemas.openxmlformats.org/officeDocument/2006/relationships/slide" Target="/ppt/slides/slide11.xml"/><Relationship Id="rId6" Type="http://schemas.openxmlformats.org/officeDocument/2006/relationships/slide" Target="/ppt/slides/slide12.xml"/><Relationship Id="rId7" Type="http://schemas.openxmlformats.org/officeDocument/2006/relationships/slide" Target="/ppt/slides/slide13.xml"/><Relationship Id="rId8" Type="http://schemas.openxmlformats.org/officeDocument/2006/relationships/slide" Target="/ppt/slides/slide14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slide" Target="/ppt/slides/slide9.xml"/><Relationship Id="rId4" Type="http://schemas.openxmlformats.org/officeDocument/2006/relationships/slide" Target="/ppt/slides/slide10.xml"/><Relationship Id="rId5" Type="http://schemas.openxmlformats.org/officeDocument/2006/relationships/slide" Target="/ppt/slides/slide11.xml"/><Relationship Id="rId6" Type="http://schemas.openxmlformats.org/officeDocument/2006/relationships/slide" Target="/ppt/slides/slide12.xml"/><Relationship Id="rId7" Type="http://schemas.openxmlformats.org/officeDocument/2006/relationships/slide" Target="/ppt/slides/slide13.xml"/><Relationship Id="rId8" Type="http://schemas.openxmlformats.org/officeDocument/2006/relationships/slide" Target="/ppt/slides/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9.png"/><Relationship Id="rId4" Type="http://schemas.openxmlformats.org/officeDocument/2006/relationships/image" Target="../media/image30.png"/><Relationship Id="rId5" Type="http://schemas.openxmlformats.org/officeDocument/2006/relationships/image" Target="../media/image2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Relationship Id="rId5" Type="http://schemas.openxmlformats.org/officeDocument/2006/relationships/image" Target="../media/image2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1.png"/><Relationship Id="rId4" Type="http://schemas.openxmlformats.org/officeDocument/2006/relationships/image" Target="../media/image2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6.png"/><Relationship Id="rId4" Type="http://schemas.openxmlformats.org/officeDocument/2006/relationships/image" Target="../media/image2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9.png"/><Relationship Id="rId4" Type="http://schemas.openxmlformats.org/officeDocument/2006/relationships/image" Target="../media/image2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9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5.png"/><Relationship Id="rId4" Type="http://schemas.openxmlformats.org/officeDocument/2006/relationships/image" Target="../media/image40.png"/><Relationship Id="rId5" Type="http://schemas.openxmlformats.org/officeDocument/2006/relationships/image" Target="../media/image4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/>
          <p:nvPr/>
        </p:nvSpPr>
        <p:spPr>
          <a:xfrm>
            <a:off x="2661625" y="1586525"/>
            <a:ext cx="6115500" cy="28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Algorithms </a:t>
            </a: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</a:t>
            </a:r>
            <a:r>
              <a:rPr b="1" lang="en-US" sz="32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Structure</a:t>
            </a:r>
            <a:endParaRPr b="0" sz="3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Python</a:t>
            </a:r>
            <a:endParaRPr b="0" sz="3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4610570" y="3951050"/>
            <a:ext cx="2379600" cy="435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F4B081"/>
                </a:solidFill>
                <a:latin typeface="Calibri"/>
                <a:ea typeface="Calibri"/>
                <a:cs typeface="Calibri"/>
                <a:sym typeface="Calibri"/>
              </a:rPr>
              <a:t>Lab_No-1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3495785" y="4836485"/>
            <a:ext cx="4609200" cy="435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Basics of Python Programming 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4832605" y="3582355"/>
            <a:ext cx="20478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Data Types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750780" y="1515240"/>
            <a:ext cx="10493400" cy="42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6CE10D"/>
              </a:buClr>
              <a:buSzPts val="2800"/>
              <a:buFont typeface="Arial"/>
              <a:buChar char="•"/>
            </a:pPr>
            <a:r>
              <a:rPr b="1" lang="en-US" sz="2800" u="none" strike="noStrike">
                <a:solidFill>
                  <a:srgbClr val="204C21"/>
                </a:solidFill>
              </a:rPr>
              <a:t>High Level Programming Language</a:t>
            </a:r>
            <a:r>
              <a:rPr b="0" lang="en-US" sz="2800" u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400"/>
              <a:t>: Python, Java, C++, JavaScript 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6CE10D"/>
              </a:buClr>
              <a:buSzPts val="2800"/>
              <a:buFont typeface="Arial"/>
              <a:buChar char="•"/>
            </a:pPr>
            <a:r>
              <a:rPr b="1" lang="en-US" sz="2800" u="none" strike="noStrike">
                <a:solidFill>
                  <a:srgbClr val="204C21"/>
                </a:solidFill>
              </a:rPr>
              <a:t>Assembly language</a:t>
            </a:r>
            <a:r>
              <a:rPr b="0" lang="en-US" sz="2800" u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0" lang="en-US" sz="2400" u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low-level symbolic representation of machine instructions. </a:t>
            </a:r>
            <a:endParaRPr b="0" sz="2400" u="none" strike="noStrike">
              <a:solidFill>
                <a:srgbClr val="204C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6CE10D"/>
              </a:buClr>
              <a:buSzPts val="2800"/>
              <a:buFont typeface="Arial"/>
              <a:buChar char="•"/>
            </a:pPr>
            <a:r>
              <a:rPr b="1" lang="en-US" sz="2800" u="none" strike="noStrike">
                <a:solidFill>
                  <a:srgbClr val="204C21"/>
                </a:solidFill>
              </a:rPr>
              <a:t>Machine language</a:t>
            </a:r>
            <a:r>
              <a:rPr b="0" lang="en-US" sz="2800" u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/>
              <a:t> </a:t>
            </a:r>
            <a:r>
              <a:rPr lang="en-US" sz="2400"/>
              <a:t>Binary instructions executed directly by the processor: 0s and 1s.</a:t>
            </a:r>
            <a:r>
              <a:rPr lang="en-US"/>
              <a:t> </a:t>
            </a:r>
            <a:endParaRPr b="0" sz="2800" u="none" strike="noStrike">
              <a:solidFill>
                <a:srgbClr val="204C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n-US" sz="2600"/>
              <a:t>Modern </a:t>
            </a:r>
            <a:r>
              <a:rPr b="1" lang="en-US" sz="2600"/>
              <a:t>AI </a:t>
            </a:r>
            <a:r>
              <a:rPr lang="en-US" sz="2600"/>
              <a:t>uses </a:t>
            </a:r>
            <a:r>
              <a:rPr b="1" lang="en-US" sz="2600"/>
              <a:t>Natural Language Processing</a:t>
            </a:r>
            <a:r>
              <a:rPr lang="en-US" sz="2600"/>
              <a:t> (NLP) to enable computers to analyze and generate human language.</a:t>
            </a:r>
            <a:endParaRPr sz="3000"/>
          </a:p>
        </p:txBody>
      </p:sp>
      <p:sp>
        <p:nvSpPr>
          <p:cNvPr id="116" name="Google Shape;116;p18"/>
          <p:cNvSpPr txBox="1"/>
          <p:nvPr>
            <p:ph type="title"/>
          </p:nvPr>
        </p:nvSpPr>
        <p:spPr>
          <a:xfrm>
            <a:off x="818280" y="188280"/>
            <a:ext cx="10493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Languages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818280" y="1114560"/>
            <a:ext cx="10493400" cy="50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sz="2800" u="none" strike="noStrike">
              <a:solidFill>
                <a:srgbClr val="204C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9"/>
          <p:cNvSpPr txBox="1"/>
          <p:nvPr>
            <p:ph type="title"/>
          </p:nvPr>
        </p:nvSpPr>
        <p:spPr>
          <a:xfrm>
            <a:off x="818280" y="188280"/>
            <a:ext cx="10493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Programs Execution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5242680" y="1175400"/>
            <a:ext cx="2376600" cy="1033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Level Language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Python, Java, Cpp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5242680" y="4406400"/>
            <a:ext cx="2376600" cy="1033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Machine Language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5242680" y="2695320"/>
            <a:ext cx="2376600" cy="1033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Compiler / Interpreter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p19"/>
          <p:cNvCxnSpPr>
            <a:stCxn id="123" idx="2"/>
            <a:endCxn id="125" idx="0"/>
          </p:cNvCxnSpPr>
          <p:nvPr/>
        </p:nvCxnSpPr>
        <p:spPr>
          <a:xfrm flipH="1" rot="-5400000">
            <a:off x="6188130" y="2451750"/>
            <a:ext cx="486300" cy="600"/>
          </a:xfrm>
          <a:prstGeom prst="curvedConnector3">
            <a:avLst>
              <a:gd fmla="val 50006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" name="Google Shape;127;p19"/>
          <p:cNvCxnSpPr>
            <a:stCxn id="125" idx="2"/>
            <a:endCxn id="124" idx="0"/>
          </p:cNvCxnSpPr>
          <p:nvPr/>
        </p:nvCxnSpPr>
        <p:spPr>
          <a:xfrm flipH="1" rot="-5400000">
            <a:off x="6092430" y="4067370"/>
            <a:ext cx="677700" cy="600"/>
          </a:xfrm>
          <a:prstGeom prst="curvedConnector3">
            <a:avLst>
              <a:gd fmla="val 49991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916250" y="1407919"/>
            <a:ext cx="10493400" cy="46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2800"/>
              <a:buFont typeface="Arial"/>
              <a:buChar char="•"/>
            </a:pPr>
            <a:r>
              <a:rPr b="0" lang="en-US" sz="2800" u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Sequence</a:t>
            </a:r>
            <a:endParaRPr b="0" sz="2800" u="none" strike="noStrike">
              <a:solidFill>
                <a:srgbClr val="204C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6CE10D"/>
              </a:buClr>
              <a:buSzPts val="2800"/>
              <a:buFont typeface="Arial"/>
              <a:buChar char="•"/>
            </a:pPr>
            <a:r>
              <a:rPr b="0" lang="en-US" sz="2800" u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Decision</a:t>
            </a:r>
            <a:endParaRPr b="0" sz="2800" u="none" strike="noStrike">
              <a:solidFill>
                <a:srgbClr val="204C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6CE10D"/>
              </a:buClr>
              <a:buSzPts val="2800"/>
              <a:buFont typeface="Arial"/>
              <a:buChar char="•"/>
            </a:pPr>
            <a:r>
              <a:rPr b="0" lang="en-US" sz="2800" u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Repetition</a:t>
            </a:r>
            <a:endParaRPr b="0" sz="2800" u="none" strike="noStrike">
              <a:solidFill>
                <a:srgbClr val="204C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20"/>
          <p:cNvSpPr txBox="1"/>
          <p:nvPr>
            <p:ph type="title"/>
          </p:nvPr>
        </p:nvSpPr>
        <p:spPr>
          <a:xfrm>
            <a:off x="818280" y="188280"/>
            <a:ext cx="10493280" cy="76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Structures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5005548" y="1571089"/>
            <a:ext cx="384060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3478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5234154" y="1827121"/>
            <a:ext cx="384000" cy="384000"/>
          </a:xfrm>
          <a:prstGeom prst="ellipse">
            <a:avLst/>
          </a:prstGeom>
          <a:solidFill>
            <a:srgbClr val="3478F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5234154" y="1868269"/>
            <a:ext cx="3840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1</a:t>
            </a:r>
            <a:endParaRPr/>
          </a:p>
        </p:txBody>
      </p:sp>
      <p:sp>
        <p:nvSpPr>
          <p:cNvPr id="137" name="Google Shape;137;p20"/>
          <p:cNvSpPr txBox="1"/>
          <p:nvPr/>
        </p:nvSpPr>
        <p:spPr>
          <a:xfrm>
            <a:off x="6064966" y="1916069"/>
            <a:ext cx="18288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478F6"/>
                </a:solidFill>
                <a:latin typeface="Carlito"/>
                <a:ea typeface="Carlito"/>
                <a:cs typeface="Carlito"/>
                <a:sym typeface="Carlito"/>
              </a:rPr>
              <a:t>INPUT</a:t>
            </a:r>
            <a:endParaRPr/>
          </a:p>
        </p:txBody>
      </p:sp>
      <p:cxnSp>
        <p:nvCxnSpPr>
          <p:cNvPr id="138" name="Google Shape;138;p20"/>
          <p:cNvCxnSpPr/>
          <p:nvPr/>
        </p:nvCxnSpPr>
        <p:spPr>
          <a:xfrm>
            <a:off x="6880118" y="2485489"/>
            <a:ext cx="0" cy="411600"/>
          </a:xfrm>
          <a:prstGeom prst="straightConnector1">
            <a:avLst/>
          </a:prstGeom>
          <a:noFill/>
          <a:ln cap="flat" cmpd="sng" w="20300">
            <a:solidFill>
              <a:srgbClr val="18A8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39" name="Google Shape;139;p20"/>
          <p:cNvSpPr/>
          <p:nvPr/>
        </p:nvSpPr>
        <p:spPr>
          <a:xfrm rot="10800000">
            <a:off x="6829911" y="2846761"/>
            <a:ext cx="100500" cy="100500"/>
          </a:xfrm>
          <a:prstGeom prst="triangle">
            <a:avLst>
              <a:gd fmla="val 50000" name="adj"/>
            </a:avLst>
          </a:prstGeom>
          <a:solidFill>
            <a:srgbClr val="18A89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5005548" y="2988409"/>
            <a:ext cx="384060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7657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0"/>
          <p:cNvSpPr/>
          <p:nvPr/>
        </p:nvSpPr>
        <p:spPr>
          <a:xfrm>
            <a:off x="5234154" y="3244441"/>
            <a:ext cx="384000" cy="384000"/>
          </a:xfrm>
          <a:prstGeom prst="ellipse">
            <a:avLst/>
          </a:prstGeom>
          <a:solidFill>
            <a:srgbClr val="7657E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5234154" y="3285589"/>
            <a:ext cx="3840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2</a:t>
            </a:r>
            <a:endParaRPr/>
          </a:p>
        </p:txBody>
      </p:sp>
      <p:sp>
        <p:nvSpPr>
          <p:cNvPr id="143" name="Google Shape;143;p20"/>
          <p:cNvSpPr txBox="1"/>
          <p:nvPr/>
        </p:nvSpPr>
        <p:spPr>
          <a:xfrm>
            <a:off x="6011441" y="3315839"/>
            <a:ext cx="18288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7657E0"/>
                </a:solidFill>
                <a:latin typeface="Carlito"/>
                <a:ea typeface="Carlito"/>
                <a:cs typeface="Carlito"/>
                <a:sym typeface="Carlito"/>
              </a:rPr>
              <a:t>Process</a:t>
            </a:r>
            <a:endParaRPr/>
          </a:p>
        </p:txBody>
      </p:sp>
      <p:cxnSp>
        <p:nvCxnSpPr>
          <p:cNvPr id="144" name="Google Shape;144;p20"/>
          <p:cNvCxnSpPr/>
          <p:nvPr/>
        </p:nvCxnSpPr>
        <p:spPr>
          <a:xfrm>
            <a:off x="6880118" y="3902809"/>
            <a:ext cx="0" cy="411600"/>
          </a:xfrm>
          <a:prstGeom prst="straightConnector1">
            <a:avLst/>
          </a:prstGeom>
          <a:noFill/>
          <a:ln cap="flat" cmpd="sng" w="20300">
            <a:solidFill>
              <a:srgbClr val="18A8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45" name="Google Shape;145;p20"/>
          <p:cNvSpPr/>
          <p:nvPr/>
        </p:nvSpPr>
        <p:spPr>
          <a:xfrm rot="10800000">
            <a:off x="6829911" y="4264081"/>
            <a:ext cx="100500" cy="100500"/>
          </a:xfrm>
          <a:prstGeom prst="triangle">
            <a:avLst>
              <a:gd fmla="val 50000" name="adj"/>
            </a:avLst>
          </a:prstGeom>
          <a:solidFill>
            <a:srgbClr val="18A89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5005548" y="4405729"/>
            <a:ext cx="384060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18A8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5234154" y="4661761"/>
            <a:ext cx="384000" cy="384000"/>
          </a:xfrm>
          <a:prstGeom prst="ellipse">
            <a:avLst/>
          </a:prstGeom>
          <a:solidFill>
            <a:srgbClr val="18A89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5234154" y="4702909"/>
            <a:ext cx="3840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3</a:t>
            </a:r>
            <a:endParaRPr/>
          </a:p>
        </p:txBody>
      </p:sp>
      <p:sp>
        <p:nvSpPr>
          <p:cNvPr id="149" name="Google Shape;149;p20"/>
          <p:cNvSpPr txBox="1"/>
          <p:nvPr/>
        </p:nvSpPr>
        <p:spPr>
          <a:xfrm>
            <a:off x="5965716" y="4565409"/>
            <a:ext cx="18288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8A896"/>
                </a:solidFill>
                <a:latin typeface="Carlito"/>
                <a:ea typeface="Carlito"/>
                <a:cs typeface="Carlito"/>
                <a:sym typeface="Carlito"/>
              </a:rPr>
              <a:t>Output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>
            <p:ph idx="1" type="body"/>
          </p:nvPr>
        </p:nvSpPr>
        <p:spPr>
          <a:xfrm>
            <a:off x="747000" y="954720"/>
            <a:ext cx="10493280" cy="50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2400"/>
              <a:buFont typeface="Arial"/>
              <a:buChar char="•"/>
            </a:pPr>
            <a:r>
              <a:rPr b="1" lang="en-US" sz="2400" u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UML (Unified Modeling Language)</a:t>
            </a:r>
            <a:endParaRPr b="0" sz="2400" u="none" strike="noStrike">
              <a:solidFill>
                <a:srgbClr val="204C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685800" rtl="0" algn="just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D70BA2"/>
              </a:buClr>
              <a:buSzPts val="2000"/>
              <a:buFont typeface="Arial"/>
              <a:buChar char="•"/>
            </a:pPr>
            <a:r>
              <a:rPr b="0" lang="en-US" sz="2000" u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-US" sz="2000" u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 way to represent</a:t>
            </a:r>
            <a:r>
              <a:rPr b="0" lang="en-US" sz="2000" u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structure and flow of an algorithm or system. </a:t>
            </a:r>
            <a:endParaRPr b="0" sz="2000" u="none" strike="noStrike">
              <a:solidFill>
                <a:srgbClr val="204C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685800" rtl="0" algn="just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D70BA2"/>
              </a:buClr>
              <a:buSzPts val="2000"/>
              <a:buFont typeface="Arial"/>
              <a:buChar char="•"/>
            </a:pPr>
            <a:r>
              <a:rPr b="0" lang="en-US" sz="2000" u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diagrams to show the </a:t>
            </a:r>
            <a:r>
              <a:rPr b="1" lang="en-US" sz="2000" u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steps, decisions, actions, and relationships</a:t>
            </a:r>
            <a:r>
              <a:rPr b="0" lang="en-US" sz="2000" u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b="0" sz="2000" u="none" strike="noStrike">
              <a:solidFill>
                <a:srgbClr val="204C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685800" rtl="0" algn="just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D70BA2"/>
              </a:buClr>
              <a:buSzPts val="2000"/>
              <a:buFont typeface="Arial"/>
              <a:buChar char="•"/>
            </a:pPr>
            <a:r>
              <a:rPr b="0" lang="en-US" sz="2000" u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learners understand the </a:t>
            </a:r>
            <a:r>
              <a:rPr b="1" lang="en-US" sz="2000" u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 picture</a:t>
            </a:r>
            <a:r>
              <a:rPr b="0" lang="en-US" sz="2000" u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without focusing on programming-language syntax. </a:t>
            </a:r>
            <a:endParaRPr b="0" sz="2000" u="none" strike="noStrike">
              <a:solidFill>
                <a:srgbClr val="204C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sz="2000" u="none" strike="noStrike">
              <a:solidFill>
                <a:srgbClr val="204C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6CE10D"/>
              </a:buClr>
              <a:buSzPts val="2400"/>
              <a:buFont typeface="Arial"/>
              <a:buChar char="•"/>
            </a:pPr>
            <a:r>
              <a:rPr b="1" lang="en-US" sz="2400" u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Pseudocode</a:t>
            </a:r>
            <a:endParaRPr b="0" sz="2400" u="none" strike="noStrike">
              <a:solidFill>
                <a:srgbClr val="204C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685800" rtl="0" algn="just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D70BA2"/>
              </a:buClr>
              <a:buSzPts val="2000"/>
              <a:buFont typeface="Arial"/>
              <a:buChar char="•"/>
            </a:pPr>
            <a:r>
              <a:rPr b="0" lang="en-US" sz="2000" u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-US" sz="2000" u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text-based description</a:t>
            </a:r>
            <a:r>
              <a:rPr b="0" lang="en-US" sz="2000" u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an algorithm written in simple, structured language. </a:t>
            </a:r>
            <a:endParaRPr b="0" sz="2000" u="none" strike="noStrike">
              <a:solidFill>
                <a:srgbClr val="204C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685800" rtl="0" algn="just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D70BA2"/>
              </a:buClr>
              <a:buSzPts val="2000"/>
              <a:buFont typeface="Arial"/>
              <a:buChar char="•"/>
            </a:pPr>
            <a:r>
              <a:rPr b="0" lang="en-US" sz="2000" u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Expresses the algorithm as </a:t>
            </a:r>
            <a:r>
              <a:rPr b="1" lang="en-US" sz="2000" u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steps, decisions, loops, inputs, and outputs</a:t>
            </a:r>
            <a:r>
              <a:rPr b="0" lang="en-US" sz="2000" u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b="0" sz="2000" u="none" strike="noStrike">
              <a:solidFill>
                <a:srgbClr val="204C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685800" rtl="0" algn="just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D70BA2"/>
              </a:buClr>
              <a:buSzPts val="2000"/>
              <a:buFont typeface="Arial"/>
              <a:buChar char="•"/>
            </a:pPr>
            <a:r>
              <a:rPr b="0" lang="en-US" sz="2000" u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r>
              <a:rPr b="1" lang="en-US" sz="2000" u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independent of any programming language</a:t>
            </a:r>
            <a:r>
              <a:rPr b="0" lang="en-US" sz="2000" u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b="0" sz="2000" u="none" strike="noStrike">
              <a:solidFill>
                <a:srgbClr val="204C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2400" u="none" strike="noStrike">
              <a:solidFill>
                <a:srgbClr val="204C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21"/>
          <p:cNvSpPr txBox="1"/>
          <p:nvPr>
            <p:ph type="title"/>
          </p:nvPr>
        </p:nvSpPr>
        <p:spPr>
          <a:xfrm>
            <a:off x="818280" y="188280"/>
            <a:ext cx="10493280" cy="76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62500" lnSpcReduction="19999"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ct val="100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Representation of Algorithms</a:t>
            </a:r>
            <a:br>
              <a:rPr b="0" i="0" lang="en-US" sz="4000" u="none" cap="none" strike="noStrike">
                <a:solidFill>
                  <a:srgbClr val="204C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/>
          <p:nvPr/>
        </p:nvSpPr>
        <p:spPr>
          <a:xfrm>
            <a:off x="3266280" y="1230120"/>
            <a:ext cx="4264200" cy="465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2"/>
          <p:cNvSpPr/>
          <p:nvPr/>
        </p:nvSpPr>
        <p:spPr>
          <a:xfrm>
            <a:off x="476640" y="1230120"/>
            <a:ext cx="2349000" cy="465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2"/>
          <p:cNvSpPr txBox="1"/>
          <p:nvPr>
            <p:ph type="title"/>
          </p:nvPr>
        </p:nvSpPr>
        <p:spPr>
          <a:xfrm>
            <a:off x="655560" y="-37080"/>
            <a:ext cx="10493280" cy="76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UML Algorithm Representation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22"/>
          <p:cNvSpPr/>
          <p:nvPr/>
        </p:nvSpPr>
        <p:spPr>
          <a:xfrm>
            <a:off x="925200" y="1730880"/>
            <a:ext cx="1545480" cy="464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 1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981000" y="2588760"/>
            <a:ext cx="1545480" cy="464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 2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2"/>
          <p:cNvSpPr/>
          <p:nvPr/>
        </p:nvSpPr>
        <p:spPr>
          <a:xfrm>
            <a:off x="981000" y="3429000"/>
            <a:ext cx="1545480" cy="464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 3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2"/>
          <p:cNvSpPr/>
          <p:nvPr/>
        </p:nvSpPr>
        <p:spPr>
          <a:xfrm>
            <a:off x="981000" y="4824000"/>
            <a:ext cx="1545480" cy="464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  N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2"/>
          <p:cNvSpPr/>
          <p:nvPr/>
        </p:nvSpPr>
        <p:spPr>
          <a:xfrm>
            <a:off x="1629360" y="2227680"/>
            <a:ext cx="215280" cy="36036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2700">
            <a:solidFill>
              <a:srgbClr val="ED7D3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2"/>
          <p:cNvSpPr/>
          <p:nvPr/>
        </p:nvSpPr>
        <p:spPr>
          <a:xfrm>
            <a:off x="1573920" y="3061080"/>
            <a:ext cx="215280" cy="36036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2700">
            <a:solidFill>
              <a:srgbClr val="ED7D3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1562760" y="4463280"/>
            <a:ext cx="215280" cy="36036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2700">
            <a:solidFill>
              <a:srgbClr val="ED7D3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1680" y="1963440"/>
            <a:ext cx="1128600" cy="71964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2"/>
          <p:cNvSpPr/>
          <p:nvPr/>
        </p:nvSpPr>
        <p:spPr>
          <a:xfrm>
            <a:off x="5902200" y="2821680"/>
            <a:ext cx="1545480" cy="439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5900400" y="3481920"/>
            <a:ext cx="1545480" cy="464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3342960" y="2759040"/>
            <a:ext cx="1545480" cy="464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 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3330720" y="3661920"/>
            <a:ext cx="1545480" cy="464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 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2"/>
          <p:cNvSpPr/>
          <p:nvPr/>
        </p:nvSpPr>
        <p:spPr>
          <a:xfrm>
            <a:off x="5422860" y="1036802"/>
            <a:ext cx="246300" cy="618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2700">
            <a:solidFill>
              <a:srgbClr val="ED7D3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2"/>
          <p:cNvSpPr/>
          <p:nvPr/>
        </p:nvSpPr>
        <p:spPr>
          <a:xfrm>
            <a:off x="5175000" y="5411880"/>
            <a:ext cx="215280" cy="81972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2700">
            <a:solidFill>
              <a:srgbClr val="ED7D3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1579320" y="1166400"/>
            <a:ext cx="198720" cy="50976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2700">
            <a:solidFill>
              <a:srgbClr val="ED7D3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2"/>
          <p:cNvSpPr/>
          <p:nvPr/>
        </p:nvSpPr>
        <p:spPr>
          <a:xfrm>
            <a:off x="1526760" y="5345640"/>
            <a:ext cx="262440" cy="71424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2700">
            <a:solidFill>
              <a:srgbClr val="ED7D3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22"/>
          <p:cNvCxnSpPr>
            <a:stCxn id="170" idx="3"/>
            <a:endCxn id="171" idx="0"/>
          </p:cNvCxnSpPr>
          <p:nvPr/>
        </p:nvCxnSpPr>
        <p:spPr>
          <a:xfrm>
            <a:off x="6110280" y="2323260"/>
            <a:ext cx="564600" cy="498300"/>
          </a:xfrm>
          <a:prstGeom prst="bentConnector2">
            <a:avLst/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0" name="Google Shape;180;p22"/>
          <p:cNvCxnSpPr>
            <a:stCxn id="170" idx="1"/>
            <a:endCxn id="173" idx="0"/>
          </p:cNvCxnSpPr>
          <p:nvPr/>
        </p:nvCxnSpPr>
        <p:spPr>
          <a:xfrm flipH="1">
            <a:off x="4115580" y="2323260"/>
            <a:ext cx="866100" cy="435900"/>
          </a:xfrm>
          <a:prstGeom prst="bentConnector2">
            <a:avLst/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1" name="Google Shape;181;p22"/>
          <p:cNvSpPr/>
          <p:nvPr/>
        </p:nvSpPr>
        <p:spPr>
          <a:xfrm>
            <a:off x="5167080" y="5210640"/>
            <a:ext cx="231120" cy="23112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22"/>
          <p:cNvCxnSpPr/>
          <p:nvPr/>
        </p:nvCxnSpPr>
        <p:spPr>
          <a:xfrm rot="5400000">
            <a:off x="5335470" y="4008270"/>
            <a:ext cx="1344000" cy="13317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3" name="Google Shape;183;p22"/>
          <p:cNvCxnSpPr>
            <a:stCxn id="174" idx="2"/>
            <a:endCxn id="181" idx="2"/>
          </p:cNvCxnSpPr>
          <p:nvPr/>
        </p:nvCxnSpPr>
        <p:spPr>
          <a:xfrm flipH="1" rot="-5400000">
            <a:off x="4035510" y="4194630"/>
            <a:ext cx="1199400" cy="1063500"/>
          </a:xfrm>
          <a:prstGeom prst="bentConnector2">
            <a:avLst/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4" name="Google Shape;184;p22"/>
          <p:cNvSpPr/>
          <p:nvPr/>
        </p:nvSpPr>
        <p:spPr>
          <a:xfrm>
            <a:off x="5026320" y="2095560"/>
            <a:ext cx="1069200" cy="36756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2"/>
          <p:cNvSpPr/>
          <p:nvPr/>
        </p:nvSpPr>
        <p:spPr>
          <a:xfrm>
            <a:off x="6211440" y="1978200"/>
            <a:ext cx="591120" cy="36396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4006440" y="1922400"/>
            <a:ext cx="644400" cy="36396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7760160" y="1166400"/>
            <a:ext cx="4264200" cy="4654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6880" y="2003400"/>
            <a:ext cx="1262520" cy="88668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2"/>
          <p:cNvSpPr/>
          <p:nvPr/>
        </p:nvSpPr>
        <p:spPr>
          <a:xfrm>
            <a:off x="9908280" y="3184920"/>
            <a:ext cx="1545480" cy="464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9875160" y="3769560"/>
            <a:ext cx="1545480" cy="464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9631800" y="1001520"/>
            <a:ext cx="215280" cy="36036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2700">
            <a:solidFill>
              <a:srgbClr val="ED7D3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p22"/>
          <p:cNvCxnSpPr>
            <a:stCxn id="188" idx="3"/>
            <a:endCxn id="189" idx="0"/>
          </p:cNvCxnSpPr>
          <p:nvPr/>
        </p:nvCxnSpPr>
        <p:spPr>
          <a:xfrm>
            <a:off x="10409400" y="2446740"/>
            <a:ext cx="271500" cy="738300"/>
          </a:xfrm>
          <a:prstGeom prst="bentConnector2">
            <a:avLst/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3" name="Google Shape;193;p22"/>
          <p:cNvCxnSpPr>
            <a:stCxn id="188" idx="1"/>
            <a:endCxn id="194" idx="0"/>
          </p:cNvCxnSpPr>
          <p:nvPr/>
        </p:nvCxnSpPr>
        <p:spPr>
          <a:xfrm>
            <a:off x="9146880" y="2446740"/>
            <a:ext cx="561000" cy="2783400"/>
          </a:xfrm>
          <a:prstGeom prst="bentConnector4">
            <a:avLst>
              <a:gd fmla="val -40774" name="adj1"/>
              <a:gd fmla="val 57983" name="adj2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4" name="Google Shape;194;p22"/>
          <p:cNvSpPr/>
          <p:nvPr/>
        </p:nvSpPr>
        <p:spPr>
          <a:xfrm>
            <a:off x="9592200" y="5230080"/>
            <a:ext cx="231120" cy="23112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22"/>
          <p:cNvCxnSpPr>
            <a:stCxn id="196" idx="1"/>
            <a:endCxn id="190" idx="2"/>
          </p:cNvCxnSpPr>
          <p:nvPr/>
        </p:nvCxnSpPr>
        <p:spPr>
          <a:xfrm flipH="1" rot="-5400000">
            <a:off x="8738467" y="2324707"/>
            <a:ext cx="2839200" cy="979800"/>
          </a:xfrm>
          <a:prstGeom prst="bentConnector5">
            <a:avLst>
              <a:gd fmla="val 3658" name="adj1"/>
              <a:gd fmla="val 212576" name="adj2"/>
              <a:gd fmla="val 108101" name="adj3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7" name="Google Shape;197;p22"/>
          <p:cNvSpPr/>
          <p:nvPr/>
        </p:nvSpPr>
        <p:spPr>
          <a:xfrm>
            <a:off x="9224640" y="2212560"/>
            <a:ext cx="1069200" cy="36756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10068120" y="1982160"/>
            <a:ext cx="591120" cy="36396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8704800" y="1982160"/>
            <a:ext cx="644400" cy="36396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9634320" y="1361160"/>
            <a:ext cx="231120" cy="23112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22"/>
          <p:cNvCxnSpPr>
            <a:endCxn id="188" idx="0"/>
          </p:cNvCxnSpPr>
          <p:nvPr/>
        </p:nvCxnSpPr>
        <p:spPr>
          <a:xfrm flipH="1">
            <a:off x="9778140" y="1573200"/>
            <a:ext cx="14400" cy="43020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1" name="Google Shape;201;p22"/>
          <p:cNvSpPr/>
          <p:nvPr/>
        </p:nvSpPr>
        <p:spPr>
          <a:xfrm>
            <a:off x="9586263" y="5500085"/>
            <a:ext cx="243000" cy="643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2700">
            <a:solidFill>
              <a:srgbClr val="ED7D3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644578" y="620282"/>
            <a:ext cx="22182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Sequential Structures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4293720" y="626040"/>
            <a:ext cx="2148120" cy="36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 Structure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8438040" y="620280"/>
            <a:ext cx="2596680" cy="36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Repetition  Structures of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" name="Google Shape;205;p22"/>
          <p:cNvCxnSpPr>
            <a:endCxn id="172" idx="0"/>
          </p:cNvCxnSpPr>
          <p:nvPr/>
        </p:nvCxnSpPr>
        <p:spPr>
          <a:xfrm>
            <a:off x="6672540" y="3421320"/>
            <a:ext cx="600" cy="60600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206" name="Google Shape;206;p22"/>
          <p:cNvCxnSpPr>
            <a:stCxn id="173" idx="2"/>
            <a:endCxn id="174" idx="0"/>
          </p:cNvCxnSpPr>
          <p:nvPr/>
        </p:nvCxnSpPr>
        <p:spPr>
          <a:xfrm rot="5400000">
            <a:off x="3890550" y="3436650"/>
            <a:ext cx="438000" cy="12300"/>
          </a:xfrm>
          <a:prstGeom prst="bentConnector3">
            <a:avLst>
              <a:gd fmla="val 50055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7" name="Google Shape;207;p22"/>
          <p:cNvCxnSpPr>
            <a:endCxn id="172" idx="0"/>
          </p:cNvCxnSpPr>
          <p:nvPr/>
        </p:nvCxnSpPr>
        <p:spPr>
          <a:xfrm rot="5400000">
            <a:off x="6568290" y="3370470"/>
            <a:ext cx="216300" cy="6600"/>
          </a:xfrm>
          <a:prstGeom prst="bentConnector3">
            <a:avLst>
              <a:gd fmla="val 50236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 txBox="1"/>
          <p:nvPr>
            <p:ph idx="1" type="body"/>
          </p:nvPr>
        </p:nvSpPr>
        <p:spPr>
          <a:xfrm>
            <a:off x="818280" y="1114560"/>
            <a:ext cx="10493280" cy="50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sz="2800" u="none" strike="noStrike">
              <a:solidFill>
                <a:srgbClr val="204C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23"/>
          <p:cNvSpPr txBox="1"/>
          <p:nvPr>
            <p:ph type="title"/>
          </p:nvPr>
        </p:nvSpPr>
        <p:spPr>
          <a:xfrm>
            <a:off x="818280" y="188280"/>
            <a:ext cx="10493280" cy="76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lang="en-US"/>
              <a:t> Pseudo Code  Algorithm Representation</a:t>
            </a:r>
            <a:endParaRPr/>
          </a:p>
        </p:txBody>
      </p:sp>
      <p:sp>
        <p:nvSpPr>
          <p:cNvPr id="214" name="Google Shape;214;p23"/>
          <p:cNvSpPr/>
          <p:nvPr/>
        </p:nvSpPr>
        <p:spPr>
          <a:xfrm>
            <a:off x="7980840" y="1711800"/>
            <a:ext cx="2011320" cy="456840"/>
          </a:xfrm>
          <a:prstGeom prst="roundRect">
            <a:avLst>
              <a:gd fmla="val 16667" name="adj"/>
            </a:avLst>
          </a:prstGeom>
          <a:solidFill>
            <a:srgbClr val="E8F1FB"/>
          </a:solidFill>
          <a:ln cap="flat" cmpd="sng" w="12700">
            <a:solidFill>
              <a:srgbClr val="2E77D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7706520" y="2534760"/>
            <a:ext cx="2559960" cy="529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E77D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Read unit_price, quantity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7706520" y="3449160"/>
            <a:ext cx="2559960" cy="529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C9C6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total ← unit_price × quantity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7706520" y="4363560"/>
            <a:ext cx="2559960" cy="529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2A93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Display total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7980840" y="5168520"/>
            <a:ext cx="2011320" cy="456840"/>
          </a:xfrm>
          <a:prstGeom prst="roundRect">
            <a:avLst>
              <a:gd fmla="val 16667" name="adj"/>
            </a:avLst>
          </a:prstGeom>
          <a:solidFill>
            <a:srgbClr val="E8F5EE"/>
          </a:solidFill>
          <a:ln cap="flat" cmpd="sng" w="12700">
            <a:solidFill>
              <a:srgbClr val="2C9C6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" name="Google Shape;219;p23"/>
          <p:cNvCxnSpPr/>
          <p:nvPr/>
        </p:nvCxnSpPr>
        <p:spPr>
          <a:xfrm>
            <a:off x="8986320" y="2169000"/>
            <a:ext cx="360" cy="366120"/>
          </a:xfrm>
          <a:prstGeom prst="straightConnector1">
            <a:avLst/>
          </a:prstGeom>
          <a:noFill/>
          <a:ln cap="flat" cmpd="sng" w="19050">
            <a:solidFill>
              <a:srgbClr val="2E77D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0" name="Google Shape;220;p23"/>
          <p:cNvCxnSpPr/>
          <p:nvPr/>
        </p:nvCxnSpPr>
        <p:spPr>
          <a:xfrm>
            <a:off x="8986320" y="3065040"/>
            <a:ext cx="360" cy="384480"/>
          </a:xfrm>
          <a:prstGeom prst="straightConnector1">
            <a:avLst/>
          </a:prstGeom>
          <a:noFill/>
          <a:ln cap="flat" cmpd="sng" w="19050">
            <a:solidFill>
              <a:srgbClr val="2E77D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" name="Google Shape;221;p23"/>
          <p:cNvCxnSpPr/>
          <p:nvPr/>
        </p:nvCxnSpPr>
        <p:spPr>
          <a:xfrm>
            <a:off x="8986320" y="3979440"/>
            <a:ext cx="360" cy="384480"/>
          </a:xfrm>
          <a:prstGeom prst="straightConnector1">
            <a:avLst/>
          </a:prstGeom>
          <a:noFill/>
          <a:ln cap="flat" cmpd="sng" w="19050">
            <a:solidFill>
              <a:srgbClr val="2E77D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p23"/>
          <p:cNvCxnSpPr/>
          <p:nvPr/>
        </p:nvCxnSpPr>
        <p:spPr>
          <a:xfrm>
            <a:off x="8986320" y="4893840"/>
            <a:ext cx="360" cy="274680"/>
          </a:xfrm>
          <a:prstGeom prst="straightConnector1">
            <a:avLst/>
          </a:prstGeom>
          <a:noFill/>
          <a:ln cap="flat" cmpd="sng" w="19050">
            <a:solidFill>
              <a:srgbClr val="2E77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23"/>
          <p:cNvSpPr/>
          <p:nvPr/>
        </p:nvSpPr>
        <p:spPr>
          <a:xfrm>
            <a:off x="1357560" y="1270080"/>
            <a:ext cx="3977280" cy="4160160"/>
          </a:xfrm>
          <a:prstGeom prst="roundRect">
            <a:avLst>
              <a:gd fmla="val 16667" name="adj"/>
            </a:avLst>
          </a:prstGeom>
          <a:solidFill>
            <a:srgbClr val="121B2B"/>
          </a:solidFill>
          <a:ln cap="flat" cmpd="sng" w="12700">
            <a:solidFill>
              <a:srgbClr val="121B2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1558800" y="1800360"/>
            <a:ext cx="3492720" cy="306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F5F7FA"/>
                </a:solidFill>
                <a:latin typeface="Consolas"/>
                <a:ea typeface="Consolas"/>
                <a:cs typeface="Consolas"/>
                <a:sym typeface="Consolas"/>
              </a:rPr>
              <a:t>INPUT unit_price, quantity</a:t>
            </a:r>
            <a:endParaRPr b="0" sz="1400" u="none" strike="noStrike">
              <a:solidFill>
                <a:srgbClr val="F5F7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5F7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F5F7FA"/>
                </a:solidFill>
                <a:latin typeface="Consolas"/>
                <a:ea typeface="Consolas"/>
                <a:cs typeface="Consolas"/>
                <a:sym typeface="Consolas"/>
              </a:rPr>
              <a:t>REQUIRE unit_price ≥ 0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F5F7FA"/>
                </a:solidFill>
                <a:latin typeface="Consolas"/>
                <a:ea typeface="Consolas"/>
                <a:cs typeface="Consolas"/>
                <a:sym typeface="Consolas"/>
              </a:rPr>
              <a:t>REQUIRE quantity ≥ 0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F5F7FA"/>
                </a:solidFill>
                <a:latin typeface="Consolas"/>
                <a:ea typeface="Consolas"/>
                <a:cs typeface="Consolas"/>
                <a:sym typeface="Consolas"/>
              </a:rPr>
              <a:t>total ← unit_price × quantity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F5F7FA"/>
                </a:solidFill>
                <a:latin typeface="Consolas"/>
                <a:ea typeface="Consolas"/>
                <a:cs typeface="Consolas"/>
                <a:sym typeface="Consolas"/>
              </a:rPr>
              <a:t>OUTPUT total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5220360" y="6083290"/>
            <a:ext cx="5531700" cy="383700"/>
          </a:xfrm>
          <a:prstGeom prst="roundRect">
            <a:avLst>
              <a:gd fmla="val 16667" name="adj"/>
            </a:avLst>
          </a:prstGeom>
          <a:solidFill>
            <a:srgbClr val="E8F1FB"/>
          </a:solidFill>
          <a:ln cap="flat" cmpd="sng" w="12700">
            <a:solidFill>
              <a:srgbClr val="E8F1F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0" u="none" strike="noStrike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Predict first: unit_price = 12.5 and quantity = 3  →  total = ?</a:t>
            </a:r>
            <a:endParaRPr b="0" sz="106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 txBox="1"/>
          <p:nvPr>
            <p:ph type="title"/>
          </p:nvPr>
        </p:nvSpPr>
        <p:spPr>
          <a:xfrm>
            <a:off x="818280" y="188280"/>
            <a:ext cx="10493280" cy="76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Big-O  Notation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1" name="Google Shape;23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680" y="1964520"/>
            <a:ext cx="9193320" cy="39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4"/>
          <p:cNvSpPr/>
          <p:nvPr/>
        </p:nvSpPr>
        <p:spPr>
          <a:xfrm>
            <a:off x="4033440" y="5903280"/>
            <a:ext cx="4124880" cy="37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At n = 32, n² = 1024 while n log₂ n = 160.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4"/>
          <p:cNvSpPr txBox="1"/>
          <p:nvPr>
            <p:ph idx="1" type="body"/>
          </p:nvPr>
        </p:nvSpPr>
        <p:spPr>
          <a:xfrm>
            <a:off x="849240" y="954720"/>
            <a:ext cx="10493280" cy="108432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1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2800"/>
              <a:buFont typeface="Arial"/>
              <a:buChar char="•"/>
            </a:pPr>
            <a:r>
              <a:rPr b="0" lang="en-US" sz="280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sz="2800" u="none" strike="noStrike">
              <a:solidFill>
                <a:srgbClr val="204C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">
            <a:hlinkClick action="ppaction://hlinksldjump" r:id="rId3"/>
          </p:cNvPr>
          <p:cNvSpPr/>
          <p:nvPr/>
        </p:nvSpPr>
        <p:spPr>
          <a:xfrm>
            <a:off x="749808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57A6FF"/>
          </a:solidFill>
          <a:ln cap="flat" cmpd="sng" w="9525">
            <a:solidFill>
              <a:srgbClr val="57A6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5">
            <a:hlinkClick action="ppaction://hlinksldjump" r:id="rId4"/>
          </p:cNvPr>
          <p:cNvSpPr/>
          <p:nvPr/>
        </p:nvSpPr>
        <p:spPr>
          <a:xfrm>
            <a:off x="821124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5">
            <a:hlinkClick action="ppaction://hlinksldjump" r:id="rId5"/>
          </p:cNvPr>
          <p:cNvSpPr/>
          <p:nvPr/>
        </p:nvSpPr>
        <p:spPr>
          <a:xfrm>
            <a:off x="892440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5">
            <a:hlinkClick action="ppaction://hlinksldjump" r:id="rId6"/>
          </p:cNvPr>
          <p:cNvSpPr/>
          <p:nvPr/>
        </p:nvSpPr>
        <p:spPr>
          <a:xfrm>
            <a:off x="963792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5">
            <a:hlinkClick action="ppaction://hlinksldjump" r:id="rId7"/>
          </p:cNvPr>
          <p:cNvSpPr/>
          <p:nvPr/>
        </p:nvSpPr>
        <p:spPr>
          <a:xfrm>
            <a:off x="1035108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5">
            <a:hlinkClick action="ppaction://hlinksldjump" r:id="rId8"/>
          </p:cNvPr>
          <p:cNvSpPr/>
          <p:nvPr/>
        </p:nvSpPr>
        <p:spPr>
          <a:xfrm>
            <a:off x="1106424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640080" y="1645920"/>
            <a:ext cx="7406280" cy="425160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1234440" y="5257800"/>
            <a:ext cx="6354720" cy="5040"/>
          </a:xfrm>
          <a:prstGeom prst="rect">
            <a:avLst/>
          </a:prstGeom>
          <a:solidFill>
            <a:srgbClr val="414E6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1234440" y="4457880"/>
            <a:ext cx="6354720" cy="5040"/>
          </a:xfrm>
          <a:prstGeom prst="rect">
            <a:avLst/>
          </a:prstGeom>
          <a:solidFill>
            <a:srgbClr val="414E6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1234440" y="3657600"/>
            <a:ext cx="6354720" cy="5040"/>
          </a:xfrm>
          <a:prstGeom prst="rect">
            <a:avLst/>
          </a:prstGeom>
          <a:solidFill>
            <a:srgbClr val="414E6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1234440" y="2857680"/>
            <a:ext cx="6354720" cy="5040"/>
          </a:xfrm>
          <a:prstGeom prst="rect">
            <a:avLst/>
          </a:prstGeom>
          <a:solidFill>
            <a:srgbClr val="414E6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1234440" y="2057400"/>
            <a:ext cx="6354720" cy="5040"/>
          </a:xfrm>
          <a:prstGeom prst="rect">
            <a:avLst/>
          </a:prstGeom>
          <a:solidFill>
            <a:srgbClr val="414E6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694800" y="2788920"/>
            <a:ext cx="456840" cy="11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Growth (log scale)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3474720" y="5367600"/>
            <a:ext cx="16455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Input size n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106992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234072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361188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488304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615384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742500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1234440" y="5141160"/>
            <a:ext cx="1270800" cy="32400"/>
          </a:xfrm>
          <a:prstGeom prst="rect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2505600" y="5141160"/>
            <a:ext cx="1270800" cy="32400"/>
          </a:xfrm>
          <a:prstGeom prst="rect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3776400" y="5141160"/>
            <a:ext cx="1270800" cy="32400"/>
          </a:xfrm>
          <a:prstGeom prst="rect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047560" y="5141160"/>
            <a:ext cx="1270800" cy="32400"/>
          </a:xfrm>
          <a:prstGeom prst="rect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6318360" y="5141160"/>
            <a:ext cx="1270800" cy="32400"/>
          </a:xfrm>
          <a:prstGeom prst="rect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119340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246420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373536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500652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627732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754848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 rot="-270000">
            <a:off x="1232280" y="5190840"/>
            <a:ext cx="1274760" cy="32400"/>
          </a:xfrm>
          <a:prstGeom prst="rect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 rot="-158400">
            <a:off x="2504520" y="5112000"/>
            <a:ext cx="1271880" cy="32400"/>
          </a:xfrm>
          <a:prstGeom prst="rect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 rot="-112200">
            <a:off x="3776040" y="5061960"/>
            <a:ext cx="1271160" cy="32400"/>
          </a:xfrm>
          <a:prstGeom prst="rect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 rot="-87000">
            <a:off x="5047200" y="5025240"/>
            <a:ext cx="1271160" cy="32400"/>
          </a:xfrm>
          <a:prstGeom prst="rect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 rot="-71400">
            <a:off x="6318000" y="4995720"/>
            <a:ext cx="1270800" cy="32400"/>
          </a:xfrm>
          <a:prstGeom prst="rect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1193400" y="521676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2464200" y="511668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3735360" y="505800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5006520" y="501660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6277320" y="498456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7548480" y="495828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 rot="-158400">
            <a:off x="1233720" y="5112000"/>
            <a:ext cx="1271880" cy="32400"/>
          </a:xfrm>
          <a:prstGeom prst="rect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 rot="-199200">
            <a:off x="2504160" y="5045760"/>
            <a:ext cx="1272960" cy="32400"/>
          </a:xfrm>
          <a:prstGeom prst="rect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/>
          <p:nvPr/>
        </p:nvSpPr>
        <p:spPr>
          <a:xfrm rot="-229200">
            <a:off x="3774960" y="4966560"/>
            <a:ext cx="1273320" cy="32400"/>
          </a:xfrm>
          <a:prstGeom prst="rect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 rot="-247800">
            <a:off x="5045760" y="4878360"/>
            <a:ext cx="1274040" cy="32400"/>
          </a:xfrm>
          <a:prstGeom prst="rect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/>
          <p:nvPr/>
        </p:nvSpPr>
        <p:spPr>
          <a:xfrm rot="-258000">
            <a:off x="6316560" y="4784400"/>
            <a:ext cx="1274400" cy="32400"/>
          </a:xfrm>
          <a:prstGeom prst="rect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1193400" y="511668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2464200" y="505800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3735360" y="498456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5006520" y="489960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6277320" y="480780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7548480" y="471204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/>
          <p:nvPr/>
        </p:nvSpPr>
        <p:spPr>
          <a:xfrm rot="-426600">
            <a:off x="1229040" y="5162040"/>
            <a:ext cx="1280520" cy="32400"/>
          </a:xfrm>
          <a:prstGeom prst="rect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/>
          <p:nvPr/>
        </p:nvSpPr>
        <p:spPr>
          <a:xfrm rot="-426600">
            <a:off x="2500200" y="5003280"/>
            <a:ext cx="1280520" cy="32400"/>
          </a:xfrm>
          <a:prstGeom prst="rect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/>
          <p:nvPr/>
        </p:nvSpPr>
        <p:spPr>
          <a:xfrm rot="-397200">
            <a:off x="3772080" y="4850280"/>
            <a:ext cx="1279080" cy="32400"/>
          </a:xfrm>
          <a:prstGeom prst="rect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/>
          <p:nvPr/>
        </p:nvSpPr>
        <p:spPr>
          <a:xfrm rot="-371400">
            <a:off x="5043600" y="4707720"/>
            <a:ext cx="1278000" cy="32400"/>
          </a:xfrm>
          <a:prstGeom prst="rect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5"/>
          <p:cNvSpPr/>
          <p:nvPr/>
        </p:nvSpPr>
        <p:spPr>
          <a:xfrm rot="-352800">
            <a:off x="6315120" y="4573440"/>
            <a:ext cx="1277280" cy="32400"/>
          </a:xfrm>
          <a:prstGeom prst="rect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1193400" y="521676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5"/>
          <p:cNvSpPr/>
          <p:nvPr/>
        </p:nvSpPr>
        <p:spPr>
          <a:xfrm>
            <a:off x="2464200" y="505800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3735360" y="489960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5006520" y="475236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5"/>
          <p:cNvSpPr/>
          <p:nvPr/>
        </p:nvSpPr>
        <p:spPr>
          <a:xfrm>
            <a:off x="6277320" y="461448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7548480" y="448344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5"/>
          <p:cNvSpPr/>
          <p:nvPr/>
        </p:nvSpPr>
        <p:spPr>
          <a:xfrm rot="-356400">
            <a:off x="1230840" y="5075280"/>
            <a:ext cx="1277640" cy="32400"/>
          </a:xfrm>
          <a:prstGeom prst="rect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5"/>
          <p:cNvSpPr/>
          <p:nvPr/>
        </p:nvSpPr>
        <p:spPr>
          <a:xfrm rot="-474600">
            <a:off x="2499120" y="4920840"/>
            <a:ext cx="1283040" cy="32400"/>
          </a:xfrm>
          <a:prstGeom prst="rect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5"/>
          <p:cNvSpPr/>
          <p:nvPr/>
        </p:nvSpPr>
        <p:spPr>
          <a:xfrm rot="-519600">
            <a:off x="3768840" y="4735440"/>
            <a:ext cx="1285200" cy="32400"/>
          </a:xfrm>
          <a:prstGeom prst="rect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5"/>
          <p:cNvSpPr/>
          <p:nvPr/>
        </p:nvSpPr>
        <p:spPr>
          <a:xfrm rot="-531600">
            <a:off x="5039640" y="4539960"/>
            <a:ext cx="1285920" cy="32400"/>
          </a:xfrm>
          <a:prstGeom prst="rect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5"/>
          <p:cNvSpPr/>
          <p:nvPr/>
        </p:nvSpPr>
        <p:spPr>
          <a:xfrm rot="-535200">
            <a:off x="6310440" y="4340880"/>
            <a:ext cx="1286280" cy="32400"/>
          </a:xfrm>
          <a:prstGeom prst="rect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1193400" y="511668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2464200" y="498456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/>
          <p:nvPr/>
        </p:nvSpPr>
        <p:spPr>
          <a:xfrm>
            <a:off x="3735360" y="480780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/>
          <p:nvPr/>
        </p:nvSpPr>
        <p:spPr>
          <a:xfrm>
            <a:off x="5006520" y="461448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5"/>
          <p:cNvSpPr/>
          <p:nvPr/>
        </p:nvSpPr>
        <p:spPr>
          <a:xfrm>
            <a:off x="6277320" y="441612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5"/>
          <p:cNvSpPr/>
          <p:nvPr/>
        </p:nvSpPr>
        <p:spPr>
          <a:xfrm>
            <a:off x="7548480" y="421632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5"/>
          <p:cNvSpPr/>
          <p:nvPr/>
        </p:nvSpPr>
        <p:spPr>
          <a:xfrm rot="-199200">
            <a:off x="1233000" y="5045760"/>
            <a:ext cx="1272960" cy="32400"/>
          </a:xfrm>
          <a:prstGeom prst="rect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5"/>
          <p:cNvSpPr/>
          <p:nvPr/>
        </p:nvSpPr>
        <p:spPr>
          <a:xfrm rot="-474600">
            <a:off x="2499120" y="4920840"/>
            <a:ext cx="1283040" cy="32400"/>
          </a:xfrm>
          <a:prstGeom prst="rect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5"/>
          <p:cNvSpPr/>
          <p:nvPr/>
        </p:nvSpPr>
        <p:spPr>
          <a:xfrm rot="-1027800">
            <a:off x="3746880" y="4636440"/>
            <a:ext cx="1329840" cy="32400"/>
          </a:xfrm>
          <a:prstGeom prst="rect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5"/>
          <p:cNvSpPr/>
          <p:nvPr/>
        </p:nvSpPr>
        <p:spPr>
          <a:xfrm rot="-1930200">
            <a:off x="4931640" y="4040640"/>
            <a:ext cx="1501200" cy="32400"/>
          </a:xfrm>
          <a:prstGeom prst="rect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5"/>
          <p:cNvSpPr/>
          <p:nvPr/>
        </p:nvSpPr>
        <p:spPr>
          <a:xfrm rot="-3092400">
            <a:off x="5932080" y="2841120"/>
            <a:ext cx="2043360" cy="32400"/>
          </a:xfrm>
          <a:prstGeom prst="rect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1193400" y="505800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/>
          <p:nvPr/>
        </p:nvSpPr>
        <p:spPr>
          <a:xfrm>
            <a:off x="2464200" y="498456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5"/>
          <p:cNvSpPr/>
          <p:nvPr/>
        </p:nvSpPr>
        <p:spPr>
          <a:xfrm>
            <a:off x="3735360" y="480780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5"/>
          <p:cNvSpPr/>
          <p:nvPr/>
        </p:nvSpPr>
        <p:spPr>
          <a:xfrm>
            <a:off x="5006520" y="441612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5"/>
          <p:cNvSpPr/>
          <p:nvPr/>
        </p:nvSpPr>
        <p:spPr>
          <a:xfrm>
            <a:off x="6277320" y="361656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7548480" y="201636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1227240" y="2057400"/>
            <a:ext cx="14400" cy="320004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1234440" y="56602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5"/>
          <p:cNvSpPr/>
          <p:nvPr/>
        </p:nvSpPr>
        <p:spPr>
          <a:xfrm>
            <a:off x="1371600" y="562356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O(1)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5"/>
          <p:cNvSpPr/>
          <p:nvPr/>
        </p:nvSpPr>
        <p:spPr>
          <a:xfrm>
            <a:off x="3154680" y="566028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5"/>
          <p:cNvSpPr/>
          <p:nvPr/>
        </p:nvSpPr>
        <p:spPr>
          <a:xfrm>
            <a:off x="3291840" y="562356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O(log₂ n)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5"/>
          <p:cNvSpPr/>
          <p:nvPr/>
        </p:nvSpPr>
        <p:spPr>
          <a:xfrm>
            <a:off x="5074920" y="566028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5"/>
          <p:cNvSpPr/>
          <p:nvPr/>
        </p:nvSpPr>
        <p:spPr>
          <a:xfrm>
            <a:off x="5212080" y="562356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O(n)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5"/>
          <p:cNvSpPr/>
          <p:nvPr/>
        </p:nvSpPr>
        <p:spPr>
          <a:xfrm>
            <a:off x="1234440" y="591624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5"/>
          <p:cNvSpPr/>
          <p:nvPr/>
        </p:nvSpPr>
        <p:spPr>
          <a:xfrm>
            <a:off x="1371600" y="587952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O(n log₂ n)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5"/>
          <p:cNvSpPr/>
          <p:nvPr/>
        </p:nvSpPr>
        <p:spPr>
          <a:xfrm>
            <a:off x="3154680" y="591624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5"/>
          <p:cNvSpPr/>
          <p:nvPr/>
        </p:nvSpPr>
        <p:spPr>
          <a:xfrm>
            <a:off x="3291840" y="587952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O(n²)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5"/>
          <p:cNvSpPr/>
          <p:nvPr/>
        </p:nvSpPr>
        <p:spPr>
          <a:xfrm>
            <a:off x="5074920" y="591624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5"/>
          <p:cNvSpPr/>
          <p:nvPr/>
        </p:nvSpPr>
        <p:spPr>
          <a:xfrm>
            <a:off x="5212080" y="587952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O(2ⁿ)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5"/>
          <p:cNvSpPr/>
          <p:nvPr/>
        </p:nvSpPr>
        <p:spPr>
          <a:xfrm>
            <a:off x="8275320" y="1645920"/>
            <a:ext cx="3309840" cy="425160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8595360" y="1901880"/>
            <a:ext cx="255996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At n = 1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5"/>
          <p:cNvSpPr/>
          <p:nvPr/>
        </p:nvSpPr>
        <p:spPr>
          <a:xfrm>
            <a:off x="8595360" y="2267640"/>
            <a:ext cx="255996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Representative growth values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5"/>
          <p:cNvSpPr/>
          <p:nvPr/>
        </p:nvSpPr>
        <p:spPr>
          <a:xfrm>
            <a:off x="8595360" y="269748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2EC48F"/>
                </a:solidFill>
                <a:latin typeface="Arial"/>
                <a:ea typeface="Arial"/>
                <a:cs typeface="Arial"/>
                <a:sym typeface="Arial"/>
              </a:rPr>
              <a:t>O(1)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5"/>
          <p:cNvSpPr/>
          <p:nvPr/>
        </p:nvSpPr>
        <p:spPr>
          <a:xfrm>
            <a:off x="10195560" y="269748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5"/>
          <p:cNvSpPr/>
          <p:nvPr/>
        </p:nvSpPr>
        <p:spPr>
          <a:xfrm>
            <a:off x="8595360" y="312732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57A6FF"/>
                </a:solidFill>
                <a:latin typeface="Arial"/>
                <a:ea typeface="Arial"/>
                <a:cs typeface="Arial"/>
                <a:sym typeface="Arial"/>
              </a:rPr>
              <a:t>O(log₂ n)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5"/>
          <p:cNvSpPr/>
          <p:nvPr/>
        </p:nvSpPr>
        <p:spPr>
          <a:xfrm>
            <a:off x="10195560" y="312732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5"/>
          <p:cNvSpPr/>
          <p:nvPr/>
        </p:nvSpPr>
        <p:spPr>
          <a:xfrm>
            <a:off x="8595360" y="355716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6B741"/>
                </a:solidFill>
                <a:latin typeface="Arial"/>
                <a:ea typeface="Arial"/>
                <a:cs typeface="Arial"/>
                <a:sym typeface="Arial"/>
              </a:rPr>
              <a:t>O(n)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5"/>
          <p:cNvSpPr/>
          <p:nvPr/>
        </p:nvSpPr>
        <p:spPr>
          <a:xfrm>
            <a:off x="10195560" y="355716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5"/>
          <p:cNvSpPr/>
          <p:nvPr/>
        </p:nvSpPr>
        <p:spPr>
          <a:xfrm>
            <a:off x="8595360" y="398664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58042"/>
                </a:solidFill>
                <a:latin typeface="Arial"/>
                <a:ea typeface="Arial"/>
                <a:cs typeface="Arial"/>
                <a:sym typeface="Arial"/>
              </a:rPr>
              <a:t>O(n log₂ n)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5"/>
          <p:cNvSpPr/>
          <p:nvPr/>
        </p:nvSpPr>
        <p:spPr>
          <a:xfrm>
            <a:off x="10195560" y="398664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5"/>
          <p:cNvSpPr/>
          <p:nvPr/>
        </p:nvSpPr>
        <p:spPr>
          <a:xfrm>
            <a:off x="8595360" y="441648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E74C5A"/>
                </a:solidFill>
                <a:latin typeface="Arial"/>
                <a:ea typeface="Arial"/>
                <a:cs typeface="Arial"/>
                <a:sym typeface="Arial"/>
              </a:rPr>
              <a:t>O(n²)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5"/>
          <p:cNvSpPr/>
          <p:nvPr/>
        </p:nvSpPr>
        <p:spPr>
          <a:xfrm>
            <a:off x="10195560" y="441648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5"/>
          <p:cNvSpPr/>
          <p:nvPr/>
        </p:nvSpPr>
        <p:spPr>
          <a:xfrm>
            <a:off x="8595360" y="484632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A46FEE"/>
                </a:solidFill>
                <a:latin typeface="Arial"/>
                <a:ea typeface="Arial"/>
                <a:cs typeface="Arial"/>
                <a:sym typeface="Arial"/>
              </a:rPr>
              <a:t>O(2ⁿ)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5"/>
          <p:cNvSpPr/>
          <p:nvPr/>
        </p:nvSpPr>
        <p:spPr>
          <a:xfrm>
            <a:off x="10195560" y="484632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5"/>
          <p:cNvSpPr/>
          <p:nvPr/>
        </p:nvSpPr>
        <p:spPr>
          <a:xfrm>
            <a:off x="8595360" y="5358240"/>
            <a:ext cx="10054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57A6FF"/>
                </a:solidFill>
                <a:latin typeface="Arial"/>
                <a:ea typeface="Arial"/>
                <a:cs typeface="Arial"/>
                <a:sym typeface="Arial"/>
              </a:rPr>
              <a:t>Key idea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5"/>
          <p:cNvSpPr/>
          <p:nvPr/>
        </p:nvSpPr>
        <p:spPr>
          <a:xfrm>
            <a:off x="9326880" y="5285160"/>
            <a:ext cx="1874160" cy="4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Different growth rates separate dramatically as n increases.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5"/>
          <p:cNvSpPr/>
          <p:nvPr/>
        </p:nvSpPr>
        <p:spPr>
          <a:xfrm>
            <a:off x="658440" y="6473880"/>
            <a:ext cx="676620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Values illustrate growth functions, not measured execution time.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5"/>
          <p:cNvSpPr txBox="1"/>
          <p:nvPr>
            <p:ph idx="1" type="body"/>
          </p:nvPr>
        </p:nvSpPr>
        <p:spPr>
          <a:xfrm>
            <a:off x="818280" y="1114560"/>
            <a:ext cx="10493280" cy="50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sz="2800" u="none" strike="noStrike">
              <a:solidFill>
                <a:srgbClr val="204C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p25"/>
          <p:cNvSpPr txBox="1"/>
          <p:nvPr>
            <p:ph type="title"/>
          </p:nvPr>
        </p:nvSpPr>
        <p:spPr>
          <a:xfrm>
            <a:off x="848520" y="235080"/>
            <a:ext cx="10494720" cy="76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Big-O Growth: How Algorithms Scale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6"/>
          <p:cNvSpPr/>
          <p:nvPr/>
        </p:nvSpPr>
        <p:spPr>
          <a:xfrm>
            <a:off x="612720" y="768240"/>
            <a:ext cx="7772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Select an input size n to compare representative growth values.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6">
            <a:hlinkClick action="ppaction://hlinksldjump" r:id="rId3"/>
          </p:cNvPr>
          <p:cNvSpPr/>
          <p:nvPr/>
        </p:nvSpPr>
        <p:spPr>
          <a:xfrm>
            <a:off x="749808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6">
            <a:hlinkClick action="ppaction://hlinksldjump" r:id="rId4"/>
          </p:cNvPr>
          <p:cNvSpPr/>
          <p:nvPr/>
        </p:nvSpPr>
        <p:spPr>
          <a:xfrm>
            <a:off x="821124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57A6FF"/>
          </a:solidFill>
          <a:ln cap="flat" cmpd="sng" w="9525">
            <a:solidFill>
              <a:srgbClr val="57A6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6">
            <a:hlinkClick action="ppaction://hlinksldjump" r:id="rId5"/>
          </p:cNvPr>
          <p:cNvSpPr/>
          <p:nvPr/>
        </p:nvSpPr>
        <p:spPr>
          <a:xfrm>
            <a:off x="892440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6">
            <a:hlinkClick action="ppaction://hlinksldjump" r:id="rId6"/>
          </p:cNvPr>
          <p:cNvSpPr/>
          <p:nvPr/>
        </p:nvSpPr>
        <p:spPr>
          <a:xfrm>
            <a:off x="963792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6">
            <a:hlinkClick action="ppaction://hlinksldjump" r:id="rId7"/>
          </p:cNvPr>
          <p:cNvSpPr/>
          <p:nvPr/>
        </p:nvSpPr>
        <p:spPr>
          <a:xfrm>
            <a:off x="1035108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6">
            <a:hlinkClick action="ppaction://hlinksldjump" r:id="rId8"/>
          </p:cNvPr>
          <p:cNvSpPr/>
          <p:nvPr/>
        </p:nvSpPr>
        <p:spPr>
          <a:xfrm>
            <a:off x="1106424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6"/>
          <p:cNvSpPr/>
          <p:nvPr/>
        </p:nvSpPr>
        <p:spPr>
          <a:xfrm>
            <a:off x="640080" y="1645920"/>
            <a:ext cx="7406280" cy="425160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6"/>
          <p:cNvSpPr/>
          <p:nvPr/>
        </p:nvSpPr>
        <p:spPr>
          <a:xfrm>
            <a:off x="1234440" y="5257800"/>
            <a:ext cx="6354720" cy="5040"/>
          </a:xfrm>
          <a:prstGeom prst="rect">
            <a:avLst/>
          </a:prstGeom>
          <a:solidFill>
            <a:srgbClr val="414E6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6"/>
          <p:cNvSpPr/>
          <p:nvPr/>
        </p:nvSpPr>
        <p:spPr>
          <a:xfrm>
            <a:off x="1234440" y="4457880"/>
            <a:ext cx="6354720" cy="5040"/>
          </a:xfrm>
          <a:prstGeom prst="rect">
            <a:avLst/>
          </a:prstGeom>
          <a:solidFill>
            <a:srgbClr val="414E6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6"/>
          <p:cNvSpPr/>
          <p:nvPr/>
        </p:nvSpPr>
        <p:spPr>
          <a:xfrm>
            <a:off x="1234440" y="3657600"/>
            <a:ext cx="6354720" cy="5040"/>
          </a:xfrm>
          <a:prstGeom prst="rect">
            <a:avLst/>
          </a:prstGeom>
          <a:solidFill>
            <a:srgbClr val="414E6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6"/>
          <p:cNvSpPr/>
          <p:nvPr/>
        </p:nvSpPr>
        <p:spPr>
          <a:xfrm>
            <a:off x="1234440" y="2857680"/>
            <a:ext cx="6354720" cy="5040"/>
          </a:xfrm>
          <a:prstGeom prst="rect">
            <a:avLst/>
          </a:prstGeom>
          <a:solidFill>
            <a:srgbClr val="414E6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6"/>
          <p:cNvSpPr/>
          <p:nvPr/>
        </p:nvSpPr>
        <p:spPr>
          <a:xfrm>
            <a:off x="1234440" y="2057400"/>
            <a:ext cx="6354720" cy="5040"/>
          </a:xfrm>
          <a:prstGeom prst="rect">
            <a:avLst/>
          </a:prstGeom>
          <a:solidFill>
            <a:srgbClr val="414E6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6"/>
          <p:cNvSpPr/>
          <p:nvPr/>
        </p:nvSpPr>
        <p:spPr>
          <a:xfrm>
            <a:off x="694800" y="2788920"/>
            <a:ext cx="456840" cy="11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Growth (log scale)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6"/>
          <p:cNvSpPr/>
          <p:nvPr/>
        </p:nvSpPr>
        <p:spPr>
          <a:xfrm>
            <a:off x="3474720" y="5367600"/>
            <a:ext cx="16455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Input size n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6"/>
          <p:cNvSpPr/>
          <p:nvPr/>
        </p:nvSpPr>
        <p:spPr>
          <a:xfrm>
            <a:off x="106992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6"/>
          <p:cNvSpPr/>
          <p:nvPr/>
        </p:nvSpPr>
        <p:spPr>
          <a:xfrm>
            <a:off x="234072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6"/>
          <p:cNvSpPr/>
          <p:nvPr/>
        </p:nvSpPr>
        <p:spPr>
          <a:xfrm>
            <a:off x="361188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6"/>
          <p:cNvSpPr/>
          <p:nvPr/>
        </p:nvSpPr>
        <p:spPr>
          <a:xfrm>
            <a:off x="488304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6"/>
          <p:cNvSpPr/>
          <p:nvPr/>
        </p:nvSpPr>
        <p:spPr>
          <a:xfrm>
            <a:off x="615384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6"/>
          <p:cNvSpPr/>
          <p:nvPr/>
        </p:nvSpPr>
        <p:spPr>
          <a:xfrm>
            <a:off x="742500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6"/>
          <p:cNvSpPr/>
          <p:nvPr/>
        </p:nvSpPr>
        <p:spPr>
          <a:xfrm>
            <a:off x="1234440" y="5141160"/>
            <a:ext cx="1270800" cy="32400"/>
          </a:xfrm>
          <a:prstGeom prst="rect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6"/>
          <p:cNvSpPr/>
          <p:nvPr/>
        </p:nvSpPr>
        <p:spPr>
          <a:xfrm>
            <a:off x="2505600" y="5141160"/>
            <a:ext cx="1270800" cy="32400"/>
          </a:xfrm>
          <a:prstGeom prst="rect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6"/>
          <p:cNvSpPr/>
          <p:nvPr/>
        </p:nvSpPr>
        <p:spPr>
          <a:xfrm>
            <a:off x="3776400" y="5141160"/>
            <a:ext cx="1270800" cy="32400"/>
          </a:xfrm>
          <a:prstGeom prst="rect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6"/>
          <p:cNvSpPr/>
          <p:nvPr/>
        </p:nvSpPr>
        <p:spPr>
          <a:xfrm>
            <a:off x="5047560" y="5141160"/>
            <a:ext cx="1270800" cy="32400"/>
          </a:xfrm>
          <a:prstGeom prst="rect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6"/>
          <p:cNvSpPr/>
          <p:nvPr/>
        </p:nvSpPr>
        <p:spPr>
          <a:xfrm>
            <a:off x="6318360" y="5141160"/>
            <a:ext cx="1270800" cy="32400"/>
          </a:xfrm>
          <a:prstGeom prst="rect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6"/>
          <p:cNvSpPr/>
          <p:nvPr/>
        </p:nvSpPr>
        <p:spPr>
          <a:xfrm>
            <a:off x="119340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6"/>
          <p:cNvSpPr/>
          <p:nvPr/>
        </p:nvSpPr>
        <p:spPr>
          <a:xfrm>
            <a:off x="246420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6"/>
          <p:cNvSpPr/>
          <p:nvPr/>
        </p:nvSpPr>
        <p:spPr>
          <a:xfrm>
            <a:off x="373536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6"/>
          <p:cNvSpPr/>
          <p:nvPr/>
        </p:nvSpPr>
        <p:spPr>
          <a:xfrm>
            <a:off x="500652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6"/>
          <p:cNvSpPr/>
          <p:nvPr/>
        </p:nvSpPr>
        <p:spPr>
          <a:xfrm>
            <a:off x="627732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6"/>
          <p:cNvSpPr/>
          <p:nvPr/>
        </p:nvSpPr>
        <p:spPr>
          <a:xfrm>
            <a:off x="754848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6"/>
          <p:cNvSpPr/>
          <p:nvPr/>
        </p:nvSpPr>
        <p:spPr>
          <a:xfrm rot="-270000">
            <a:off x="1232280" y="5190840"/>
            <a:ext cx="1274760" cy="32400"/>
          </a:xfrm>
          <a:prstGeom prst="rect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6"/>
          <p:cNvSpPr/>
          <p:nvPr/>
        </p:nvSpPr>
        <p:spPr>
          <a:xfrm rot="-158400">
            <a:off x="2504520" y="5112000"/>
            <a:ext cx="1271880" cy="32400"/>
          </a:xfrm>
          <a:prstGeom prst="rect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6"/>
          <p:cNvSpPr/>
          <p:nvPr/>
        </p:nvSpPr>
        <p:spPr>
          <a:xfrm rot="-112200">
            <a:off x="3776040" y="5061960"/>
            <a:ext cx="1271160" cy="32400"/>
          </a:xfrm>
          <a:prstGeom prst="rect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6"/>
          <p:cNvSpPr/>
          <p:nvPr/>
        </p:nvSpPr>
        <p:spPr>
          <a:xfrm rot="-87000">
            <a:off x="5047200" y="5025240"/>
            <a:ext cx="1271160" cy="32400"/>
          </a:xfrm>
          <a:prstGeom prst="rect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6"/>
          <p:cNvSpPr/>
          <p:nvPr/>
        </p:nvSpPr>
        <p:spPr>
          <a:xfrm rot="-71400">
            <a:off x="6318000" y="4995720"/>
            <a:ext cx="1270800" cy="32400"/>
          </a:xfrm>
          <a:prstGeom prst="rect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6"/>
          <p:cNvSpPr/>
          <p:nvPr/>
        </p:nvSpPr>
        <p:spPr>
          <a:xfrm>
            <a:off x="1193400" y="521676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6"/>
          <p:cNvSpPr/>
          <p:nvPr/>
        </p:nvSpPr>
        <p:spPr>
          <a:xfrm>
            <a:off x="2464200" y="511668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6"/>
          <p:cNvSpPr/>
          <p:nvPr/>
        </p:nvSpPr>
        <p:spPr>
          <a:xfrm>
            <a:off x="3735360" y="505800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6"/>
          <p:cNvSpPr/>
          <p:nvPr/>
        </p:nvSpPr>
        <p:spPr>
          <a:xfrm>
            <a:off x="5006520" y="501660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6"/>
          <p:cNvSpPr/>
          <p:nvPr/>
        </p:nvSpPr>
        <p:spPr>
          <a:xfrm>
            <a:off x="6277320" y="498456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6"/>
          <p:cNvSpPr/>
          <p:nvPr/>
        </p:nvSpPr>
        <p:spPr>
          <a:xfrm>
            <a:off x="7548480" y="495828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6"/>
          <p:cNvSpPr/>
          <p:nvPr/>
        </p:nvSpPr>
        <p:spPr>
          <a:xfrm rot="-158400">
            <a:off x="1233720" y="5112000"/>
            <a:ext cx="1271880" cy="32400"/>
          </a:xfrm>
          <a:prstGeom prst="rect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6"/>
          <p:cNvSpPr/>
          <p:nvPr/>
        </p:nvSpPr>
        <p:spPr>
          <a:xfrm rot="-199200">
            <a:off x="2504160" y="5045760"/>
            <a:ext cx="1272960" cy="32400"/>
          </a:xfrm>
          <a:prstGeom prst="rect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6"/>
          <p:cNvSpPr/>
          <p:nvPr/>
        </p:nvSpPr>
        <p:spPr>
          <a:xfrm rot="-229200">
            <a:off x="3774960" y="4966560"/>
            <a:ext cx="1273320" cy="32400"/>
          </a:xfrm>
          <a:prstGeom prst="rect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6"/>
          <p:cNvSpPr/>
          <p:nvPr/>
        </p:nvSpPr>
        <p:spPr>
          <a:xfrm rot="-247800">
            <a:off x="5045760" y="4878360"/>
            <a:ext cx="1274040" cy="32400"/>
          </a:xfrm>
          <a:prstGeom prst="rect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6"/>
          <p:cNvSpPr/>
          <p:nvPr/>
        </p:nvSpPr>
        <p:spPr>
          <a:xfrm rot="-258000">
            <a:off x="6316560" y="4784400"/>
            <a:ext cx="1274400" cy="32400"/>
          </a:xfrm>
          <a:prstGeom prst="rect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6"/>
          <p:cNvSpPr/>
          <p:nvPr/>
        </p:nvSpPr>
        <p:spPr>
          <a:xfrm>
            <a:off x="1193400" y="511668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6"/>
          <p:cNvSpPr/>
          <p:nvPr/>
        </p:nvSpPr>
        <p:spPr>
          <a:xfrm>
            <a:off x="2464200" y="505800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6"/>
          <p:cNvSpPr/>
          <p:nvPr/>
        </p:nvSpPr>
        <p:spPr>
          <a:xfrm>
            <a:off x="3735360" y="498456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6"/>
          <p:cNvSpPr/>
          <p:nvPr/>
        </p:nvSpPr>
        <p:spPr>
          <a:xfrm>
            <a:off x="5006520" y="489960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6"/>
          <p:cNvSpPr/>
          <p:nvPr/>
        </p:nvSpPr>
        <p:spPr>
          <a:xfrm>
            <a:off x="6277320" y="480780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6"/>
          <p:cNvSpPr/>
          <p:nvPr/>
        </p:nvSpPr>
        <p:spPr>
          <a:xfrm>
            <a:off x="7548480" y="471204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6"/>
          <p:cNvSpPr/>
          <p:nvPr/>
        </p:nvSpPr>
        <p:spPr>
          <a:xfrm rot="-426600">
            <a:off x="1229040" y="5162040"/>
            <a:ext cx="1280520" cy="32400"/>
          </a:xfrm>
          <a:prstGeom prst="rect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6"/>
          <p:cNvSpPr/>
          <p:nvPr/>
        </p:nvSpPr>
        <p:spPr>
          <a:xfrm rot="-426600">
            <a:off x="2500200" y="5003280"/>
            <a:ext cx="1280520" cy="32400"/>
          </a:xfrm>
          <a:prstGeom prst="rect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6"/>
          <p:cNvSpPr/>
          <p:nvPr/>
        </p:nvSpPr>
        <p:spPr>
          <a:xfrm rot="-397200">
            <a:off x="3772080" y="4850280"/>
            <a:ext cx="1279080" cy="32400"/>
          </a:xfrm>
          <a:prstGeom prst="rect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6"/>
          <p:cNvSpPr/>
          <p:nvPr/>
        </p:nvSpPr>
        <p:spPr>
          <a:xfrm rot="-371400">
            <a:off x="5043600" y="4707720"/>
            <a:ext cx="1278000" cy="32400"/>
          </a:xfrm>
          <a:prstGeom prst="rect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6"/>
          <p:cNvSpPr/>
          <p:nvPr/>
        </p:nvSpPr>
        <p:spPr>
          <a:xfrm rot="-352800">
            <a:off x="6315120" y="4573440"/>
            <a:ext cx="1277280" cy="32400"/>
          </a:xfrm>
          <a:prstGeom prst="rect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6"/>
          <p:cNvSpPr/>
          <p:nvPr/>
        </p:nvSpPr>
        <p:spPr>
          <a:xfrm>
            <a:off x="1193400" y="521676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6"/>
          <p:cNvSpPr/>
          <p:nvPr/>
        </p:nvSpPr>
        <p:spPr>
          <a:xfrm>
            <a:off x="2464200" y="505800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6"/>
          <p:cNvSpPr/>
          <p:nvPr/>
        </p:nvSpPr>
        <p:spPr>
          <a:xfrm>
            <a:off x="3735360" y="489960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6"/>
          <p:cNvSpPr/>
          <p:nvPr/>
        </p:nvSpPr>
        <p:spPr>
          <a:xfrm>
            <a:off x="5006520" y="475236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6"/>
          <p:cNvSpPr/>
          <p:nvPr/>
        </p:nvSpPr>
        <p:spPr>
          <a:xfrm>
            <a:off x="6277320" y="461448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6"/>
          <p:cNvSpPr/>
          <p:nvPr/>
        </p:nvSpPr>
        <p:spPr>
          <a:xfrm>
            <a:off x="7548480" y="448344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6"/>
          <p:cNvSpPr/>
          <p:nvPr/>
        </p:nvSpPr>
        <p:spPr>
          <a:xfrm rot="-356400">
            <a:off x="1230840" y="5075280"/>
            <a:ext cx="1277640" cy="32400"/>
          </a:xfrm>
          <a:prstGeom prst="rect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6"/>
          <p:cNvSpPr/>
          <p:nvPr/>
        </p:nvSpPr>
        <p:spPr>
          <a:xfrm rot="-474600">
            <a:off x="2499120" y="4920840"/>
            <a:ext cx="1283040" cy="32400"/>
          </a:xfrm>
          <a:prstGeom prst="rect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6"/>
          <p:cNvSpPr/>
          <p:nvPr/>
        </p:nvSpPr>
        <p:spPr>
          <a:xfrm rot="-519600">
            <a:off x="3768840" y="4735440"/>
            <a:ext cx="1285200" cy="32400"/>
          </a:xfrm>
          <a:prstGeom prst="rect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6"/>
          <p:cNvSpPr/>
          <p:nvPr/>
        </p:nvSpPr>
        <p:spPr>
          <a:xfrm rot="-531600">
            <a:off x="5039640" y="4539960"/>
            <a:ext cx="1285920" cy="32400"/>
          </a:xfrm>
          <a:prstGeom prst="rect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6"/>
          <p:cNvSpPr/>
          <p:nvPr/>
        </p:nvSpPr>
        <p:spPr>
          <a:xfrm rot="-535200">
            <a:off x="6310440" y="4340880"/>
            <a:ext cx="1286280" cy="32400"/>
          </a:xfrm>
          <a:prstGeom prst="rect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6"/>
          <p:cNvSpPr/>
          <p:nvPr/>
        </p:nvSpPr>
        <p:spPr>
          <a:xfrm>
            <a:off x="1193400" y="511668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6"/>
          <p:cNvSpPr/>
          <p:nvPr/>
        </p:nvSpPr>
        <p:spPr>
          <a:xfrm>
            <a:off x="2464200" y="498456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6"/>
          <p:cNvSpPr/>
          <p:nvPr/>
        </p:nvSpPr>
        <p:spPr>
          <a:xfrm>
            <a:off x="3735360" y="480780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6"/>
          <p:cNvSpPr/>
          <p:nvPr/>
        </p:nvSpPr>
        <p:spPr>
          <a:xfrm>
            <a:off x="5006520" y="461448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6"/>
          <p:cNvSpPr/>
          <p:nvPr/>
        </p:nvSpPr>
        <p:spPr>
          <a:xfrm>
            <a:off x="6277320" y="441612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6"/>
          <p:cNvSpPr/>
          <p:nvPr/>
        </p:nvSpPr>
        <p:spPr>
          <a:xfrm>
            <a:off x="7548480" y="421632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6"/>
          <p:cNvSpPr/>
          <p:nvPr/>
        </p:nvSpPr>
        <p:spPr>
          <a:xfrm rot="-199200">
            <a:off x="1233000" y="5045760"/>
            <a:ext cx="1272960" cy="32400"/>
          </a:xfrm>
          <a:prstGeom prst="rect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6"/>
          <p:cNvSpPr/>
          <p:nvPr/>
        </p:nvSpPr>
        <p:spPr>
          <a:xfrm rot="-474600">
            <a:off x="2499120" y="4920840"/>
            <a:ext cx="1283040" cy="32400"/>
          </a:xfrm>
          <a:prstGeom prst="rect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6"/>
          <p:cNvSpPr/>
          <p:nvPr/>
        </p:nvSpPr>
        <p:spPr>
          <a:xfrm rot="-1027800">
            <a:off x="3746880" y="4636440"/>
            <a:ext cx="1329840" cy="32400"/>
          </a:xfrm>
          <a:prstGeom prst="rect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6"/>
          <p:cNvSpPr/>
          <p:nvPr/>
        </p:nvSpPr>
        <p:spPr>
          <a:xfrm rot="-1930200">
            <a:off x="4931640" y="4040640"/>
            <a:ext cx="1501200" cy="32400"/>
          </a:xfrm>
          <a:prstGeom prst="rect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6"/>
          <p:cNvSpPr/>
          <p:nvPr/>
        </p:nvSpPr>
        <p:spPr>
          <a:xfrm rot="-3092400">
            <a:off x="5932080" y="2841120"/>
            <a:ext cx="2043360" cy="32400"/>
          </a:xfrm>
          <a:prstGeom prst="rect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6"/>
          <p:cNvSpPr/>
          <p:nvPr/>
        </p:nvSpPr>
        <p:spPr>
          <a:xfrm>
            <a:off x="1193400" y="505800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6"/>
          <p:cNvSpPr/>
          <p:nvPr/>
        </p:nvSpPr>
        <p:spPr>
          <a:xfrm>
            <a:off x="2464200" y="498456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6"/>
          <p:cNvSpPr/>
          <p:nvPr/>
        </p:nvSpPr>
        <p:spPr>
          <a:xfrm>
            <a:off x="3735360" y="480780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6"/>
          <p:cNvSpPr/>
          <p:nvPr/>
        </p:nvSpPr>
        <p:spPr>
          <a:xfrm>
            <a:off x="5006520" y="441612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6"/>
          <p:cNvSpPr/>
          <p:nvPr/>
        </p:nvSpPr>
        <p:spPr>
          <a:xfrm>
            <a:off x="6277320" y="361656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6"/>
          <p:cNvSpPr/>
          <p:nvPr/>
        </p:nvSpPr>
        <p:spPr>
          <a:xfrm>
            <a:off x="7548480" y="201636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6"/>
          <p:cNvSpPr/>
          <p:nvPr/>
        </p:nvSpPr>
        <p:spPr>
          <a:xfrm>
            <a:off x="2498040" y="2057400"/>
            <a:ext cx="14400" cy="320004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6"/>
          <p:cNvSpPr/>
          <p:nvPr/>
        </p:nvSpPr>
        <p:spPr>
          <a:xfrm>
            <a:off x="1234440" y="56602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6"/>
          <p:cNvSpPr/>
          <p:nvPr/>
        </p:nvSpPr>
        <p:spPr>
          <a:xfrm>
            <a:off x="1371600" y="562356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O(1)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6"/>
          <p:cNvSpPr/>
          <p:nvPr/>
        </p:nvSpPr>
        <p:spPr>
          <a:xfrm>
            <a:off x="3154680" y="566028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6"/>
          <p:cNvSpPr/>
          <p:nvPr/>
        </p:nvSpPr>
        <p:spPr>
          <a:xfrm>
            <a:off x="3291840" y="562356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O(log₂ n)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6"/>
          <p:cNvSpPr/>
          <p:nvPr/>
        </p:nvSpPr>
        <p:spPr>
          <a:xfrm>
            <a:off x="5074920" y="566028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6"/>
          <p:cNvSpPr/>
          <p:nvPr/>
        </p:nvSpPr>
        <p:spPr>
          <a:xfrm>
            <a:off x="5212080" y="562356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O(n)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6"/>
          <p:cNvSpPr/>
          <p:nvPr/>
        </p:nvSpPr>
        <p:spPr>
          <a:xfrm>
            <a:off x="1234440" y="591624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6"/>
          <p:cNvSpPr/>
          <p:nvPr/>
        </p:nvSpPr>
        <p:spPr>
          <a:xfrm>
            <a:off x="1371600" y="587952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O(n log₂ n)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6"/>
          <p:cNvSpPr/>
          <p:nvPr/>
        </p:nvSpPr>
        <p:spPr>
          <a:xfrm>
            <a:off x="3154680" y="591624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6"/>
          <p:cNvSpPr/>
          <p:nvPr/>
        </p:nvSpPr>
        <p:spPr>
          <a:xfrm>
            <a:off x="3291840" y="587952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O(n²)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6"/>
          <p:cNvSpPr/>
          <p:nvPr/>
        </p:nvSpPr>
        <p:spPr>
          <a:xfrm>
            <a:off x="5074920" y="591624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6"/>
          <p:cNvSpPr/>
          <p:nvPr/>
        </p:nvSpPr>
        <p:spPr>
          <a:xfrm>
            <a:off x="5212080" y="587952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O(2ⁿ)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6"/>
          <p:cNvSpPr/>
          <p:nvPr/>
        </p:nvSpPr>
        <p:spPr>
          <a:xfrm>
            <a:off x="8275320" y="1645920"/>
            <a:ext cx="3309840" cy="425160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6"/>
          <p:cNvSpPr/>
          <p:nvPr/>
        </p:nvSpPr>
        <p:spPr>
          <a:xfrm>
            <a:off x="8595360" y="1901880"/>
            <a:ext cx="255996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At n = 2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6"/>
          <p:cNvSpPr/>
          <p:nvPr/>
        </p:nvSpPr>
        <p:spPr>
          <a:xfrm>
            <a:off x="8595360" y="2267640"/>
            <a:ext cx="255996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Representative growth values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6"/>
          <p:cNvSpPr/>
          <p:nvPr/>
        </p:nvSpPr>
        <p:spPr>
          <a:xfrm>
            <a:off x="8595360" y="269748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2EC48F"/>
                </a:solidFill>
                <a:latin typeface="Arial"/>
                <a:ea typeface="Arial"/>
                <a:cs typeface="Arial"/>
                <a:sym typeface="Arial"/>
              </a:rPr>
              <a:t>O(1)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6"/>
          <p:cNvSpPr/>
          <p:nvPr/>
        </p:nvSpPr>
        <p:spPr>
          <a:xfrm>
            <a:off x="10195560" y="269748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6"/>
          <p:cNvSpPr/>
          <p:nvPr/>
        </p:nvSpPr>
        <p:spPr>
          <a:xfrm>
            <a:off x="8595360" y="312732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57A6FF"/>
                </a:solidFill>
                <a:latin typeface="Arial"/>
                <a:ea typeface="Arial"/>
                <a:cs typeface="Arial"/>
                <a:sym typeface="Arial"/>
              </a:rPr>
              <a:t>O(log₂ n)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6"/>
          <p:cNvSpPr/>
          <p:nvPr/>
        </p:nvSpPr>
        <p:spPr>
          <a:xfrm>
            <a:off x="10195560" y="312732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6"/>
          <p:cNvSpPr/>
          <p:nvPr/>
        </p:nvSpPr>
        <p:spPr>
          <a:xfrm>
            <a:off x="8595360" y="355716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6B741"/>
                </a:solidFill>
                <a:latin typeface="Arial"/>
                <a:ea typeface="Arial"/>
                <a:cs typeface="Arial"/>
                <a:sym typeface="Arial"/>
              </a:rPr>
              <a:t>O(n)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6"/>
          <p:cNvSpPr/>
          <p:nvPr/>
        </p:nvSpPr>
        <p:spPr>
          <a:xfrm>
            <a:off x="10195560" y="355716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6"/>
          <p:cNvSpPr/>
          <p:nvPr/>
        </p:nvSpPr>
        <p:spPr>
          <a:xfrm>
            <a:off x="8595360" y="398664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58042"/>
                </a:solidFill>
                <a:latin typeface="Arial"/>
                <a:ea typeface="Arial"/>
                <a:cs typeface="Arial"/>
                <a:sym typeface="Arial"/>
              </a:rPr>
              <a:t>O(n log₂ n)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6"/>
          <p:cNvSpPr/>
          <p:nvPr/>
        </p:nvSpPr>
        <p:spPr>
          <a:xfrm>
            <a:off x="10195560" y="398664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6"/>
          <p:cNvSpPr/>
          <p:nvPr/>
        </p:nvSpPr>
        <p:spPr>
          <a:xfrm>
            <a:off x="8595360" y="441648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E74C5A"/>
                </a:solidFill>
                <a:latin typeface="Arial"/>
                <a:ea typeface="Arial"/>
                <a:cs typeface="Arial"/>
                <a:sym typeface="Arial"/>
              </a:rPr>
              <a:t>O(n²)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6"/>
          <p:cNvSpPr/>
          <p:nvPr/>
        </p:nvSpPr>
        <p:spPr>
          <a:xfrm>
            <a:off x="10195560" y="441648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6"/>
          <p:cNvSpPr/>
          <p:nvPr/>
        </p:nvSpPr>
        <p:spPr>
          <a:xfrm>
            <a:off x="8595360" y="484632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A46FEE"/>
                </a:solidFill>
                <a:latin typeface="Arial"/>
                <a:ea typeface="Arial"/>
                <a:cs typeface="Arial"/>
                <a:sym typeface="Arial"/>
              </a:rPr>
              <a:t>O(2ⁿ)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6"/>
          <p:cNvSpPr/>
          <p:nvPr/>
        </p:nvSpPr>
        <p:spPr>
          <a:xfrm>
            <a:off x="10195560" y="484632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6"/>
          <p:cNvSpPr/>
          <p:nvPr/>
        </p:nvSpPr>
        <p:spPr>
          <a:xfrm>
            <a:off x="8595360" y="5358240"/>
            <a:ext cx="10054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57A6FF"/>
                </a:solidFill>
                <a:latin typeface="Arial"/>
                <a:ea typeface="Arial"/>
                <a:cs typeface="Arial"/>
                <a:sym typeface="Arial"/>
              </a:rPr>
              <a:t>Key idea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6"/>
          <p:cNvSpPr/>
          <p:nvPr/>
        </p:nvSpPr>
        <p:spPr>
          <a:xfrm>
            <a:off x="9326880" y="5285160"/>
            <a:ext cx="1874160" cy="4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Different growth rates separate dramatically as n increases.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6"/>
          <p:cNvSpPr/>
          <p:nvPr/>
        </p:nvSpPr>
        <p:spPr>
          <a:xfrm>
            <a:off x="658440" y="6473880"/>
            <a:ext cx="676620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Values illustrate growth functions, not measured execution time.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6"/>
          <p:cNvSpPr txBox="1"/>
          <p:nvPr>
            <p:ph idx="1" type="body"/>
          </p:nvPr>
        </p:nvSpPr>
        <p:spPr>
          <a:xfrm>
            <a:off x="818280" y="1114560"/>
            <a:ext cx="10493280" cy="50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sz="2800" u="none" strike="noStrike">
              <a:solidFill>
                <a:srgbClr val="204C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0" name="Google Shape;480;p26"/>
          <p:cNvSpPr txBox="1"/>
          <p:nvPr>
            <p:ph type="title"/>
          </p:nvPr>
        </p:nvSpPr>
        <p:spPr>
          <a:xfrm>
            <a:off x="817560" y="189000"/>
            <a:ext cx="10494720" cy="76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Big-O Growth: How Algorithms Scale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7"/>
          <p:cNvSpPr/>
          <p:nvPr/>
        </p:nvSpPr>
        <p:spPr>
          <a:xfrm>
            <a:off x="612720" y="768240"/>
            <a:ext cx="7772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Select an input size n to compare representative growth values.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7">
            <a:hlinkClick action="ppaction://hlinksldjump" r:id="rId3"/>
          </p:cNvPr>
          <p:cNvSpPr/>
          <p:nvPr/>
        </p:nvSpPr>
        <p:spPr>
          <a:xfrm>
            <a:off x="749808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7">
            <a:hlinkClick action="ppaction://hlinksldjump" r:id="rId4"/>
          </p:cNvPr>
          <p:cNvSpPr/>
          <p:nvPr/>
        </p:nvSpPr>
        <p:spPr>
          <a:xfrm>
            <a:off x="821124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7">
            <a:hlinkClick action="ppaction://hlinksldjump" r:id="rId5"/>
          </p:cNvPr>
          <p:cNvSpPr/>
          <p:nvPr/>
        </p:nvSpPr>
        <p:spPr>
          <a:xfrm>
            <a:off x="892440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57A6FF"/>
          </a:solidFill>
          <a:ln cap="flat" cmpd="sng" w="9525">
            <a:solidFill>
              <a:srgbClr val="57A6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7">
            <a:hlinkClick action="ppaction://hlinksldjump" r:id="rId6"/>
          </p:cNvPr>
          <p:cNvSpPr/>
          <p:nvPr/>
        </p:nvSpPr>
        <p:spPr>
          <a:xfrm>
            <a:off x="963792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7">
            <a:hlinkClick action="ppaction://hlinksldjump" r:id="rId7"/>
          </p:cNvPr>
          <p:cNvSpPr/>
          <p:nvPr/>
        </p:nvSpPr>
        <p:spPr>
          <a:xfrm>
            <a:off x="1035108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7">
            <a:hlinkClick action="ppaction://hlinksldjump" r:id="rId8"/>
          </p:cNvPr>
          <p:cNvSpPr/>
          <p:nvPr/>
        </p:nvSpPr>
        <p:spPr>
          <a:xfrm>
            <a:off x="1106424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7"/>
          <p:cNvSpPr/>
          <p:nvPr/>
        </p:nvSpPr>
        <p:spPr>
          <a:xfrm>
            <a:off x="640080" y="1645920"/>
            <a:ext cx="7406280" cy="425160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7"/>
          <p:cNvSpPr/>
          <p:nvPr/>
        </p:nvSpPr>
        <p:spPr>
          <a:xfrm>
            <a:off x="1234440" y="5257800"/>
            <a:ext cx="6354720" cy="5040"/>
          </a:xfrm>
          <a:prstGeom prst="rect">
            <a:avLst/>
          </a:prstGeom>
          <a:solidFill>
            <a:srgbClr val="414E6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7"/>
          <p:cNvSpPr/>
          <p:nvPr/>
        </p:nvSpPr>
        <p:spPr>
          <a:xfrm>
            <a:off x="1234440" y="4457880"/>
            <a:ext cx="6354720" cy="5040"/>
          </a:xfrm>
          <a:prstGeom prst="rect">
            <a:avLst/>
          </a:prstGeom>
          <a:solidFill>
            <a:srgbClr val="414E6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7"/>
          <p:cNvSpPr/>
          <p:nvPr/>
        </p:nvSpPr>
        <p:spPr>
          <a:xfrm>
            <a:off x="1234440" y="3657600"/>
            <a:ext cx="6354720" cy="5040"/>
          </a:xfrm>
          <a:prstGeom prst="rect">
            <a:avLst/>
          </a:prstGeom>
          <a:solidFill>
            <a:srgbClr val="414E6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7"/>
          <p:cNvSpPr/>
          <p:nvPr/>
        </p:nvSpPr>
        <p:spPr>
          <a:xfrm>
            <a:off x="1234440" y="2857680"/>
            <a:ext cx="6354720" cy="5040"/>
          </a:xfrm>
          <a:prstGeom prst="rect">
            <a:avLst/>
          </a:prstGeom>
          <a:solidFill>
            <a:srgbClr val="414E6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7"/>
          <p:cNvSpPr/>
          <p:nvPr/>
        </p:nvSpPr>
        <p:spPr>
          <a:xfrm>
            <a:off x="1234440" y="2057400"/>
            <a:ext cx="6354720" cy="5040"/>
          </a:xfrm>
          <a:prstGeom prst="rect">
            <a:avLst/>
          </a:prstGeom>
          <a:solidFill>
            <a:srgbClr val="414E6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7"/>
          <p:cNvSpPr/>
          <p:nvPr/>
        </p:nvSpPr>
        <p:spPr>
          <a:xfrm>
            <a:off x="694800" y="2788920"/>
            <a:ext cx="456840" cy="11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Growth (log scale)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7"/>
          <p:cNvSpPr/>
          <p:nvPr/>
        </p:nvSpPr>
        <p:spPr>
          <a:xfrm>
            <a:off x="3474720" y="5367600"/>
            <a:ext cx="16455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Input size n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7"/>
          <p:cNvSpPr/>
          <p:nvPr/>
        </p:nvSpPr>
        <p:spPr>
          <a:xfrm>
            <a:off x="106992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7"/>
          <p:cNvSpPr/>
          <p:nvPr/>
        </p:nvSpPr>
        <p:spPr>
          <a:xfrm>
            <a:off x="234072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7"/>
          <p:cNvSpPr/>
          <p:nvPr/>
        </p:nvSpPr>
        <p:spPr>
          <a:xfrm>
            <a:off x="361188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7"/>
          <p:cNvSpPr/>
          <p:nvPr/>
        </p:nvSpPr>
        <p:spPr>
          <a:xfrm>
            <a:off x="488304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7"/>
          <p:cNvSpPr/>
          <p:nvPr/>
        </p:nvSpPr>
        <p:spPr>
          <a:xfrm>
            <a:off x="615384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7"/>
          <p:cNvSpPr/>
          <p:nvPr/>
        </p:nvSpPr>
        <p:spPr>
          <a:xfrm>
            <a:off x="742500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7"/>
          <p:cNvSpPr/>
          <p:nvPr/>
        </p:nvSpPr>
        <p:spPr>
          <a:xfrm>
            <a:off x="1234440" y="5141160"/>
            <a:ext cx="1270800" cy="32400"/>
          </a:xfrm>
          <a:prstGeom prst="rect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7"/>
          <p:cNvSpPr/>
          <p:nvPr/>
        </p:nvSpPr>
        <p:spPr>
          <a:xfrm>
            <a:off x="2505600" y="5141160"/>
            <a:ext cx="1270800" cy="32400"/>
          </a:xfrm>
          <a:prstGeom prst="rect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7"/>
          <p:cNvSpPr/>
          <p:nvPr/>
        </p:nvSpPr>
        <p:spPr>
          <a:xfrm>
            <a:off x="3776400" y="5141160"/>
            <a:ext cx="1270800" cy="32400"/>
          </a:xfrm>
          <a:prstGeom prst="rect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7"/>
          <p:cNvSpPr/>
          <p:nvPr/>
        </p:nvSpPr>
        <p:spPr>
          <a:xfrm>
            <a:off x="5047560" y="5141160"/>
            <a:ext cx="1270800" cy="32400"/>
          </a:xfrm>
          <a:prstGeom prst="rect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7"/>
          <p:cNvSpPr/>
          <p:nvPr/>
        </p:nvSpPr>
        <p:spPr>
          <a:xfrm>
            <a:off x="6318360" y="5141160"/>
            <a:ext cx="1270800" cy="32400"/>
          </a:xfrm>
          <a:prstGeom prst="rect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7"/>
          <p:cNvSpPr/>
          <p:nvPr/>
        </p:nvSpPr>
        <p:spPr>
          <a:xfrm>
            <a:off x="119340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7"/>
          <p:cNvSpPr/>
          <p:nvPr/>
        </p:nvSpPr>
        <p:spPr>
          <a:xfrm>
            <a:off x="246420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7"/>
          <p:cNvSpPr/>
          <p:nvPr/>
        </p:nvSpPr>
        <p:spPr>
          <a:xfrm>
            <a:off x="373536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7"/>
          <p:cNvSpPr/>
          <p:nvPr/>
        </p:nvSpPr>
        <p:spPr>
          <a:xfrm>
            <a:off x="500652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7"/>
          <p:cNvSpPr/>
          <p:nvPr/>
        </p:nvSpPr>
        <p:spPr>
          <a:xfrm>
            <a:off x="627732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7"/>
          <p:cNvSpPr/>
          <p:nvPr/>
        </p:nvSpPr>
        <p:spPr>
          <a:xfrm>
            <a:off x="754848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7"/>
          <p:cNvSpPr/>
          <p:nvPr/>
        </p:nvSpPr>
        <p:spPr>
          <a:xfrm rot="-270000">
            <a:off x="1232280" y="5190840"/>
            <a:ext cx="1274760" cy="32400"/>
          </a:xfrm>
          <a:prstGeom prst="rect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7"/>
          <p:cNvSpPr/>
          <p:nvPr/>
        </p:nvSpPr>
        <p:spPr>
          <a:xfrm rot="-158400">
            <a:off x="2504520" y="5112000"/>
            <a:ext cx="1271880" cy="32400"/>
          </a:xfrm>
          <a:prstGeom prst="rect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7"/>
          <p:cNvSpPr/>
          <p:nvPr/>
        </p:nvSpPr>
        <p:spPr>
          <a:xfrm rot="-112200">
            <a:off x="3776040" y="5061960"/>
            <a:ext cx="1271160" cy="32400"/>
          </a:xfrm>
          <a:prstGeom prst="rect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7"/>
          <p:cNvSpPr/>
          <p:nvPr/>
        </p:nvSpPr>
        <p:spPr>
          <a:xfrm rot="-87000">
            <a:off x="5047200" y="5025240"/>
            <a:ext cx="1271160" cy="32400"/>
          </a:xfrm>
          <a:prstGeom prst="rect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7"/>
          <p:cNvSpPr/>
          <p:nvPr/>
        </p:nvSpPr>
        <p:spPr>
          <a:xfrm rot="-71400">
            <a:off x="6318000" y="4995720"/>
            <a:ext cx="1270800" cy="32400"/>
          </a:xfrm>
          <a:prstGeom prst="rect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7"/>
          <p:cNvSpPr/>
          <p:nvPr/>
        </p:nvSpPr>
        <p:spPr>
          <a:xfrm>
            <a:off x="1193400" y="521676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7"/>
          <p:cNvSpPr/>
          <p:nvPr/>
        </p:nvSpPr>
        <p:spPr>
          <a:xfrm>
            <a:off x="2464200" y="511668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7"/>
          <p:cNvSpPr/>
          <p:nvPr/>
        </p:nvSpPr>
        <p:spPr>
          <a:xfrm>
            <a:off x="3735360" y="505800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7"/>
          <p:cNvSpPr/>
          <p:nvPr/>
        </p:nvSpPr>
        <p:spPr>
          <a:xfrm>
            <a:off x="5006520" y="501660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7"/>
          <p:cNvSpPr/>
          <p:nvPr/>
        </p:nvSpPr>
        <p:spPr>
          <a:xfrm>
            <a:off x="6277320" y="498456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7"/>
          <p:cNvSpPr/>
          <p:nvPr/>
        </p:nvSpPr>
        <p:spPr>
          <a:xfrm>
            <a:off x="7548480" y="495828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7"/>
          <p:cNvSpPr/>
          <p:nvPr/>
        </p:nvSpPr>
        <p:spPr>
          <a:xfrm rot="-158400">
            <a:off x="1233720" y="5112000"/>
            <a:ext cx="1271880" cy="32400"/>
          </a:xfrm>
          <a:prstGeom prst="rect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7"/>
          <p:cNvSpPr/>
          <p:nvPr/>
        </p:nvSpPr>
        <p:spPr>
          <a:xfrm rot="-199200">
            <a:off x="2504160" y="5045760"/>
            <a:ext cx="1272960" cy="32400"/>
          </a:xfrm>
          <a:prstGeom prst="rect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7"/>
          <p:cNvSpPr/>
          <p:nvPr/>
        </p:nvSpPr>
        <p:spPr>
          <a:xfrm rot="-229200">
            <a:off x="3774960" y="4966560"/>
            <a:ext cx="1273320" cy="32400"/>
          </a:xfrm>
          <a:prstGeom prst="rect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7"/>
          <p:cNvSpPr/>
          <p:nvPr/>
        </p:nvSpPr>
        <p:spPr>
          <a:xfrm rot="-247800">
            <a:off x="5045760" y="4878360"/>
            <a:ext cx="1274040" cy="32400"/>
          </a:xfrm>
          <a:prstGeom prst="rect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7"/>
          <p:cNvSpPr/>
          <p:nvPr/>
        </p:nvSpPr>
        <p:spPr>
          <a:xfrm rot="-258000">
            <a:off x="6316560" y="4784400"/>
            <a:ext cx="1274400" cy="32400"/>
          </a:xfrm>
          <a:prstGeom prst="rect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7"/>
          <p:cNvSpPr/>
          <p:nvPr/>
        </p:nvSpPr>
        <p:spPr>
          <a:xfrm>
            <a:off x="1193400" y="511668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7"/>
          <p:cNvSpPr/>
          <p:nvPr/>
        </p:nvSpPr>
        <p:spPr>
          <a:xfrm>
            <a:off x="2464200" y="505800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7"/>
          <p:cNvSpPr/>
          <p:nvPr/>
        </p:nvSpPr>
        <p:spPr>
          <a:xfrm>
            <a:off x="3735360" y="498456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7"/>
          <p:cNvSpPr/>
          <p:nvPr/>
        </p:nvSpPr>
        <p:spPr>
          <a:xfrm>
            <a:off x="5006520" y="489960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7"/>
          <p:cNvSpPr/>
          <p:nvPr/>
        </p:nvSpPr>
        <p:spPr>
          <a:xfrm>
            <a:off x="6277320" y="480780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7"/>
          <p:cNvSpPr/>
          <p:nvPr/>
        </p:nvSpPr>
        <p:spPr>
          <a:xfrm>
            <a:off x="7548480" y="471204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7"/>
          <p:cNvSpPr/>
          <p:nvPr/>
        </p:nvSpPr>
        <p:spPr>
          <a:xfrm rot="-426600">
            <a:off x="1229040" y="5162040"/>
            <a:ext cx="1280520" cy="32400"/>
          </a:xfrm>
          <a:prstGeom prst="rect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7"/>
          <p:cNvSpPr/>
          <p:nvPr/>
        </p:nvSpPr>
        <p:spPr>
          <a:xfrm rot="-426600">
            <a:off x="2500200" y="5003280"/>
            <a:ext cx="1280520" cy="32400"/>
          </a:xfrm>
          <a:prstGeom prst="rect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7"/>
          <p:cNvSpPr/>
          <p:nvPr/>
        </p:nvSpPr>
        <p:spPr>
          <a:xfrm rot="-397200">
            <a:off x="3772080" y="4850280"/>
            <a:ext cx="1279080" cy="32400"/>
          </a:xfrm>
          <a:prstGeom prst="rect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7"/>
          <p:cNvSpPr/>
          <p:nvPr/>
        </p:nvSpPr>
        <p:spPr>
          <a:xfrm rot="-371400">
            <a:off x="5043600" y="4707720"/>
            <a:ext cx="1278000" cy="32400"/>
          </a:xfrm>
          <a:prstGeom prst="rect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7"/>
          <p:cNvSpPr/>
          <p:nvPr/>
        </p:nvSpPr>
        <p:spPr>
          <a:xfrm rot="-352800">
            <a:off x="6315120" y="4573440"/>
            <a:ext cx="1277280" cy="32400"/>
          </a:xfrm>
          <a:prstGeom prst="rect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7"/>
          <p:cNvSpPr/>
          <p:nvPr/>
        </p:nvSpPr>
        <p:spPr>
          <a:xfrm>
            <a:off x="1193400" y="521676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7"/>
          <p:cNvSpPr/>
          <p:nvPr/>
        </p:nvSpPr>
        <p:spPr>
          <a:xfrm>
            <a:off x="2464200" y="505800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7"/>
          <p:cNvSpPr/>
          <p:nvPr/>
        </p:nvSpPr>
        <p:spPr>
          <a:xfrm>
            <a:off x="3735360" y="489960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7"/>
          <p:cNvSpPr/>
          <p:nvPr/>
        </p:nvSpPr>
        <p:spPr>
          <a:xfrm>
            <a:off x="5006520" y="475236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7"/>
          <p:cNvSpPr/>
          <p:nvPr/>
        </p:nvSpPr>
        <p:spPr>
          <a:xfrm>
            <a:off x="6277320" y="461448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7"/>
          <p:cNvSpPr/>
          <p:nvPr/>
        </p:nvSpPr>
        <p:spPr>
          <a:xfrm>
            <a:off x="7548480" y="448344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7"/>
          <p:cNvSpPr/>
          <p:nvPr/>
        </p:nvSpPr>
        <p:spPr>
          <a:xfrm rot="-356400">
            <a:off x="1230840" y="5075280"/>
            <a:ext cx="1277640" cy="32400"/>
          </a:xfrm>
          <a:prstGeom prst="rect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7"/>
          <p:cNvSpPr/>
          <p:nvPr/>
        </p:nvSpPr>
        <p:spPr>
          <a:xfrm rot="-474600">
            <a:off x="2499120" y="4920840"/>
            <a:ext cx="1283040" cy="32400"/>
          </a:xfrm>
          <a:prstGeom prst="rect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7"/>
          <p:cNvSpPr/>
          <p:nvPr/>
        </p:nvSpPr>
        <p:spPr>
          <a:xfrm rot="-519600">
            <a:off x="3768840" y="4735440"/>
            <a:ext cx="1285200" cy="32400"/>
          </a:xfrm>
          <a:prstGeom prst="rect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7"/>
          <p:cNvSpPr/>
          <p:nvPr/>
        </p:nvSpPr>
        <p:spPr>
          <a:xfrm rot="-531600">
            <a:off x="5039640" y="4539960"/>
            <a:ext cx="1285920" cy="32400"/>
          </a:xfrm>
          <a:prstGeom prst="rect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7"/>
          <p:cNvSpPr/>
          <p:nvPr/>
        </p:nvSpPr>
        <p:spPr>
          <a:xfrm rot="-535200">
            <a:off x="6310440" y="4340880"/>
            <a:ext cx="1286280" cy="32400"/>
          </a:xfrm>
          <a:prstGeom prst="rect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7"/>
          <p:cNvSpPr/>
          <p:nvPr/>
        </p:nvSpPr>
        <p:spPr>
          <a:xfrm>
            <a:off x="1193400" y="511668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7"/>
          <p:cNvSpPr/>
          <p:nvPr/>
        </p:nvSpPr>
        <p:spPr>
          <a:xfrm>
            <a:off x="2464200" y="498456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7"/>
          <p:cNvSpPr/>
          <p:nvPr/>
        </p:nvSpPr>
        <p:spPr>
          <a:xfrm>
            <a:off x="3735360" y="480780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7"/>
          <p:cNvSpPr/>
          <p:nvPr/>
        </p:nvSpPr>
        <p:spPr>
          <a:xfrm>
            <a:off x="5006520" y="461448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7"/>
          <p:cNvSpPr/>
          <p:nvPr/>
        </p:nvSpPr>
        <p:spPr>
          <a:xfrm>
            <a:off x="6277320" y="441612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7"/>
          <p:cNvSpPr/>
          <p:nvPr/>
        </p:nvSpPr>
        <p:spPr>
          <a:xfrm>
            <a:off x="7548480" y="421632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7"/>
          <p:cNvSpPr/>
          <p:nvPr/>
        </p:nvSpPr>
        <p:spPr>
          <a:xfrm rot="-199200">
            <a:off x="1233000" y="5045760"/>
            <a:ext cx="1272960" cy="32400"/>
          </a:xfrm>
          <a:prstGeom prst="rect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7"/>
          <p:cNvSpPr/>
          <p:nvPr/>
        </p:nvSpPr>
        <p:spPr>
          <a:xfrm rot="-474600">
            <a:off x="2499120" y="4920840"/>
            <a:ext cx="1283040" cy="32400"/>
          </a:xfrm>
          <a:prstGeom prst="rect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7"/>
          <p:cNvSpPr/>
          <p:nvPr/>
        </p:nvSpPr>
        <p:spPr>
          <a:xfrm rot="-1027800">
            <a:off x="3746880" y="4636440"/>
            <a:ext cx="1329840" cy="32400"/>
          </a:xfrm>
          <a:prstGeom prst="rect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7"/>
          <p:cNvSpPr/>
          <p:nvPr/>
        </p:nvSpPr>
        <p:spPr>
          <a:xfrm rot="-1930200">
            <a:off x="4931640" y="4040640"/>
            <a:ext cx="1501200" cy="32400"/>
          </a:xfrm>
          <a:prstGeom prst="rect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7"/>
          <p:cNvSpPr/>
          <p:nvPr/>
        </p:nvSpPr>
        <p:spPr>
          <a:xfrm rot="-3092400">
            <a:off x="5932080" y="2841120"/>
            <a:ext cx="2043360" cy="32400"/>
          </a:xfrm>
          <a:prstGeom prst="rect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7"/>
          <p:cNvSpPr/>
          <p:nvPr/>
        </p:nvSpPr>
        <p:spPr>
          <a:xfrm>
            <a:off x="1193400" y="505800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7"/>
          <p:cNvSpPr/>
          <p:nvPr/>
        </p:nvSpPr>
        <p:spPr>
          <a:xfrm>
            <a:off x="2464200" y="498456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7"/>
          <p:cNvSpPr/>
          <p:nvPr/>
        </p:nvSpPr>
        <p:spPr>
          <a:xfrm>
            <a:off x="3735360" y="480780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7"/>
          <p:cNvSpPr/>
          <p:nvPr/>
        </p:nvSpPr>
        <p:spPr>
          <a:xfrm>
            <a:off x="5006520" y="441612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7"/>
          <p:cNvSpPr/>
          <p:nvPr/>
        </p:nvSpPr>
        <p:spPr>
          <a:xfrm>
            <a:off x="6277320" y="361656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7"/>
          <p:cNvSpPr/>
          <p:nvPr/>
        </p:nvSpPr>
        <p:spPr>
          <a:xfrm>
            <a:off x="7548480" y="201636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7"/>
          <p:cNvSpPr/>
          <p:nvPr/>
        </p:nvSpPr>
        <p:spPr>
          <a:xfrm>
            <a:off x="3769200" y="2057400"/>
            <a:ext cx="14400" cy="320004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7"/>
          <p:cNvSpPr/>
          <p:nvPr/>
        </p:nvSpPr>
        <p:spPr>
          <a:xfrm>
            <a:off x="1234440" y="56602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7"/>
          <p:cNvSpPr/>
          <p:nvPr/>
        </p:nvSpPr>
        <p:spPr>
          <a:xfrm>
            <a:off x="1371600" y="562356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O(1)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7"/>
          <p:cNvSpPr/>
          <p:nvPr/>
        </p:nvSpPr>
        <p:spPr>
          <a:xfrm>
            <a:off x="3154680" y="566028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7"/>
          <p:cNvSpPr/>
          <p:nvPr/>
        </p:nvSpPr>
        <p:spPr>
          <a:xfrm>
            <a:off x="3291840" y="562356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O(log₂ n)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7"/>
          <p:cNvSpPr/>
          <p:nvPr/>
        </p:nvSpPr>
        <p:spPr>
          <a:xfrm>
            <a:off x="5074920" y="566028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7"/>
          <p:cNvSpPr/>
          <p:nvPr/>
        </p:nvSpPr>
        <p:spPr>
          <a:xfrm>
            <a:off x="5212080" y="562356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O(n)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7"/>
          <p:cNvSpPr/>
          <p:nvPr/>
        </p:nvSpPr>
        <p:spPr>
          <a:xfrm>
            <a:off x="1234440" y="591624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7"/>
          <p:cNvSpPr/>
          <p:nvPr/>
        </p:nvSpPr>
        <p:spPr>
          <a:xfrm>
            <a:off x="1371600" y="587952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O(n log₂ n)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7"/>
          <p:cNvSpPr/>
          <p:nvPr/>
        </p:nvSpPr>
        <p:spPr>
          <a:xfrm>
            <a:off x="3154680" y="591624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7"/>
          <p:cNvSpPr/>
          <p:nvPr/>
        </p:nvSpPr>
        <p:spPr>
          <a:xfrm>
            <a:off x="3291840" y="587952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O(n²)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7"/>
          <p:cNvSpPr/>
          <p:nvPr/>
        </p:nvSpPr>
        <p:spPr>
          <a:xfrm>
            <a:off x="5074920" y="591624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7"/>
          <p:cNvSpPr/>
          <p:nvPr/>
        </p:nvSpPr>
        <p:spPr>
          <a:xfrm>
            <a:off x="5212080" y="587952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O(2ⁿ)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7"/>
          <p:cNvSpPr/>
          <p:nvPr/>
        </p:nvSpPr>
        <p:spPr>
          <a:xfrm>
            <a:off x="8275320" y="1645920"/>
            <a:ext cx="3309840" cy="425160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7"/>
          <p:cNvSpPr/>
          <p:nvPr/>
        </p:nvSpPr>
        <p:spPr>
          <a:xfrm>
            <a:off x="8595360" y="1901880"/>
            <a:ext cx="255996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At n = 4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7"/>
          <p:cNvSpPr/>
          <p:nvPr/>
        </p:nvSpPr>
        <p:spPr>
          <a:xfrm>
            <a:off x="8595360" y="2267640"/>
            <a:ext cx="255996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Representative growth values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7"/>
          <p:cNvSpPr/>
          <p:nvPr/>
        </p:nvSpPr>
        <p:spPr>
          <a:xfrm>
            <a:off x="8595360" y="269748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2EC48F"/>
                </a:solidFill>
                <a:latin typeface="Arial"/>
                <a:ea typeface="Arial"/>
                <a:cs typeface="Arial"/>
                <a:sym typeface="Arial"/>
              </a:rPr>
              <a:t>O(1)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7"/>
          <p:cNvSpPr/>
          <p:nvPr/>
        </p:nvSpPr>
        <p:spPr>
          <a:xfrm>
            <a:off x="10195560" y="269748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7"/>
          <p:cNvSpPr/>
          <p:nvPr/>
        </p:nvSpPr>
        <p:spPr>
          <a:xfrm>
            <a:off x="8595360" y="312732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57A6FF"/>
                </a:solidFill>
                <a:latin typeface="Arial"/>
                <a:ea typeface="Arial"/>
                <a:cs typeface="Arial"/>
                <a:sym typeface="Arial"/>
              </a:rPr>
              <a:t>O(log₂ n)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7"/>
          <p:cNvSpPr/>
          <p:nvPr/>
        </p:nvSpPr>
        <p:spPr>
          <a:xfrm>
            <a:off x="10195560" y="312732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7"/>
          <p:cNvSpPr/>
          <p:nvPr/>
        </p:nvSpPr>
        <p:spPr>
          <a:xfrm>
            <a:off x="8595360" y="355716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6B741"/>
                </a:solidFill>
                <a:latin typeface="Arial"/>
                <a:ea typeface="Arial"/>
                <a:cs typeface="Arial"/>
                <a:sym typeface="Arial"/>
              </a:rPr>
              <a:t>O(n)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7"/>
          <p:cNvSpPr/>
          <p:nvPr/>
        </p:nvSpPr>
        <p:spPr>
          <a:xfrm>
            <a:off x="10195560" y="355716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27"/>
          <p:cNvSpPr/>
          <p:nvPr/>
        </p:nvSpPr>
        <p:spPr>
          <a:xfrm>
            <a:off x="8595360" y="398664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58042"/>
                </a:solidFill>
                <a:latin typeface="Arial"/>
                <a:ea typeface="Arial"/>
                <a:cs typeface="Arial"/>
                <a:sym typeface="Arial"/>
              </a:rPr>
              <a:t>O(n log₂ n)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7"/>
          <p:cNvSpPr/>
          <p:nvPr/>
        </p:nvSpPr>
        <p:spPr>
          <a:xfrm>
            <a:off x="10195560" y="398664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7"/>
          <p:cNvSpPr/>
          <p:nvPr/>
        </p:nvSpPr>
        <p:spPr>
          <a:xfrm>
            <a:off x="8595360" y="441648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E74C5A"/>
                </a:solidFill>
                <a:latin typeface="Arial"/>
                <a:ea typeface="Arial"/>
                <a:cs typeface="Arial"/>
                <a:sym typeface="Arial"/>
              </a:rPr>
              <a:t>O(n²)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7"/>
          <p:cNvSpPr/>
          <p:nvPr/>
        </p:nvSpPr>
        <p:spPr>
          <a:xfrm>
            <a:off x="10195560" y="441648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7"/>
          <p:cNvSpPr/>
          <p:nvPr/>
        </p:nvSpPr>
        <p:spPr>
          <a:xfrm>
            <a:off x="8595360" y="484632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A46FEE"/>
                </a:solidFill>
                <a:latin typeface="Arial"/>
                <a:ea typeface="Arial"/>
                <a:cs typeface="Arial"/>
                <a:sym typeface="Arial"/>
              </a:rPr>
              <a:t>O(2ⁿ)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7"/>
          <p:cNvSpPr/>
          <p:nvPr/>
        </p:nvSpPr>
        <p:spPr>
          <a:xfrm>
            <a:off x="10195560" y="484632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27"/>
          <p:cNvSpPr/>
          <p:nvPr/>
        </p:nvSpPr>
        <p:spPr>
          <a:xfrm>
            <a:off x="8595360" y="5358240"/>
            <a:ext cx="10054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57A6FF"/>
                </a:solidFill>
                <a:latin typeface="Arial"/>
                <a:ea typeface="Arial"/>
                <a:cs typeface="Arial"/>
                <a:sym typeface="Arial"/>
              </a:rPr>
              <a:t>Key idea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7"/>
          <p:cNvSpPr/>
          <p:nvPr/>
        </p:nvSpPr>
        <p:spPr>
          <a:xfrm>
            <a:off x="9326880" y="5285160"/>
            <a:ext cx="1874160" cy="4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Different growth rates separate dramatically as n increases.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7"/>
          <p:cNvSpPr/>
          <p:nvPr/>
        </p:nvSpPr>
        <p:spPr>
          <a:xfrm>
            <a:off x="658440" y="6473880"/>
            <a:ext cx="676620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Values illustrate growth functions, not measured execution time.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27"/>
          <p:cNvSpPr txBox="1"/>
          <p:nvPr>
            <p:ph idx="1" type="body"/>
          </p:nvPr>
        </p:nvSpPr>
        <p:spPr>
          <a:xfrm>
            <a:off x="818280" y="1114560"/>
            <a:ext cx="10493280" cy="50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sz="2800" u="none" strike="noStrike">
              <a:solidFill>
                <a:srgbClr val="204C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4" name="Google Shape;604;p27"/>
          <p:cNvSpPr txBox="1"/>
          <p:nvPr>
            <p:ph type="title"/>
          </p:nvPr>
        </p:nvSpPr>
        <p:spPr>
          <a:xfrm>
            <a:off x="817560" y="189000"/>
            <a:ext cx="10494720" cy="76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Big-O Growth: How Algorithms Scale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8"/>
          <p:cNvSpPr/>
          <p:nvPr/>
        </p:nvSpPr>
        <p:spPr>
          <a:xfrm>
            <a:off x="612720" y="768240"/>
            <a:ext cx="7772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Select an input size n to compare representative growth values.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8">
            <a:hlinkClick action="ppaction://hlinksldjump" r:id="rId3"/>
          </p:cNvPr>
          <p:cNvSpPr/>
          <p:nvPr/>
        </p:nvSpPr>
        <p:spPr>
          <a:xfrm>
            <a:off x="749808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8">
            <a:hlinkClick action="ppaction://hlinksldjump" r:id="rId4"/>
          </p:cNvPr>
          <p:cNvSpPr/>
          <p:nvPr/>
        </p:nvSpPr>
        <p:spPr>
          <a:xfrm>
            <a:off x="821124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8">
            <a:hlinkClick action="ppaction://hlinksldjump" r:id="rId5"/>
          </p:cNvPr>
          <p:cNvSpPr/>
          <p:nvPr/>
        </p:nvSpPr>
        <p:spPr>
          <a:xfrm>
            <a:off x="892440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8">
            <a:hlinkClick action="ppaction://hlinksldjump" r:id="rId6"/>
          </p:cNvPr>
          <p:cNvSpPr/>
          <p:nvPr/>
        </p:nvSpPr>
        <p:spPr>
          <a:xfrm>
            <a:off x="963792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57A6FF"/>
          </a:solidFill>
          <a:ln cap="flat" cmpd="sng" w="9525">
            <a:solidFill>
              <a:srgbClr val="57A6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8">
            <a:hlinkClick action="ppaction://hlinksldjump" r:id="rId7"/>
          </p:cNvPr>
          <p:cNvSpPr/>
          <p:nvPr/>
        </p:nvSpPr>
        <p:spPr>
          <a:xfrm>
            <a:off x="1035108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8">
            <a:hlinkClick action="ppaction://hlinksldjump" r:id="rId8"/>
          </p:cNvPr>
          <p:cNvSpPr/>
          <p:nvPr/>
        </p:nvSpPr>
        <p:spPr>
          <a:xfrm>
            <a:off x="1106424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8"/>
          <p:cNvSpPr/>
          <p:nvPr/>
        </p:nvSpPr>
        <p:spPr>
          <a:xfrm>
            <a:off x="640080" y="1645920"/>
            <a:ext cx="7406280" cy="425160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8"/>
          <p:cNvSpPr/>
          <p:nvPr/>
        </p:nvSpPr>
        <p:spPr>
          <a:xfrm>
            <a:off x="1234440" y="5257800"/>
            <a:ext cx="6354720" cy="5040"/>
          </a:xfrm>
          <a:prstGeom prst="rect">
            <a:avLst/>
          </a:prstGeom>
          <a:solidFill>
            <a:srgbClr val="414E6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8"/>
          <p:cNvSpPr/>
          <p:nvPr/>
        </p:nvSpPr>
        <p:spPr>
          <a:xfrm>
            <a:off x="1234440" y="4457880"/>
            <a:ext cx="6354720" cy="5040"/>
          </a:xfrm>
          <a:prstGeom prst="rect">
            <a:avLst/>
          </a:prstGeom>
          <a:solidFill>
            <a:srgbClr val="414E6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8"/>
          <p:cNvSpPr/>
          <p:nvPr/>
        </p:nvSpPr>
        <p:spPr>
          <a:xfrm>
            <a:off x="1234440" y="3657600"/>
            <a:ext cx="6354720" cy="5040"/>
          </a:xfrm>
          <a:prstGeom prst="rect">
            <a:avLst/>
          </a:prstGeom>
          <a:solidFill>
            <a:srgbClr val="414E6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8"/>
          <p:cNvSpPr/>
          <p:nvPr/>
        </p:nvSpPr>
        <p:spPr>
          <a:xfrm>
            <a:off x="1234440" y="2857680"/>
            <a:ext cx="6354720" cy="5040"/>
          </a:xfrm>
          <a:prstGeom prst="rect">
            <a:avLst/>
          </a:prstGeom>
          <a:solidFill>
            <a:srgbClr val="414E6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8"/>
          <p:cNvSpPr/>
          <p:nvPr/>
        </p:nvSpPr>
        <p:spPr>
          <a:xfrm>
            <a:off x="1234440" y="2057400"/>
            <a:ext cx="6354720" cy="5040"/>
          </a:xfrm>
          <a:prstGeom prst="rect">
            <a:avLst/>
          </a:prstGeom>
          <a:solidFill>
            <a:srgbClr val="414E6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8"/>
          <p:cNvSpPr/>
          <p:nvPr/>
        </p:nvSpPr>
        <p:spPr>
          <a:xfrm>
            <a:off x="694800" y="2788920"/>
            <a:ext cx="456840" cy="11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Growth (log scale)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28"/>
          <p:cNvSpPr/>
          <p:nvPr/>
        </p:nvSpPr>
        <p:spPr>
          <a:xfrm>
            <a:off x="3474720" y="5367600"/>
            <a:ext cx="16455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Input size n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8"/>
          <p:cNvSpPr/>
          <p:nvPr/>
        </p:nvSpPr>
        <p:spPr>
          <a:xfrm>
            <a:off x="106992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8"/>
          <p:cNvSpPr/>
          <p:nvPr/>
        </p:nvSpPr>
        <p:spPr>
          <a:xfrm>
            <a:off x="234072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8"/>
          <p:cNvSpPr/>
          <p:nvPr/>
        </p:nvSpPr>
        <p:spPr>
          <a:xfrm>
            <a:off x="361188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8"/>
          <p:cNvSpPr/>
          <p:nvPr/>
        </p:nvSpPr>
        <p:spPr>
          <a:xfrm>
            <a:off x="488304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8"/>
          <p:cNvSpPr/>
          <p:nvPr/>
        </p:nvSpPr>
        <p:spPr>
          <a:xfrm>
            <a:off x="615384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8"/>
          <p:cNvSpPr/>
          <p:nvPr/>
        </p:nvSpPr>
        <p:spPr>
          <a:xfrm>
            <a:off x="742500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28"/>
          <p:cNvSpPr/>
          <p:nvPr/>
        </p:nvSpPr>
        <p:spPr>
          <a:xfrm>
            <a:off x="1234440" y="5141160"/>
            <a:ext cx="1270800" cy="32400"/>
          </a:xfrm>
          <a:prstGeom prst="rect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8"/>
          <p:cNvSpPr/>
          <p:nvPr/>
        </p:nvSpPr>
        <p:spPr>
          <a:xfrm>
            <a:off x="2505600" y="5141160"/>
            <a:ext cx="1270800" cy="32400"/>
          </a:xfrm>
          <a:prstGeom prst="rect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8"/>
          <p:cNvSpPr/>
          <p:nvPr/>
        </p:nvSpPr>
        <p:spPr>
          <a:xfrm>
            <a:off x="3776400" y="5141160"/>
            <a:ext cx="1270800" cy="32400"/>
          </a:xfrm>
          <a:prstGeom prst="rect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8"/>
          <p:cNvSpPr/>
          <p:nvPr/>
        </p:nvSpPr>
        <p:spPr>
          <a:xfrm>
            <a:off x="5047560" y="5141160"/>
            <a:ext cx="1270800" cy="32400"/>
          </a:xfrm>
          <a:prstGeom prst="rect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8"/>
          <p:cNvSpPr/>
          <p:nvPr/>
        </p:nvSpPr>
        <p:spPr>
          <a:xfrm>
            <a:off x="6318360" y="5141160"/>
            <a:ext cx="1270800" cy="32400"/>
          </a:xfrm>
          <a:prstGeom prst="rect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8"/>
          <p:cNvSpPr/>
          <p:nvPr/>
        </p:nvSpPr>
        <p:spPr>
          <a:xfrm>
            <a:off x="119340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8"/>
          <p:cNvSpPr/>
          <p:nvPr/>
        </p:nvSpPr>
        <p:spPr>
          <a:xfrm>
            <a:off x="246420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8"/>
          <p:cNvSpPr/>
          <p:nvPr/>
        </p:nvSpPr>
        <p:spPr>
          <a:xfrm>
            <a:off x="373536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8"/>
          <p:cNvSpPr/>
          <p:nvPr/>
        </p:nvSpPr>
        <p:spPr>
          <a:xfrm>
            <a:off x="500652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8"/>
          <p:cNvSpPr/>
          <p:nvPr/>
        </p:nvSpPr>
        <p:spPr>
          <a:xfrm>
            <a:off x="627732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8"/>
          <p:cNvSpPr/>
          <p:nvPr/>
        </p:nvSpPr>
        <p:spPr>
          <a:xfrm>
            <a:off x="754848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8"/>
          <p:cNvSpPr/>
          <p:nvPr/>
        </p:nvSpPr>
        <p:spPr>
          <a:xfrm rot="-270000">
            <a:off x="1232280" y="5190840"/>
            <a:ext cx="1274760" cy="32400"/>
          </a:xfrm>
          <a:prstGeom prst="rect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8"/>
          <p:cNvSpPr/>
          <p:nvPr/>
        </p:nvSpPr>
        <p:spPr>
          <a:xfrm rot="-158400">
            <a:off x="2504520" y="5112000"/>
            <a:ext cx="1271880" cy="32400"/>
          </a:xfrm>
          <a:prstGeom prst="rect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8"/>
          <p:cNvSpPr/>
          <p:nvPr/>
        </p:nvSpPr>
        <p:spPr>
          <a:xfrm rot="-112200">
            <a:off x="3776040" y="5061960"/>
            <a:ext cx="1271160" cy="32400"/>
          </a:xfrm>
          <a:prstGeom prst="rect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8"/>
          <p:cNvSpPr/>
          <p:nvPr/>
        </p:nvSpPr>
        <p:spPr>
          <a:xfrm rot="-87000">
            <a:off x="5047200" y="5025240"/>
            <a:ext cx="1271160" cy="32400"/>
          </a:xfrm>
          <a:prstGeom prst="rect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8"/>
          <p:cNvSpPr/>
          <p:nvPr/>
        </p:nvSpPr>
        <p:spPr>
          <a:xfrm rot="-71400">
            <a:off x="6318000" y="4995720"/>
            <a:ext cx="1270800" cy="32400"/>
          </a:xfrm>
          <a:prstGeom prst="rect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8"/>
          <p:cNvSpPr/>
          <p:nvPr/>
        </p:nvSpPr>
        <p:spPr>
          <a:xfrm>
            <a:off x="1193400" y="521676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8"/>
          <p:cNvSpPr/>
          <p:nvPr/>
        </p:nvSpPr>
        <p:spPr>
          <a:xfrm>
            <a:off x="2464200" y="511668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8"/>
          <p:cNvSpPr/>
          <p:nvPr/>
        </p:nvSpPr>
        <p:spPr>
          <a:xfrm>
            <a:off x="3735360" y="505800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8"/>
          <p:cNvSpPr/>
          <p:nvPr/>
        </p:nvSpPr>
        <p:spPr>
          <a:xfrm>
            <a:off x="5006520" y="501660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8"/>
          <p:cNvSpPr/>
          <p:nvPr/>
        </p:nvSpPr>
        <p:spPr>
          <a:xfrm>
            <a:off x="6277320" y="498456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8"/>
          <p:cNvSpPr/>
          <p:nvPr/>
        </p:nvSpPr>
        <p:spPr>
          <a:xfrm>
            <a:off x="7548480" y="495828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8"/>
          <p:cNvSpPr/>
          <p:nvPr/>
        </p:nvSpPr>
        <p:spPr>
          <a:xfrm rot="-158400">
            <a:off x="1233720" y="5112000"/>
            <a:ext cx="1271880" cy="32400"/>
          </a:xfrm>
          <a:prstGeom prst="rect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8"/>
          <p:cNvSpPr/>
          <p:nvPr/>
        </p:nvSpPr>
        <p:spPr>
          <a:xfrm rot="-199200">
            <a:off x="2504160" y="5045760"/>
            <a:ext cx="1272960" cy="32400"/>
          </a:xfrm>
          <a:prstGeom prst="rect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8"/>
          <p:cNvSpPr/>
          <p:nvPr/>
        </p:nvSpPr>
        <p:spPr>
          <a:xfrm rot="-229200">
            <a:off x="3774960" y="4966560"/>
            <a:ext cx="1273320" cy="32400"/>
          </a:xfrm>
          <a:prstGeom prst="rect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8"/>
          <p:cNvSpPr/>
          <p:nvPr/>
        </p:nvSpPr>
        <p:spPr>
          <a:xfrm rot="-247800">
            <a:off x="5045760" y="4878360"/>
            <a:ext cx="1274040" cy="32400"/>
          </a:xfrm>
          <a:prstGeom prst="rect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8"/>
          <p:cNvSpPr/>
          <p:nvPr/>
        </p:nvSpPr>
        <p:spPr>
          <a:xfrm rot="-258000">
            <a:off x="6316560" y="4784400"/>
            <a:ext cx="1274400" cy="32400"/>
          </a:xfrm>
          <a:prstGeom prst="rect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8"/>
          <p:cNvSpPr/>
          <p:nvPr/>
        </p:nvSpPr>
        <p:spPr>
          <a:xfrm>
            <a:off x="1193400" y="511668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8"/>
          <p:cNvSpPr/>
          <p:nvPr/>
        </p:nvSpPr>
        <p:spPr>
          <a:xfrm>
            <a:off x="2464200" y="505800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8"/>
          <p:cNvSpPr/>
          <p:nvPr/>
        </p:nvSpPr>
        <p:spPr>
          <a:xfrm>
            <a:off x="3735360" y="498456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8"/>
          <p:cNvSpPr/>
          <p:nvPr/>
        </p:nvSpPr>
        <p:spPr>
          <a:xfrm>
            <a:off x="5006520" y="489960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8"/>
          <p:cNvSpPr/>
          <p:nvPr/>
        </p:nvSpPr>
        <p:spPr>
          <a:xfrm>
            <a:off x="6277320" y="480780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8"/>
          <p:cNvSpPr/>
          <p:nvPr/>
        </p:nvSpPr>
        <p:spPr>
          <a:xfrm>
            <a:off x="7548480" y="471204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8"/>
          <p:cNvSpPr/>
          <p:nvPr/>
        </p:nvSpPr>
        <p:spPr>
          <a:xfrm rot="-426600">
            <a:off x="1229040" y="5162040"/>
            <a:ext cx="1280520" cy="32400"/>
          </a:xfrm>
          <a:prstGeom prst="rect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8"/>
          <p:cNvSpPr/>
          <p:nvPr/>
        </p:nvSpPr>
        <p:spPr>
          <a:xfrm rot="-426600">
            <a:off x="2500200" y="5003280"/>
            <a:ext cx="1280520" cy="32400"/>
          </a:xfrm>
          <a:prstGeom prst="rect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8"/>
          <p:cNvSpPr/>
          <p:nvPr/>
        </p:nvSpPr>
        <p:spPr>
          <a:xfrm rot="-397200">
            <a:off x="3772080" y="4850280"/>
            <a:ext cx="1279080" cy="32400"/>
          </a:xfrm>
          <a:prstGeom prst="rect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8"/>
          <p:cNvSpPr/>
          <p:nvPr/>
        </p:nvSpPr>
        <p:spPr>
          <a:xfrm rot="-371400">
            <a:off x="5043600" y="4707720"/>
            <a:ext cx="1278000" cy="32400"/>
          </a:xfrm>
          <a:prstGeom prst="rect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8"/>
          <p:cNvSpPr/>
          <p:nvPr/>
        </p:nvSpPr>
        <p:spPr>
          <a:xfrm rot="-352800">
            <a:off x="6315120" y="4573440"/>
            <a:ext cx="1277280" cy="32400"/>
          </a:xfrm>
          <a:prstGeom prst="rect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8"/>
          <p:cNvSpPr/>
          <p:nvPr/>
        </p:nvSpPr>
        <p:spPr>
          <a:xfrm>
            <a:off x="1193400" y="521676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8"/>
          <p:cNvSpPr/>
          <p:nvPr/>
        </p:nvSpPr>
        <p:spPr>
          <a:xfrm>
            <a:off x="2464200" y="505800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8"/>
          <p:cNvSpPr/>
          <p:nvPr/>
        </p:nvSpPr>
        <p:spPr>
          <a:xfrm>
            <a:off x="3735360" y="489960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8"/>
          <p:cNvSpPr/>
          <p:nvPr/>
        </p:nvSpPr>
        <p:spPr>
          <a:xfrm>
            <a:off x="5006520" y="475236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8"/>
          <p:cNvSpPr/>
          <p:nvPr/>
        </p:nvSpPr>
        <p:spPr>
          <a:xfrm>
            <a:off x="6277320" y="461448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8"/>
          <p:cNvSpPr/>
          <p:nvPr/>
        </p:nvSpPr>
        <p:spPr>
          <a:xfrm>
            <a:off x="7548480" y="448344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8"/>
          <p:cNvSpPr/>
          <p:nvPr/>
        </p:nvSpPr>
        <p:spPr>
          <a:xfrm rot="-356400">
            <a:off x="1230840" y="5075280"/>
            <a:ext cx="1277640" cy="32400"/>
          </a:xfrm>
          <a:prstGeom prst="rect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8"/>
          <p:cNvSpPr/>
          <p:nvPr/>
        </p:nvSpPr>
        <p:spPr>
          <a:xfrm rot="-474600">
            <a:off x="2499120" y="4920840"/>
            <a:ext cx="1283040" cy="32400"/>
          </a:xfrm>
          <a:prstGeom prst="rect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8"/>
          <p:cNvSpPr/>
          <p:nvPr/>
        </p:nvSpPr>
        <p:spPr>
          <a:xfrm rot="-519600">
            <a:off x="3768840" y="4735440"/>
            <a:ext cx="1285200" cy="32400"/>
          </a:xfrm>
          <a:prstGeom prst="rect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8"/>
          <p:cNvSpPr/>
          <p:nvPr/>
        </p:nvSpPr>
        <p:spPr>
          <a:xfrm rot="-531600">
            <a:off x="5039640" y="4539960"/>
            <a:ext cx="1285920" cy="32400"/>
          </a:xfrm>
          <a:prstGeom prst="rect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8"/>
          <p:cNvSpPr/>
          <p:nvPr/>
        </p:nvSpPr>
        <p:spPr>
          <a:xfrm rot="-535200">
            <a:off x="6310440" y="4340880"/>
            <a:ext cx="1286280" cy="32400"/>
          </a:xfrm>
          <a:prstGeom prst="rect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8"/>
          <p:cNvSpPr/>
          <p:nvPr/>
        </p:nvSpPr>
        <p:spPr>
          <a:xfrm>
            <a:off x="1193400" y="511668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8"/>
          <p:cNvSpPr/>
          <p:nvPr/>
        </p:nvSpPr>
        <p:spPr>
          <a:xfrm>
            <a:off x="2464200" y="498456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8"/>
          <p:cNvSpPr/>
          <p:nvPr/>
        </p:nvSpPr>
        <p:spPr>
          <a:xfrm>
            <a:off x="3735360" y="480780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8"/>
          <p:cNvSpPr/>
          <p:nvPr/>
        </p:nvSpPr>
        <p:spPr>
          <a:xfrm>
            <a:off x="5006520" y="461448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8"/>
          <p:cNvSpPr/>
          <p:nvPr/>
        </p:nvSpPr>
        <p:spPr>
          <a:xfrm>
            <a:off x="6277320" y="441612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8"/>
          <p:cNvSpPr/>
          <p:nvPr/>
        </p:nvSpPr>
        <p:spPr>
          <a:xfrm>
            <a:off x="7548480" y="421632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8"/>
          <p:cNvSpPr/>
          <p:nvPr/>
        </p:nvSpPr>
        <p:spPr>
          <a:xfrm rot="-199200">
            <a:off x="1233000" y="5045760"/>
            <a:ext cx="1272960" cy="32400"/>
          </a:xfrm>
          <a:prstGeom prst="rect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8"/>
          <p:cNvSpPr/>
          <p:nvPr/>
        </p:nvSpPr>
        <p:spPr>
          <a:xfrm rot="-474600">
            <a:off x="2499120" y="4920840"/>
            <a:ext cx="1283040" cy="32400"/>
          </a:xfrm>
          <a:prstGeom prst="rect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8"/>
          <p:cNvSpPr/>
          <p:nvPr/>
        </p:nvSpPr>
        <p:spPr>
          <a:xfrm rot="-1027800">
            <a:off x="3746880" y="4636440"/>
            <a:ext cx="1329840" cy="32400"/>
          </a:xfrm>
          <a:prstGeom prst="rect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8"/>
          <p:cNvSpPr/>
          <p:nvPr/>
        </p:nvSpPr>
        <p:spPr>
          <a:xfrm rot="-1930200">
            <a:off x="4931640" y="4040640"/>
            <a:ext cx="1501200" cy="32400"/>
          </a:xfrm>
          <a:prstGeom prst="rect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8"/>
          <p:cNvSpPr/>
          <p:nvPr/>
        </p:nvSpPr>
        <p:spPr>
          <a:xfrm rot="-3092400">
            <a:off x="5932080" y="2841120"/>
            <a:ext cx="2043360" cy="32400"/>
          </a:xfrm>
          <a:prstGeom prst="rect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8"/>
          <p:cNvSpPr/>
          <p:nvPr/>
        </p:nvSpPr>
        <p:spPr>
          <a:xfrm>
            <a:off x="1193400" y="505800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8"/>
          <p:cNvSpPr/>
          <p:nvPr/>
        </p:nvSpPr>
        <p:spPr>
          <a:xfrm>
            <a:off x="2464200" y="498456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8"/>
          <p:cNvSpPr/>
          <p:nvPr/>
        </p:nvSpPr>
        <p:spPr>
          <a:xfrm>
            <a:off x="3735360" y="480780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8"/>
          <p:cNvSpPr/>
          <p:nvPr/>
        </p:nvSpPr>
        <p:spPr>
          <a:xfrm>
            <a:off x="5006520" y="441612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8"/>
          <p:cNvSpPr/>
          <p:nvPr/>
        </p:nvSpPr>
        <p:spPr>
          <a:xfrm>
            <a:off x="6277320" y="361656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8"/>
          <p:cNvSpPr/>
          <p:nvPr/>
        </p:nvSpPr>
        <p:spPr>
          <a:xfrm>
            <a:off x="7548480" y="201636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8"/>
          <p:cNvSpPr/>
          <p:nvPr/>
        </p:nvSpPr>
        <p:spPr>
          <a:xfrm>
            <a:off x="5040000" y="2057400"/>
            <a:ext cx="14400" cy="320004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8"/>
          <p:cNvSpPr/>
          <p:nvPr/>
        </p:nvSpPr>
        <p:spPr>
          <a:xfrm>
            <a:off x="1234440" y="56602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8"/>
          <p:cNvSpPr/>
          <p:nvPr/>
        </p:nvSpPr>
        <p:spPr>
          <a:xfrm>
            <a:off x="1371600" y="562356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O(1)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28"/>
          <p:cNvSpPr/>
          <p:nvPr/>
        </p:nvSpPr>
        <p:spPr>
          <a:xfrm>
            <a:off x="3154680" y="566028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8"/>
          <p:cNvSpPr/>
          <p:nvPr/>
        </p:nvSpPr>
        <p:spPr>
          <a:xfrm>
            <a:off x="3291840" y="562356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O(log₂ n)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28"/>
          <p:cNvSpPr/>
          <p:nvPr/>
        </p:nvSpPr>
        <p:spPr>
          <a:xfrm>
            <a:off x="5074920" y="566028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8"/>
          <p:cNvSpPr/>
          <p:nvPr/>
        </p:nvSpPr>
        <p:spPr>
          <a:xfrm>
            <a:off x="5212080" y="562356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O(n)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28"/>
          <p:cNvSpPr/>
          <p:nvPr/>
        </p:nvSpPr>
        <p:spPr>
          <a:xfrm>
            <a:off x="1234440" y="591624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8"/>
          <p:cNvSpPr/>
          <p:nvPr/>
        </p:nvSpPr>
        <p:spPr>
          <a:xfrm>
            <a:off x="1371600" y="587952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O(n log₂ n)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28"/>
          <p:cNvSpPr/>
          <p:nvPr/>
        </p:nvSpPr>
        <p:spPr>
          <a:xfrm>
            <a:off x="3154680" y="591624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8"/>
          <p:cNvSpPr/>
          <p:nvPr/>
        </p:nvSpPr>
        <p:spPr>
          <a:xfrm>
            <a:off x="3291840" y="587952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O(n²)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28"/>
          <p:cNvSpPr/>
          <p:nvPr/>
        </p:nvSpPr>
        <p:spPr>
          <a:xfrm>
            <a:off x="5074920" y="591624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8"/>
          <p:cNvSpPr/>
          <p:nvPr/>
        </p:nvSpPr>
        <p:spPr>
          <a:xfrm>
            <a:off x="5212080" y="587952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O(2ⁿ)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28"/>
          <p:cNvSpPr/>
          <p:nvPr/>
        </p:nvSpPr>
        <p:spPr>
          <a:xfrm>
            <a:off x="8275320" y="1645920"/>
            <a:ext cx="3309840" cy="425160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8"/>
          <p:cNvSpPr/>
          <p:nvPr/>
        </p:nvSpPr>
        <p:spPr>
          <a:xfrm>
            <a:off x="8595360" y="1901880"/>
            <a:ext cx="255996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At n = 8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28"/>
          <p:cNvSpPr/>
          <p:nvPr/>
        </p:nvSpPr>
        <p:spPr>
          <a:xfrm>
            <a:off x="8595360" y="2267640"/>
            <a:ext cx="255996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Representative growth values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28"/>
          <p:cNvSpPr/>
          <p:nvPr/>
        </p:nvSpPr>
        <p:spPr>
          <a:xfrm>
            <a:off x="8595360" y="269748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2EC48F"/>
                </a:solidFill>
                <a:latin typeface="Arial"/>
                <a:ea typeface="Arial"/>
                <a:cs typeface="Arial"/>
                <a:sym typeface="Arial"/>
              </a:rPr>
              <a:t>O(1)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28"/>
          <p:cNvSpPr/>
          <p:nvPr/>
        </p:nvSpPr>
        <p:spPr>
          <a:xfrm>
            <a:off x="10195560" y="269748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28"/>
          <p:cNvSpPr/>
          <p:nvPr/>
        </p:nvSpPr>
        <p:spPr>
          <a:xfrm>
            <a:off x="8595360" y="312732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57A6FF"/>
                </a:solidFill>
                <a:latin typeface="Arial"/>
                <a:ea typeface="Arial"/>
                <a:cs typeface="Arial"/>
                <a:sym typeface="Arial"/>
              </a:rPr>
              <a:t>O(log₂ n)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28"/>
          <p:cNvSpPr/>
          <p:nvPr/>
        </p:nvSpPr>
        <p:spPr>
          <a:xfrm>
            <a:off x="10195560" y="312732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28"/>
          <p:cNvSpPr/>
          <p:nvPr/>
        </p:nvSpPr>
        <p:spPr>
          <a:xfrm>
            <a:off x="8595360" y="355716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6B741"/>
                </a:solidFill>
                <a:latin typeface="Arial"/>
                <a:ea typeface="Arial"/>
                <a:cs typeface="Arial"/>
                <a:sym typeface="Arial"/>
              </a:rPr>
              <a:t>O(n)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28"/>
          <p:cNvSpPr/>
          <p:nvPr/>
        </p:nvSpPr>
        <p:spPr>
          <a:xfrm>
            <a:off x="10195560" y="355716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28"/>
          <p:cNvSpPr/>
          <p:nvPr/>
        </p:nvSpPr>
        <p:spPr>
          <a:xfrm>
            <a:off x="8595360" y="398664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58042"/>
                </a:solidFill>
                <a:latin typeface="Arial"/>
                <a:ea typeface="Arial"/>
                <a:cs typeface="Arial"/>
                <a:sym typeface="Arial"/>
              </a:rPr>
              <a:t>O(n log₂ n)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28"/>
          <p:cNvSpPr/>
          <p:nvPr/>
        </p:nvSpPr>
        <p:spPr>
          <a:xfrm>
            <a:off x="10195560" y="398664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28"/>
          <p:cNvSpPr/>
          <p:nvPr/>
        </p:nvSpPr>
        <p:spPr>
          <a:xfrm>
            <a:off x="8595360" y="441648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E74C5A"/>
                </a:solidFill>
                <a:latin typeface="Arial"/>
                <a:ea typeface="Arial"/>
                <a:cs typeface="Arial"/>
                <a:sym typeface="Arial"/>
              </a:rPr>
              <a:t>O(n²)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28"/>
          <p:cNvSpPr/>
          <p:nvPr/>
        </p:nvSpPr>
        <p:spPr>
          <a:xfrm>
            <a:off x="10195560" y="441648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64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28"/>
          <p:cNvSpPr/>
          <p:nvPr/>
        </p:nvSpPr>
        <p:spPr>
          <a:xfrm>
            <a:off x="8595360" y="484632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A46FEE"/>
                </a:solidFill>
                <a:latin typeface="Arial"/>
                <a:ea typeface="Arial"/>
                <a:cs typeface="Arial"/>
                <a:sym typeface="Arial"/>
              </a:rPr>
              <a:t>O(2ⁿ)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28"/>
          <p:cNvSpPr/>
          <p:nvPr/>
        </p:nvSpPr>
        <p:spPr>
          <a:xfrm>
            <a:off x="10195560" y="484632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256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28"/>
          <p:cNvSpPr/>
          <p:nvPr/>
        </p:nvSpPr>
        <p:spPr>
          <a:xfrm>
            <a:off x="8595360" y="5358240"/>
            <a:ext cx="10054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57A6FF"/>
                </a:solidFill>
                <a:latin typeface="Arial"/>
                <a:ea typeface="Arial"/>
                <a:cs typeface="Arial"/>
                <a:sym typeface="Arial"/>
              </a:rPr>
              <a:t>Key idea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28"/>
          <p:cNvSpPr/>
          <p:nvPr/>
        </p:nvSpPr>
        <p:spPr>
          <a:xfrm>
            <a:off x="9326880" y="5285160"/>
            <a:ext cx="1874160" cy="4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Different growth rates separate dramatically as n increases.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28"/>
          <p:cNvSpPr/>
          <p:nvPr/>
        </p:nvSpPr>
        <p:spPr>
          <a:xfrm>
            <a:off x="658440" y="6473880"/>
            <a:ext cx="676620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Values illustrate growth functions, not measured execution time.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28"/>
          <p:cNvSpPr txBox="1"/>
          <p:nvPr>
            <p:ph idx="1" type="body"/>
          </p:nvPr>
        </p:nvSpPr>
        <p:spPr>
          <a:xfrm>
            <a:off x="818280" y="1114560"/>
            <a:ext cx="10493280" cy="50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sz="2800" u="none" strike="noStrike">
              <a:solidFill>
                <a:srgbClr val="204C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8" name="Google Shape;728;p28"/>
          <p:cNvSpPr txBox="1"/>
          <p:nvPr>
            <p:ph type="title"/>
          </p:nvPr>
        </p:nvSpPr>
        <p:spPr>
          <a:xfrm>
            <a:off x="817560" y="189000"/>
            <a:ext cx="10494720" cy="76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Big-O Growth: How Algorithms Scale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29"/>
          <p:cNvSpPr/>
          <p:nvPr/>
        </p:nvSpPr>
        <p:spPr>
          <a:xfrm>
            <a:off x="612720" y="768240"/>
            <a:ext cx="7772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Select an input size n to compare representative growth values.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29">
            <a:hlinkClick action="ppaction://hlinksldjump" r:id="rId3"/>
          </p:cNvPr>
          <p:cNvSpPr/>
          <p:nvPr/>
        </p:nvSpPr>
        <p:spPr>
          <a:xfrm>
            <a:off x="749808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29">
            <a:hlinkClick action="ppaction://hlinksldjump" r:id="rId4"/>
          </p:cNvPr>
          <p:cNvSpPr/>
          <p:nvPr/>
        </p:nvSpPr>
        <p:spPr>
          <a:xfrm>
            <a:off x="821124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29">
            <a:hlinkClick action="ppaction://hlinksldjump" r:id="rId5"/>
          </p:cNvPr>
          <p:cNvSpPr/>
          <p:nvPr/>
        </p:nvSpPr>
        <p:spPr>
          <a:xfrm>
            <a:off x="892440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29">
            <a:hlinkClick action="ppaction://hlinksldjump" r:id="rId6"/>
          </p:cNvPr>
          <p:cNvSpPr/>
          <p:nvPr/>
        </p:nvSpPr>
        <p:spPr>
          <a:xfrm>
            <a:off x="963792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29">
            <a:hlinkClick action="ppaction://hlinksldjump" r:id="rId7"/>
          </p:cNvPr>
          <p:cNvSpPr/>
          <p:nvPr/>
        </p:nvSpPr>
        <p:spPr>
          <a:xfrm>
            <a:off x="1035108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57A6FF"/>
          </a:solidFill>
          <a:ln cap="flat" cmpd="sng" w="9525">
            <a:solidFill>
              <a:srgbClr val="57A6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29">
            <a:hlinkClick action="ppaction://hlinksldjump" r:id="rId8"/>
          </p:cNvPr>
          <p:cNvSpPr/>
          <p:nvPr/>
        </p:nvSpPr>
        <p:spPr>
          <a:xfrm>
            <a:off x="1106424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29"/>
          <p:cNvSpPr/>
          <p:nvPr/>
        </p:nvSpPr>
        <p:spPr>
          <a:xfrm>
            <a:off x="640080" y="1645920"/>
            <a:ext cx="7406280" cy="425160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9"/>
          <p:cNvSpPr/>
          <p:nvPr/>
        </p:nvSpPr>
        <p:spPr>
          <a:xfrm>
            <a:off x="1234440" y="5257800"/>
            <a:ext cx="6354720" cy="5040"/>
          </a:xfrm>
          <a:prstGeom prst="rect">
            <a:avLst/>
          </a:prstGeom>
          <a:solidFill>
            <a:srgbClr val="414E6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9"/>
          <p:cNvSpPr/>
          <p:nvPr/>
        </p:nvSpPr>
        <p:spPr>
          <a:xfrm>
            <a:off x="1234440" y="4457880"/>
            <a:ext cx="6354720" cy="5040"/>
          </a:xfrm>
          <a:prstGeom prst="rect">
            <a:avLst/>
          </a:prstGeom>
          <a:solidFill>
            <a:srgbClr val="414E6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9"/>
          <p:cNvSpPr/>
          <p:nvPr/>
        </p:nvSpPr>
        <p:spPr>
          <a:xfrm>
            <a:off x="1234440" y="3657600"/>
            <a:ext cx="6354720" cy="5040"/>
          </a:xfrm>
          <a:prstGeom prst="rect">
            <a:avLst/>
          </a:prstGeom>
          <a:solidFill>
            <a:srgbClr val="414E6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9"/>
          <p:cNvSpPr/>
          <p:nvPr/>
        </p:nvSpPr>
        <p:spPr>
          <a:xfrm>
            <a:off x="1234440" y="2857680"/>
            <a:ext cx="6354720" cy="5040"/>
          </a:xfrm>
          <a:prstGeom prst="rect">
            <a:avLst/>
          </a:prstGeom>
          <a:solidFill>
            <a:srgbClr val="414E6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9"/>
          <p:cNvSpPr/>
          <p:nvPr/>
        </p:nvSpPr>
        <p:spPr>
          <a:xfrm>
            <a:off x="1234440" y="2057400"/>
            <a:ext cx="6354720" cy="5040"/>
          </a:xfrm>
          <a:prstGeom prst="rect">
            <a:avLst/>
          </a:prstGeom>
          <a:solidFill>
            <a:srgbClr val="414E6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9"/>
          <p:cNvSpPr/>
          <p:nvPr/>
        </p:nvSpPr>
        <p:spPr>
          <a:xfrm>
            <a:off x="694800" y="2788920"/>
            <a:ext cx="456840" cy="11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Growth (log scale)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29"/>
          <p:cNvSpPr/>
          <p:nvPr/>
        </p:nvSpPr>
        <p:spPr>
          <a:xfrm>
            <a:off x="3474720" y="5367600"/>
            <a:ext cx="16455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Input size n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29"/>
          <p:cNvSpPr/>
          <p:nvPr/>
        </p:nvSpPr>
        <p:spPr>
          <a:xfrm>
            <a:off x="106992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29"/>
          <p:cNvSpPr/>
          <p:nvPr/>
        </p:nvSpPr>
        <p:spPr>
          <a:xfrm>
            <a:off x="234072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29"/>
          <p:cNvSpPr/>
          <p:nvPr/>
        </p:nvSpPr>
        <p:spPr>
          <a:xfrm>
            <a:off x="361188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29"/>
          <p:cNvSpPr/>
          <p:nvPr/>
        </p:nvSpPr>
        <p:spPr>
          <a:xfrm>
            <a:off x="488304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29"/>
          <p:cNvSpPr/>
          <p:nvPr/>
        </p:nvSpPr>
        <p:spPr>
          <a:xfrm>
            <a:off x="615384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29"/>
          <p:cNvSpPr/>
          <p:nvPr/>
        </p:nvSpPr>
        <p:spPr>
          <a:xfrm>
            <a:off x="742500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29"/>
          <p:cNvSpPr/>
          <p:nvPr/>
        </p:nvSpPr>
        <p:spPr>
          <a:xfrm>
            <a:off x="1234440" y="5141160"/>
            <a:ext cx="1270800" cy="32400"/>
          </a:xfrm>
          <a:prstGeom prst="rect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9"/>
          <p:cNvSpPr/>
          <p:nvPr/>
        </p:nvSpPr>
        <p:spPr>
          <a:xfrm>
            <a:off x="2505600" y="5141160"/>
            <a:ext cx="1270800" cy="32400"/>
          </a:xfrm>
          <a:prstGeom prst="rect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9"/>
          <p:cNvSpPr/>
          <p:nvPr/>
        </p:nvSpPr>
        <p:spPr>
          <a:xfrm>
            <a:off x="3776400" y="5141160"/>
            <a:ext cx="1270800" cy="32400"/>
          </a:xfrm>
          <a:prstGeom prst="rect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9"/>
          <p:cNvSpPr/>
          <p:nvPr/>
        </p:nvSpPr>
        <p:spPr>
          <a:xfrm>
            <a:off x="5047560" y="5141160"/>
            <a:ext cx="1270800" cy="32400"/>
          </a:xfrm>
          <a:prstGeom prst="rect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9"/>
          <p:cNvSpPr/>
          <p:nvPr/>
        </p:nvSpPr>
        <p:spPr>
          <a:xfrm>
            <a:off x="6318360" y="5141160"/>
            <a:ext cx="1270800" cy="32400"/>
          </a:xfrm>
          <a:prstGeom prst="rect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9"/>
          <p:cNvSpPr/>
          <p:nvPr/>
        </p:nvSpPr>
        <p:spPr>
          <a:xfrm>
            <a:off x="119340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9"/>
          <p:cNvSpPr/>
          <p:nvPr/>
        </p:nvSpPr>
        <p:spPr>
          <a:xfrm>
            <a:off x="246420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9"/>
          <p:cNvSpPr/>
          <p:nvPr/>
        </p:nvSpPr>
        <p:spPr>
          <a:xfrm>
            <a:off x="373536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9"/>
          <p:cNvSpPr/>
          <p:nvPr/>
        </p:nvSpPr>
        <p:spPr>
          <a:xfrm>
            <a:off x="500652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9"/>
          <p:cNvSpPr/>
          <p:nvPr/>
        </p:nvSpPr>
        <p:spPr>
          <a:xfrm>
            <a:off x="627732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9"/>
          <p:cNvSpPr/>
          <p:nvPr/>
        </p:nvSpPr>
        <p:spPr>
          <a:xfrm>
            <a:off x="754848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9"/>
          <p:cNvSpPr/>
          <p:nvPr/>
        </p:nvSpPr>
        <p:spPr>
          <a:xfrm rot="-270000">
            <a:off x="1232280" y="5190840"/>
            <a:ext cx="1274760" cy="32400"/>
          </a:xfrm>
          <a:prstGeom prst="rect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9"/>
          <p:cNvSpPr/>
          <p:nvPr/>
        </p:nvSpPr>
        <p:spPr>
          <a:xfrm rot="-158400">
            <a:off x="2504520" y="5112000"/>
            <a:ext cx="1271880" cy="32400"/>
          </a:xfrm>
          <a:prstGeom prst="rect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9"/>
          <p:cNvSpPr/>
          <p:nvPr/>
        </p:nvSpPr>
        <p:spPr>
          <a:xfrm rot="-112200">
            <a:off x="3776040" y="5061960"/>
            <a:ext cx="1271160" cy="32400"/>
          </a:xfrm>
          <a:prstGeom prst="rect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9"/>
          <p:cNvSpPr/>
          <p:nvPr/>
        </p:nvSpPr>
        <p:spPr>
          <a:xfrm rot="-87000">
            <a:off x="5047200" y="5025240"/>
            <a:ext cx="1271160" cy="32400"/>
          </a:xfrm>
          <a:prstGeom prst="rect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9"/>
          <p:cNvSpPr/>
          <p:nvPr/>
        </p:nvSpPr>
        <p:spPr>
          <a:xfrm rot="-71400">
            <a:off x="6318000" y="4995720"/>
            <a:ext cx="1270800" cy="32400"/>
          </a:xfrm>
          <a:prstGeom prst="rect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9"/>
          <p:cNvSpPr/>
          <p:nvPr/>
        </p:nvSpPr>
        <p:spPr>
          <a:xfrm>
            <a:off x="1193400" y="521676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9"/>
          <p:cNvSpPr/>
          <p:nvPr/>
        </p:nvSpPr>
        <p:spPr>
          <a:xfrm>
            <a:off x="2464200" y="511668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9"/>
          <p:cNvSpPr/>
          <p:nvPr/>
        </p:nvSpPr>
        <p:spPr>
          <a:xfrm>
            <a:off x="3735360" y="505800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9"/>
          <p:cNvSpPr/>
          <p:nvPr/>
        </p:nvSpPr>
        <p:spPr>
          <a:xfrm>
            <a:off x="5006520" y="501660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9"/>
          <p:cNvSpPr/>
          <p:nvPr/>
        </p:nvSpPr>
        <p:spPr>
          <a:xfrm>
            <a:off x="6277320" y="498456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9"/>
          <p:cNvSpPr/>
          <p:nvPr/>
        </p:nvSpPr>
        <p:spPr>
          <a:xfrm>
            <a:off x="7548480" y="495828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9"/>
          <p:cNvSpPr/>
          <p:nvPr/>
        </p:nvSpPr>
        <p:spPr>
          <a:xfrm rot="-158400">
            <a:off x="1233720" y="5112000"/>
            <a:ext cx="1271880" cy="32400"/>
          </a:xfrm>
          <a:prstGeom prst="rect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9"/>
          <p:cNvSpPr/>
          <p:nvPr/>
        </p:nvSpPr>
        <p:spPr>
          <a:xfrm rot="-199200">
            <a:off x="2504160" y="5045760"/>
            <a:ext cx="1272960" cy="32400"/>
          </a:xfrm>
          <a:prstGeom prst="rect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9"/>
          <p:cNvSpPr/>
          <p:nvPr/>
        </p:nvSpPr>
        <p:spPr>
          <a:xfrm rot="-229200">
            <a:off x="3774960" y="4966560"/>
            <a:ext cx="1273320" cy="32400"/>
          </a:xfrm>
          <a:prstGeom prst="rect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9"/>
          <p:cNvSpPr/>
          <p:nvPr/>
        </p:nvSpPr>
        <p:spPr>
          <a:xfrm rot="-247800">
            <a:off x="5045760" y="4878360"/>
            <a:ext cx="1274040" cy="32400"/>
          </a:xfrm>
          <a:prstGeom prst="rect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9"/>
          <p:cNvSpPr/>
          <p:nvPr/>
        </p:nvSpPr>
        <p:spPr>
          <a:xfrm rot="-258000">
            <a:off x="6316560" y="4784400"/>
            <a:ext cx="1274400" cy="32400"/>
          </a:xfrm>
          <a:prstGeom prst="rect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9"/>
          <p:cNvSpPr/>
          <p:nvPr/>
        </p:nvSpPr>
        <p:spPr>
          <a:xfrm>
            <a:off x="1193400" y="511668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9"/>
          <p:cNvSpPr/>
          <p:nvPr/>
        </p:nvSpPr>
        <p:spPr>
          <a:xfrm>
            <a:off x="2464200" y="505800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9"/>
          <p:cNvSpPr/>
          <p:nvPr/>
        </p:nvSpPr>
        <p:spPr>
          <a:xfrm>
            <a:off x="3735360" y="498456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9"/>
          <p:cNvSpPr/>
          <p:nvPr/>
        </p:nvSpPr>
        <p:spPr>
          <a:xfrm>
            <a:off x="5006520" y="489960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9"/>
          <p:cNvSpPr/>
          <p:nvPr/>
        </p:nvSpPr>
        <p:spPr>
          <a:xfrm>
            <a:off x="6277320" y="480780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9"/>
          <p:cNvSpPr/>
          <p:nvPr/>
        </p:nvSpPr>
        <p:spPr>
          <a:xfrm>
            <a:off x="7548480" y="471204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9"/>
          <p:cNvSpPr/>
          <p:nvPr/>
        </p:nvSpPr>
        <p:spPr>
          <a:xfrm rot="-426600">
            <a:off x="1229040" y="5162040"/>
            <a:ext cx="1280520" cy="32400"/>
          </a:xfrm>
          <a:prstGeom prst="rect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9"/>
          <p:cNvSpPr/>
          <p:nvPr/>
        </p:nvSpPr>
        <p:spPr>
          <a:xfrm rot="-426600">
            <a:off x="2500200" y="5003280"/>
            <a:ext cx="1280520" cy="32400"/>
          </a:xfrm>
          <a:prstGeom prst="rect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9"/>
          <p:cNvSpPr/>
          <p:nvPr/>
        </p:nvSpPr>
        <p:spPr>
          <a:xfrm rot="-397200">
            <a:off x="3772080" y="4850280"/>
            <a:ext cx="1279080" cy="32400"/>
          </a:xfrm>
          <a:prstGeom prst="rect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9"/>
          <p:cNvSpPr/>
          <p:nvPr/>
        </p:nvSpPr>
        <p:spPr>
          <a:xfrm rot="-371400">
            <a:off x="5043600" y="4707720"/>
            <a:ext cx="1278000" cy="32400"/>
          </a:xfrm>
          <a:prstGeom prst="rect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9"/>
          <p:cNvSpPr/>
          <p:nvPr/>
        </p:nvSpPr>
        <p:spPr>
          <a:xfrm rot="-352800">
            <a:off x="6315120" y="4573440"/>
            <a:ext cx="1277280" cy="32400"/>
          </a:xfrm>
          <a:prstGeom prst="rect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9"/>
          <p:cNvSpPr/>
          <p:nvPr/>
        </p:nvSpPr>
        <p:spPr>
          <a:xfrm>
            <a:off x="1193400" y="521676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9"/>
          <p:cNvSpPr/>
          <p:nvPr/>
        </p:nvSpPr>
        <p:spPr>
          <a:xfrm>
            <a:off x="2464200" y="505800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9"/>
          <p:cNvSpPr/>
          <p:nvPr/>
        </p:nvSpPr>
        <p:spPr>
          <a:xfrm>
            <a:off x="3735360" y="489960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9"/>
          <p:cNvSpPr/>
          <p:nvPr/>
        </p:nvSpPr>
        <p:spPr>
          <a:xfrm>
            <a:off x="5006520" y="475236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9"/>
          <p:cNvSpPr/>
          <p:nvPr/>
        </p:nvSpPr>
        <p:spPr>
          <a:xfrm>
            <a:off x="6277320" y="461448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9"/>
          <p:cNvSpPr/>
          <p:nvPr/>
        </p:nvSpPr>
        <p:spPr>
          <a:xfrm>
            <a:off x="7548480" y="448344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9"/>
          <p:cNvSpPr/>
          <p:nvPr/>
        </p:nvSpPr>
        <p:spPr>
          <a:xfrm rot="-356400">
            <a:off x="1230840" y="5075280"/>
            <a:ext cx="1277640" cy="32400"/>
          </a:xfrm>
          <a:prstGeom prst="rect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9"/>
          <p:cNvSpPr/>
          <p:nvPr/>
        </p:nvSpPr>
        <p:spPr>
          <a:xfrm rot="-474600">
            <a:off x="2499120" y="4920840"/>
            <a:ext cx="1283040" cy="32400"/>
          </a:xfrm>
          <a:prstGeom prst="rect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9"/>
          <p:cNvSpPr/>
          <p:nvPr/>
        </p:nvSpPr>
        <p:spPr>
          <a:xfrm rot="-519600">
            <a:off x="3768840" y="4735440"/>
            <a:ext cx="1285200" cy="32400"/>
          </a:xfrm>
          <a:prstGeom prst="rect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9"/>
          <p:cNvSpPr/>
          <p:nvPr/>
        </p:nvSpPr>
        <p:spPr>
          <a:xfrm rot="-531600">
            <a:off x="5039640" y="4539960"/>
            <a:ext cx="1285920" cy="32400"/>
          </a:xfrm>
          <a:prstGeom prst="rect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9"/>
          <p:cNvSpPr/>
          <p:nvPr/>
        </p:nvSpPr>
        <p:spPr>
          <a:xfrm rot="-535200">
            <a:off x="6310440" y="4340880"/>
            <a:ext cx="1286280" cy="32400"/>
          </a:xfrm>
          <a:prstGeom prst="rect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9"/>
          <p:cNvSpPr/>
          <p:nvPr/>
        </p:nvSpPr>
        <p:spPr>
          <a:xfrm>
            <a:off x="1193400" y="511668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29"/>
          <p:cNvSpPr/>
          <p:nvPr/>
        </p:nvSpPr>
        <p:spPr>
          <a:xfrm>
            <a:off x="2464200" y="498456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29"/>
          <p:cNvSpPr/>
          <p:nvPr/>
        </p:nvSpPr>
        <p:spPr>
          <a:xfrm>
            <a:off x="3735360" y="480780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9"/>
          <p:cNvSpPr/>
          <p:nvPr/>
        </p:nvSpPr>
        <p:spPr>
          <a:xfrm>
            <a:off x="5006520" y="461448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9"/>
          <p:cNvSpPr/>
          <p:nvPr/>
        </p:nvSpPr>
        <p:spPr>
          <a:xfrm>
            <a:off x="6277320" y="441612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9"/>
          <p:cNvSpPr/>
          <p:nvPr/>
        </p:nvSpPr>
        <p:spPr>
          <a:xfrm>
            <a:off x="7548480" y="421632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9"/>
          <p:cNvSpPr/>
          <p:nvPr/>
        </p:nvSpPr>
        <p:spPr>
          <a:xfrm rot="-199200">
            <a:off x="1233000" y="5045760"/>
            <a:ext cx="1272960" cy="32400"/>
          </a:xfrm>
          <a:prstGeom prst="rect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9"/>
          <p:cNvSpPr/>
          <p:nvPr/>
        </p:nvSpPr>
        <p:spPr>
          <a:xfrm rot="-474600">
            <a:off x="2499120" y="4920840"/>
            <a:ext cx="1283040" cy="32400"/>
          </a:xfrm>
          <a:prstGeom prst="rect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9"/>
          <p:cNvSpPr/>
          <p:nvPr/>
        </p:nvSpPr>
        <p:spPr>
          <a:xfrm rot="-1027800">
            <a:off x="3746880" y="4636440"/>
            <a:ext cx="1329840" cy="32400"/>
          </a:xfrm>
          <a:prstGeom prst="rect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9"/>
          <p:cNvSpPr/>
          <p:nvPr/>
        </p:nvSpPr>
        <p:spPr>
          <a:xfrm rot="-1930200">
            <a:off x="4931640" y="4040640"/>
            <a:ext cx="1501200" cy="32400"/>
          </a:xfrm>
          <a:prstGeom prst="rect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9"/>
          <p:cNvSpPr/>
          <p:nvPr/>
        </p:nvSpPr>
        <p:spPr>
          <a:xfrm rot="-3092400">
            <a:off x="5932080" y="2841120"/>
            <a:ext cx="2043360" cy="32400"/>
          </a:xfrm>
          <a:prstGeom prst="rect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9"/>
          <p:cNvSpPr/>
          <p:nvPr/>
        </p:nvSpPr>
        <p:spPr>
          <a:xfrm>
            <a:off x="1193400" y="505800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9"/>
          <p:cNvSpPr/>
          <p:nvPr/>
        </p:nvSpPr>
        <p:spPr>
          <a:xfrm>
            <a:off x="2464200" y="498456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9"/>
          <p:cNvSpPr/>
          <p:nvPr/>
        </p:nvSpPr>
        <p:spPr>
          <a:xfrm>
            <a:off x="3735360" y="480780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9"/>
          <p:cNvSpPr/>
          <p:nvPr/>
        </p:nvSpPr>
        <p:spPr>
          <a:xfrm>
            <a:off x="5006520" y="441612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9"/>
          <p:cNvSpPr/>
          <p:nvPr/>
        </p:nvSpPr>
        <p:spPr>
          <a:xfrm>
            <a:off x="6277320" y="361656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9"/>
          <p:cNvSpPr/>
          <p:nvPr/>
        </p:nvSpPr>
        <p:spPr>
          <a:xfrm>
            <a:off x="7548480" y="201636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9"/>
          <p:cNvSpPr/>
          <p:nvPr/>
        </p:nvSpPr>
        <p:spPr>
          <a:xfrm>
            <a:off x="6311160" y="2057400"/>
            <a:ext cx="14400" cy="320004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9"/>
          <p:cNvSpPr/>
          <p:nvPr/>
        </p:nvSpPr>
        <p:spPr>
          <a:xfrm>
            <a:off x="1234440" y="56602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9"/>
          <p:cNvSpPr/>
          <p:nvPr/>
        </p:nvSpPr>
        <p:spPr>
          <a:xfrm>
            <a:off x="1371600" y="562356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O(1)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29"/>
          <p:cNvSpPr/>
          <p:nvPr/>
        </p:nvSpPr>
        <p:spPr>
          <a:xfrm>
            <a:off x="3154680" y="566028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9"/>
          <p:cNvSpPr/>
          <p:nvPr/>
        </p:nvSpPr>
        <p:spPr>
          <a:xfrm>
            <a:off x="3291840" y="562356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O(log₂ n)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29"/>
          <p:cNvSpPr/>
          <p:nvPr/>
        </p:nvSpPr>
        <p:spPr>
          <a:xfrm>
            <a:off x="5074920" y="566028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9"/>
          <p:cNvSpPr/>
          <p:nvPr/>
        </p:nvSpPr>
        <p:spPr>
          <a:xfrm>
            <a:off x="5212080" y="562356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O(n)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29"/>
          <p:cNvSpPr/>
          <p:nvPr/>
        </p:nvSpPr>
        <p:spPr>
          <a:xfrm>
            <a:off x="1234440" y="591624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9"/>
          <p:cNvSpPr/>
          <p:nvPr/>
        </p:nvSpPr>
        <p:spPr>
          <a:xfrm>
            <a:off x="1371600" y="587952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O(n log₂ n)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29"/>
          <p:cNvSpPr/>
          <p:nvPr/>
        </p:nvSpPr>
        <p:spPr>
          <a:xfrm>
            <a:off x="3154680" y="591624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9"/>
          <p:cNvSpPr/>
          <p:nvPr/>
        </p:nvSpPr>
        <p:spPr>
          <a:xfrm>
            <a:off x="3291840" y="587952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O(n²)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29"/>
          <p:cNvSpPr/>
          <p:nvPr/>
        </p:nvSpPr>
        <p:spPr>
          <a:xfrm>
            <a:off x="5074920" y="591624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9"/>
          <p:cNvSpPr/>
          <p:nvPr/>
        </p:nvSpPr>
        <p:spPr>
          <a:xfrm>
            <a:off x="5212080" y="587952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O(2ⁿ)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29"/>
          <p:cNvSpPr/>
          <p:nvPr/>
        </p:nvSpPr>
        <p:spPr>
          <a:xfrm>
            <a:off x="8275320" y="1645920"/>
            <a:ext cx="3309840" cy="425160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9"/>
          <p:cNvSpPr/>
          <p:nvPr/>
        </p:nvSpPr>
        <p:spPr>
          <a:xfrm>
            <a:off x="8595360" y="1901880"/>
            <a:ext cx="255996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At n = 16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29"/>
          <p:cNvSpPr/>
          <p:nvPr/>
        </p:nvSpPr>
        <p:spPr>
          <a:xfrm>
            <a:off x="8595360" y="2267640"/>
            <a:ext cx="255996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Representative growth values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29"/>
          <p:cNvSpPr/>
          <p:nvPr/>
        </p:nvSpPr>
        <p:spPr>
          <a:xfrm>
            <a:off x="8595360" y="269748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2EC48F"/>
                </a:solidFill>
                <a:latin typeface="Arial"/>
                <a:ea typeface="Arial"/>
                <a:cs typeface="Arial"/>
                <a:sym typeface="Arial"/>
              </a:rPr>
              <a:t>O(1)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29"/>
          <p:cNvSpPr/>
          <p:nvPr/>
        </p:nvSpPr>
        <p:spPr>
          <a:xfrm>
            <a:off x="10195560" y="269748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29"/>
          <p:cNvSpPr/>
          <p:nvPr/>
        </p:nvSpPr>
        <p:spPr>
          <a:xfrm>
            <a:off x="8595360" y="312732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57A6FF"/>
                </a:solidFill>
                <a:latin typeface="Arial"/>
                <a:ea typeface="Arial"/>
                <a:cs typeface="Arial"/>
                <a:sym typeface="Arial"/>
              </a:rPr>
              <a:t>O(log₂ n)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29"/>
          <p:cNvSpPr/>
          <p:nvPr/>
        </p:nvSpPr>
        <p:spPr>
          <a:xfrm>
            <a:off x="10195560" y="312732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29"/>
          <p:cNvSpPr/>
          <p:nvPr/>
        </p:nvSpPr>
        <p:spPr>
          <a:xfrm>
            <a:off x="8595360" y="355716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6B741"/>
                </a:solidFill>
                <a:latin typeface="Arial"/>
                <a:ea typeface="Arial"/>
                <a:cs typeface="Arial"/>
                <a:sym typeface="Arial"/>
              </a:rPr>
              <a:t>O(n)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29"/>
          <p:cNvSpPr/>
          <p:nvPr/>
        </p:nvSpPr>
        <p:spPr>
          <a:xfrm>
            <a:off x="10195560" y="355716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29"/>
          <p:cNvSpPr/>
          <p:nvPr/>
        </p:nvSpPr>
        <p:spPr>
          <a:xfrm>
            <a:off x="8595360" y="398664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58042"/>
                </a:solidFill>
                <a:latin typeface="Arial"/>
                <a:ea typeface="Arial"/>
                <a:cs typeface="Arial"/>
                <a:sym typeface="Arial"/>
              </a:rPr>
              <a:t>O(n log₂ n)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29"/>
          <p:cNvSpPr/>
          <p:nvPr/>
        </p:nvSpPr>
        <p:spPr>
          <a:xfrm>
            <a:off x="10195560" y="398664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64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29"/>
          <p:cNvSpPr/>
          <p:nvPr/>
        </p:nvSpPr>
        <p:spPr>
          <a:xfrm>
            <a:off x="8595360" y="441648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E74C5A"/>
                </a:solidFill>
                <a:latin typeface="Arial"/>
                <a:ea typeface="Arial"/>
                <a:cs typeface="Arial"/>
                <a:sym typeface="Arial"/>
              </a:rPr>
              <a:t>O(n²)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29"/>
          <p:cNvSpPr/>
          <p:nvPr/>
        </p:nvSpPr>
        <p:spPr>
          <a:xfrm>
            <a:off x="10195560" y="441648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256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29"/>
          <p:cNvSpPr/>
          <p:nvPr/>
        </p:nvSpPr>
        <p:spPr>
          <a:xfrm>
            <a:off x="8595360" y="484632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A46FEE"/>
                </a:solidFill>
                <a:latin typeface="Arial"/>
                <a:ea typeface="Arial"/>
                <a:cs typeface="Arial"/>
                <a:sym typeface="Arial"/>
              </a:rPr>
              <a:t>O(2ⁿ)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29"/>
          <p:cNvSpPr/>
          <p:nvPr/>
        </p:nvSpPr>
        <p:spPr>
          <a:xfrm>
            <a:off x="10195560" y="484632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65,536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29"/>
          <p:cNvSpPr/>
          <p:nvPr/>
        </p:nvSpPr>
        <p:spPr>
          <a:xfrm>
            <a:off x="8595360" y="5358240"/>
            <a:ext cx="10054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57A6FF"/>
                </a:solidFill>
                <a:latin typeface="Arial"/>
                <a:ea typeface="Arial"/>
                <a:cs typeface="Arial"/>
                <a:sym typeface="Arial"/>
              </a:rPr>
              <a:t>Key idea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29"/>
          <p:cNvSpPr/>
          <p:nvPr/>
        </p:nvSpPr>
        <p:spPr>
          <a:xfrm>
            <a:off x="9326880" y="5285160"/>
            <a:ext cx="1874160" cy="4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Different growth rates separate dramatically as n increases.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29"/>
          <p:cNvSpPr/>
          <p:nvPr/>
        </p:nvSpPr>
        <p:spPr>
          <a:xfrm>
            <a:off x="658440" y="6473880"/>
            <a:ext cx="676620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Values illustrate growth functions, not measured execution time.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29"/>
          <p:cNvSpPr txBox="1"/>
          <p:nvPr>
            <p:ph idx="1" type="body"/>
          </p:nvPr>
        </p:nvSpPr>
        <p:spPr>
          <a:xfrm>
            <a:off x="818280" y="1114560"/>
            <a:ext cx="10493280" cy="50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sz="2800" u="none" strike="noStrike">
              <a:solidFill>
                <a:srgbClr val="204C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2" name="Google Shape;852;p29"/>
          <p:cNvSpPr txBox="1"/>
          <p:nvPr>
            <p:ph type="title"/>
          </p:nvPr>
        </p:nvSpPr>
        <p:spPr>
          <a:xfrm>
            <a:off x="817560" y="189000"/>
            <a:ext cx="10494720" cy="76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Big-O Growth: How Algorithms Scale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30"/>
          <p:cNvSpPr/>
          <p:nvPr/>
        </p:nvSpPr>
        <p:spPr>
          <a:xfrm>
            <a:off x="612720" y="768240"/>
            <a:ext cx="7772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Select an input size n to compare representative growth values.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30">
            <a:hlinkClick action="ppaction://hlinksldjump" r:id="rId3"/>
          </p:cNvPr>
          <p:cNvSpPr/>
          <p:nvPr/>
        </p:nvSpPr>
        <p:spPr>
          <a:xfrm>
            <a:off x="749808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30">
            <a:hlinkClick action="ppaction://hlinksldjump" r:id="rId4"/>
          </p:cNvPr>
          <p:cNvSpPr/>
          <p:nvPr/>
        </p:nvSpPr>
        <p:spPr>
          <a:xfrm>
            <a:off x="821124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30">
            <a:hlinkClick action="ppaction://hlinksldjump" r:id="rId5"/>
          </p:cNvPr>
          <p:cNvSpPr/>
          <p:nvPr/>
        </p:nvSpPr>
        <p:spPr>
          <a:xfrm>
            <a:off x="892440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30">
            <a:hlinkClick action="ppaction://hlinksldjump" r:id="rId6"/>
          </p:cNvPr>
          <p:cNvSpPr/>
          <p:nvPr/>
        </p:nvSpPr>
        <p:spPr>
          <a:xfrm>
            <a:off x="963792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30">
            <a:hlinkClick action="ppaction://hlinksldjump" r:id="rId7"/>
          </p:cNvPr>
          <p:cNvSpPr/>
          <p:nvPr/>
        </p:nvSpPr>
        <p:spPr>
          <a:xfrm>
            <a:off x="1035108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30">
            <a:hlinkClick action="ppaction://hlinksldjump" r:id="rId8"/>
          </p:cNvPr>
          <p:cNvSpPr/>
          <p:nvPr/>
        </p:nvSpPr>
        <p:spPr>
          <a:xfrm>
            <a:off x="11064240" y="1042560"/>
            <a:ext cx="658080" cy="392760"/>
          </a:xfrm>
          <a:prstGeom prst="roundRect">
            <a:avLst>
              <a:gd fmla="val 16667" name="adj"/>
            </a:avLst>
          </a:prstGeom>
          <a:solidFill>
            <a:srgbClr val="57A6FF"/>
          </a:solidFill>
          <a:ln cap="flat" cmpd="sng" w="9525">
            <a:solidFill>
              <a:srgbClr val="57A6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30"/>
          <p:cNvSpPr/>
          <p:nvPr/>
        </p:nvSpPr>
        <p:spPr>
          <a:xfrm>
            <a:off x="640080" y="1645920"/>
            <a:ext cx="7406280" cy="425160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0"/>
          <p:cNvSpPr/>
          <p:nvPr/>
        </p:nvSpPr>
        <p:spPr>
          <a:xfrm>
            <a:off x="1234440" y="5257800"/>
            <a:ext cx="6354720" cy="5040"/>
          </a:xfrm>
          <a:prstGeom prst="rect">
            <a:avLst/>
          </a:prstGeom>
          <a:solidFill>
            <a:srgbClr val="414E6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0"/>
          <p:cNvSpPr/>
          <p:nvPr/>
        </p:nvSpPr>
        <p:spPr>
          <a:xfrm>
            <a:off x="1234440" y="4457880"/>
            <a:ext cx="6354720" cy="5040"/>
          </a:xfrm>
          <a:prstGeom prst="rect">
            <a:avLst/>
          </a:prstGeom>
          <a:solidFill>
            <a:srgbClr val="414E6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0"/>
          <p:cNvSpPr/>
          <p:nvPr/>
        </p:nvSpPr>
        <p:spPr>
          <a:xfrm>
            <a:off x="1234440" y="3657600"/>
            <a:ext cx="6354720" cy="5040"/>
          </a:xfrm>
          <a:prstGeom prst="rect">
            <a:avLst/>
          </a:prstGeom>
          <a:solidFill>
            <a:srgbClr val="414E6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0"/>
          <p:cNvSpPr/>
          <p:nvPr/>
        </p:nvSpPr>
        <p:spPr>
          <a:xfrm>
            <a:off x="1234440" y="2857680"/>
            <a:ext cx="6354720" cy="5040"/>
          </a:xfrm>
          <a:prstGeom prst="rect">
            <a:avLst/>
          </a:prstGeom>
          <a:solidFill>
            <a:srgbClr val="414E6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0"/>
          <p:cNvSpPr/>
          <p:nvPr/>
        </p:nvSpPr>
        <p:spPr>
          <a:xfrm>
            <a:off x="1234440" y="2057400"/>
            <a:ext cx="6354720" cy="5040"/>
          </a:xfrm>
          <a:prstGeom prst="rect">
            <a:avLst/>
          </a:prstGeom>
          <a:solidFill>
            <a:srgbClr val="414E6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30"/>
          <p:cNvSpPr/>
          <p:nvPr/>
        </p:nvSpPr>
        <p:spPr>
          <a:xfrm>
            <a:off x="694800" y="2788920"/>
            <a:ext cx="456840" cy="11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Growth (log scale)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30"/>
          <p:cNvSpPr/>
          <p:nvPr/>
        </p:nvSpPr>
        <p:spPr>
          <a:xfrm>
            <a:off x="3474720" y="5367600"/>
            <a:ext cx="16455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Input size n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30"/>
          <p:cNvSpPr/>
          <p:nvPr/>
        </p:nvSpPr>
        <p:spPr>
          <a:xfrm>
            <a:off x="106992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30"/>
          <p:cNvSpPr/>
          <p:nvPr/>
        </p:nvSpPr>
        <p:spPr>
          <a:xfrm>
            <a:off x="234072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30"/>
          <p:cNvSpPr/>
          <p:nvPr/>
        </p:nvSpPr>
        <p:spPr>
          <a:xfrm>
            <a:off x="361188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30"/>
          <p:cNvSpPr/>
          <p:nvPr/>
        </p:nvSpPr>
        <p:spPr>
          <a:xfrm>
            <a:off x="488304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30"/>
          <p:cNvSpPr/>
          <p:nvPr/>
        </p:nvSpPr>
        <p:spPr>
          <a:xfrm>
            <a:off x="615384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30"/>
          <p:cNvSpPr/>
          <p:nvPr/>
        </p:nvSpPr>
        <p:spPr>
          <a:xfrm>
            <a:off x="7425000" y="5148000"/>
            <a:ext cx="328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30"/>
          <p:cNvSpPr/>
          <p:nvPr/>
        </p:nvSpPr>
        <p:spPr>
          <a:xfrm>
            <a:off x="1234440" y="5141160"/>
            <a:ext cx="1270800" cy="32400"/>
          </a:xfrm>
          <a:prstGeom prst="rect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0"/>
          <p:cNvSpPr/>
          <p:nvPr/>
        </p:nvSpPr>
        <p:spPr>
          <a:xfrm>
            <a:off x="2505600" y="5141160"/>
            <a:ext cx="1270800" cy="32400"/>
          </a:xfrm>
          <a:prstGeom prst="rect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0"/>
          <p:cNvSpPr/>
          <p:nvPr/>
        </p:nvSpPr>
        <p:spPr>
          <a:xfrm>
            <a:off x="3776400" y="5141160"/>
            <a:ext cx="1270800" cy="32400"/>
          </a:xfrm>
          <a:prstGeom prst="rect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0"/>
          <p:cNvSpPr/>
          <p:nvPr/>
        </p:nvSpPr>
        <p:spPr>
          <a:xfrm>
            <a:off x="5047560" y="5141160"/>
            <a:ext cx="1270800" cy="32400"/>
          </a:xfrm>
          <a:prstGeom prst="rect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0"/>
          <p:cNvSpPr/>
          <p:nvPr/>
        </p:nvSpPr>
        <p:spPr>
          <a:xfrm>
            <a:off x="6318360" y="5141160"/>
            <a:ext cx="1270800" cy="32400"/>
          </a:xfrm>
          <a:prstGeom prst="rect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0"/>
          <p:cNvSpPr/>
          <p:nvPr/>
        </p:nvSpPr>
        <p:spPr>
          <a:xfrm>
            <a:off x="119340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0"/>
          <p:cNvSpPr/>
          <p:nvPr/>
        </p:nvSpPr>
        <p:spPr>
          <a:xfrm>
            <a:off x="246420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30"/>
          <p:cNvSpPr/>
          <p:nvPr/>
        </p:nvSpPr>
        <p:spPr>
          <a:xfrm>
            <a:off x="373536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30"/>
          <p:cNvSpPr/>
          <p:nvPr/>
        </p:nvSpPr>
        <p:spPr>
          <a:xfrm>
            <a:off x="500652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30"/>
          <p:cNvSpPr/>
          <p:nvPr/>
        </p:nvSpPr>
        <p:spPr>
          <a:xfrm>
            <a:off x="627732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0"/>
          <p:cNvSpPr/>
          <p:nvPr/>
        </p:nvSpPr>
        <p:spPr>
          <a:xfrm>
            <a:off x="7548480" y="51166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0"/>
          <p:cNvSpPr/>
          <p:nvPr/>
        </p:nvSpPr>
        <p:spPr>
          <a:xfrm rot="-270000">
            <a:off x="1232280" y="5190840"/>
            <a:ext cx="1274760" cy="32400"/>
          </a:xfrm>
          <a:prstGeom prst="rect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0"/>
          <p:cNvSpPr/>
          <p:nvPr/>
        </p:nvSpPr>
        <p:spPr>
          <a:xfrm rot="-158400">
            <a:off x="2504520" y="5112000"/>
            <a:ext cx="1271880" cy="32400"/>
          </a:xfrm>
          <a:prstGeom prst="rect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0"/>
          <p:cNvSpPr/>
          <p:nvPr/>
        </p:nvSpPr>
        <p:spPr>
          <a:xfrm rot="-112200">
            <a:off x="3776040" y="5061960"/>
            <a:ext cx="1271160" cy="32400"/>
          </a:xfrm>
          <a:prstGeom prst="rect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30"/>
          <p:cNvSpPr/>
          <p:nvPr/>
        </p:nvSpPr>
        <p:spPr>
          <a:xfrm rot="-87000">
            <a:off x="5047200" y="5025240"/>
            <a:ext cx="1271160" cy="32400"/>
          </a:xfrm>
          <a:prstGeom prst="rect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0"/>
          <p:cNvSpPr/>
          <p:nvPr/>
        </p:nvSpPr>
        <p:spPr>
          <a:xfrm rot="-71400">
            <a:off x="6318000" y="4995720"/>
            <a:ext cx="1270800" cy="32400"/>
          </a:xfrm>
          <a:prstGeom prst="rect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30"/>
          <p:cNvSpPr/>
          <p:nvPr/>
        </p:nvSpPr>
        <p:spPr>
          <a:xfrm>
            <a:off x="1193400" y="521676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30"/>
          <p:cNvSpPr/>
          <p:nvPr/>
        </p:nvSpPr>
        <p:spPr>
          <a:xfrm>
            <a:off x="2464200" y="511668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30"/>
          <p:cNvSpPr/>
          <p:nvPr/>
        </p:nvSpPr>
        <p:spPr>
          <a:xfrm>
            <a:off x="3735360" y="505800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0"/>
          <p:cNvSpPr/>
          <p:nvPr/>
        </p:nvSpPr>
        <p:spPr>
          <a:xfrm>
            <a:off x="5006520" y="501660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30"/>
          <p:cNvSpPr/>
          <p:nvPr/>
        </p:nvSpPr>
        <p:spPr>
          <a:xfrm>
            <a:off x="6277320" y="498456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30"/>
          <p:cNvSpPr/>
          <p:nvPr/>
        </p:nvSpPr>
        <p:spPr>
          <a:xfrm>
            <a:off x="7548480" y="495828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30"/>
          <p:cNvSpPr/>
          <p:nvPr/>
        </p:nvSpPr>
        <p:spPr>
          <a:xfrm rot="-158400">
            <a:off x="1233720" y="5112000"/>
            <a:ext cx="1271880" cy="32400"/>
          </a:xfrm>
          <a:prstGeom prst="rect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0"/>
          <p:cNvSpPr/>
          <p:nvPr/>
        </p:nvSpPr>
        <p:spPr>
          <a:xfrm rot="-199200">
            <a:off x="2504160" y="5045760"/>
            <a:ext cx="1272960" cy="32400"/>
          </a:xfrm>
          <a:prstGeom prst="rect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30"/>
          <p:cNvSpPr/>
          <p:nvPr/>
        </p:nvSpPr>
        <p:spPr>
          <a:xfrm rot="-229200">
            <a:off x="3774960" y="4966560"/>
            <a:ext cx="1273320" cy="32400"/>
          </a:xfrm>
          <a:prstGeom prst="rect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30"/>
          <p:cNvSpPr/>
          <p:nvPr/>
        </p:nvSpPr>
        <p:spPr>
          <a:xfrm rot="-247800">
            <a:off x="5045760" y="4878360"/>
            <a:ext cx="1274040" cy="32400"/>
          </a:xfrm>
          <a:prstGeom prst="rect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30"/>
          <p:cNvSpPr/>
          <p:nvPr/>
        </p:nvSpPr>
        <p:spPr>
          <a:xfrm rot="-258000">
            <a:off x="6316560" y="4784400"/>
            <a:ext cx="1274400" cy="32400"/>
          </a:xfrm>
          <a:prstGeom prst="rect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30"/>
          <p:cNvSpPr/>
          <p:nvPr/>
        </p:nvSpPr>
        <p:spPr>
          <a:xfrm>
            <a:off x="1193400" y="511668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30"/>
          <p:cNvSpPr/>
          <p:nvPr/>
        </p:nvSpPr>
        <p:spPr>
          <a:xfrm>
            <a:off x="2464200" y="505800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0"/>
          <p:cNvSpPr/>
          <p:nvPr/>
        </p:nvSpPr>
        <p:spPr>
          <a:xfrm>
            <a:off x="3735360" y="498456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30"/>
          <p:cNvSpPr/>
          <p:nvPr/>
        </p:nvSpPr>
        <p:spPr>
          <a:xfrm>
            <a:off x="5006520" y="489960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0"/>
          <p:cNvSpPr/>
          <p:nvPr/>
        </p:nvSpPr>
        <p:spPr>
          <a:xfrm>
            <a:off x="6277320" y="480780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0"/>
          <p:cNvSpPr/>
          <p:nvPr/>
        </p:nvSpPr>
        <p:spPr>
          <a:xfrm>
            <a:off x="7548480" y="471204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0"/>
          <p:cNvSpPr/>
          <p:nvPr/>
        </p:nvSpPr>
        <p:spPr>
          <a:xfrm rot="-426600">
            <a:off x="1229040" y="5162040"/>
            <a:ext cx="1280520" cy="32400"/>
          </a:xfrm>
          <a:prstGeom prst="rect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30"/>
          <p:cNvSpPr/>
          <p:nvPr/>
        </p:nvSpPr>
        <p:spPr>
          <a:xfrm rot="-426600">
            <a:off x="2500200" y="5003280"/>
            <a:ext cx="1280520" cy="32400"/>
          </a:xfrm>
          <a:prstGeom prst="rect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30"/>
          <p:cNvSpPr/>
          <p:nvPr/>
        </p:nvSpPr>
        <p:spPr>
          <a:xfrm rot="-397200">
            <a:off x="3772080" y="4850280"/>
            <a:ext cx="1279080" cy="32400"/>
          </a:xfrm>
          <a:prstGeom prst="rect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30"/>
          <p:cNvSpPr/>
          <p:nvPr/>
        </p:nvSpPr>
        <p:spPr>
          <a:xfrm rot="-371400">
            <a:off x="5043600" y="4707720"/>
            <a:ext cx="1278000" cy="32400"/>
          </a:xfrm>
          <a:prstGeom prst="rect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0"/>
          <p:cNvSpPr/>
          <p:nvPr/>
        </p:nvSpPr>
        <p:spPr>
          <a:xfrm rot="-352800">
            <a:off x="6315120" y="4573440"/>
            <a:ext cx="1277280" cy="32400"/>
          </a:xfrm>
          <a:prstGeom prst="rect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30"/>
          <p:cNvSpPr/>
          <p:nvPr/>
        </p:nvSpPr>
        <p:spPr>
          <a:xfrm>
            <a:off x="1193400" y="521676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30"/>
          <p:cNvSpPr/>
          <p:nvPr/>
        </p:nvSpPr>
        <p:spPr>
          <a:xfrm>
            <a:off x="2464200" y="505800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0"/>
          <p:cNvSpPr/>
          <p:nvPr/>
        </p:nvSpPr>
        <p:spPr>
          <a:xfrm>
            <a:off x="3735360" y="489960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30"/>
          <p:cNvSpPr/>
          <p:nvPr/>
        </p:nvSpPr>
        <p:spPr>
          <a:xfrm>
            <a:off x="5006520" y="475236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30"/>
          <p:cNvSpPr/>
          <p:nvPr/>
        </p:nvSpPr>
        <p:spPr>
          <a:xfrm>
            <a:off x="6277320" y="461448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30"/>
          <p:cNvSpPr/>
          <p:nvPr/>
        </p:nvSpPr>
        <p:spPr>
          <a:xfrm>
            <a:off x="7548480" y="448344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30"/>
          <p:cNvSpPr/>
          <p:nvPr/>
        </p:nvSpPr>
        <p:spPr>
          <a:xfrm rot="-356400">
            <a:off x="1230840" y="5075280"/>
            <a:ext cx="1277640" cy="32400"/>
          </a:xfrm>
          <a:prstGeom prst="rect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30"/>
          <p:cNvSpPr/>
          <p:nvPr/>
        </p:nvSpPr>
        <p:spPr>
          <a:xfrm rot="-474600">
            <a:off x="2499120" y="4920840"/>
            <a:ext cx="1283040" cy="32400"/>
          </a:xfrm>
          <a:prstGeom prst="rect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30"/>
          <p:cNvSpPr/>
          <p:nvPr/>
        </p:nvSpPr>
        <p:spPr>
          <a:xfrm rot="-519600">
            <a:off x="3768840" y="4735440"/>
            <a:ext cx="1285200" cy="32400"/>
          </a:xfrm>
          <a:prstGeom prst="rect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30"/>
          <p:cNvSpPr/>
          <p:nvPr/>
        </p:nvSpPr>
        <p:spPr>
          <a:xfrm rot="-531600">
            <a:off x="5039640" y="4539960"/>
            <a:ext cx="1285920" cy="32400"/>
          </a:xfrm>
          <a:prstGeom prst="rect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30"/>
          <p:cNvSpPr/>
          <p:nvPr/>
        </p:nvSpPr>
        <p:spPr>
          <a:xfrm rot="-535200">
            <a:off x="6310440" y="4340880"/>
            <a:ext cx="1286280" cy="32400"/>
          </a:xfrm>
          <a:prstGeom prst="rect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30"/>
          <p:cNvSpPr/>
          <p:nvPr/>
        </p:nvSpPr>
        <p:spPr>
          <a:xfrm>
            <a:off x="1193400" y="511668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30"/>
          <p:cNvSpPr/>
          <p:nvPr/>
        </p:nvSpPr>
        <p:spPr>
          <a:xfrm>
            <a:off x="2464200" y="498456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30"/>
          <p:cNvSpPr/>
          <p:nvPr/>
        </p:nvSpPr>
        <p:spPr>
          <a:xfrm>
            <a:off x="3735360" y="480780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30"/>
          <p:cNvSpPr/>
          <p:nvPr/>
        </p:nvSpPr>
        <p:spPr>
          <a:xfrm>
            <a:off x="5006520" y="461448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30"/>
          <p:cNvSpPr/>
          <p:nvPr/>
        </p:nvSpPr>
        <p:spPr>
          <a:xfrm>
            <a:off x="6277320" y="441612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30"/>
          <p:cNvSpPr/>
          <p:nvPr/>
        </p:nvSpPr>
        <p:spPr>
          <a:xfrm>
            <a:off x="7548480" y="421632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30"/>
          <p:cNvSpPr/>
          <p:nvPr/>
        </p:nvSpPr>
        <p:spPr>
          <a:xfrm rot="-199200">
            <a:off x="1233000" y="5045760"/>
            <a:ext cx="1272960" cy="32400"/>
          </a:xfrm>
          <a:prstGeom prst="rect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30"/>
          <p:cNvSpPr/>
          <p:nvPr/>
        </p:nvSpPr>
        <p:spPr>
          <a:xfrm rot="-474600">
            <a:off x="2499120" y="4920840"/>
            <a:ext cx="1283040" cy="32400"/>
          </a:xfrm>
          <a:prstGeom prst="rect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30"/>
          <p:cNvSpPr/>
          <p:nvPr/>
        </p:nvSpPr>
        <p:spPr>
          <a:xfrm rot="-1027800">
            <a:off x="3746880" y="4636440"/>
            <a:ext cx="1329840" cy="32400"/>
          </a:xfrm>
          <a:prstGeom prst="rect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30"/>
          <p:cNvSpPr/>
          <p:nvPr/>
        </p:nvSpPr>
        <p:spPr>
          <a:xfrm rot="-1930200">
            <a:off x="4931640" y="4040640"/>
            <a:ext cx="1501200" cy="32400"/>
          </a:xfrm>
          <a:prstGeom prst="rect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30"/>
          <p:cNvSpPr/>
          <p:nvPr/>
        </p:nvSpPr>
        <p:spPr>
          <a:xfrm rot="-3092400">
            <a:off x="5932080" y="2841120"/>
            <a:ext cx="2043360" cy="32400"/>
          </a:xfrm>
          <a:prstGeom prst="rect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30"/>
          <p:cNvSpPr/>
          <p:nvPr/>
        </p:nvSpPr>
        <p:spPr>
          <a:xfrm>
            <a:off x="1193400" y="505800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30"/>
          <p:cNvSpPr/>
          <p:nvPr/>
        </p:nvSpPr>
        <p:spPr>
          <a:xfrm>
            <a:off x="2464200" y="498456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30"/>
          <p:cNvSpPr/>
          <p:nvPr/>
        </p:nvSpPr>
        <p:spPr>
          <a:xfrm>
            <a:off x="3735360" y="480780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0"/>
          <p:cNvSpPr/>
          <p:nvPr/>
        </p:nvSpPr>
        <p:spPr>
          <a:xfrm>
            <a:off x="5006520" y="441612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0"/>
          <p:cNvSpPr/>
          <p:nvPr/>
        </p:nvSpPr>
        <p:spPr>
          <a:xfrm>
            <a:off x="6277320" y="361656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0"/>
          <p:cNvSpPr/>
          <p:nvPr/>
        </p:nvSpPr>
        <p:spPr>
          <a:xfrm>
            <a:off x="7548480" y="201636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0"/>
          <p:cNvSpPr/>
          <p:nvPr/>
        </p:nvSpPr>
        <p:spPr>
          <a:xfrm>
            <a:off x="7582320" y="2057400"/>
            <a:ext cx="14400" cy="320004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0"/>
          <p:cNvSpPr/>
          <p:nvPr/>
        </p:nvSpPr>
        <p:spPr>
          <a:xfrm>
            <a:off x="1234440" y="5660280"/>
            <a:ext cx="82080" cy="82080"/>
          </a:xfrm>
          <a:prstGeom prst="ellipse">
            <a:avLst/>
          </a:prstGeom>
          <a:solidFill>
            <a:srgbClr val="2EC48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30"/>
          <p:cNvSpPr/>
          <p:nvPr/>
        </p:nvSpPr>
        <p:spPr>
          <a:xfrm>
            <a:off x="1371600" y="562356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O(1)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30"/>
          <p:cNvSpPr/>
          <p:nvPr/>
        </p:nvSpPr>
        <p:spPr>
          <a:xfrm>
            <a:off x="3154680" y="5660280"/>
            <a:ext cx="82080" cy="82080"/>
          </a:xfrm>
          <a:prstGeom prst="ellipse">
            <a:avLst/>
          </a:prstGeom>
          <a:solidFill>
            <a:srgbClr val="57A6FF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30"/>
          <p:cNvSpPr/>
          <p:nvPr/>
        </p:nvSpPr>
        <p:spPr>
          <a:xfrm>
            <a:off x="3291840" y="562356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O(log₂ n)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30"/>
          <p:cNvSpPr/>
          <p:nvPr/>
        </p:nvSpPr>
        <p:spPr>
          <a:xfrm>
            <a:off x="5074920" y="5660280"/>
            <a:ext cx="82080" cy="82080"/>
          </a:xfrm>
          <a:prstGeom prst="ellipse">
            <a:avLst/>
          </a:prstGeom>
          <a:solidFill>
            <a:srgbClr val="F6B741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30"/>
          <p:cNvSpPr/>
          <p:nvPr/>
        </p:nvSpPr>
        <p:spPr>
          <a:xfrm>
            <a:off x="5212080" y="562356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O(n)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30"/>
          <p:cNvSpPr/>
          <p:nvPr/>
        </p:nvSpPr>
        <p:spPr>
          <a:xfrm>
            <a:off x="1234440" y="5916240"/>
            <a:ext cx="82080" cy="82080"/>
          </a:xfrm>
          <a:prstGeom prst="ellipse">
            <a:avLst/>
          </a:prstGeom>
          <a:solidFill>
            <a:srgbClr val="F58042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0"/>
          <p:cNvSpPr/>
          <p:nvPr/>
        </p:nvSpPr>
        <p:spPr>
          <a:xfrm>
            <a:off x="1371600" y="587952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O(n log₂ n)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30"/>
          <p:cNvSpPr/>
          <p:nvPr/>
        </p:nvSpPr>
        <p:spPr>
          <a:xfrm>
            <a:off x="3154680" y="5916240"/>
            <a:ext cx="82080" cy="82080"/>
          </a:xfrm>
          <a:prstGeom prst="ellipse">
            <a:avLst/>
          </a:prstGeom>
          <a:solidFill>
            <a:srgbClr val="E74C5A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30"/>
          <p:cNvSpPr/>
          <p:nvPr/>
        </p:nvSpPr>
        <p:spPr>
          <a:xfrm>
            <a:off x="3291840" y="587952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O(n²)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30"/>
          <p:cNvSpPr/>
          <p:nvPr/>
        </p:nvSpPr>
        <p:spPr>
          <a:xfrm>
            <a:off x="5074920" y="5916240"/>
            <a:ext cx="82080" cy="82080"/>
          </a:xfrm>
          <a:prstGeom prst="ellipse">
            <a:avLst/>
          </a:prstGeom>
          <a:solidFill>
            <a:srgbClr val="A46FEE"/>
          </a:solidFill>
          <a:ln>
            <a:noFill/>
          </a:ln>
        </p:spPr>
        <p:txBody>
          <a:bodyPr anchorCtr="0" anchor="ctr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30"/>
          <p:cNvSpPr/>
          <p:nvPr/>
        </p:nvSpPr>
        <p:spPr>
          <a:xfrm>
            <a:off x="5212080" y="5879520"/>
            <a:ext cx="1554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O(2ⁿ)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30"/>
          <p:cNvSpPr/>
          <p:nvPr/>
        </p:nvSpPr>
        <p:spPr>
          <a:xfrm>
            <a:off x="8275320" y="1645920"/>
            <a:ext cx="3309840" cy="4251600"/>
          </a:xfrm>
          <a:prstGeom prst="roundRect">
            <a:avLst>
              <a:gd fmla="val 16667" name="adj"/>
            </a:avLst>
          </a:prstGeom>
          <a:solidFill>
            <a:srgbClr val="141D2B"/>
          </a:solidFill>
          <a:ln cap="flat" cmpd="sng" w="9525">
            <a:solidFill>
              <a:srgbClr val="414E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30"/>
          <p:cNvSpPr/>
          <p:nvPr/>
        </p:nvSpPr>
        <p:spPr>
          <a:xfrm>
            <a:off x="8595360" y="1901880"/>
            <a:ext cx="255996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At n = 32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30"/>
          <p:cNvSpPr/>
          <p:nvPr/>
        </p:nvSpPr>
        <p:spPr>
          <a:xfrm>
            <a:off x="8595360" y="2267640"/>
            <a:ext cx="255996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Representative growth values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30"/>
          <p:cNvSpPr/>
          <p:nvPr/>
        </p:nvSpPr>
        <p:spPr>
          <a:xfrm>
            <a:off x="8595360" y="269748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2EC48F"/>
                </a:solidFill>
                <a:latin typeface="Arial"/>
                <a:ea typeface="Arial"/>
                <a:cs typeface="Arial"/>
                <a:sym typeface="Arial"/>
              </a:rPr>
              <a:t>O(1)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30"/>
          <p:cNvSpPr/>
          <p:nvPr/>
        </p:nvSpPr>
        <p:spPr>
          <a:xfrm>
            <a:off x="10195560" y="269748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30"/>
          <p:cNvSpPr/>
          <p:nvPr/>
        </p:nvSpPr>
        <p:spPr>
          <a:xfrm>
            <a:off x="8595360" y="312732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57A6FF"/>
                </a:solidFill>
                <a:latin typeface="Arial"/>
                <a:ea typeface="Arial"/>
                <a:cs typeface="Arial"/>
                <a:sym typeface="Arial"/>
              </a:rPr>
              <a:t>O(log₂ n)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30"/>
          <p:cNvSpPr/>
          <p:nvPr/>
        </p:nvSpPr>
        <p:spPr>
          <a:xfrm>
            <a:off x="10195560" y="312732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30"/>
          <p:cNvSpPr/>
          <p:nvPr/>
        </p:nvSpPr>
        <p:spPr>
          <a:xfrm>
            <a:off x="8595360" y="355716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6B741"/>
                </a:solidFill>
                <a:latin typeface="Arial"/>
                <a:ea typeface="Arial"/>
                <a:cs typeface="Arial"/>
                <a:sym typeface="Arial"/>
              </a:rPr>
              <a:t>O(n)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30"/>
          <p:cNvSpPr/>
          <p:nvPr/>
        </p:nvSpPr>
        <p:spPr>
          <a:xfrm>
            <a:off x="10195560" y="355716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30"/>
          <p:cNvSpPr/>
          <p:nvPr/>
        </p:nvSpPr>
        <p:spPr>
          <a:xfrm>
            <a:off x="8595360" y="398664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58042"/>
                </a:solidFill>
                <a:latin typeface="Arial"/>
                <a:ea typeface="Arial"/>
                <a:cs typeface="Arial"/>
                <a:sym typeface="Arial"/>
              </a:rPr>
              <a:t>O(n log₂ n)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30"/>
          <p:cNvSpPr/>
          <p:nvPr/>
        </p:nvSpPr>
        <p:spPr>
          <a:xfrm>
            <a:off x="10195560" y="398664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160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30"/>
          <p:cNvSpPr/>
          <p:nvPr/>
        </p:nvSpPr>
        <p:spPr>
          <a:xfrm>
            <a:off x="8595360" y="441648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E74C5A"/>
                </a:solidFill>
                <a:latin typeface="Arial"/>
                <a:ea typeface="Arial"/>
                <a:cs typeface="Arial"/>
                <a:sym typeface="Arial"/>
              </a:rPr>
              <a:t>O(n²)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30"/>
          <p:cNvSpPr/>
          <p:nvPr/>
        </p:nvSpPr>
        <p:spPr>
          <a:xfrm>
            <a:off x="10195560" y="441648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1,024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30"/>
          <p:cNvSpPr/>
          <p:nvPr/>
        </p:nvSpPr>
        <p:spPr>
          <a:xfrm>
            <a:off x="8595360" y="4846320"/>
            <a:ext cx="1416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A46FEE"/>
                </a:solidFill>
                <a:latin typeface="Arial"/>
                <a:ea typeface="Arial"/>
                <a:cs typeface="Arial"/>
                <a:sym typeface="Arial"/>
              </a:rPr>
              <a:t>O(2ⁿ)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30"/>
          <p:cNvSpPr/>
          <p:nvPr/>
        </p:nvSpPr>
        <p:spPr>
          <a:xfrm>
            <a:off x="10195560" y="4846320"/>
            <a:ext cx="1005480" cy="255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4,294,967,296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30"/>
          <p:cNvSpPr/>
          <p:nvPr/>
        </p:nvSpPr>
        <p:spPr>
          <a:xfrm>
            <a:off x="8595360" y="5358240"/>
            <a:ext cx="10054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57A6FF"/>
                </a:solidFill>
                <a:latin typeface="Arial"/>
                <a:ea typeface="Arial"/>
                <a:cs typeface="Arial"/>
                <a:sym typeface="Arial"/>
              </a:rPr>
              <a:t>Key idea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30"/>
          <p:cNvSpPr/>
          <p:nvPr/>
        </p:nvSpPr>
        <p:spPr>
          <a:xfrm>
            <a:off x="9326880" y="5285160"/>
            <a:ext cx="1874160" cy="4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Different growth rates separate dramatically as n increases.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30"/>
          <p:cNvSpPr/>
          <p:nvPr/>
        </p:nvSpPr>
        <p:spPr>
          <a:xfrm>
            <a:off x="658440" y="6473880"/>
            <a:ext cx="676620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A6B4C8"/>
                </a:solidFill>
                <a:latin typeface="Arial"/>
                <a:ea typeface="Arial"/>
                <a:cs typeface="Arial"/>
                <a:sym typeface="Arial"/>
              </a:rPr>
              <a:t>Values illustrate growth functions, not measured execution time.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30"/>
          <p:cNvSpPr txBox="1"/>
          <p:nvPr>
            <p:ph idx="1" type="body"/>
          </p:nvPr>
        </p:nvSpPr>
        <p:spPr>
          <a:xfrm>
            <a:off x="818280" y="1114560"/>
            <a:ext cx="10493280" cy="50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sz="2800" u="none" strike="noStrike">
              <a:solidFill>
                <a:srgbClr val="204C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6" name="Google Shape;976;p30"/>
          <p:cNvSpPr txBox="1"/>
          <p:nvPr>
            <p:ph type="title"/>
          </p:nvPr>
        </p:nvSpPr>
        <p:spPr>
          <a:xfrm>
            <a:off x="891360" y="133560"/>
            <a:ext cx="1021464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Big-O Growth: How Algorithms Scale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31"/>
          <p:cNvSpPr/>
          <p:nvPr/>
        </p:nvSpPr>
        <p:spPr>
          <a:xfrm>
            <a:off x="502920" y="274320"/>
            <a:ext cx="2377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2A93B"/>
                </a:solidFill>
                <a:latin typeface="Arial"/>
                <a:ea typeface="Arial"/>
                <a:cs typeface="Arial"/>
                <a:sym typeface="Arial"/>
              </a:rPr>
              <a:t>ALGORITHMS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31"/>
          <p:cNvSpPr/>
          <p:nvPr/>
        </p:nvSpPr>
        <p:spPr>
          <a:xfrm>
            <a:off x="502920" y="548640"/>
            <a:ext cx="1106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360"/>
              <a:buFont typeface="Arial"/>
              <a:buNone/>
            </a:pPr>
            <a:r>
              <a:rPr b="1" lang="en-US" sz="236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Search illustrates how data organization changes the algorithm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31"/>
          <p:cNvSpPr/>
          <p:nvPr/>
        </p:nvSpPr>
        <p:spPr>
          <a:xfrm>
            <a:off x="502920" y="1024128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E7E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5F6E7E"/>
                </a:solidFill>
                <a:latin typeface="Arial"/>
                <a:ea typeface="Arial"/>
                <a:cs typeface="Arial"/>
                <a:sym typeface="Arial"/>
              </a:rPr>
              <a:t>Linear search works on arbitrary sequences; binary search requires sorted data and repeatedly halves the remaining search interval.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31"/>
          <p:cNvSpPr/>
          <p:nvPr/>
        </p:nvSpPr>
        <p:spPr>
          <a:xfrm>
            <a:off x="685800" y="1609344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Target = 19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31"/>
          <p:cNvSpPr/>
          <p:nvPr/>
        </p:nvSpPr>
        <p:spPr>
          <a:xfrm>
            <a:off x="685800" y="2029968"/>
            <a:ext cx="155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7D0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2E77D0"/>
                </a:solidFill>
                <a:latin typeface="Arial"/>
                <a:ea typeface="Arial"/>
                <a:cs typeface="Arial"/>
                <a:sym typeface="Arial"/>
              </a:rPr>
              <a:t>Linear search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31"/>
          <p:cNvSpPr/>
          <p:nvPr/>
        </p:nvSpPr>
        <p:spPr>
          <a:xfrm>
            <a:off x="2148840" y="1920240"/>
            <a:ext cx="768000" cy="658500"/>
          </a:xfrm>
          <a:prstGeom prst="roundRect">
            <a:avLst>
              <a:gd fmla="val 5556" name="adj"/>
            </a:avLst>
          </a:prstGeom>
          <a:solidFill>
            <a:srgbClr val="EEF2F6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31"/>
          <p:cNvSpPr/>
          <p:nvPr/>
        </p:nvSpPr>
        <p:spPr>
          <a:xfrm>
            <a:off x="2148840" y="2066544"/>
            <a:ext cx="768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23314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9" name="Google Shape;989;p31"/>
          <p:cNvCxnSpPr/>
          <p:nvPr/>
        </p:nvCxnSpPr>
        <p:spPr>
          <a:xfrm>
            <a:off x="2532888" y="2633472"/>
            <a:ext cx="0" cy="228600"/>
          </a:xfrm>
          <a:prstGeom prst="straightConnector1">
            <a:avLst/>
          </a:prstGeom>
          <a:noFill/>
          <a:ln cap="flat" cmpd="sng" w="17775">
            <a:solidFill>
              <a:srgbClr val="2E77D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0" name="Google Shape;990;p31"/>
          <p:cNvSpPr/>
          <p:nvPr/>
        </p:nvSpPr>
        <p:spPr>
          <a:xfrm>
            <a:off x="3099816" y="1920240"/>
            <a:ext cx="768000" cy="658500"/>
          </a:xfrm>
          <a:prstGeom prst="roundRect">
            <a:avLst>
              <a:gd fmla="val 5556" name="adj"/>
            </a:avLst>
          </a:prstGeom>
          <a:solidFill>
            <a:srgbClr val="EEF2F6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31"/>
          <p:cNvSpPr/>
          <p:nvPr/>
        </p:nvSpPr>
        <p:spPr>
          <a:xfrm>
            <a:off x="3099816" y="2066544"/>
            <a:ext cx="768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23314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2" name="Google Shape;992;p31"/>
          <p:cNvCxnSpPr/>
          <p:nvPr/>
        </p:nvCxnSpPr>
        <p:spPr>
          <a:xfrm>
            <a:off x="3483864" y="2633472"/>
            <a:ext cx="0" cy="228600"/>
          </a:xfrm>
          <a:prstGeom prst="straightConnector1">
            <a:avLst/>
          </a:prstGeom>
          <a:noFill/>
          <a:ln cap="flat" cmpd="sng" w="17775">
            <a:solidFill>
              <a:srgbClr val="2E77D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3" name="Google Shape;993;p31"/>
          <p:cNvSpPr/>
          <p:nvPr/>
        </p:nvSpPr>
        <p:spPr>
          <a:xfrm>
            <a:off x="4050792" y="1920240"/>
            <a:ext cx="768000" cy="658500"/>
          </a:xfrm>
          <a:prstGeom prst="roundRect">
            <a:avLst>
              <a:gd fmla="val 5556" name="adj"/>
            </a:avLst>
          </a:prstGeom>
          <a:solidFill>
            <a:srgbClr val="EEF2F6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31"/>
          <p:cNvSpPr/>
          <p:nvPr/>
        </p:nvSpPr>
        <p:spPr>
          <a:xfrm>
            <a:off x="4050792" y="2066544"/>
            <a:ext cx="768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23314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5" name="Google Shape;995;p31"/>
          <p:cNvCxnSpPr/>
          <p:nvPr/>
        </p:nvCxnSpPr>
        <p:spPr>
          <a:xfrm>
            <a:off x="4434840" y="2633472"/>
            <a:ext cx="0" cy="228600"/>
          </a:xfrm>
          <a:prstGeom prst="straightConnector1">
            <a:avLst/>
          </a:prstGeom>
          <a:noFill/>
          <a:ln cap="flat" cmpd="sng" w="17775">
            <a:solidFill>
              <a:srgbClr val="2E77D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6" name="Google Shape;996;p31"/>
          <p:cNvSpPr/>
          <p:nvPr/>
        </p:nvSpPr>
        <p:spPr>
          <a:xfrm>
            <a:off x="5001768" y="1920240"/>
            <a:ext cx="768000" cy="658500"/>
          </a:xfrm>
          <a:prstGeom prst="roundRect">
            <a:avLst>
              <a:gd fmla="val 5556" name="adj"/>
            </a:avLst>
          </a:prstGeom>
          <a:solidFill>
            <a:srgbClr val="EEF2F6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31"/>
          <p:cNvSpPr/>
          <p:nvPr/>
        </p:nvSpPr>
        <p:spPr>
          <a:xfrm>
            <a:off x="5001768" y="2066544"/>
            <a:ext cx="768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23314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8" name="Google Shape;998;p31"/>
          <p:cNvCxnSpPr/>
          <p:nvPr/>
        </p:nvCxnSpPr>
        <p:spPr>
          <a:xfrm>
            <a:off x="5385816" y="2633472"/>
            <a:ext cx="0" cy="228600"/>
          </a:xfrm>
          <a:prstGeom prst="straightConnector1">
            <a:avLst/>
          </a:prstGeom>
          <a:noFill/>
          <a:ln cap="flat" cmpd="sng" w="17775">
            <a:solidFill>
              <a:srgbClr val="2E77D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9" name="Google Shape;999;p31"/>
          <p:cNvSpPr/>
          <p:nvPr/>
        </p:nvSpPr>
        <p:spPr>
          <a:xfrm>
            <a:off x="5952744" y="1920240"/>
            <a:ext cx="768000" cy="658500"/>
          </a:xfrm>
          <a:prstGeom prst="roundRect">
            <a:avLst>
              <a:gd fmla="val 5556" name="adj"/>
            </a:avLst>
          </a:prstGeom>
          <a:solidFill>
            <a:srgbClr val="E4F3EC"/>
          </a:solidFill>
          <a:ln cap="flat" cmpd="sng" w="12700">
            <a:solidFill>
              <a:srgbClr val="2C9C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31"/>
          <p:cNvSpPr/>
          <p:nvPr/>
        </p:nvSpPr>
        <p:spPr>
          <a:xfrm>
            <a:off x="5952744" y="2066544"/>
            <a:ext cx="768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233142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1" name="Google Shape;1001;p31"/>
          <p:cNvCxnSpPr/>
          <p:nvPr/>
        </p:nvCxnSpPr>
        <p:spPr>
          <a:xfrm>
            <a:off x="6336792" y="2633472"/>
            <a:ext cx="0" cy="228600"/>
          </a:xfrm>
          <a:prstGeom prst="straightConnector1">
            <a:avLst/>
          </a:prstGeom>
          <a:noFill/>
          <a:ln cap="flat" cmpd="sng" w="17775">
            <a:solidFill>
              <a:srgbClr val="2C9C6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02" name="Google Shape;1002;p31"/>
          <p:cNvSpPr/>
          <p:nvPr/>
        </p:nvSpPr>
        <p:spPr>
          <a:xfrm>
            <a:off x="6903720" y="1920240"/>
            <a:ext cx="768000" cy="65850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31"/>
          <p:cNvSpPr/>
          <p:nvPr/>
        </p:nvSpPr>
        <p:spPr>
          <a:xfrm>
            <a:off x="6903720" y="2066544"/>
            <a:ext cx="768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233142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31"/>
          <p:cNvSpPr/>
          <p:nvPr/>
        </p:nvSpPr>
        <p:spPr>
          <a:xfrm>
            <a:off x="7854696" y="1920240"/>
            <a:ext cx="768000" cy="65850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31"/>
          <p:cNvSpPr/>
          <p:nvPr/>
        </p:nvSpPr>
        <p:spPr>
          <a:xfrm>
            <a:off x="7854696" y="2066544"/>
            <a:ext cx="768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233142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31"/>
          <p:cNvSpPr/>
          <p:nvPr/>
        </p:nvSpPr>
        <p:spPr>
          <a:xfrm>
            <a:off x="2148840" y="2889504"/>
            <a:ext cx="6583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E7E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5F6E7E"/>
                </a:solidFill>
                <a:latin typeface="Arial"/>
                <a:ea typeface="Arial"/>
                <a:cs typeface="Arial"/>
                <a:sym typeface="Arial"/>
              </a:rPr>
              <a:t>checks from left to right → 5 comparisons here • worst case O(n)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31"/>
          <p:cNvSpPr/>
          <p:nvPr/>
        </p:nvSpPr>
        <p:spPr>
          <a:xfrm>
            <a:off x="685800" y="3721608"/>
            <a:ext cx="155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9C69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2C9C69"/>
                </a:solidFill>
                <a:latin typeface="Arial"/>
                <a:ea typeface="Arial"/>
                <a:cs typeface="Arial"/>
                <a:sym typeface="Arial"/>
              </a:rPr>
              <a:t>Binary search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31"/>
          <p:cNvSpPr/>
          <p:nvPr/>
        </p:nvSpPr>
        <p:spPr>
          <a:xfrm>
            <a:off x="2148840" y="3602736"/>
            <a:ext cx="768000" cy="65850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31"/>
          <p:cNvSpPr/>
          <p:nvPr/>
        </p:nvSpPr>
        <p:spPr>
          <a:xfrm>
            <a:off x="2148840" y="3749040"/>
            <a:ext cx="768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23314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31"/>
          <p:cNvSpPr/>
          <p:nvPr/>
        </p:nvSpPr>
        <p:spPr>
          <a:xfrm>
            <a:off x="3099816" y="3602736"/>
            <a:ext cx="768000" cy="65850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31"/>
          <p:cNvSpPr/>
          <p:nvPr/>
        </p:nvSpPr>
        <p:spPr>
          <a:xfrm>
            <a:off x="3099816" y="3749040"/>
            <a:ext cx="768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23314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31"/>
          <p:cNvSpPr/>
          <p:nvPr/>
        </p:nvSpPr>
        <p:spPr>
          <a:xfrm>
            <a:off x="4050792" y="3602736"/>
            <a:ext cx="768000" cy="65850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31"/>
          <p:cNvSpPr/>
          <p:nvPr/>
        </p:nvSpPr>
        <p:spPr>
          <a:xfrm>
            <a:off x="4050792" y="3749040"/>
            <a:ext cx="768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23314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31"/>
          <p:cNvSpPr/>
          <p:nvPr/>
        </p:nvSpPr>
        <p:spPr>
          <a:xfrm>
            <a:off x="5001768" y="3602736"/>
            <a:ext cx="768000" cy="658500"/>
          </a:xfrm>
          <a:prstGeom prst="roundRect">
            <a:avLst>
              <a:gd fmla="val 5556" name="adj"/>
            </a:avLst>
          </a:prstGeom>
          <a:solidFill>
            <a:srgbClr val="FFF3D8"/>
          </a:solidFill>
          <a:ln cap="flat" cmpd="sng" w="12700">
            <a:solidFill>
              <a:srgbClr val="F2A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31"/>
          <p:cNvSpPr/>
          <p:nvPr/>
        </p:nvSpPr>
        <p:spPr>
          <a:xfrm>
            <a:off x="5001768" y="3749040"/>
            <a:ext cx="768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23314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31"/>
          <p:cNvSpPr/>
          <p:nvPr/>
        </p:nvSpPr>
        <p:spPr>
          <a:xfrm>
            <a:off x="5952744" y="3602736"/>
            <a:ext cx="768000" cy="658500"/>
          </a:xfrm>
          <a:prstGeom prst="roundRect">
            <a:avLst>
              <a:gd fmla="val 5556" name="adj"/>
            </a:avLst>
          </a:prstGeom>
          <a:solidFill>
            <a:srgbClr val="E4F3EC"/>
          </a:solidFill>
          <a:ln cap="flat" cmpd="sng" w="12700">
            <a:solidFill>
              <a:srgbClr val="2C9C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31"/>
          <p:cNvSpPr/>
          <p:nvPr/>
        </p:nvSpPr>
        <p:spPr>
          <a:xfrm>
            <a:off x="5952744" y="3749040"/>
            <a:ext cx="768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233142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31"/>
          <p:cNvSpPr/>
          <p:nvPr/>
        </p:nvSpPr>
        <p:spPr>
          <a:xfrm>
            <a:off x="6903720" y="3602736"/>
            <a:ext cx="768000" cy="658500"/>
          </a:xfrm>
          <a:prstGeom prst="roundRect">
            <a:avLst>
              <a:gd fmla="val 5556" name="adj"/>
            </a:avLst>
          </a:prstGeom>
          <a:solidFill>
            <a:srgbClr val="EEE9F8"/>
          </a:solidFill>
          <a:ln cap="flat" cmpd="sng" w="12700">
            <a:solidFill>
              <a:srgbClr val="7A6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31"/>
          <p:cNvSpPr/>
          <p:nvPr/>
        </p:nvSpPr>
        <p:spPr>
          <a:xfrm>
            <a:off x="6903720" y="3749040"/>
            <a:ext cx="768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233142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31"/>
          <p:cNvSpPr/>
          <p:nvPr/>
        </p:nvSpPr>
        <p:spPr>
          <a:xfrm>
            <a:off x="7854696" y="3602736"/>
            <a:ext cx="768000" cy="65850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31"/>
          <p:cNvSpPr/>
          <p:nvPr/>
        </p:nvSpPr>
        <p:spPr>
          <a:xfrm>
            <a:off x="7854696" y="3749040"/>
            <a:ext cx="768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314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233142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31"/>
          <p:cNvSpPr/>
          <p:nvPr/>
        </p:nvSpPr>
        <p:spPr>
          <a:xfrm>
            <a:off x="2148840" y="4416552"/>
            <a:ext cx="2148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980"/>
              <a:buFont typeface="Arial"/>
              <a:buNone/>
            </a:pPr>
            <a:r>
              <a:rPr lang="en-US" sz="980">
                <a:solidFill>
                  <a:srgbClr val="F2A93B"/>
                </a:solidFill>
                <a:latin typeface="Arial"/>
                <a:ea typeface="Arial"/>
                <a:cs typeface="Arial"/>
                <a:sym typeface="Arial"/>
              </a:rPr>
              <a:t>1st middle: 12  →  go right</a:t>
            </a:r>
            <a:endParaRPr sz="9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31"/>
          <p:cNvSpPr/>
          <p:nvPr/>
        </p:nvSpPr>
        <p:spPr>
          <a:xfrm>
            <a:off x="4251960" y="4416552"/>
            <a:ext cx="2148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3B8"/>
              </a:buClr>
              <a:buSzPts val="980"/>
              <a:buFont typeface="Arial"/>
              <a:buNone/>
            </a:pPr>
            <a:r>
              <a:rPr lang="en-US" sz="980">
                <a:solidFill>
                  <a:srgbClr val="7A63B8"/>
                </a:solidFill>
                <a:latin typeface="Arial"/>
                <a:ea typeface="Arial"/>
                <a:cs typeface="Arial"/>
                <a:sym typeface="Arial"/>
              </a:rPr>
              <a:t>2nd middle: 27  →  go left</a:t>
            </a:r>
            <a:endParaRPr sz="9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31"/>
          <p:cNvSpPr/>
          <p:nvPr/>
        </p:nvSpPr>
        <p:spPr>
          <a:xfrm>
            <a:off x="6510528" y="4416552"/>
            <a:ext cx="164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9C69"/>
              </a:buClr>
              <a:buSzPts val="980"/>
              <a:buFont typeface="Arial"/>
              <a:buNone/>
            </a:pPr>
            <a:r>
              <a:rPr lang="en-US" sz="980">
                <a:solidFill>
                  <a:srgbClr val="2C9C69"/>
                </a:solidFill>
                <a:latin typeface="Arial"/>
                <a:ea typeface="Arial"/>
                <a:cs typeface="Arial"/>
                <a:sym typeface="Arial"/>
              </a:rPr>
              <a:t>3rd: 19  →  found</a:t>
            </a:r>
            <a:endParaRPr sz="9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31"/>
          <p:cNvSpPr/>
          <p:nvPr/>
        </p:nvSpPr>
        <p:spPr>
          <a:xfrm>
            <a:off x="2148840" y="4818888"/>
            <a:ext cx="6583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E7E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5F6E7E"/>
                </a:solidFill>
                <a:latin typeface="Arial"/>
                <a:ea typeface="Arial"/>
                <a:cs typeface="Arial"/>
                <a:sym typeface="Arial"/>
              </a:rPr>
              <a:t>halves the remaining interval • worst case O(log n)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31"/>
          <p:cNvSpPr/>
          <p:nvPr/>
        </p:nvSpPr>
        <p:spPr>
          <a:xfrm>
            <a:off x="9006840" y="1920240"/>
            <a:ext cx="2331600" cy="3246000"/>
          </a:xfrm>
          <a:prstGeom prst="roundRect">
            <a:avLst>
              <a:gd fmla="val 1569" name="adj"/>
            </a:avLst>
          </a:prstGeom>
          <a:solidFill>
            <a:srgbClr val="101827"/>
          </a:solidFill>
          <a:ln cap="flat" cmpd="sng" w="12700">
            <a:solidFill>
              <a:srgbClr val="2332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31"/>
          <p:cNvSpPr/>
          <p:nvPr/>
        </p:nvSpPr>
        <p:spPr>
          <a:xfrm>
            <a:off x="9171432" y="2039112"/>
            <a:ext cx="2002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B8E8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8FB8E8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31"/>
          <p:cNvSpPr/>
          <p:nvPr/>
        </p:nvSpPr>
        <p:spPr>
          <a:xfrm>
            <a:off x="9171432" y="2304288"/>
            <a:ext cx="2002500" cy="27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860"/>
              <a:buFont typeface="Consolas"/>
              <a:buNone/>
            </a:pPr>
            <a:r>
              <a:rPr b="0" lang="en-US" sz="860">
                <a:solidFill>
                  <a:srgbClr val="F5F7FA"/>
                </a:solidFill>
                <a:latin typeface="Consolas"/>
                <a:ea typeface="Consolas"/>
                <a:cs typeface="Consolas"/>
                <a:sym typeface="Consolas"/>
              </a:rPr>
              <a:t>def linear_search(a, target):</a:t>
            </a:r>
            <a:br>
              <a:rPr b="0" lang="en-US" sz="860">
                <a:solidFill>
                  <a:srgbClr val="F5F7F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en-US" sz="860">
                <a:solidFill>
                  <a:srgbClr val="F5F7FA"/>
                </a:solidFill>
                <a:latin typeface="Consolas"/>
                <a:ea typeface="Consolas"/>
                <a:cs typeface="Consolas"/>
                <a:sym typeface="Consolas"/>
              </a:rPr>
              <a:t>    for i, value in enumerate(a):</a:t>
            </a:r>
            <a:br>
              <a:rPr b="0" lang="en-US" sz="860">
                <a:solidFill>
                  <a:srgbClr val="F5F7F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en-US" sz="860">
                <a:solidFill>
                  <a:srgbClr val="F5F7FA"/>
                </a:solidFill>
                <a:latin typeface="Consolas"/>
                <a:ea typeface="Consolas"/>
                <a:cs typeface="Consolas"/>
                <a:sym typeface="Consolas"/>
              </a:rPr>
              <a:t>        if value == target:</a:t>
            </a:r>
            <a:br>
              <a:rPr b="0" lang="en-US" sz="860">
                <a:solidFill>
                  <a:srgbClr val="F5F7F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en-US" sz="860">
                <a:solidFill>
                  <a:srgbClr val="F5F7FA"/>
                </a:solidFill>
                <a:latin typeface="Consolas"/>
                <a:ea typeface="Consolas"/>
                <a:cs typeface="Consolas"/>
                <a:sym typeface="Consolas"/>
              </a:rPr>
              <a:t>            return i</a:t>
            </a:r>
            <a:br>
              <a:rPr b="0" lang="en-US" sz="860">
                <a:solidFill>
                  <a:srgbClr val="F5F7F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en-US" sz="860">
                <a:solidFill>
                  <a:srgbClr val="F5F7FA"/>
                </a:solidFill>
                <a:latin typeface="Consolas"/>
                <a:ea typeface="Consolas"/>
                <a:cs typeface="Consolas"/>
                <a:sym typeface="Consolas"/>
              </a:rPr>
              <a:t>    return -1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31"/>
          <p:cNvSpPr/>
          <p:nvPr/>
        </p:nvSpPr>
        <p:spPr>
          <a:xfrm>
            <a:off x="713232" y="5340096"/>
            <a:ext cx="7818000" cy="658500"/>
          </a:xfrm>
          <a:prstGeom prst="roundRect">
            <a:avLst>
              <a:gd fmla="val 5556" name="adj"/>
            </a:avLst>
          </a:prstGeom>
          <a:solidFill>
            <a:srgbClr val="FBE9E9"/>
          </a:solidFill>
          <a:ln cap="flat" cmpd="sng" w="12700">
            <a:solidFill>
              <a:srgbClr val="C9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31"/>
          <p:cNvSpPr/>
          <p:nvPr/>
        </p:nvSpPr>
        <p:spPr>
          <a:xfrm>
            <a:off x="914400" y="5513832"/>
            <a:ext cx="7406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4C4C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C94C4C"/>
                </a:solidFill>
                <a:latin typeface="Arial"/>
                <a:ea typeface="Arial"/>
                <a:cs typeface="Arial"/>
                <a:sym typeface="Arial"/>
              </a:rPr>
              <a:t>Binary search is only correct when the data are sorted according to the same ordering used by the search.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31"/>
          <p:cNvSpPr txBox="1"/>
          <p:nvPr>
            <p:ph idx="12" type="sldNum"/>
          </p:nvPr>
        </p:nvSpPr>
        <p:spPr>
          <a:xfrm>
            <a:off x="11411712" y="6519672"/>
            <a:ext cx="38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6A778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6A778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32"/>
          <p:cNvSpPr/>
          <p:nvPr/>
        </p:nvSpPr>
        <p:spPr>
          <a:xfrm>
            <a:off x="594360" y="384120"/>
            <a:ext cx="7314840" cy="411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u="none" strike="noStrike">
                <a:solidFill>
                  <a:srgbClr val="16375C"/>
                </a:solidFill>
                <a:latin typeface="Arial"/>
                <a:ea typeface="Arial"/>
                <a:cs typeface="Arial"/>
                <a:sym typeface="Arial"/>
              </a:rPr>
              <a:t>From an Algorithm to Reliable Software</a:t>
            </a:r>
            <a:endParaRPr b="0" sz="2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32"/>
          <p:cNvSpPr/>
          <p:nvPr/>
        </p:nvSpPr>
        <p:spPr>
          <a:xfrm>
            <a:off x="612720" y="822960"/>
            <a:ext cx="56689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5C6C7D"/>
                </a:solidFill>
                <a:latin typeface="Arial"/>
                <a:ea typeface="Arial"/>
                <a:cs typeface="Arial"/>
                <a:sym typeface="Arial"/>
              </a:rPr>
              <a:t>The same improvement cycle appears at every scale.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32"/>
          <p:cNvSpPr/>
          <p:nvPr/>
        </p:nvSpPr>
        <p:spPr>
          <a:xfrm>
            <a:off x="685800" y="1920240"/>
            <a:ext cx="1965600" cy="1965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D7D3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32"/>
          <p:cNvSpPr/>
          <p:nvPr/>
        </p:nvSpPr>
        <p:spPr>
          <a:xfrm>
            <a:off x="1389960" y="2121480"/>
            <a:ext cx="566640" cy="5666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32"/>
          <p:cNvSpPr/>
          <p:nvPr/>
        </p:nvSpPr>
        <p:spPr>
          <a:xfrm>
            <a:off x="1481400" y="2221920"/>
            <a:ext cx="3837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32"/>
          <p:cNvSpPr/>
          <p:nvPr/>
        </p:nvSpPr>
        <p:spPr>
          <a:xfrm>
            <a:off x="868680" y="2788920"/>
            <a:ext cx="15998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6375C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32"/>
          <p:cNvSpPr/>
          <p:nvPr/>
        </p:nvSpPr>
        <p:spPr>
          <a:xfrm>
            <a:off x="868680" y="3163680"/>
            <a:ext cx="15998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C6C7D"/>
                </a:solidFill>
                <a:latin typeface="Arial"/>
                <a:ea typeface="Arial"/>
                <a:cs typeface="Arial"/>
                <a:sym typeface="Arial"/>
              </a:rPr>
              <a:t>What must be solved?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32"/>
          <p:cNvSpPr/>
          <p:nvPr/>
        </p:nvSpPr>
        <p:spPr>
          <a:xfrm>
            <a:off x="2697480" y="2651760"/>
            <a:ext cx="4111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 u="none" strike="noStrike">
                <a:solidFill>
                  <a:srgbClr val="5C6C7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32"/>
          <p:cNvSpPr/>
          <p:nvPr/>
        </p:nvSpPr>
        <p:spPr>
          <a:xfrm>
            <a:off x="2990160" y="1920240"/>
            <a:ext cx="1965600" cy="1965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D9A4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32"/>
          <p:cNvSpPr/>
          <p:nvPr/>
        </p:nvSpPr>
        <p:spPr>
          <a:xfrm>
            <a:off x="3694320" y="2121480"/>
            <a:ext cx="566640" cy="566640"/>
          </a:xfrm>
          <a:prstGeom prst="ellipse">
            <a:avLst/>
          </a:prstGeom>
          <a:solidFill>
            <a:srgbClr val="4D9A4C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32"/>
          <p:cNvSpPr/>
          <p:nvPr/>
        </p:nvSpPr>
        <p:spPr>
          <a:xfrm>
            <a:off x="3785760" y="2221920"/>
            <a:ext cx="3837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32"/>
          <p:cNvSpPr/>
          <p:nvPr/>
        </p:nvSpPr>
        <p:spPr>
          <a:xfrm>
            <a:off x="3173040" y="2788920"/>
            <a:ext cx="15998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6375C"/>
                </a:solidFill>
                <a:latin typeface="Arial"/>
                <a:ea typeface="Arial"/>
                <a:cs typeface="Arial"/>
                <a:sym typeface="Arial"/>
              </a:rPr>
              <a:t>Algorithm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32"/>
          <p:cNvSpPr/>
          <p:nvPr/>
        </p:nvSpPr>
        <p:spPr>
          <a:xfrm>
            <a:off x="3173040" y="3163680"/>
            <a:ext cx="15998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C6C7D"/>
                </a:solidFill>
                <a:latin typeface="Arial"/>
                <a:ea typeface="Arial"/>
                <a:cs typeface="Arial"/>
                <a:sym typeface="Arial"/>
              </a:rPr>
              <a:t>Define the steps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32"/>
          <p:cNvSpPr/>
          <p:nvPr/>
        </p:nvSpPr>
        <p:spPr>
          <a:xfrm>
            <a:off x="5001840" y="2651760"/>
            <a:ext cx="4111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 u="none" strike="noStrike">
                <a:solidFill>
                  <a:srgbClr val="5C6C7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32"/>
          <p:cNvSpPr/>
          <p:nvPr/>
        </p:nvSpPr>
        <p:spPr>
          <a:xfrm>
            <a:off x="5294520" y="1920240"/>
            <a:ext cx="1965600" cy="1965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E75B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32"/>
          <p:cNvSpPr/>
          <p:nvPr/>
        </p:nvSpPr>
        <p:spPr>
          <a:xfrm>
            <a:off x="5998320" y="2121480"/>
            <a:ext cx="566640" cy="566640"/>
          </a:xfrm>
          <a:prstGeom prst="ellipse">
            <a:avLst/>
          </a:prstGeom>
          <a:solidFill>
            <a:srgbClr val="2E75B5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32"/>
          <p:cNvSpPr/>
          <p:nvPr/>
        </p:nvSpPr>
        <p:spPr>
          <a:xfrm>
            <a:off x="6089760" y="2221920"/>
            <a:ext cx="3837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32"/>
          <p:cNvSpPr/>
          <p:nvPr/>
        </p:nvSpPr>
        <p:spPr>
          <a:xfrm>
            <a:off x="5477400" y="2788920"/>
            <a:ext cx="15998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6375C"/>
                </a:solidFill>
                <a:latin typeface="Arial"/>
                <a:ea typeface="Arial"/>
                <a:cs typeface="Arial"/>
                <a:sym typeface="Arial"/>
              </a:rPr>
              <a:t>Python Code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32"/>
          <p:cNvSpPr/>
          <p:nvPr/>
        </p:nvSpPr>
        <p:spPr>
          <a:xfrm>
            <a:off x="5477400" y="3163680"/>
            <a:ext cx="15998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C6C7D"/>
                </a:solidFill>
                <a:latin typeface="Arial"/>
                <a:ea typeface="Arial"/>
                <a:cs typeface="Arial"/>
                <a:sym typeface="Arial"/>
              </a:rPr>
              <a:t>Implement the solution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32"/>
          <p:cNvSpPr/>
          <p:nvPr/>
        </p:nvSpPr>
        <p:spPr>
          <a:xfrm>
            <a:off x="7306200" y="2651760"/>
            <a:ext cx="4111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 u="none" strike="noStrike">
                <a:solidFill>
                  <a:srgbClr val="5C6C7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32"/>
          <p:cNvSpPr/>
          <p:nvPr/>
        </p:nvSpPr>
        <p:spPr>
          <a:xfrm>
            <a:off x="7598520" y="1920240"/>
            <a:ext cx="1965600" cy="1965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704EA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32"/>
          <p:cNvSpPr/>
          <p:nvPr/>
        </p:nvSpPr>
        <p:spPr>
          <a:xfrm>
            <a:off x="8302680" y="2121480"/>
            <a:ext cx="566640" cy="566640"/>
          </a:xfrm>
          <a:prstGeom prst="ellipse">
            <a:avLst/>
          </a:prstGeom>
          <a:solidFill>
            <a:srgbClr val="704EA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32"/>
          <p:cNvSpPr/>
          <p:nvPr/>
        </p:nvSpPr>
        <p:spPr>
          <a:xfrm>
            <a:off x="8394120" y="2221920"/>
            <a:ext cx="3837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32"/>
          <p:cNvSpPr/>
          <p:nvPr/>
        </p:nvSpPr>
        <p:spPr>
          <a:xfrm>
            <a:off x="7781400" y="2788920"/>
            <a:ext cx="15998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6375C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32"/>
          <p:cNvSpPr/>
          <p:nvPr/>
        </p:nvSpPr>
        <p:spPr>
          <a:xfrm>
            <a:off x="7781400" y="3163680"/>
            <a:ext cx="15998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C6C7D"/>
                </a:solidFill>
                <a:latin typeface="Arial"/>
                <a:ea typeface="Arial"/>
                <a:cs typeface="Arial"/>
                <a:sym typeface="Arial"/>
              </a:rPr>
              <a:t>Check correctness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32"/>
          <p:cNvSpPr/>
          <p:nvPr/>
        </p:nvSpPr>
        <p:spPr>
          <a:xfrm>
            <a:off x="9610200" y="2651760"/>
            <a:ext cx="4111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 u="none" strike="noStrike">
                <a:solidFill>
                  <a:srgbClr val="5C6C7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32"/>
          <p:cNvSpPr/>
          <p:nvPr/>
        </p:nvSpPr>
        <p:spPr>
          <a:xfrm>
            <a:off x="9902880" y="1920240"/>
            <a:ext cx="1965600" cy="1965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F99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32"/>
          <p:cNvSpPr/>
          <p:nvPr/>
        </p:nvSpPr>
        <p:spPr>
          <a:xfrm>
            <a:off x="10607040" y="2121480"/>
            <a:ext cx="566640" cy="566640"/>
          </a:xfrm>
          <a:prstGeom prst="ellipse">
            <a:avLst/>
          </a:prstGeom>
          <a:solidFill>
            <a:srgbClr val="1F998F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32"/>
          <p:cNvSpPr/>
          <p:nvPr/>
        </p:nvSpPr>
        <p:spPr>
          <a:xfrm>
            <a:off x="10698480" y="2221920"/>
            <a:ext cx="3837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32"/>
          <p:cNvSpPr/>
          <p:nvPr/>
        </p:nvSpPr>
        <p:spPr>
          <a:xfrm>
            <a:off x="10085760" y="2788920"/>
            <a:ext cx="15998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6375C"/>
                </a:solidFill>
                <a:latin typeface="Arial"/>
                <a:ea typeface="Arial"/>
                <a:cs typeface="Arial"/>
                <a:sym typeface="Arial"/>
              </a:rPr>
              <a:t>Improve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32"/>
          <p:cNvSpPr/>
          <p:nvPr/>
        </p:nvSpPr>
        <p:spPr>
          <a:xfrm>
            <a:off x="10085760" y="3163680"/>
            <a:ext cx="15998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5C6C7D"/>
                </a:solidFill>
                <a:latin typeface="Arial"/>
                <a:ea typeface="Arial"/>
                <a:cs typeface="Arial"/>
                <a:sym typeface="Arial"/>
              </a:rPr>
              <a:t>Learn and iterate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32"/>
          <p:cNvSpPr/>
          <p:nvPr/>
        </p:nvSpPr>
        <p:spPr>
          <a:xfrm>
            <a:off x="1828800" y="4709160"/>
            <a:ext cx="8549280" cy="804240"/>
          </a:xfrm>
          <a:prstGeom prst="roundRect">
            <a:avLst>
              <a:gd fmla="val 16667" name="adj"/>
            </a:avLst>
          </a:prstGeom>
          <a:solidFill>
            <a:srgbClr val="EAF3FC"/>
          </a:solidFill>
          <a:ln cap="flat" cmpd="sng" w="9525">
            <a:solidFill>
              <a:srgbClr val="DAE1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32"/>
          <p:cNvSpPr/>
          <p:nvPr/>
        </p:nvSpPr>
        <p:spPr>
          <a:xfrm>
            <a:off x="2084760" y="4928760"/>
            <a:ext cx="6854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6375C"/>
                </a:solidFill>
                <a:latin typeface="Arial"/>
                <a:ea typeface="Arial"/>
                <a:cs typeface="Arial"/>
                <a:sym typeface="Arial"/>
              </a:rPr>
              <a:t>Agile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32"/>
          <p:cNvSpPr/>
          <p:nvPr/>
        </p:nvSpPr>
        <p:spPr>
          <a:xfrm>
            <a:off x="2743200" y="4892040"/>
            <a:ext cx="20113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232D3A"/>
                </a:solidFill>
                <a:latin typeface="Arial"/>
                <a:ea typeface="Arial"/>
                <a:cs typeface="Arial"/>
                <a:sym typeface="Arial"/>
              </a:rPr>
              <a:t>repeat in small increments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32"/>
          <p:cNvSpPr/>
          <p:nvPr/>
        </p:nvSpPr>
        <p:spPr>
          <a:xfrm>
            <a:off x="4983480" y="4928760"/>
            <a:ext cx="3837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704EAA"/>
                </a:solidFill>
                <a:latin typeface="Arial"/>
                <a:ea typeface="Arial"/>
                <a:cs typeface="Arial"/>
                <a:sym typeface="Arial"/>
              </a:rPr>
              <a:t>CI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32"/>
          <p:cNvSpPr/>
          <p:nvPr/>
        </p:nvSpPr>
        <p:spPr>
          <a:xfrm>
            <a:off x="5358240" y="4892040"/>
            <a:ext cx="18284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232D3A"/>
                </a:solidFill>
                <a:latin typeface="Arial"/>
                <a:ea typeface="Arial"/>
                <a:cs typeface="Arial"/>
                <a:sym typeface="Arial"/>
              </a:rPr>
              <a:t>automate build &amp; tests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32"/>
          <p:cNvSpPr/>
          <p:nvPr/>
        </p:nvSpPr>
        <p:spPr>
          <a:xfrm>
            <a:off x="7452360" y="4928760"/>
            <a:ext cx="4568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1F998F"/>
                </a:solidFill>
                <a:latin typeface="Arial"/>
                <a:ea typeface="Arial"/>
                <a:cs typeface="Arial"/>
                <a:sym typeface="Arial"/>
              </a:rPr>
              <a:t>CD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32"/>
          <p:cNvSpPr/>
          <p:nvPr/>
        </p:nvSpPr>
        <p:spPr>
          <a:xfrm>
            <a:off x="7882200" y="4892040"/>
            <a:ext cx="210276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232D3A"/>
                </a:solidFill>
                <a:latin typeface="Arial"/>
                <a:ea typeface="Arial"/>
                <a:cs typeface="Arial"/>
                <a:sym typeface="Arial"/>
              </a:rPr>
              <a:t>automate delivery/deployment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32"/>
          <p:cNvSpPr/>
          <p:nvPr/>
        </p:nvSpPr>
        <p:spPr>
          <a:xfrm>
            <a:off x="1828800" y="5806440"/>
            <a:ext cx="854928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16375C"/>
                </a:solidFill>
                <a:latin typeface="Arial"/>
                <a:ea typeface="Arial"/>
                <a:cs typeface="Arial"/>
                <a:sym typeface="Arial"/>
              </a:rPr>
              <a:t>software development is a continuous learning cycle, not a one-time sequence.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33"/>
          <p:cNvSpPr/>
          <p:nvPr/>
        </p:nvSpPr>
        <p:spPr>
          <a:xfrm>
            <a:off x="594360" y="320040"/>
            <a:ext cx="6857640" cy="411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u="none" strike="noStrike">
                <a:solidFill>
                  <a:srgbClr val="16375C"/>
                </a:solidFill>
                <a:latin typeface="Arial"/>
                <a:ea typeface="Arial"/>
                <a:cs typeface="Arial"/>
                <a:sym typeface="Arial"/>
              </a:rPr>
              <a:t>Application Development Cycle</a:t>
            </a:r>
            <a:endParaRPr b="0" sz="2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33"/>
          <p:cNvSpPr/>
          <p:nvPr/>
        </p:nvSpPr>
        <p:spPr>
          <a:xfrm>
            <a:off x="612720" y="749880"/>
            <a:ext cx="530316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rgbClr val="5C6C7D"/>
                </a:solidFill>
                <a:latin typeface="Arial"/>
                <a:ea typeface="Arial"/>
                <a:cs typeface="Arial"/>
                <a:sym typeface="Arial"/>
              </a:rPr>
              <a:t>Agile development with CI/CD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33"/>
          <p:cNvSpPr/>
          <p:nvPr/>
        </p:nvSpPr>
        <p:spPr>
          <a:xfrm>
            <a:off x="5906525" y="438849"/>
            <a:ext cx="56604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2E75B5"/>
                </a:solidFill>
                <a:latin typeface="Arial"/>
                <a:ea typeface="Arial"/>
                <a:cs typeface="Arial"/>
                <a:sym typeface="Arial"/>
              </a:rPr>
              <a:t>Build small → test early → deliver often → learn continuously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33"/>
          <p:cNvSpPr/>
          <p:nvPr/>
        </p:nvSpPr>
        <p:spPr>
          <a:xfrm>
            <a:off x="4765320" y="3102840"/>
            <a:ext cx="2742840" cy="1234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6375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33"/>
          <p:cNvSpPr/>
          <p:nvPr/>
        </p:nvSpPr>
        <p:spPr>
          <a:xfrm>
            <a:off x="4855320" y="3378600"/>
            <a:ext cx="23313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none" strike="noStrike">
                <a:solidFill>
                  <a:srgbClr val="16375C"/>
                </a:solidFill>
                <a:latin typeface="Arial"/>
                <a:ea typeface="Arial"/>
                <a:cs typeface="Arial"/>
                <a:sym typeface="Arial"/>
              </a:rPr>
              <a:t>AGILE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33"/>
          <p:cNvSpPr/>
          <p:nvPr/>
        </p:nvSpPr>
        <p:spPr>
          <a:xfrm>
            <a:off x="5008680" y="3716280"/>
            <a:ext cx="239544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5C6C7D"/>
                </a:solidFill>
                <a:latin typeface="Arial"/>
                <a:ea typeface="Arial"/>
                <a:cs typeface="Arial"/>
                <a:sym typeface="Arial"/>
              </a:rPr>
              <a:t>Iterate • Collaborate • Deliver Value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33"/>
          <p:cNvSpPr/>
          <p:nvPr/>
        </p:nvSpPr>
        <p:spPr>
          <a:xfrm>
            <a:off x="5614560" y="1316520"/>
            <a:ext cx="1572480" cy="1572480"/>
          </a:xfrm>
          <a:prstGeom prst="ellipse">
            <a:avLst/>
          </a:prstGeom>
          <a:solidFill>
            <a:srgbClr val="ED7D31"/>
          </a:solidFill>
          <a:ln cap="flat" cmpd="sng" w="254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33"/>
          <p:cNvSpPr/>
          <p:nvPr/>
        </p:nvSpPr>
        <p:spPr>
          <a:xfrm>
            <a:off x="5724000" y="1407960"/>
            <a:ext cx="29232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33"/>
          <p:cNvSpPr/>
          <p:nvPr/>
        </p:nvSpPr>
        <p:spPr>
          <a:xfrm>
            <a:off x="5751720" y="1874520"/>
            <a:ext cx="129816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 &amp; Analyze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33"/>
          <p:cNvSpPr/>
          <p:nvPr/>
        </p:nvSpPr>
        <p:spPr>
          <a:xfrm>
            <a:off x="5779080" y="2267640"/>
            <a:ext cx="124308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 • requirements</a:t>
            </a:r>
            <a:endParaRPr b="0" sz="8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33"/>
          <p:cNvSpPr/>
          <p:nvPr/>
        </p:nvSpPr>
        <p:spPr>
          <a:xfrm>
            <a:off x="7562160" y="2230920"/>
            <a:ext cx="1572480" cy="1572480"/>
          </a:xfrm>
          <a:prstGeom prst="ellipse">
            <a:avLst/>
          </a:prstGeom>
          <a:solidFill>
            <a:srgbClr val="4D9A4C"/>
          </a:solidFill>
          <a:ln cap="flat" cmpd="sng" w="254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33"/>
          <p:cNvSpPr/>
          <p:nvPr/>
        </p:nvSpPr>
        <p:spPr>
          <a:xfrm>
            <a:off x="7671960" y="2322360"/>
            <a:ext cx="29232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33"/>
          <p:cNvSpPr/>
          <p:nvPr/>
        </p:nvSpPr>
        <p:spPr>
          <a:xfrm>
            <a:off x="7699320" y="2788920"/>
            <a:ext cx="129816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33"/>
          <p:cNvSpPr/>
          <p:nvPr/>
        </p:nvSpPr>
        <p:spPr>
          <a:xfrm>
            <a:off x="7726680" y="3182040"/>
            <a:ext cx="124308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 • algorithms</a:t>
            </a:r>
            <a:endParaRPr b="0" sz="8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33"/>
          <p:cNvSpPr/>
          <p:nvPr/>
        </p:nvSpPr>
        <p:spPr>
          <a:xfrm>
            <a:off x="7169040" y="4334040"/>
            <a:ext cx="1572480" cy="1572480"/>
          </a:xfrm>
          <a:prstGeom prst="ellipse">
            <a:avLst/>
          </a:prstGeom>
          <a:solidFill>
            <a:srgbClr val="2E75B5"/>
          </a:solidFill>
          <a:ln cap="flat" cmpd="sng" w="254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33"/>
          <p:cNvSpPr/>
          <p:nvPr/>
        </p:nvSpPr>
        <p:spPr>
          <a:xfrm>
            <a:off x="7278480" y="4425480"/>
            <a:ext cx="29232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33"/>
          <p:cNvSpPr/>
          <p:nvPr/>
        </p:nvSpPr>
        <p:spPr>
          <a:xfrm>
            <a:off x="7306200" y="4892040"/>
            <a:ext cx="129816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33"/>
          <p:cNvSpPr/>
          <p:nvPr/>
        </p:nvSpPr>
        <p:spPr>
          <a:xfrm>
            <a:off x="7333560" y="5285160"/>
            <a:ext cx="124308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Code • version control</a:t>
            </a:r>
            <a:endParaRPr b="0" sz="8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33"/>
          <p:cNvSpPr/>
          <p:nvPr/>
        </p:nvSpPr>
        <p:spPr>
          <a:xfrm>
            <a:off x="4498920" y="4635720"/>
            <a:ext cx="1572480" cy="1572480"/>
          </a:xfrm>
          <a:prstGeom prst="ellipse">
            <a:avLst/>
          </a:prstGeom>
          <a:solidFill>
            <a:srgbClr val="704EAA"/>
          </a:solidFill>
          <a:ln cap="flat" cmpd="sng" w="254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33"/>
          <p:cNvSpPr/>
          <p:nvPr/>
        </p:nvSpPr>
        <p:spPr>
          <a:xfrm>
            <a:off x="4608720" y="4727160"/>
            <a:ext cx="29232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33"/>
          <p:cNvSpPr/>
          <p:nvPr/>
        </p:nvSpPr>
        <p:spPr>
          <a:xfrm>
            <a:off x="4636080" y="5193720"/>
            <a:ext cx="129816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&amp; Test (CI)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33"/>
          <p:cNvSpPr/>
          <p:nvPr/>
        </p:nvSpPr>
        <p:spPr>
          <a:xfrm>
            <a:off x="4663440" y="5586840"/>
            <a:ext cx="124308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• tests • checks</a:t>
            </a:r>
            <a:endParaRPr b="0" sz="8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33"/>
          <p:cNvSpPr/>
          <p:nvPr/>
        </p:nvSpPr>
        <p:spPr>
          <a:xfrm>
            <a:off x="2834640" y="3328200"/>
            <a:ext cx="1572480" cy="1572480"/>
          </a:xfrm>
          <a:prstGeom prst="ellipse">
            <a:avLst/>
          </a:prstGeom>
          <a:solidFill>
            <a:srgbClr val="1F998F"/>
          </a:solidFill>
          <a:ln cap="flat" cmpd="sng" w="254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33"/>
          <p:cNvSpPr/>
          <p:nvPr/>
        </p:nvSpPr>
        <p:spPr>
          <a:xfrm>
            <a:off x="2944440" y="3419640"/>
            <a:ext cx="29232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33"/>
          <p:cNvSpPr/>
          <p:nvPr/>
        </p:nvSpPr>
        <p:spPr>
          <a:xfrm>
            <a:off x="2971800" y="3886200"/>
            <a:ext cx="129816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Release &amp; Deploy (CD)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33"/>
          <p:cNvSpPr/>
          <p:nvPr/>
        </p:nvSpPr>
        <p:spPr>
          <a:xfrm>
            <a:off x="2999160" y="4279320"/>
            <a:ext cx="124308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Package • deliver • deploy</a:t>
            </a:r>
            <a:endParaRPr b="0" sz="8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33"/>
          <p:cNvSpPr/>
          <p:nvPr/>
        </p:nvSpPr>
        <p:spPr>
          <a:xfrm>
            <a:off x="3355920" y="1435320"/>
            <a:ext cx="1572480" cy="1572480"/>
          </a:xfrm>
          <a:prstGeom prst="ellipse">
            <a:avLst/>
          </a:prstGeom>
          <a:solidFill>
            <a:srgbClr val="CD4A4C"/>
          </a:solidFill>
          <a:ln cap="flat" cmpd="sng" w="254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33"/>
          <p:cNvSpPr/>
          <p:nvPr/>
        </p:nvSpPr>
        <p:spPr>
          <a:xfrm>
            <a:off x="3465720" y="1526760"/>
            <a:ext cx="29232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33"/>
          <p:cNvSpPr/>
          <p:nvPr/>
        </p:nvSpPr>
        <p:spPr>
          <a:xfrm>
            <a:off x="3493080" y="1993320"/>
            <a:ext cx="129816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Monitor &amp; Improve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33"/>
          <p:cNvSpPr/>
          <p:nvPr/>
        </p:nvSpPr>
        <p:spPr>
          <a:xfrm>
            <a:off x="3520440" y="2386440"/>
            <a:ext cx="124308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Feedback • performance</a:t>
            </a:r>
            <a:endParaRPr b="0" sz="8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0" name="Google Shape;1110;p33"/>
          <p:cNvCxnSpPr/>
          <p:nvPr/>
        </p:nvCxnSpPr>
        <p:spPr>
          <a:xfrm>
            <a:off x="7162200" y="2460240"/>
            <a:ext cx="424800" cy="199800"/>
          </a:xfrm>
          <a:prstGeom prst="straightConnector1">
            <a:avLst/>
          </a:prstGeom>
          <a:noFill/>
          <a:ln cap="flat" cmpd="sng" w="27925">
            <a:solidFill>
              <a:srgbClr val="1637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1" name="Google Shape;1111;p33"/>
          <p:cNvCxnSpPr/>
          <p:nvPr/>
        </p:nvCxnSpPr>
        <p:spPr>
          <a:xfrm flipH="1">
            <a:off x="8109720" y="3844080"/>
            <a:ext cx="84240" cy="449640"/>
          </a:xfrm>
          <a:prstGeom prst="straightConnector1">
            <a:avLst/>
          </a:prstGeom>
          <a:noFill/>
          <a:ln cap="flat" cmpd="sng" w="27925">
            <a:solidFill>
              <a:srgbClr val="1637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2" name="Google Shape;1112;p33"/>
          <p:cNvCxnSpPr/>
          <p:nvPr/>
        </p:nvCxnSpPr>
        <p:spPr>
          <a:xfrm flipH="1">
            <a:off x="6121080" y="5214600"/>
            <a:ext cx="998280" cy="113400"/>
          </a:xfrm>
          <a:prstGeom prst="straightConnector1">
            <a:avLst/>
          </a:prstGeom>
          <a:noFill/>
          <a:ln cap="flat" cmpd="sng" w="27925">
            <a:solidFill>
              <a:srgbClr val="1637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3" name="Google Shape;1113;p33"/>
          <p:cNvCxnSpPr/>
          <p:nvPr/>
        </p:nvCxnSpPr>
        <p:spPr>
          <a:xfrm rot="10800000">
            <a:off x="4282200" y="4634280"/>
            <a:ext cx="341640" cy="268200"/>
          </a:xfrm>
          <a:prstGeom prst="straightConnector1">
            <a:avLst/>
          </a:prstGeom>
          <a:noFill/>
          <a:ln cap="flat" cmpd="sng" w="27925">
            <a:solidFill>
              <a:srgbClr val="1637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4" name="Google Shape;1114;p33"/>
          <p:cNvCxnSpPr/>
          <p:nvPr/>
        </p:nvCxnSpPr>
        <p:spPr>
          <a:xfrm flipH="1" rot="10800000">
            <a:off x="3844080" y="3032640"/>
            <a:ext cx="74880" cy="271080"/>
          </a:xfrm>
          <a:prstGeom prst="straightConnector1">
            <a:avLst/>
          </a:prstGeom>
          <a:noFill/>
          <a:ln cap="flat" cmpd="sng" w="27925">
            <a:solidFill>
              <a:srgbClr val="1637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5" name="Google Shape;1115;p33"/>
          <p:cNvCxnSpPr/>
          <p:nvPr/>
        </p:nvCxnSpPr>
        <p:spPr>
          <a:xfrm flipH="1" rot="10800000">
            <a:off x="4982040" y="2147040"/>
            <a:ext cx="578880" cy="30600"/>
          </a:xfrm>
          <a:prstGeom prst="straightConnector1">
            <a:avLst/>
          </a:prstGeom>
          <a:noFill/>
          <a:ln cap="flat" cmpd="sng" w="27925">
            <a:solidFill>
              <a:srgbClr val="1637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6" name="Google Shape;1116;p33"/>
          <p:cNvSpPr/>
          <p:nvPr/>
        </p:nvSpPr>
        <p:spPr>
          <a:xfrm>
            <a:off x="621720" y="6355080"/>
            <a:ext cx="365724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5C6C7D"/>
                </a:solidFill>
                <a:latin typeface="Arial"/>
                <a:ea typeface="Arial"/>
                <a:cs typeface="Arial"/>
                <a:sym typeface="Arial"/>
              </a:rPr>
              <a:t>Algorithms &amp; Data Structures in Python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33"/>
          <p:cNvSpPr/>
          <p:nvPr/>
        </p:nvSpPr>
        <p:spPr>
          <a:xfrm>
            <a:off x="7315200" y="6318360"/>
            <a:ext cx="4251600" cy="23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16375C"/>
                </a:solidFill>
                <a:latin typeface="Arial"/>
                <a:ea typeface="Arial"/>
                <a:cs typeface="Arial"/>
                <a:sym typeface="Arial"/>
              </a:rPr>
              <a:t>Problem → Algorithm → Code → Test → Improve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34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24" name="Google Shape;112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307" y="389063"/>
            <a:ext cx="10936842" cy="6408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35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35"/>
          <p:cNvSpPr txBox="1"/>
          <p:nvPr>
            <p:ph idx="1" type="body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2" name="Google Shape;113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80" y="0"/>
            <a:ext cx="1212464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36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36"/>
          <p:cNvSpPr txBox="1"/>
          <p:nvPr>
            <p:ph idx="1" type="body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0" name="Google Shape;114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25"/>
            <a:ext cx="12192000" cy="676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37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37"/>
          <p:cNvSpPr txBox="1"/>
          <p:nvPr>
            <p:ph idx="1" type="body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8" name="Google Shape;114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07" y="0"/>
            <a:ext cx="1202498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38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38"/>
          <p:cNvSpPr txBox="1"/>
          <p:nvPr>
            <p:ph idx="1" type="body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39"/>
          <p:cNvSpPr txBox="1"/>
          <p:nvPr>
            <p:ph type="title"/>
          </p:nvPr>
        </p:nvSpPr>
        <p:spPr>
          <a:xfrm>
            <a:off x="513360" y="2662200"/>
            <a:ext cx="10493280" cy="76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Programming Language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40"/>
          <p:cNvSpPr txBox="1"/>
          <p:nvPr>
            <p:ph type="title"/>
          </p:nvPr>
        </p:nvSpPr>
        <p:spPr>
          <a:xfrm>
            <a:off x="818280" y="188280"/>
            <a:ext cx="10493280" cy="76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Execution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6" name="Google Shape;1166;p40"/>
          <p:cNvSpPr/>
          <p:nvPr/>
        </p:nvSpPr>
        <p:spPr>
          <a:xfrm>
            <a:off x="4901760" y="1349280"/>
            <a:ext cx="2127960" cy="766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Code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40"/>
          <p:cNvSpPr/>
          <p:nvPr/>
        </p:nvSpPr>
        <p:spPr>
          <a:xfrm>
            <a:off x="4925880" y="2713320"/>
            <a:ext cx="212796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Byte-Code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40"/>
          <p:cNvSpPr/>
          <p:nvPr/>
        </p:nvSpPr>
        <p:spPr>
          <a:xfrm>
            <a:off x="6750360" y="5597640"/>
            <a:ext cx="212796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MACOS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40"/>
          <p:cNvSpPr/>
          <p:nvPr/>
        </p:nvSpPr>
        <p:spPr>
          <a:xfrm>
            <a:off x="3633840" y="5597640"/>
            <a:ext cx="212796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Windows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40"/>
          <p:cNvSpPr/>
          <p:nvPr/>
        </p:nvSpPr>
        <p:spPr>
          <a:xfrm>
            <a:off x="818280" y="5585040"/>
            <a:ext cx="212796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Linux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40"/>
          <p:cNvSpPr/>
          <p:nvPr/>
        </p:nvSpPr>
        <p:spPr>
          <a:xfrm>
            <a:off x="9536400" y="5582880"/>
            <a:ext cx="212796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Android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2" name="Google Shape;1172;p40"/>
          <p:cNvCxnSpPr>
            <a:stCxn id="1167" idx="2"/>
            <a:endCxn id="1171" idx="0"/>
          </p:cNvCxnSpPr>
          <p:nvPr/>
        </p:nvCxnSpPr>
        <p:spPr>
          <a:xfrm flipH="1" rot="-5400000">
            <a:off x="7146660" y="2129280"/>
            <a:ext cx="2296800" cy="46104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73" name="Google Shape;1173;p40"/>
          <p:cNvCxnSpPr>
            <a:stCxn id="1167" idx="2"/>
            <a:endCxn id="1168" idx="0"/>
          </p:cNvCxnSpPr>
          <p:nvPr/>
        </p:nvCxnSpPr>
        <p:spPr>
          <a:xfrm flipH="1" rot="-5400000">
            <a:off x="5746410" y="3529530"/>
            <a:ext cx="2311500" cy="1824600"/>
          </a:xfrm>
          <a:prstGeom prst="curvedConnector3">
            <a:avLst>
              <a:gd fmla="val 50008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74" name="Google Shape;1174;p40"/>
          <p:cNvCxnSpPr>
            <a:stCxn id="1167" idx="2"/>
            <a:endCxn id="1170" idx="0"/>
          </p:cNvCxnSpPr>
          <p:nvPr/>
        </p:nvCxnSpPr>
        <p:spPr>
          <a:xfrm rot="5400000">
            <a:off x="2786610" y="2381730"/>
            <a:ext cx="2298900" cy="4107600"/>
          </a:xfrm>
          <a:prstGeom prst="curvedConnector3">
            <a:avLst>
              <a:gd fmla="val 50009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75" name="Google Shape;1175;p40"/>
          <p:cNvCxnSpPr>
            <a:stCxn id="1167" idx="2"/>
            <a:endCxn id="1169" idx="0"/>
          </p:cNvCxnSpPr>
          <p:nvPr/>
        </p:nvCxnSpPr>
        <p:spPr>
          <a:xfrm rot="5400000">
            <a:off x="4188060" y="3795780"/>
            <a:ext cx="2311500" cy="1292100"/>
          </a:xfrm>
          <a:prstGeom prst="curvedConnector3">
            <a:avLst>
              <a:gd fmla="val 50016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76" name="Google Shape;1176;p40"/>
          <p:cNvCxnSpPr>
            <a:stCxn id="1166" idx="2"/>
            <a:endCxn id="1167" idx="0"/>
          </p:cNvCxnSpPr>
          <p:nvPr/>
        </p:nvCxnSpPr>
        <p:spPr>
          <a:xfrm flipH="1" rot="-5400000">
            <a:off x="5678790" y="2402310"/>
            <a:ext cx="597900" cy="24000"/>
          </a:xfrm>
          <a:prstGeom prst="curvedConnector3">
            <a:avLst>
              <a:gd fmla="val 50005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77" name="Google Shape;1177;p40"/>
          <p:cNvSpPr/>
          <p:nvPr/>
        </p:nvSpPr>
        <p:spPr>
          <a:xfrm>
            <a:off x="4099680" y="3826440"/>
            <a:ext cx="3991680" cy="402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Virtual Machine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8" name="Google Shape;117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66640" y="6032520"/>
            <a:ext cx="608760" cy="608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41"/>
          <p:cNvSpPr txBox="1"/>
          <p:nvPr>
            <p:ph type="title"/>
          </p:nvPr>
        </p:nvSpPr>
        <p:spPr>
          <a:xfrm>
            <a:off x="818280" y="188280"/>
            <a:ext cx="10493280" cy="76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Jython Execution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4" name="Google Shape;1184;p41"/>
          <p:cNvSpPr/>
          <p:nvPr/>
        </p:nvSpPr>
        <p:spPr>
          <a:xfrm>
            <a:off x="4901760" y="1349280"/>
            <a:ext cx="2127960" cy="766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Code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41"/>
          <p:cNvSpPr/>
          <p:nvPr/>
        </p:nvSpPr>
        <p:spPr>
          <a:xfrm>
            <a:off x="4925880" y="2713320"/>
            <a:ext cx="212796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 Byte-Code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41"/>
          <p:cNvSpPr/>
          <p:nvPr/>
        </p:nvSpPr>
        <p:spPr>
          <a:xfrm>
            <a:off x="6750360" y="5597640"/>
            <a:ext cx="212796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MACOS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41"/>
          <p:cNvSpPr/>
          <p:nvPr/>
        </p:nvSpPr>
        <p:spPr>
          <a:xfrm>
            <a:off x="3633840" y="5597640"/>
            <a:ext cx="212796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Windows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41"/>
          <p:cNvSpPr/>
          <p:nvPr/>
        </p:nvSpPr>
        <p:spPr>
          <a:xfrm>
            <a:off x="818280" y="5585040"/>
            <a:ext cx="212796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Linux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41"/>
          <p:cNvSpPr/>
          <p:nvPr/>
        </p:nvSpPr>
        <p:spPr>
          <a:xfrm>
            <a:off x="9536400" y="5582880"/>
            <a:ext cx="212796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Android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0" name="Google Shape;1190;p41"/>
          <p:cNvCxnSpPr>
            <a:stCxn id="1185" idx="2"/>
            <a:endCxn id="1189" idx="0"/>
          </p:cNvCxnSpPr>
          <p:nvPr/>
        </p:nvCxnSpPr>
        <p:spPr>
          <a:xfrm flipH="1" rot="-5400000">
            <a:off x="7146660" y="2129280"/>
            <a:ext cx="2296800" cy="46104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91" name="Google Shape;1191;p41"/>
          <p:cNvCxnSpPr>
            <a:stCxn id="1185" idx="2"/>
            <a:endCxn id="1186" idx="0"/>
          </p:cNvCxnSpPr>
          <p:nvPr/>
        </p:nvCxnSpPr>
        <p:spPr>
          <a:xfrm flipH="1" rot="-5400000">
            <a:off x="5746410" y="3529530"/>
            <a:ext cx="2311500" cy="1824600"/>
          </a:xfrm>
          <a:prstGeom prst="curvedConnector3">
            <a:avLst>
              <a:gd fmla="val 50008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92" name="Google Shape;1192;p41"/>
          <p:cNvCxnSpPr>
            <a:stCxn id="1185" idx="2"/>
            <a:endCxn id="1188" idx="0"/>
          </p:cNvCxnSpPr>
          <p:nvPr/>
        </p:nvCxnSpPr>
        <p:spPr>
          <a:xfrm rot="5400000">
            <a:off x="2786610" y="2381730"/>
            <a:ext cx="2298900" cy="4107600"/>
          </a:xfrm>
          <a:prstGeom prst="curvedConnector3">
            <a:avLst>
              <a:gd fmla="val 50009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93" name="Google Shape;1193;p41"/>
          <p:cNvCxnSpPr>
            <a:stCxn id="1185" idx="2"/>
            <a:endCxn id="1187" idx="0"/>
          </p:cNvCxnSpPr>
          <p:nvPr/>
        </p:nvCxnSpPr>
        <p:spPr>
          <a:xfrm rot="5400000">
            <a:off x="4188060" y="3795780"/>
            <a:ext cx="2311500" cy="1292100"/>
          </a:xfrm>
          <a:prstGeom prst="curvedConnector3">
            <a:avLst>
              <a:gd fmla="val 50016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94" name="Google Shape;1194;p41"/>
          <p:cNvCxnSpPr>
            <a:stCxn id="1184" idx="2"/>
            <a:endCxn id="1185" idx="0"/>
          </p:cNvCxnSpPr>
          <p:nvPr/>
        </p:nvCxnSpPr>
        <p:spPr>
          <a:xfrm flipH="1" rot="-5400000">
            <a:off x="5678790" y="2402310"/>
            <a:ext cx="597900" cy="24000"/>
          </a:xfrm>
          <a:prstGeom prst="curvedConnector3">
            <a:avLst>
              <a:gd fmla="val 50005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95" name="Google Shape;1195;p41"/>
          <p:cNvSpPr/>
          <p:nvPr/>
        </p:nvSpPr>
        <p:spPr>
          <a:xfrm>
            <a:off x="4099680" y="3826440"/>
            <a:ext cx="3991680" cy="402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 Virtual Machine </a:t>
            </a:r>
            <a:r>
              <a:rPr b="0" lang="en-US" sz="1800" u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JVM</a:t>
            </a: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6" name="Google Shape;119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66640" y="6032520"/>
            <a:ext cx="608760" cy="608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1" name="Google Shape;1201;p42"/>
          <p:cNvPicPr preferRelativeResize="0"/>
          <p:nvPr/>
        </p:nvPicPr>
        <p:blipFill rotWithShape="1">
          <a:blip r:embed="rId3">
            <a:alphaModFix/>
          </a:blip>
          <a:srcRect b="14593" l="0" r="7701" t="14309"/>
          <a:stretch/>
        </p:blipFill>
        <p:spPr>
          <a:xfrm>
            <a:off x="461880" y="803520"/>
            <a:ext cx="11205720" cy="5554800"/>
          </a:xfrm>
          <a:prstGeom prst="rect">
            <a:avLst/>
          </a:prstGeom>
          <a:noFill/>
          <a:ln>
            <a:noFill/>
          </a:ln>
          <a:effectLst>
            <a:outerShdw blurRad="291960" rotWithShape="0" algn="tl" dir="2700000" dist="138988">
              <a:srgbClr val="333333">
                <a:alpha val="65098"/>
              </a:srgbClr>
            </a:outerShdw>
          </a:effectLst>
        </p:spPr>
      </p:pic>
      <p:sp>
        <p:nvSpPr>
          <p:cNvPr id="1202" name="Google Shape;1202;p42"/>
          <p:cNvSpPr txBox="1"/>
          <p:nvPr>
            <p:ph type="title"/>
          </p:nvPr>
        </p:nvSpPr>
        <p:spPr>
          <a:xfrm>
            <a:off x="524160" y="116280"/>
            <a:ext cx="10493280" cy="76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43"/>
          <p:cNvSpPr txBox="1"/>
          <p:nvPr>
            <p:ph type="title"/>
          </p:nvPr>
        </p:nvSpPr>
        <p:spPr>
          <a:xfrm>
            <a:off x="879840" y="190440"/>
            <a:ext cx="10493280" cy="376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62500" lnSpcReduction="19999"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ct val="100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فلسفة البايثون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8" name="Google Shape;1208;p43"/>
          <p:cNvSpPr/>
          <p:nvPr/>
        </p:nvSpPr>
        <p:spPr>
          <a:xfrm>
            <a:off x="818280" y="679680"/>
            <a:ext cx="10554840" cy="5824800"/>
          </a:xfrm>
          <a:prstGeom prst="roundRect">
            <a:avLst>
              <a:gd fmla="val 8594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reflection blurRad="0" dir="5400000" dist="5000" endA="0" endPos="28000" kx="0" rotWithShape="0" algn="bl" stA="38000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44"/>
          <p:cNvSpPr txBox="1"/>
          <p:nvPr>
            <p:ph idx="1" type="body"/>
          </p:nvPr>
        </p:nvSpPr>
        <p:spPr>
          <a:xfrm>
            <a:off x="818280" y="1114560"/>
            <a:ext cx="10493400" cy="50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9525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Python continues to be one of the most widely used programming languages, 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particularly strong adoption in </a:t>
            </a:r>
            <a: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AI, data science, and back-end development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Easy to learn → Powerful ecosystem → Useful across many IT careers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🌐 </a:t>
            </a:r>
            <a: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 Development : 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Build websites, web services, APIs, and back-end systems.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🤖 </a:t>
            </a:r>
            <a: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&amp; Machine Learning: 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 intelligent systems, data models, computer vision, and automation.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📊 </a:t>
            </a:r>
            <a: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Science &amp; Analytics: 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Analyze data, create visualizations, and support data-driven decisions.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🌐 </a:t>
            </a:r>
            <a: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Networking &amp; Automation: 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 with network protocols, sockets, system administration, and automated tasks.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🔐 </a:t>
            </a:r>
            <a: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Cybersecurity: 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security tools, automate testing, analyze networks, and support penetration-testing workflows.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🖥️ </a:t>
            </a:r>
            <a: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Desktop &amp; Scientific Applications: 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Build desktop software, simulations, research tools, and engineering 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44"/>
          <p:cNvSpPr txBox="1"/>
          <p:nvPr>
            <p:ph type="title"/>
          </p:nvPr>
        </p:nvSpPr>
        <p:spPr>
          <a:xfrm>
            <a:off x="818280" y="188280"/>
            <a:ext cx="10493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lang="en-US"/>
              <a:t>Why Learn </a:t>
            </a: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‪Untitled17 - Jupyter Notebook - Google Chrome‬" id="1219" name="Google Shape;1219;p45"/>
          <p:cNvPicPr preferRelativeResize="0"/>
          <p:nvPr/>
        </p:nvPicPr>
        <p:blipFill rotWithShape="1">
          <a:blip r:embed="rId3">
            <a:alphaModFix/>
          </a:blip>
          <a:srcRect b="15980" l="4771" r="2687" t="43597"/>
          <a:stretch/>
        </p:blipFill>
        <p:spPr>
          <a:xfrm>
            <a:off x="268560" y="1498680"/>
            <a:ext cx="11922840" cy="4103280"/>
          </a:xfrm>
          <a:prstGeom prst="rect">
            <a:avLst/>
          </a:prstGeom>
          <a:noFill/>
          <a:ln>
            <a:noFill/>
          </a:ln>
        </p:spPr>
      </p:pic>
      <p:sp>
        <p:nvSpPr>
          <p:cNvPr id="1220" name="Google Shape;1220;p45"/>
          <p:cNvSpPr/>
          <p:nvPr/>
        </p:nvSpPr>
        <p:spPr>
          <a:xfrm>
            <a:off x="580680" y="1741680"/>
            <a:ext cx="7793280" cy="50724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45"/>
          <p:cNvSpPr/>
          <p:nvPr/>
        </p:nvSpPr>
        <p:spPr>
          <a:xfrm>
            <a:off x="580680" y="4608360"/>
            <a:ext cx="8853120" cy="50724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45"/>
          <p:cNvSpPr/>
          <p:nvPr/>
        </p:nvSpPr>
        <p:spPr>
          <a:xfrm>
            <a:off x="537120" y="2313360"/>
            <a:ext cx="10551240" cy="229428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45"/>
          <p:cNvSpPr/>
          <p:nvPr/>
        </p:nvSpPr>
        <p:spPr>
          <a:xfrm>
            <a:off x="1335240" y="3019320"/>
            <a:ext cx="9636840" cy="1236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4" name="Google Shape;1224;p45"/>
          <p:cNvCxnSpPr/>
          <p:nvPr/>
        </p:nvCxnSpPr>
        <p:spPr>
          <a:xfrm flipH="1">
            <a:off x="8374680" y="827280"/>
            <a:ext cx="1176120" cy="915120"/>
          </a:xfrm>
          <a:prstGeom prst="straightConnector1">
            <a:avLst/>
          </a:prstGeom>
          <a:noFill/>
          <a:ln cap="flat" cmpd="sng" w="38100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25" name="Google Shape;1225;p45"/>
          <p:cNvCxnSpPr/>
          <p:nvPr/>
        </p:nvCxnSpPr>
        <p:spPr>
          <a:xfrm flipH="1">
            <a:off x="9216360" y="1763280"/>
            <a:ext cx="922320" cy="533520"/>
          </a:xfrm>
          <a:prstGeom prst="straightConnector1">
            <a:avLst/>
          </a:prstGeom>
          <a:noFill/>
          <a:ln cap="flat" cmpd="sng" w="38100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26" name="Google Shape;1226;p45"/>
          <p:cNvCxnSpPr/>
          <p:nvPr/>
        </p:nvCxnSpPr>
        <p:spPr>
          <a:xfrm flipH="1">
            <a:off x="10043640" y="2482560"/>
            <a:ext cx="1234440" cy="559080"/>
          </a:xfrm>
          <a:prstGeom prst="straightConnector1">
            <a:avLst/>
          </a:prstGeom>
          <a:noFill/>
          <a:ln cap="flat" cmpd="sng" w="38100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27" name="Google Shape;1227;p45"/>
          <p:cNvSpPr/>
          <p:nvPr/>
        </p:nvSpPr>
        <p:spPr>
          <a:xfrm>
            <a:off x="9536040" y="433440"/>
            <a:ext cx="132012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Level1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45"/>
          <p:cNvSpPr/>
          <p:nvPr/>
        </p:nvSpPr>
        <p:spPr>
          <a:xfrm>
            <a:off x="10689840" y="1946520"/>
            <a:ext cx="1233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Level3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45"/>
          <p:cNvSpPr/>
          <p:nvPr/>
        </p:nvSpPr>
        <p:spPr>
          <a:xfrm>
            <a:off x="9768240" y="1244520"/>
            <a:ext cx="132012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Level2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0" name="Google Shape;1230;p45"/>
          <p:cNvCxnSpPr/>
          <p:nvPr/>
        </p:nvCxnSpPr>
        <p:spPr>
          <a:xfrm flipH="1">
            <a:off x="9477720" y="4794480"/>
            <a:ext cx="1495800" cy="181080"/>
          </a:xfrm>
          <a:prstGeom prst="straightConnector1">
            <a:avLst/>
          </a:prstGeom>
          <a:noFill/>
          <a:ln cap="flat" cmpd="sng" w="38100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31" name="Google Shape;1231;p45"/>
          <p:cNvSpPr/>
          <p:nvPr/>
        </p:nvSpPr>
        <p:spPr>
          <a:xfrm>
            <a:off x="10707840" y="4516200"/>
            <a:ext cx="132012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Level1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2" name="Google Shape;1232;p45"/>
          <p:cNvCxnSpPr/>
          <p:nvPr/>
        </p:nvCxnSpPr>
        <p:spPr>
          <a:xfrm>
            <a:off x="580320" y="2844720"/>
            <a:ext cx="871560" cy="72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33" name="Google Shape;1233;p45"/>
          <p:cNvCxnSpPr/>
          <p:nvPr/>
        </p:nvCxnSpPr>
        <p:spPr>
          <a:xfrm>
            <a:off x="580320" y="3243600"/>
            <a:ext cx="871560" cy="72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34" name="Google Shape;1234;p45"/>
          <p:cNvCxnSpPr/>
          <p:nvPr/>
        </p:nvCxnSpPr>
        <p:spPr>
          <a:xfrm>
            <a:off x="536760" y="4494240"/>
            <a:ext cx="871560" cy="72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35" name="Google Shape;1235;p45"/>
          <p:cNvCxnSpPr/>
          <p:nvPr/>
        </p:nvCxnSpPr>
        <p:spPr>
          <a:xfrm flipH="1" rot="10800000">
            <a:off x="1422360" y="4080240"/>
            <a:ext cx="842400" cy="15840"/>
          </a:xfrm>
          <a:prstGeom prst="straightConnector1">
            <a:avLst/>
          </a:prstGeom>
          <a:noFill/>
          <a:ln cap="flat" cmpd="sng" w="9525">
            <a:solidFill>
              <a:srgbClr val="ED7D3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36" name="Google Shape;1236;p45"/>
          <p:cNvCxnSpPr/>
          <p:nvPr/>
        </p:nvCxnSpPr>
        <p:spPr>
          <a:xfrm flipH="1" rot="10800000">
            <a:off x="1429560" y="3696120"/>
            <a:ext cx="871560" cy="12960"/>
          </a:xfrm>
          <a:prstGeom prst="straightConnector1">
            <a:avLst/>
          </a:prstGeom>
          <a:noFill/>
          <a:ln cap="flat" cmpd="sng" w="9525">
            <a:solidFill>
              <a:srgbClr val="ED7D3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37" name="Google Shape;1237;p45"/>
          <p:cNvSpPr txBox="1"/>
          <p:nvPr>
            <p:ph type="title"/>
          </p:nvPr>
        </p:nvSpPr>
        <p:spPr>
          <a:xfrm>
            <a:off x="818280" y="-19080"/>
            <a:ext cx="10493280" cy="54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9999"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ct val="100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ident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46"/>
          <p:cNvSpPr txBox="1"/>
          <p:nvPr>
            <p:ph type="title"/>
          </p:nvPr>
        </p:nvSpPr>
        <p:spPr>
          <a:xfrm>
            <a:off x="849240" y="2662200"/>
            <a:ext cx="10493280" cy="76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تنصيب البايثون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47"/>
          <p:cNvSpPr txBox="1"/>
          <p:nvPr>
            <p:ph type="title"/>
          </p:nvPr>
        </p:nvSpPr>
        <p:spPr>
          <a:xfrm>
            <a:off x="849240" y="0"/>
            <a:ext cx="10493280" cy="44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Install python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48" name="Google Shape;124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00240"/>
            <a:ext cx="11887201" cy="5949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48"/>
          <p:cNvSpPr txBox="1"/>
          <p:nvPr>
            <p:ph type="title"/>
          </p:nvPr>
        </p:nvSpPr>
        <p:spPr>
          <a:xfrm>
            <a:off x="849240" y="-101160"/>
            <a:ext cx="10493280" cy="76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Default Python IDE “IDLE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54" name="Google Shape;125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17320"/>
            <a:ext cx="11617725" cy="5888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49"/>
          <p:cNvSpPr txBox="1"/>
          <p:nvPr>
            <p:ph type="title"/>
          </p:nvPr>
        </p:nvSpPr>
        <p:spPr>
          <a:xfrm>
            <a:off x="818280" y="-43560"/>
            <a:ext cx="10493280" cy="76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Install Jupyter LAB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60" name="Google Shape;126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74920"/>
            <a:ext cx="11638630" cy="5830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50"/>
          <p:cNvSpPr txBox="1"/>
          <p:nvPr>
            <p:ph type="title"/>
          </p:nvPr>
        </p:nvSpPr>
        <p:spPr>
          <a:xfrm>
            <a:off x="818280" y="188280"/>
            <a:ext cx="10493280" cy="76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Data Structure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6" name="Google Shape;1266;p50"/>
          <p:cNvSpPr/>
          <p:nvPr/>
        </p:nvSpPr>
        <p:spPr>
          <a:xfrm>
            <a:off x="4916160" y="1281600"/>
            <a:ext cx="2127960" cy="766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50"/>
          <p:cNvSpPr/>
          <p:nvPr/>
        </p:nvSpPr>
        <p:spPr>
          <a:xfrm>
            <a:off x="8461080" y="2720880"/>
            <a:ext cx="274212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Data Types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50"/>
          <p:cNvSpPr/>
          <p:nvPr/>
        </p:nvSpPr>
        <p:spPr>
          <a:xfrm>
            <a:off x="6621480" y="5060160"/>
            <a:ext cx="274212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Defined Data Types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50"/>
          <p:cNvSpPr/>
          <p:nvPr/>
        </p:nvSpPr>
        <p:spPr>
          <a:xfrm>
            <a:off x="9887040" y="5060160"/>
            <a:ext cx="214668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Data Types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0" name="Google Shape;1270;p50"/>
          <p:cNvCxnSpPr>
            <a:stCxn id="1267" idx="2"/>
            <a:endCxn id="1269" idx="0"/>
          </p:cNvCxnSpPr>
          <p:nvPr/>
        </p:nvCxnSpPr>
        <p:spPr>
          <a:xfrm flipH="1" rot="-5400000">
            <a:off x="9513090" y="3612690"/>
            <a:ext cx="1766400" cy="1128300"/>
          </a:xfrm>
          <a:prstGeom prst="curvedConnector3">
            <a:avLst>
              <a:gd fmla="val 50033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1" name="Google Shape;1271;p50"/>
          <p:cNvCxnSpPr>
            <a:stCxn id="1267" idx="2"/>
            <a:endCxn id="1268" idx="0"/>
          </p:cNvCxnSpPr>
          <p:nvPr/>
        </p:nvCxnSpPr>
        <p:spPr>
          <a:xfrm rot="5400000">
            <a:off x="8029140" y="3257040"/>
            <a:ext cx="1766400" cy="1839600"/>
          </a:xfrm>
          <a:prstGeom prst="curvedConnector3">
            <a:avLst>
              <a:gd fmla="val 50013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72" name="Google Shape;1272;p50"/>
          <p:cNvSpPr/>
          <p:nvPr/>
        </p:nvSpPr>
        <p:spPr>
          <a:xfrm>
            <a:off x="4398840" y="2648880"/>
            <a:ext cx="212796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decision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50"/>
          <p:cNvSpPr/>
          <p:nvPr/>
        </p:nvSpPr>
        <p:spPr>
          <a:xfrm>
            <a:off x="2305080" y="5018400"/>
            <a:ext cx="1354680" cy="47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50"/>
          <p:cNvSpPr/>
          <p:nvPr/>
        </p:nvSpPr>
        <p:spPr>
          <a:xfrm>
            <a:off x="157680" y="4916160"/>
            <a:ext cx="135468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50"/>
          <p:cNvSpPr/>
          <p:nvPr/>
        </p:nvSpPr>
        <p:spPr>
          <a:xfrm>
            <a:off x="4559040" y="5002920"/>
            <a:ext cx="93996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	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6" name="Google Shape;1276;p50"/>
          <p:cNvCxnSpPr>
            <a:stCxn id="1272" idx="2"/>
            <a:endCxn id="1275" idx="0"/>
          </p:cNvCxnSpPr>
          <p:nvPr/>
        </p:nvCxnSpPr>
        <p:spPr>
          <a:xfrm rot="5400000">
            <a:off x="4355220" y="3895440"/>
            <a:ext cx="1781400" cy="433800"/>
          </a:xfrm>
          <a:prstGeom prst="curvedConnector3">
            <a:avLst>
              <a:gd fmla="val 50037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7" name="Google Shape;1277;p50"/>
          <p:cNvCxnSpPr>
            <a:stCxn id="1278" idx="2"/>
            <a:endCxn id="1274" idx="0"/>
          </p:cNvCxnSpPr>
          <p:nvPr/>
        </p:nvCxnSpPr>
        <p:spPr>
          <a:xfrm rot="5400000">
            <a:off x="637620" y="3347040"/>
            <a:ext cx="1766400" cy="1371600"/>
          </a:xfrm>
          <a:prstGeom prst="curvedConnector3">
            <a:avLst>
              <a:gd fmla="val 50033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9" name="Google Shape;1279;p50"/>
          <p:cNvCxnSpPr>
            <a:stCxn id="1278" idx="2"/>
            <a:endCxn id="1273" idx="0"/>
          </p:cNvCxnSpPr>
          <p:nvPr/>
        </p:nvCxnSpPr>
        <p:spPr>
          <a:xfrm flipH="1" rot="-5400000">
            <a:off x="1660170" y="3696090"/>
            <a:ext cx="1868700" cy="775800"/>
          </a:xfrm>
          <a:prstGeom prst="curvedConnector3">
            <a:avLst>
              <a:gd fmla="val 50020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80" name="Google Shape;1280;p50"/>
          <p:cNvCxnSpPr>
            <a:stCxn id="1266" idx="2"/>
            <a:endCxn id="1267" idx="0"/>
          </p:cNvCxnSpPr>
          <p:nvPr/>
        </p:nvCxnSpPr>
        <p:spPr>
          <a:xfrm flipH="1" rot="-5400000">
            <a:off x="7569540" y="458280"/>
            <a:ext cx="673200" cy="3852000"/>
          </a:xfrm>
          <a:prstGeom prst="curvedConnector3">
            <a:avLst>
              <a:gd fmla="val 50080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81" name="Google Shape;1281;p50"/>
          <p:cNvCxnSpPr>
            <a:stCxn id="1266" idx="2"/>
            <a:endCxn id="1272" idx="0"/>
          </p:cNvCxnSpPr>
          <p:nvPr/>
        </p:nvCxnSpPr>
        <p:spPr>
          <a:xfrm rot="5400000">
            <a:off x="5420940" y="2089680"/>
            <a:ext cx="601200" cy="517200"/>
          </a:xfrm>
          <a:prstGeom prst="curvedConnector3">
            <a:avLst>
              <a:gd fmla="val 50119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78" name="Google Shape;1278;p50"/>
          <p:cNvSpPr/>
          <p:nvPr/>
        </p:nvSpPr>
        <p:spPr>
          <a:xfrm>
            <a:off x="1142640" y="2576880"/>
            <a:ext cx="212796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Iterations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2" name="Google Shape;1282;p50"/>
          <p:cNvCxnSpPr>
            <a:stCxn id="1266" idx="2"/>
            <a:endCxn id="1278" idx="0"/>
          </p:cNvCxnSpPr>
          <p:nvPr/>
        </p:nvCxnSpPr>
        <p:spPr>
          <a:xfrm rot="5400000">
            <a:off x="3828840" y="425580"/>
            <a:ext cx="529200" cy="3773400"/>
          </a:xfrm>
          <a:prstGeom prst="curvedConnector3">
            <a:avLst>
              <a:gd fmla="val 50102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51"/>
          <p:cNvSpPr txBox="1"/>
          <p:nvPr>
            <p:ph type="title"/>
          </p:nvPr>
        </p:nvSpPr>
        <p:spPr>
          <a:xfrm>
            <a:off x="818280" y="188280"/>
            <a:ext cx="10493280" cy="76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Data Type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8" name="Google Shape;1288;p51"/>
          <p:cNvSpPr/>
          <p:nvPr/>
        </p:nvSpPr>
        <p:spPr>
          <a:xfrm>
            <a:off x="4916160" y="1281600"/>
            <a:ext cx="2127960" cy="766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51"/>
          <p:cNvSpPr/>
          <p:nvPr/>
        </p:nvSpPr>
        <p:spPr>
          <a:xfrm>
            <a:off x="7396560" y="2443320"/>
            <a:ext cx="4158360" cy="1353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Data Types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51"/>
          <p:cNvSpPr/>
          <p:nvPr/>
        </p:nvSpPr>
        <p:spPr>
          <a:xfrm>
            <a:off x="6398640" y="5060160"/>
            <a:ext cx="296496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Defined Data Types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51"/>
          <p:cNvSpPr/>
          <p:nvPr/>
        </p:nvSpPr>
        <p:spPr>
          <a:xfrm>
            <a:off x="9887040" y="5060160"/>
            <a:ext cx="214668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Data Types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2" name="Google Shape;1292;p51"/>
          <p:cNvCxnSpPr>
            <a:stCxn id="1289" idx="2"/>
            <a:endCxn id="1291" idx="0"/>
          </p:cNvCxnSpPr>
          <p:nvPr/>
        </p:nvCxnSpPr>
        <p:spPr>
          <a:xfrm flipH="1" rot="-5400000">
            <a:off x="9586290" y="3686010"/>
            <a:ext cx="1263600" cy="1484700"/>
          </a:xfrm>
          <a:prstGeom prst="curvedConnector3">
            <a:avLst>
              <a:gd fmla="val 50014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93" name="Google Shape;1293;p51"/>
          <p:cNvCxnSpPr>
            <a:stCxn id="1289" idx="2"/>
            <a:endCxn id="1290" idx="0"/>
          </p:cNvCxnSpPr>
          <p:nvPr/>
        </p:nvCxnSpPr>
        <p:spPr>
          <a:xfrm rot="5400000">
            <a:off x="8046690" y="3631110"/>
            <a:ext cx="1263600" cy="1594500"/>
          </a:xfrm>
          <a:prstGeom prst="curvedConnector3">
            <a:avLst>
              <a:gd fmla="val 50014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94" name="Google Shape;1294;p51"/>
          <p:cNvSpPr/>
          <p:nvPr/>
        </p:nvSpPr>
        <p:spPr>
          <a:xfrm>
            <a:off x="4560120" y="2695680"/>
            <a:ext cx="212796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decision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p51"/>
          <p:cNvSpPr/>
          <p:nvPr/>
        </p:nvSpPr>
        <p:spPr>
          <a:xfrm>
            <a:off x="2305080" y="5018400"/>
            <a:ext cx="1354680" cy="47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51"/>
          <p:cNvSpPr/>
          <p:nvPr/>
        </p:nvSpPr>
        <p:spPr>
          <a:xfrm>
            <a:off x="157680" y="4916160"/>
            <a:ext cx="135468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51"/>
          <p:cNvSpPr/>
          <p:nvPr/>
        </p:nvSpPr>
        <p:spPr>
          <a:xfrm>
            <a:off x="4559040" y="5002920"/>
            <a:ext cx="93996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	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8" name="Google Shape;1298;p51"/>
          <p:cNvCxnSpPr>
            <a:stCxn id="1294" idx="2"/>
            <a:endCxn id="1297" idx="0"/>
          </p:cNvCxnSpPr>
          <p:nvPr/>
        </p:nvCxnSpPr>
        <p:spPr>
          <a:xfrm rot="5400000">
            <a:off x="4459200" y="3838140"/>
            <a:ext cx="1734600" cy="595200"/>
          </a:xfrm>
          <a:prstGeom prst="curvedConnector3">
            <a:avLst>
              <a:gd fmla="val 50017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99" name="Google Shape;1299;p51"/>
          <p:cNvCxnSpPr>
            <a:stCxn id="1300" idx="2"/>
            <a:endCxn id="1296" idx="0"/>
          </p:cNvCxnSpPr>
          <p:nvPr/>
        </p:nvCxnSpPr>
        <p:spPr>
          <a:xfrm rot="5400000">
            <a:off x="748140" y="3361560"/>
            <a:ext cx="1641600" cy="1467600"/>
          </a:xfrm>
          <a:prstGeom prst="curvedConnector3">
            <a:avLst>
              <a:gd fmla="val 50022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01" name="Google Shape;1301;p51"/>
          <p:cNvCxnSpPr>
            <a:stCxn id="1300" idx="2"/>
            <a:endCxn id="1295" idx="0"/>
          </p:cNvCxnSpPr>
          <p:nvPr/>
        </p:nvCxnSpPr>
        <p:spPr>
          <a:xfrm flipH="1" rot="-5400000">
            <a:off x="1770690" y="3806610"/>
            <a:ext cx="1743900" cy="679800"/>
          </a:xfrm>
          <a:prstGeom prst="curvedConnector3">
            <a:avLst>
              <a:gd fmla="val 50009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02" name="Google Shape;1302;p51"/>
          <p:cNvCxnSpPr>
            <a:stCxn id="1288" idx="2"/>
            <a:endCxn id="1289" idx="0"/>
          </p:cNvCxnSpPr>
          <p:nvPr/>
        </p:nvCxnSpPr>
        <p:spPr>
          <a:xfrm flipH="1" rot="-5400000">
            <a:off x="7530090" y="497730"/>
            <a:ext cx="395700" cy="3495600"/>
          </a:xfrm>
          <a:prstGeom prst="curvedConnector3">
            <a:avLst>
              <a:gd fmla="val 50037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03" name="Google Shape;1303;p51"/>
          <p:cNvCxnSpPr>
            <a:stCxn id="1288" idx="2"/>
            <a:endCxn id="1294" idx="0"/>
          </p:cNvCxnSpPr>
          <p:nvPr/>
        </p:nvCxnSpPr>
        <p:spPr>
          <a:xfrm rot="5400000">
            <a:off x="5478090" y="2193630"/>
            <a:ext cx="648000" cy="356100"/>
          </a:xfrm>
          <a:prstGeom prst="curvedConnector3">
            <a:avLst>
              <a:gd fmla="val 50056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00" name="Google Shape;1300;p51"/>
          <p:cNvSpPr/>
          <p:nvPr/>
        </p:nvSpPr>
        <p:spPr>
          <a:xfrm>
            <a:off x="1238760" y="2701800"/>
            <a:ext cx="212796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Loops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4" name="Google Shape;1304;p51"/>
          <p:cNvCxnSpPr>
            <a:stCxn id="1288" idx="2"/>
            <a:endCxn id="1300" idx="0"/>
          </p:cNvCxnSpPr>
          <p:nvPr/>
        </p:nvCxnSpPr>
        <p:spPr>
          <a:xfrm rot="5400000">
            <a:off x="3814440" y="535980"/>
            <a:ext cx="654000" cy="3677400"/>
          </a:xfrm>
          <a:prstGeom prst="curvedConnector3">
            <a:avLst>
              <a:gd fmla="val 50064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52"/>
          <p:cNvSpPr txBox="1"/>
          <p:nvPr>
            <p:ph type="title"/>
          </p:nvPr>
        </p:nvSpPr>
        <p:spPr>
          <a:xfrm>
            <a:off x="818280" y="188280"/>
            <a:ext cx="10493280" cy="76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Data Type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0" name="Google Shape;1310;p52"/>
          <p:cNvSpPr/>
          <p:nvPr/>
        </p:nvSpPr>
        <p:spPr>
          <a:xfrm>
            <a:off x="4916160" y="1281600"/>
            <a:ext cx="2127960" cy="766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Python Data Type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52"/>
          <p:cNvSpPr/>
          <p:nvPr/>
        </p:nvSpPr>
        <p:spPr>
          <a:xfrm>
            <a:off x="8515440" y="2658240"/>
            <a:ext cx="212796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Immutable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52"/>
          <p:cNvSpPr/>
          <p:nvPr/>
        </p:nvSpPr>
        <p:spPr>
          <a:xfrm>
            <a:off x="8461080" y="5060160"/>
            <a:ext cx="128916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52"/>
          <p:cNvSpPr/>
          <p:nvPr/>
        </p:nvSpPr>
        <p:spPr>
          <a:xfrm>
            <a:off x="6588720" y="5041440"/>
            <a:ext cx="135468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Tuples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52"/>
          <p:cNvSpPr/>
          <p:nvPr/>
        </p:nvSpPr>
        <p:spPr>
          <a:xfrm>
            <a:off x="10341360" y="5060160"/>
            <a:ext cx="145008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Numbers	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5" name="Google Shape;1315;p52"/>
          <p:cNvCxnSpPr>
            <a:stCxn id="1311" idx="2"/>
            <a:endCxn id="1314" idx="0"/>
          </p:cNvCxnSpPr>
          <p:nvPr/>
        </p:nvCxnSpPr>
        <p:spPr>
          <a:xfrm flipH="1" rot="-5400000">
            <a:off x="9408420" y="3402000"/>
            <a:ext cx="1829100" cy="1487100"/>
          </a:xfrm>
          <a:prstGeom prst="curvedConnector3">
            <a:avLst>
              <a:gd fmla="val 50011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16" name="Google Shape;1316;p52"/>
          <p:cNvCxnSpPr>
            <a:stCxn id="1311" idx="2"/>
            <a:endCxn id="1312" idx="0"/>
          </p:cNvCxnSpPr>
          <p:nvPr/>
        </p:nvCxnSpPr>
        <p:spPr>
          <a:xfrm rot="5400000">
            <a:off x="8428020" y="3908700"/>
            <a:ext cx="1829100" cy="473700"/>
          </a:xfrm>
          <a:prstGeom prst="curvedConnector3">
            <a:avLst>
              <a:gd fmla="val 50011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17" name="Google Shape;1317;p52"/>
          <p:cNvCxnSpPr>
            <a:stCxn id="1311" idx="2"/>
            <a:endCxn id="1313" idx="0"/>
          </p:cNvCxnSpPr>
          <p:nvPr/>
        </p:nvCxnSpPr>
        <p:spPr>
          <a:xfrm rot="5400000">
            <a:off x="7517520" y="2979600"/>
            <a:ext cx="1810500" cy="2313300"/>
          </a:xfrm>
          <a:prstGeom prst="curvedConnector3">
            <a:avLst>
              <a:gd fmla="val 50007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18" name="Google Shape;1318;p52"/>
          <p:cNvSpPr/>
          <p:nvPr/>
        </p:nvSpPr>
        <p:spPr>
          <a:xfrm>
            <a:off x="1851840" y="2456640"/>
            <a:ext cx="212796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Mutable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52"/>
          <p:cNvSpPr/>
          <p:nvPr/>
        </p:nvSpPr>
        <p:spPr>
          <a:xfrm>
            <a:off x="318600" y="5002920"/>
            <a:ext cx="1354680" cy="47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Dictionary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52"/>
          <p:cNvSpPr/>
          <p:nvPr/>
        </p:nvSpPr>
        <p:spPr>
          <a:xfrm>
            <a:off x="2483280" y="5005800"/>
            <a:ext cx="135468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52"/>
          <p:cNvSpPr/>
          <p:nvPr/>
        </p:nvSpPr>
        <p:spPr>
          <a:xfrm>
            <a:off x="4368600" y="5041440"/>
            <a:ext cx="132084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	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2" name="Google Shape;1322;p52"/>
          <p:cNvCxnSpPr>
            <a:stCxn id="1318" idx="2"/>
            <a:endCxn id="1321" idx="0"/>
          </p:cNvCxnSpPr>
          <p:nvPr/>
        </p:nvCxnSpPr>
        <p:spPr>
          <a:xfrm flipH="1" rot="-5400000">
            <a:off x="2966370" y="2978850"/>
            <a:ext cx="2012100" cy="2113200"/>
          </a:xfrm>
          <a:prstGeom prst="curvedConnector3">
            <a:avLst>
              <a:gd fmla="val 50007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23" name="Google Shape;1323;p52"/>
          <p:cNvCxnSpPr>
            <a:stCxn id="1318" idx="2"/>
            <a:endCxn id="1320" idx="0"/>
          </p:cNvCxnSpPr>
          <p:nvPr/>
        </p:nvCxnSpPr>
        <p:spPr>
          <a:xfrm flipH="1" rot="-5400000">
            <a:off x="2050020" y="3895200"/>
            <a:ext cx="1976400" cy="244800"/>
          </a:xfrm>
          <a:prstGeom prst="curvedConnector3">
            <a:avLst>
              <a:gd fmla="val 50009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24" name="Google Shape;1324;p52"/>
          <p:cNvCxnSpPr>
            <a:stCxn id="1318" idx="2"/>
            <a:endCxn id="1319" idx="0"/>
          </p:cNvCxnSpPr>
          <p:nvPr/>
        </p:nvCxnSpPr>
        <p:spPr>
          <a:xfrm rot="5400000">
            <a:off x="969120" y="3056100"/>
            <a:ext cx="1973400" cy="1920000"/>
          </a:xfrm>
          <a:prstGeom prst="curvedConnector3">
            <a:avLst>
              <a:gd fmla="val 50021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25" name="Google Shape;1325;p52"/>
          <p:cNvCxnSpPr/>
          <p:nvPr/>
        </p:nvCxnSpPr>
        <p:spPr>
          <a:xfrm rot="-5400000">
            <a:off x="-17310" y="2458890"/>
            <a:ext cx="597900" cy="600"/>
          </a:xfrm>
          <a:prstGeom prst="curvedConnector2">
            <a:avLst/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26" name="Google Shape;1326;p52"/>
          <p:cNvCxnSpPr>
            <a:stCxn id="1310" idx="2"/>
            <a:endCxn id="1311" idx="0"/>
          </p:cNvCxnSpPr>
          <p:nvPr/>
        </p:nvCxnSpPr>
        <p:spPr>
          <a:xfrm flipH="1" rot="-5400000">
            <a:off x="7474590" y="553230"/>
            <a:ext cx="610500" cy="3599400"/>
          </a:xfrm>
          <a:prstGeom prst="curvedConnector3">
            <a:avLst>
              <a:gd fmla="val 50034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27" name="Google Shape;1327;p52"/>
          <p:cNvCxnSpPr>
            <a:stCxn id="1310" idx="2"/>
            <a:endCxn id="1318" idx="0"/>
          </p:cNvCxnSpPr>
          <p:nvPr/>
        </p:nvCxnSpPr>
        <p:spPr>
          <a:xfrm rot="5400000">
            <a:off x="4243590" y="720030"/>
            <a:ext cx="408900" cy="3064200"/>
          </a:xfrm>
          <a:prstGeom prst="curvedConnector3">
            <a:avLst>
              <a:gd fmla="val 50051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2" name="Google Shape;1332;p53"/>
          <p:cNvPicPr preferRelativeResize="0"/>
          <p:nvPr/>
        </p:nvPicPr>
        <p:blipFill rotWithShape="1">
          <a:blip r:embed="rId3">
            <a:alphaModFix/>
          </a:blip>
          <a:srcRect b="16737" l="17545" r="25933" t="32436"/>
          <a:stretch/>
        </p:blipFill>
        <p:spPr>
          <a:xfrm>
            <a:off x="1722350" y="784150"/>
            <a:ext cx="9269650" cy="566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3" name="Google Shape;1333;p53"/>
          <p:cNvSpPr txBox="1"/>
          <p:nvPr>
            <p:ph type="title"/>
          </p:nvPr>
        </p:nvSpPr>
        <p:spPr>
          <a:xfrm>
            <a:off x="818280" y="188280"/>
            <a:ext cx="10493280" cy="76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انماط البيانات الأساسية في بايثون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54"/>
          <p:cNvSpPr txBox="1"/>
          <p:nvPr>
            <p:ph type="title"/>
          </p:nvPr>
        </p:nvSpPr>
        <p:spPr>
          <a:xfrm>
            <a:off x="818280" y="188280"/>
            <a:ext cx="10493280" cy="76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Data Types is Dynamics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‪Untitled17 - Jupyter Notebook - Google Chrome‬" id="1339" name="Google Shape;1339;p54"/>
          <p:cNvPicPr preferRelativeResize="0"/>
          <p:nvPr/>
        </p:nvPicPr>
        <p:blipFill rotWithShape="1">
          <a:blip r:embed="rId3">
            <a:alphaModFix/>
          </a:blip>
          <a:srcRect b="11195" l="0" r="49669" t="37929"/>
          <a:stretch/>
        </p:blipFill>
        <p:spPr>
          <a:xfrm>
            <a:off x="747360" y="1187640"/>
            <a:ext cx="5901120" cy="38311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0" name="Google Shape;1340;p54"/>
          <p:cNvCxnSpPr>
            <a:stCxn id="1341" idx="2"/>
          </p:cNvCxnSpPr>
          <p:nvPr/>
        </p:nvCxnSpPr>
        <p:spPr>
          <a:xfrm>
            <a:off x="964800" y="1070640"/>
            <a:ext cx="371100" cy="107790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41" name="Google Shape;1341;p54"/>
          <p:cNvSpPr/>
          <p:nvPr/>
        </p:nvSpPr>
        <p:spPr>
          <a:xfrm>
            <a:off x="14400" y="702000"/>
            <a:ext cx="1900800" cy="36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Built-in Function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2" name="Google Shape;1342;p54"/>
          <p:cNvGrpSpPr/>
          <p:nvPr/>
        </p:nvGrpSpPr>
        <p:grpSpPr>
          <a:xfrm>
            <a:off x="7059240" y="834120"/>
            <a:ext cx="4783680" cy="3642480"/>
            <a:chOff x="7059240" y="834120"/>
            <a:chExt cx="4783680" cy="3642480"/>
          </a:xfrm>
        </p:grpSpPr>
        <p:pic>
          <p:nvPicPr>
            <p:cNvPr descr="‪JupyterLab - Google Chrome‬" id="1343" name="Google Shape;1343;p54"/>
            <p:cNvPicPr preferRelativeResize="0"/>
            <p:nvPr/>
          </p:nvPicPr>
          <p:blipFill rotWithShape="1">
            <a:blip r:embed="rId4">
              <a:alphaModFix/>
            </a:blip>
            <a:srcRect b="8259" l="10476" r="55833" t="41621"/>
            <a:stretch/>
          </p:blipFill>
          <p:spPr>
            <a:xfrm>
              <a:off x="7059240" y="1187640"/>
              <a:ext cx="4783680" cy="32889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4" name="Google Shape;1344;p54"/>
            <p:cNvSpPr/>
            <p:nvPr/>
          </p:nvSpPr>
          <p:spPr>
            <a:xfrm>
              <a:off x="7235280" y="834120"/>
              <a:ext cx="3751200" cy="36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1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u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Built-in Function</a:t>
              </a:r>
              <a:endParaRPr b="0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5" name="Google Shape;1345;p54"/>
          <p:cNvGrpSpPr/>
          <p:nvPr/>
        </p:nvGrpSpPr>
        <p:grpSpPr>
          <a:xfrm>
            <a:off x="7235280" y="4610520"/>
            <a:ext cx="4745520" cy="1616040"/>
            <a:chOff x="7235280" y="4610520"/>
            <a:chExt cx="4745520" cy="1616040"/>
          </a:xfrm>
        </p:grpSpPr>
        <p:pic>
          <p:nvPicPr>
            <p:cNvPr descr="‪JupyterLab - Google Chrome‬" id="1346" name="Google Shape;1346;p54"/>
            <p:cNvPicPr preferRelativeResize="0"/>
            <p:nvPr/>
          </p:nvPicPr>
          <p:blipFill rotWithShape="1">
            <a:blip r:embed="rId5">
              <a:alphaModFix/>
            </a:blip>
            <a:srcRect b="61692" l="16125" r="40282" t="22065"/>
            <a:stretch/>
          </p:blipFill>
          <p:spPr>
            <a:xfrm>
              <a:off x="7235280" y="5113440"/>
              <a:ext cx="4607640" cy="11131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7" name="Google Shape;1347;p54"/>
            <p:cNvSpPr/>
            <p:nvPr/>
          </p:nvSpPr>
          <p:spPr>
            <a:xfrm>
              <a:off x="8229600" y="4610520"/>
              <a:ext cx="3751200" cy="36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1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u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اظهار التوابع الخاصة بنمط بيانات محدد</a:t>
              </a:r>
              <a:endParaRPr b="0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‪JupyterLab - Google Chrome‬" id="1353" name="Google Shape;1353;p55"/>
          <p:cNvPicPr preferRelativeResize="0"/>
          <p:nvPr/>
        </p:nvPicPr>
        <p:blipFill rotWithShape="1">
          <a:blip r:embed="rId3">
            <a:alphaModFix/>
          </a:blip>
          <a:srcRect b="0" l="20751" r="37461" t="20886"/>
          <a:stretch/>
        </p:blipFill>
        <p:spPr>
          <a:xfrm>
            <a:off x="1262880" y="702360"/>
            <a:ext cx="4604040" cy="582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4" name="Google Shape;1354;p55"/>
          <p:cNvSpPr txBox="1"/>
          <p:nvPr>
            <p:ph type="title"/>
          </p:nvPr>
        </p:nvSpPr>
        <p:spPr>
          <a:xfrm>
            <a:off x="818280" y="188280"/>
            <a:ext cx="10493280" cy="51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9999"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ct val="100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IMMutable Data Types Integer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55" name="Google Shape;1355;p55"/>
          <p:cNvGrpSpPr/>
          <p:nvPr/>
        </p:nvGrpSpPr>
        <p:grpSpPr>
          <a:xfrm>
            <a:off x="3236040" y="925320"/>
            <a:ext cx="7949160" cy="1817160"/>
            <a:chOff x="3236040" y="925320"/>
            <a:chExt cx="7949160" cy="1817160"/>
          </a:xfrm>
        </p:grpSpPr>
        <p:sp>
          <p:nvSpPr>
            <p:cNvPr id="1356" name="Google Shape;1356;p55"/>
            <p:cNvSpPr/>
            <p:nvPr/>
          </p:nvSpPr>
          <p:spPr>
            <a:xfrm>
              <a:off x="7840440" y="1698120"/>
              <a:ext cx="1218600" cy="710640"/>
            </a:xfrm>
            <a:prstGeom prst="roundRect">
              <a:avLst>
                <a:gd fmla="val 16667" name="adj"/>
              </a:avLst>
            </a:prstGeom>
            <a:solidFill>
              <a:srgbClr val="4472C4"/>
            </a:solidFill>
            <a:ln cap="flat" cmpd="sng" w="12700">
              <a:solidFill>
                <a:srgbClr val="32549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1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u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..0448</a:t>
              </a:r>
              <a:endParaRPr b="0" sz="1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55"/>
            <p:cNvSpPr/>
            <p:nvPr/>
          </p:nvSpPr>
          <p:spPr>
            <a:xfrm>
              <a:off x="9966600" y="1778040"/>
              <a:ext cx="1218600" cy="964440"/>
            </a:xfrm>
            <a:prstGeom prst="roundRect">
              <a:avLst>
                <a:gd fmla="val 16667" name="adj"/>
              </a:avLst>
            </a:prstGeom>
            <a:solidFill>
              <a:srgbClr val="4472C4"/>
            </a:solidFill>
            <a:ln cap="flat" cmpd="sng" w="12700">
              <a:solidFill>
                <a:srgbClr val="32549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1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u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sz="1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58" name="Google Shape;1358;p55"/>
            <p:cNvCxnSpPr>
              <a:stCxn id="1356" idx="3"/>
              <a:endCxn id="1357" idx="1"/>
            </p:cNvCxnSpPr>
            <p:nvPr/>
          </p:nvCxnSpPr>
          <p:spPr>
            <a:xfrm>
              <a:off x="9059040" y="2053440"/>
              <a:ext cx="907500" cy="206700"/>
            </a:xfrm>
            <a:prstGeom prst="curvedConnector3">
              <a:avLst>
                <a:gd fmla="val 50019" name="adj1"/>
              </a:avLst>
            </a:prstGeom>
            <a:noFill/>
            <a:ln cap="flat" cmpd="sng" w="9525">
              <a:solidFill>
                <a:srgbClr val="4472C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359" name="Google Shape;1359;p55"/>
            <p:cNvSpPr/>
            <p:nvPr/>
          </p:nvSpPr>
          <p:spPr>
            <a:xfrm>
              <a:off x="7840440" y="1085760"/>
              <a:ext cx="623520" cy="58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1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 u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b="0" sz="3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60" name="Google Shape;1360;p55"/>
            <p:cNvCxnSpPr>
              <a:endCxn id="1359" idx="1"/>
            </p:cNvCxnSpPr>
            <p:nvPr/>
          </p:nvCxnSpPr>
          <p:spPr>
            <a:xfrm>
              <a:off x="3236040" y="925320"/>
              <a:ext cx="4604400" cy="452400"/>
            </a:xfrm>
            <a:prstGeom prst="curvedConnector3">
              <a:avLst>
                <a:gd fmla="val 50003" name="adj1"/>
              </a:avLst>
            </a:prstGeom>
            <a:noFill/>
            <a:ln cap="flat" cmpd="sng" w="9525">
              <a:solidFill>
                <a:srgbClr val="ED7D3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361" name="Google Shape;1361;p55"/>
          <p:cNvGrpSpPr/>
          <p:nvPr/>
        </p:nvGrpSpPr>
        <p:grpSpPr>
          <a:xfrm>
            <a:off x="3548040" y="2373540"/>
            <a:ext cx="7637160" cy="2351820"/>
            <a:chOff x="3548040" y="2373540"/>
            <a:chExt cx="7637160" cy="2351820"/>
          </a:xfrm>
        </p:grpSpPr>
        <p:sp>
          <p:nvSpPr>
            <p:cNvPr id="1362" name="Google Shape;1362;p55"/>
            <p:cNvSpPr/>
            <p:nvPr/>
          </p:nvSpPr>
          <p:spPr>
            <a:xfrm>
              <a:off x="7840440" y="3681000"/>
              <a:ext cx="1218600" cy="710640"/>
            </a:xfrm>
            <a:prstGeom prst="roundRect">
              <a:avLst>
                <a:gd fmla="val 16667" name="adj"/>
              </a:avLst>
            </a:prstGeom>
            <a:solidFill>
              <a:srgbClr val="4472C4"/>
            </a:solidFill>
            <a:ln cap="flat" cmpd="sng" w="12700">
              <a:solidFill>
                <a:srgbClr val="32549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1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u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..0464</a:t>
              </a:r>
              <a:endParaRPr b="0" sz="1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55"/>
            <p:cNvSpPr/>
            <p:nvPr/>
          </p:nvSpPr>
          <p:spPr>
            <a:xfrm>
              <a:off x="9966600" y="3760920"/>
              <a:ext cx="1218600" cy="964440"/>
            </a:xfrm>
            <a:prstGeom prst="roundRect">
              <a:avLst>
                <a:gd fmla="val 16667" name="adj"/>
              </a:avLst>
            </a:prstGeom>
            <a:solidFill>
              <a:srgbClr val="4472C4"/>
            </a:solidFill>
            <a:ln cap="flat" cmpd="sng" w="12700">
              <a:solidFill>
                <a:srgbClr val="32549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1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u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0" sz="1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64" name="Google Shape;1364;p55"/>
            <p:cNvCxnSpPr>
              <a:stCxn id="1362" idx="3"/>
              <a:endCxn id="1363" idx="1"/>
            </p:cNvCxnSpPr>
            <p:nvPr/>
          </p:nvCxnSpPr>
          <p:spPr>
            <a:xfrm>
              <a:off x="9059040" y="4036320"/>
              <a:ext cx="907500" cy="206700"/>
            </a:xfrm>
            <a:prstGeom prst="curvedConnector3">
              <a:avLst>
                <a:gd fmla="val 50019" name="adj1"/>
              </a:avLst>
            </a:prstGeom>
            <a:noFill/>
            <a:ln cap="flat" cmpd="sng" w="9525">
              <a:solidFill>
                <a:srgbClr val="4472C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365" name="Google Shape;1365;p55"/>
            <p:cNvSpPr/>
            <p:nvPr/>
          </p:nvSpPr>
          <p:spPr>
            <a:xfrm>
              <a:off x="7840440" y="3032280"/>
              <a:ext cx="623520" cy="58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1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 u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b="0" sz="3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66" name="Google Shape;1366;p55"/>
            <p:cNvCxnSpPr>
              <a:endCxn id="1365" idx="1"/>
            </p:cNvCxnSpPr>
            <p:nvPr/>
          </p:nvCxnSpPr>
          <p:spPr>
            <a:xfrm>
              <a:off x="3548040" y="2373540"/>
              <a:ext cx="4292400" cy="950700"/>
            </a:xfrm>
            <a:prstGeom prst="curvedConnector3">
              <a:avLst>
                <a:gd fmla="val 50000" name="adj1"/>
              </a:avLst>
            </a:prstGeom>
            <a:noFill/>
            <a:ln cap="flat" cmpd="sng" w="9525">
              <a:solidFill>
                <a:srgbClr val="ED7D3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‪JupyterLab - Google Chrome‬" id="1371" name="Google Shape;1371;p56"/>
          <p:cNvPicPr preferRelativeResize="0"/>
          <p:nvPr/>
        </p:nvPicPr>
        <p:blipFill rotWithShape="1">
          <a:blip r:embed="rId3">
            <a:alphaModFix/>
          </a:blip>
          <a:srcRect b="0" l="29781" r="6068" t="22319"/>
          <a:stretch/>
        </p:blipFill>
        <p:spPr>
          <a:xfrm>
            <a:off x="1287360" y="806040"/>
            <a:ext cx="9341280" cy="5580720"/>
          </a:xfrm>
          <a:prstGeom prst="rect">
            <a:avLst/>
          </a:prstGeom>
          <a:noFill/>
          <a:ln>
            <a:noFill/>
          </a:ln>
        </p:spPr>
      </p:pic>
      <p:sp>
        <p:nvSpPr>
          <p:cNvPr id="1372" name="Google Shape;1372;p56"/>
          <p:cNvSpPr txBox="1"/>
          <p:nvPr>
            <p:ph type="title"/>
          </p:nvPr>
        </p:nvSpPr>
        <p:spPr>
          <a:xfrm>
            <a:off x="818280" y="188280"/>
            <a:ext cx="10493280" cy="76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Strings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roduction to Program-ming using Python.pdf - Foxit PhantomPDF" id="1377" name="Google Shape;1377;p5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31718" l="30567" r="6410" t="42556"/>
          <a:stretch/>
        </p:blipFill>
        <p:spPr>
          <a:xfrm>
            <a:off x="3843594" y="955214"/>
            <a:ext cx="8145300" cy="20031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100"/>
              </a:srgbClr>
            </a:outerShdw>
          </a:effectLst>
        </p:spPr>
      </p:pic>
      <p:sp>
        <p:nvSpPr>
          <p:cNvPr id="1378" name="Google Shape;1378;p57"/>
          <p:cNvSpPr txBox="1"/>
          <p:nvPr>
            <p:ph type="title"/>
          </p:nvPr>
        </p:nvSpPr>
        <p:spPr>
          <a:xfrm>
            <a:off x="818145" y="188298"/>
            <a:ext cx="104940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000"/>
              <a:buFont typeface="Times New Roman"/>
              <a:buNone/>
            </a:pPr>
            <a:r>
              <a:rPr lang="en-US"/>
              <a:t>strings</a:t>
            </a:r>
            <a:endParaRPr/>
          </a:p>
        </p:txBody>
      </p:sp>
      <p:pic>
        <p:nvPicPr>
          <p:cNvPr descr="Introduction to Program-ming using Python.pdf - Foxit PhantomPDF" id="1379" name="Google Shape;1379;p57"/>
          <p:cNvPicPr preferRelativeResize="0"/>
          <p:nvPr/>
        </p:nvPicPr>
        <p:blipFill rotWithShape="1">
          <a:blip r:embed="rId4">
            <a:alphaModFix/>
          </a:blip>
          <a:srcRect b="44086" l="30274" r="9226" t="34686"/>
          <a:stretch/>
        </p:blipFill>
        <p:spPr>
          <a:xfrm>
            <a:off x="3828354" y="3038251"/>
            <a:ext cx="7961864" cy="1631687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100"/>
              </a:srgbClr>
            </a:outerShdw>
          </a:effectLst>
        </p:spPr>
      </p:pic>
      <p:pic>
        <p:nvPicPr>
          <p:cNvPr descr="‪JupyterLab - Google Chrome‬" id="1380" name="Google Shape;1380;p57"/>
          <p:cNvPicPr preferRelativeResize="0"/>
          <p:nvPr/>
        </p:nvPicPr>
        <p:blipFill rotWithShape="1">
          <a:blip r:embed="rId5">
            <a:alphaModFix/>
          </a:blip>
          <a:srcRect b="-2535" l="36997" r="23384" t="23565"/>
          <a:stretch/>
        </p:blipFill>
        <p:spPr>
          <a:xfrm>
            <a:off x="792169" y="955214"/>
            <a:ext cx="3051426" cy="541589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100"/>
              </a:srgbClr>
            </a:outerShdw>
          </a:effec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58"/>
          <p:cNvSpPr txBox="1"/>
          <p:nvPr>
            <p:ph type="title"/>
          </p:nvPr>
        </p:nvSpPr>
        <p:spPr>
          <a:xfrm>
            <a:off x="818145" y="188298"/>
            <a:ext cx="104940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000"/>
              <a:buFont typeface="Times New Roman"/>
              <a:buNone/>
            </a:pPr>
            <a:r>
              <a:rPr lang="en-US"/>
              <a:t>Strings function &amp; methods</a:t>
            </a:r>
            <a:endParaRPr/>
          </a:p>
        </p:txBody>
      </p:sp>
      <p:pic>
        <p:nvPicPr>
          <p:cNvPr descr="‪JupyterLab - Google Chrome‬" id="1386" name="Google Shape;1386;p58"/>
          <p:cNvPicPr preferRelativeResize="0"/>
          <p:nvPr/>
        </p:nvPicPr>
        <p:blipFill rotWithShape="1">
          <a:blip r:embed="rId3">
            <a:alphaModFix/>
          </a:blip>
          <a:srcRect b="10902" l="9767" r="4182" t="30264"/>
          <a:stretch/>
        </p:blipFill>
        <p:spPr>
          <a:xfrm>
            <a:off x="259081" y="807720"/>
            <a:ext cx="11795760" cy="5623559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100"/>
              </a:srgbClr>
            </a:outerShdw>
          </a:effec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59"/>
          <p:cNvSpPr txBox="1"/>
          <p:nvPr>
            <p:ph type="title"/>
          </p:nvPr>
        </p:nvSpPr>
        <p:spPr>
          <a:xfrm>
            <a:off x="818280" y="188280"/>
            <a:ext cx="10493280" cy="76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‪JupyterLab - Google Chrome‬" id="1392" name="Google Shape;1392;p59"/>
          <p:cNvPicPr preferRelativeResize="0"/>
          <p:nvPr/>
        </p:nvPicPr>
        <p:blipFill rotWithShape="1">
          <a:blip r:embed="rId3">
            <a:alphaModFix/>
          </a:blip>
          <a:srcRect b="11776" l="31851" r="14274" t="21527"/>
          <a:stretch/>
        </p:blipFill>
        <p:spPr>
          <a:xfrm>
            <a:off x="6960240" y="955080"/>
            <a:ext cx="4138200" cy="5398560"/>
          </a:xfrm>
          <a:prstGeom prst="rect">
            <a:avLst/>
          </a:prstGeom>
          <a:noFill/>
          <a:ln>
            <a:noFill/>
          </a:ln>
          <a:effectLst>
            <a:outerShdw blurRad="291960" rotWithShape="0" algn="tl" dir="2700000" dist="138988">
              <a:srgbClr val="333333">
                <a:alpha val="65098"/>
              </a:srgbClr>
            </a:outerShdw>
          </a:effectLst>
        </p:spPr>
      </p:pic>
      <p:pic>
        <p:nvPicPr>
          <p:cNvPr descr="‪JupyterLab - Google Chrome‬" id="1393" name="Google Shape;1393;p59"/>
          <p:cNvPicPr preferRelativeResize="0"/>
          <p:nvPr/>
        </p:nvPicPr>
        <p:blipFill rotWithShape="1">
          <a:blip r:embed="rId4">
            <a:alphaModFix/>
          </a:blip>
          <a:srcRect b="0" l="32276" r="28739" t="20729"/>
          <a:stretch/>
        </p:blipFill>
        <p:spPr>
          <a:xfrm>
            <a:off x="1552501" y="955075"/>
            <a:ext cx="4649949" cy="5398575"/>
          </a:xfrm>
          <a:prstGeom prst="rect">
            <a:avLst/>
          </a:prstGeom>
          <a:noFill/>
          <a:ln>
            <a:noFill/>
          </a:ln>
          <a:effectLst>
            <a:outerShdw blurRad="291960" rotWithShape="0" algn="tl" dir="2700000" dist="138988">
              <a:srgbClr val="333333">
                <a:alpha val="65098"/>
              </a:srgbClr>
            </a:outerShdw>
          </a:effec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‪JupyterLab - Google Chrome‬" id="1398" name="Google Shape;1398;p60"/>
          <p:cNvPicPr preferRelativeResize="0"/>
          <p:nvPr/>
        </p:nvPicPr>
        <p:blipFill rotWithShape="1">
          <a:blip r:embed="rId3">
            <a:alphaModFix/>
          </a:blip>
          <a:srcRect b="0" l="31683" r="21349" t="22600"/>
          <a:stretch/>
        </p:blipFill>
        <p:spPr>
          <a:xfrm>
            <a:off x="1455120" y="955080"/>
            <a:ext cx="4155120" cy="5420160"/>
          </a:xfrm>
          <a:prstGeom prst="rect">
            <a:avLst/>
          </a:prstGeom>
          <a:noFill/>
          <a:ln>
            <a:noFill/>
          </a:ln>
          <a:effectLst>
            <a:outerShdw blurRad="291960" rotWithShape="0" algn="tl" dir="2700000" dist="138988">
              <a:srgbClr val="333333">
                <a:alpha val="65098"/>
              </a:srgbClr>
            </a:outerShdw>
          </a:effectLst>
        </p:spPr>
      </p:pic>
      <p:sp>
        <p:nvSpPr>
          <p:cNvPr id="1399" name="Google Shape;1399;p60"/>
          <p:cNvSpPr txBox="1"/>
          <p:nvPr>
            <p:ph type="title"/>
          </p:nvPr>
        </p:nvSpPr>
        <p:spPr>
          <a:xfrm>
            <a:off x="818280" y="188280"/>
            <a:ext cx="10493280" cy="76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 &amp; join methods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‪JupyterLab - Google Chrome‬" id="1400" name="Google Shape;1400;p60"/>
          <p:cNvPicPr preferRelativeResize="0"/>
          <p:nvPr/>
        </p:nvPicPr>
        <p:blipFill rotWithShape="1">
          <a:blip r:embed="rId4">
            <a:alphaModFix/>
          </a:blip>
          <a:srcRect b="18388" l="29469" r="8226" t="21950"/>
          <a:stretch/>
        </p:blipFill>
        <p:spPr>
          <a:xfrm>
            <a:off x="6248520" y="955080"/>
            <a:ext cx="4038120" cy="5420160"/>
          </a:xfrm>
          <a:prstGeom prst="rect">
            <a:avLst/>
          </a:prstGeom>
          <a:noFill/>
          <a:ln>
            <a:noFill/>
          </a:ln>
          <a:effectLst>
            <a:outerShdw blurRad="291960" rotWithShape="0" algn="tl" dir="2700000" dist="138988">
              <a:srgbClr val="333333">
                <a:alpha val="65098"/>
              </a:srgbClr>
            </a:outerShdw>
          </a:effec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61"/>
          <p:cNvSpPr txBox="1"/>
          <p:nvPr>
            <p:ph type="title"/>
          </p:nvPr>
        </p:nvSpPr>
        <p:spPr>
          <a:xfrm>
            <a:off x="818280" y="188280"/>
            <a:ext cx="10493280" cy="76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 list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‪JupyterLab - Google Chrome‬" id="1406" name="Google Shape;1406;p61"/>
          <p:cNvPicPr preferRelativeResize="0"/>
          <p:nvPr/>
        </p:nvPicPr>
        <p:blipFill rotWithShape="1">
          <a:blip r:embed="rId3">
            <a:alphaModFix/>
          </a:blip>
          <a:srcRect b="0" l="26416" r="7134" t="21522"/>
          <a:stretch/>
        </p:blipFill>
        <p:spPr>
          <a:xfrm>
            <a:off x="1537920" y="1053000"/>
            <a:ext cx="3892320" cy="5344560"/>
          </a:xfrm>
          <a:prstGeom prst="rect">
            <a:avLst/>
          </a:prstGeom>
          <a:noFill/>
          <a:ln>
            <a:noFill/>
          </a:ln>
          <a:effectLst>
            <a:outerShdw blurRad="291960" rotWithShape="0" algn="tl" dir="2700000" dist="138988">
              <a:srgbClr val="333333">
                <a:alpha val="65098"/>
              </a:srgbClr>
            </a:outerShdw>
          </a:effectLst>
        </p:spPr>
      </p:pic>
      <p:pic>
        <p:nvPicPr>
          <p:cNvPr descr="‪JupyterLab - Google Chrome‬" id="1407" name="Google Shape;1407;p61"/>
          <p:cNvPicPr preferRelativeResize="0"/>
          <p:nvPr/>
        </p:nvPicPr>
        <p:blipFill rotWithShape="1">
          <a:blip r:embed="rId4">
            <a:alphaModFix/>
          </a:blip>
          <a:srcRect b="0" l="33728" r="6307" t="19421"/>
          <a:stretch/>
        </p:blipFill>
        <p:spPr>
          <a:xfrm>
            <a:off x="6768000" y="955080"/>
            <a:ext cx="3885120" cy="5525640"/>
          </a:xfrm>
          <a:prstGeom prst="rect">
            <a:avLst/>
          </a:prstGeom>
          <a:noFill/>
          <a:ln>
            <a:noFill/>
          </a:ln>
          <a:effectLst>
            <a:outerShdw blurRad="291960" rotWithShape="0" algn="tl" dir="2700000" dist="138988">
              <a:srgbClr val="333333">
                <a:alpha val="65098"/>
              </a:srgbClr>
            </a:outerShdw>
          </a:effec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62"/>
          <p:cNvSpPr txBox="1"/>
          <p:nvPr>
            <p:ph type="title"/>
          </p:nvPr>
        </p:nvSpPr>
        <p:spPr>
          <a:xfrm>
            <a:off x="7808760" y="0"/>
            <a:ext cx="3502440" cy="76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القوائم المتداخلة 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3" name="Google Shape;1413;p62"/>
          <p:cNvSpPr/>
          <p:nvPr/>
        </p:nvSpPr>
        <p:spPr>
          <a:xfrm>
            <a:off x="703800" y="-7560"/>
            <a:ext cx="3502440" cy="76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Nested Lists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‪JupyterLab - Google Chrome‬" id="1414" name="Google Shape;1414;p62"/>
          <p:cNvPicPr preferRelativeResize="0"/>
          <p:nvPr/>
        </p:nvPicPr>
        <p:blipFill rotWithShape="1">
          <a:blip r:embed="rId3">
            <a:alphaModFix/>
          </a:blip>
          <a:srcRect b="11485" l="26939" r="16013" t="22611"/>
          <a:stretch/>
        </p:blipFill>
        <p:spPr>
          <a:xfrm>
            <a:off x="3150657" y="865800"/>
            <a:ext cx="5890681" cy="5889961"/>
          </a:xfrm>
          <a:prstGeom prst="rect">
            <a:avLst/>
          </a:prstGeom>
          <a:noFill/>
          <a:ln>
            <a:noFill/>
          </a:ln>
          <a:effectLst>
            <a:outerShdw blurRad="291960" rotWithShape="0" algn="tl" dir="2700000" dist="138988">
              <a:srgbClr val="333333">
                <a:alpha val="65098"/>
              </a:srgbClr>
            </a:outerShdw>
          </a:effec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9" name="Google Shape;1419;p63"/>
          <p:cNvPicPr preferRelativeResize="0"/>
          <p:nvPr/>
        </p:nvPicPr>
        <p:blipFill rotWithShape="1">
          <a:blip r:embed="rId3">
            <a:alphaModFix/>
          </a:blip>
          <a:srcRect b="11842" l="18119" r="34694" t="27274"/>
          <a:stretch/>
        </p:blipFill>
        <p:spPr>
          <a:xfrm>
            <a:off x="2175120" y="1050840"/>
            <a:ext cx="7980480" cy="5047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20" name="Google Shape;1420;p63"/>
          <p:cNvSpPr txBox="1"/>
          <p:nvPr>
            <p:ph type="title"/>
          </p:nvPr>
        </p:nvSpPr>
        <p:spPr>
          <a:xfrm>
            <a:off x="818280" y="188280"/>
            <a:ext cx="10493280" cy="76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Comprehension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64"/>
          <p:cNvSpPr txBox="1"/>
          <p:nvPr>
            <p:ph type="title"/>
          </p:nvPr>
        </p:nvSpPr>
        <p:spPr>
          <a:xfrm>
            <a:off x="818280" y="188280"/>
            <a:ext cx="10493280" cy="76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Tuples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‪JupyterLab - Google Chrome‬" id="1426" name="Google Shape;1426;p64"/>
          <p:cNvPicPr preferRelativeResize="0"/>
          <p:nvPr/>
        </p:nvPicPr>
        <p:blipFill rotWithShape="1">
          <a:blip r:embed="rId3">
            <a:alphaModFix/>
          </a:blip>
          <a:srcRect b="24773" l="26069" r="7834" t="24942"/>
          <a:stretch/>
        </p:blipFill>
        <p:spPr>
          <a:xfrm>
            <a:off x="1312560" y="954720"/>
            <a:ext cx="9122400" cy="5530320"/>
          </a:xfrm>
          <a:prstGeom prst="rect">
            <a:avLst/>
          </a:prstGeom>
          <a:noFill/>
          <a:ln>
            <a:noFill/>
          </a:ln>
          <a:effectLst>
            <a:outerShdw blurRad="291960" rotWithShape="0" algn="tl" dir="2700000" dist="138988">
              <a:srgbClr val="333333">
                <a:alpha val="65098"/>
              </a:srgbClr>
            </a:outerShdw>
          </a:effec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65"/>
          <p:cNvSpPr txBox="1"/>
          <p:nvPr>
            <p:ph type="title"/>
          </p:nvPr>
        </p:nvSpPr>
        <p:spPr>
          <a:xfrm>
            <a:off x="818280" y="188280"/>
            <a:ext cx="10493280" cy="76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Data Type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2" name="Google Shape;1432;p65"/>
          <p:cNvSpPr/>
          <p:nvPr/>
        </p:nvSpPr>
        <p:spPr>
          <a:xfrm>
            <a:off x="4916160" y="1281600"/>
            <a:ext cx="2127960" cy="766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65"/>
          <p:cNvSpPr/>
          <p:nvPr/>
        </p:nvSpPr>
        <p:spPr>
          <a:xfrm>
            <a:off x="8461080" y="2720880"/>
            <a:ext cx="274212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Data Types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65"/>
          <p:cNvSpPr/>
          <p:nvPr/>
        </p:nvSpPr>
        <p:spPr>
          <a:xfrm>
            <a:off x="7557480" y="5060160"/>
            <a:ext cx="180612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Defined DT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p65"/>
          <p:cNvSpPr/>
          <p:nvPr/>
        </p:nvSpPr>
        <p:spPr>
          <a:xfrm>
            <a:off x="5818320" y="5060160"/>
            <a:ext cx="135468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Tuples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65"/>
          <p:cNvSpPr/>
          <p:nvPr/>
        </p:nvSpPr>
        <p:spPr>
          <a:xfrm>
            <a:off x="9887040" y="5060160"/>
            <a:ext cx="214668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Data Types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7" name="Google Shape;1437;p65"/>
          <p:cNvCxnSpPr>
            <a:stCxn id="1433" idx="2"/>
            <a:endCxn id="1436" idx="0"/>
          </p:cNvCxnSpPr>
          <p:nvPr/>
        </p:nvCxnSpPr>
        <p:spPr>
          <a:xfrm flipH="1" rot="-5400000">
            <a:off x="9513090" y="3612690"/>
            <a:ext cx="1766400" cy="1128300"/>
          </a:xfrm>
          <a:prstGeom prst="curvedConnector3">
            <a:avLst>
              <a:gd fmla="val 50013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38" name="Google Shape;1438;p65"/>
          <p:cNvCxnSpPr>
            <a:stCxn id="1433" idx="2"/>
            <a:endCxn id="1434" idx="0"/>
          </p:cNvCxnSpPr>
          <p:nvPr/>
        </p:nvCxnSpPr>
        <p:spPr>
          <a:xfrm rot="5400000">
            <a:off x="8263140" y="3491040"/>
            <a:ext cx="1766400" cy="1371600"/>
          </a:xfrm>
          <a:prstGeom prst="curvedConnector3">
            <a:avLst>
              <a:gd fmla="val 50013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39" name="Google Shape;1439;p65"/>
          <p:cNvCxnSpPr>
            <a:stCxn id="1433" idx="2"/>
            <a:endCxn id="1435" idx="0"/>
          </p:cNvCxnSpPr>
          <p:nvPr/>
        </p:nvCxnSpPr>
        <p:spPr>
          <a:xfrm rot="5400000">
            <a:off x="7280640" y="2508540"/>
            <a:ext cx="1766400" cy="3336600"/>
          </a:xfrm>
          <a:prstGeom prst="curvedConnector3">
            <a:avLst>
              <a:gd fmla="val 50013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40" name="Google Shape;1440;p65"/>
          <p:cNvSpPr/>
          <p:nvPr/>
        </p:nvSpPr>
        <p:spPr>
          <a:xfrm>
            <a:off x="4310640" y="2507400"/>
            <a:ext cx="3582000" cy="116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decisions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1" name="Google Shape;1441;p65"/>
          <p:cNvSpPr/>
          <p:nvPr/>
        </p:nvSpPr>
        <p:spPr>
          <a:xfrm>
            <a:off x="2305080" y="5018400"/>
            <a:ext cx="1354680" cy="47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65"/>
          <p:cNvSpPr/>
          <p:nvPr/>
        </p:nvSpPr>
        <p:spPr>
          <a:xfrm>
            <a:off x="157680" y="4916160"/>
            <a:ext cx="135468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3" name="Google Shape;1443;p65"/>
          <p:cNvSpPr/>
          <p:nvPr/>
        </p:nvSpPr>
        <p:spPr>
          <a:xfrm>
            <a:off x="4559040" y="5002920"/>
            <a:ext cx="93996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	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4" name="Google Shape;1444;p65"/>
          <p:cNvCxnSpPr>
            <a:stCxn id="1440" idx="2"/>
            <a:endCxn id="1443" idx="0"/>
          </p:cNvCxnSpPr>
          <p:nvPr/>
        </p:nvCxnSpPr>
        <p:spPr>
          <a:xfrm rot="5400000">
            <a:off x="4899990" y="3801150"/>
            <a:ext cx="1330800" cy="1072500"/>
          </a:xfrm>
          <a:prstGeom prst="curvedConnector3">
            <a:avLst>
              <a:gd fmla="val 50031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45" name="Google Shape;1445;p65"/>
          <p:cNvCxnSpPr>
            <a:stCxn id="1446" idx="2"/>
            <a:endCxn id="1442" idx="0"/>
          </p:cNvCxnSpPr>
          <p:nvPr/>
        </p:nvCxnSpPr>
        <p:spPr>
          <a:xfrm rot="5400000">
            <a:off x="637620" y="3347040"/>
            <a:ext cx="1766400" cy="1371600"/>
          </a:xfrm>
          <a:prstGeom prst="curvedConnector3">
            <a:avLst>
              <a:gd fmla="val 50013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47" name="Google Shape;1447;p65"/>
          <p:cNvCxnSpPr>
            <a:stCxn id="1446" idx="2"/>
            <a:endCxn id="1441" idx="0"/>
          </p:cNvCxnSpPr>
          <p:nvPr/>
        </p:nvCxnSpPr>
        <p:spPr>
          <a:xfrm flipH="1" rot="-5400000">
            <a:off x="1660170" y="3696090"/>
            <a:ext cx="1868700" cy="775800"/>
          </a:xfrm>
          <a:prstGeom prst="curvedConnector3">
            <a:avLst>
              <a:gd fmla="val 50001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48" name="Google Shape;1448;p65"/>
          <p:cNvCxnSpPr>
            <a:stCxn id="1432" idx="2"/>
            <a:endCxn id="1433" idx="0"/>
          </p:cNvCxnSpPr>
          <p:nvPr/>
        </p:nvCxnSpPr>
        <p:spPr>
          <a:xfrm flipH="1" rot="-5400000">
            <a:off x="7569540" y="458280"/>
            <a:ext cx="673200" cy="3852000"/>
          </a:xfrm>
          <a:prstGeom prst="curvedConnector3">
            <a:avLst>
              <a:gd fmla="val 50027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49" name="Google Shape;1449;p65"/>
          <p:cNvCxnSpPr>
            <a:stCxn id="1432" idx="2"/>
            <a:endCxn id="1440" idx="0"/>
          </p:cNvCxnSpPr>
          <p:nvPr/>
        </p:nvCxnSpPr>
        <p:spPr>
          <a:xfrm flipH="1" rot="-5400000">
            <a:off x="5811090" y="2216730"/>
            <a:ext cx="459600" cy="121500"/>
          </a:xfrm>
          <a:prstGeom prst="curvedConnector3">
            <a:avLst>
              <a:gd fmla="val 50013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46" name="Google Shape;1446;p65"/>
          <p:cNvSpPr/>
          <p:nvPr/>
        </p:nvSpPr>
        <p:spPr>
          <a:xfrm>
            <a:off x="1142640" y="2576880"/>
            <a:ext cx="212796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Loops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0" name="Google Shape;1450;p65"/>
          <p:cNvCxnSpPr>
            <a:stCxn id="1432" idx="2"/>
            <a:endCxn id="1446" idx="0"/>
          </p:cNvCxnSpPr>
          <p:nvPr/>
        </p:nvCxnSpPr>
        <p:spPr>
          <a:xfrm rot="5400000">
            <a:off x="3828840" y="425580"/>
            <a:ext cx="529200" cy="3773400"/>
          </a:xfrm>
          <a:prstGeom prst="curvedConnector3">
            <a:avLst>
              <a:gd fmla="val 50034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ransition spd="slow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‪JupyterLab - Google Chrome‬" id="1455" name="Google Shape;1455;p66"/>
          <p:cNvPicPr preferRelativeResize="0"/>
          <p:nvPr/>
        </p:nvPicPr>
        <p:blipFill rotWithShape="1">
          <a:blip r:embed="rId3">
            <a:alphaModFix/>
          </a:blip>
          <a:srcRect b="4669" l="29880" r="7752" t="35280"/>
          <a:stretch/>
        </p:blipFill>
        <p:spPr>
          <a:xfrm>
            <a:off x="962640" y="559800"/>
            <a:ext cx="10266120" cy="5737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‪JupyterLab - Google Chrome‬" id="1461" name="Google Shape;1461;p67"/>
          <p:cNvPicPr preferRelativeResize="0"/>
          <p:nvPr/>
        </p:nvPicPr>
        <p:blipFill rotWithShape="1">
          <a:blip r:embed="rId3">
            <a:alphaModFix/>
          </a:blip>
          <a:srcRect b="2849" l="29303" r="7416" t="32939"/>
          <a:stretch/>
        </p:blipFill>
        <p:spPr>
          <a:xfrm>
            <a:off x="946440" y="217440"/>
            <a:ext cx="10699200" cy="6086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‪JupyterLab - Google Chrome‬" id="1466" name="Google Shape;1466;p68"/>
          <p:cNvPicPr preferRelativeResize="0"/>
          <p:nvPr/>
        </p:nvPicPr>
        <p:blipFill rotWithShape="1">
          <a:blip r:embed="rId3">
            <a:alphaModFix/>
          </a:blip>
          <a:srcRect b="1548" l="28102" r="4115" t="26258"/>
          <a:stretch/>
        </p:blipFill>
        <p:spPr>
          <a:xfrm>
            <a:off x="320040" y="653040"/>
            <a:ext cx="11475000" cy="5779440"/>
          </a:xfrm>
          <a:prstGeom prst="rect">
            <a:avLst/>
          </a:prstGeom>
          <a:noFill/>
          <a:ln>
            <a:noFill/>
          </a:ln>
        </p:spPr>
      </p:pic>
      <p:sp>
        <p:nvSpPr>
          <p:cNvPr id="1467" name="Google Shape;1467;p68"/>
          <p:cNvSpPr txBox="1"/>
          <p:nvPr>
            <p:ph type="title"/>
          </p:nvPr>
        </p:nvSpPr>
        <p:spPr>
          <a:xfrm>
            <a:off x="818280" y="188280"/>
            <a:ext cx="10493280" cy="46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ct val="100000"/>
              <a:buFont typeface="Arial"/>
              <a:buNone/>
            </a:pPr>
            <a:r>
              <a:rPr lang="en-US"/>
              <a:t>Nested Conditions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69"/>
          <p:cNvSpPr txBox="1"/>
          <p:nvPr>
            <p:ph type="title"/>
          </p:nvPr>
        </p:nvSpPr>
        <p:spPr>
          <a:xfrm>
            <a:off x="818280" y="188280"/>
            <a:ext cx="10493280" cy="76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Data Type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3" name="Google Shape;1473;p69"/>
          <p:cNvSpPr/>
          <p:nvPr/>
        </p:nvSpPr>
        <p:spPr>
          <a:xfrm>
            <a:off x="4916160" y="1281600"/>
            <a:ext cx="2127960" cy="766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4" name="Google Shape;1474;p69"/>
          <p:cNvSpPr/>
          <p:nvPr/>
        </p:nvSpPr>
        <p:spPr>
          <a:xfrm>
            <a:off x="8461080" y="2720880"/>
            <a:ext cx="274212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Data Types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69"/>
          <p:cNvSpPr/>
          <p:nvPr/>
        </p:nvSpPr>
        <p:spPr>
          <a:xfrm>
            <a:off x="7557480" y="5060160"/>
            <a:ext cx="180612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Defined DT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69"/>
          <p:cNvSpPr/>
          <p:nvPr/>
        </p:nvSpPr>
        <p:spPr>
          <a:xfrm>
            <a:off x="5818320" y="5060160"/>
            <a:ext cx="135468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Tuples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7" name="Google Shape;1477;p69"/>
          <p:cNvSpPr/>
          <p:nvPr/>
        </p:nvSpPr>
        <p:spPr>
          <a:xfrm>
            <a:off x="9887040" y="5060160"/>
            <a:ext cx="214668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Data Types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8" name="Google Shape;1478;p69"/>
          <p:cNvCxnSpPr>
            <a:stCxn id="1474" idx="2"/>
            <a:endCxn id="1477" idx="0"/>
          </p:cNvCxnSpPr>
          <p:nvPr/>
        </p:nvCxnSpPr>
        <p:spPr>
          <a:xfrm flipH="1" rot="-5400000">
            <a:off x="9513090" y="3612690"/>
            <a:ext cx="1766400" cy="1128300"/>
          </a:xfrm>
          <a:prstGeom prst="curvedConnector3">
            <a:avLst>
              <a:gd fmla="val 50013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79" name="Google Shape;1479;p69"/>
          <p:cNvCxnSpPr>
            <a:stCxn id="1474" idx="2"/>
            <a:endCxn id="1475" idx="0"/>
          </p:cNvCxnSpPr>
          <p:nvPr/>
        </p:nvCxnSpPr>
        <p:spPr>
          <a:xfrm rot="5400000">
            <a:off x="8263140" y="3491040"/>
            <a:ext cx="1766400" cy="1371600"/>
          </a:xfrm>
          <a:prstGeom prst="curvedConnector3">
            <a:avLst>
              <a:gd fmla="val 50013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80" name="Google Shape;1480;p69"/>
          <p:cNvCxnSpPr>
            <a:stCxn id="1474" idx="2"/>
            <a:endCxn id="1476" idx="0"/>
          </p:cNvCxnSpPr>
          <p:nvPr/>
        </p:nvCxnSpPr>
        <p:spPr>
          <a:xfrm rot="5400000">
            <a:off x="7280640" y="2508540"/>
            <a:ext cx="1766400" cy="3336600"/>
          </a:xfrm>
          <a:prstGeom prst="curvedConnector3">
            <a:avLst>
              <a:gd fmla="val 50013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81" name="Google Shape;1481;p69"/>
          <p:cNvSpPr/>
          <p:nvPr/>
        </p:nvSpPr>
        <p:spPr>
          <a:xfrm>
            <a:off x="4398840" y="2648880"/>
            <a:ext cx="212796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decision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2" name="Google Shape;1482;p69"/>
          <p:cNvSpPr/>
          <p:nvPr/>
        </p:nvSpPr>
        <p:spPr>
          <a:xfrm>
            <a:off x="2864880" y="4911840"/>
            <a:ext cx="1354680" cy="470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</a:t>
            </a:r>
            <a:endParaRPr b="1" sz="1800" u="none" strike="noStrike">
              <a:solidFill>
                <a:srgbClr val="000000"/>
              </a:solidFill>
            </a:endParaRPr>
          </a:p>
        </p:txBody>
      </p:sp>
      <p:sp>
        <p:nvSpPr>
          <p:cNvPr id="1483" name="Google Shape;1483;p69"/>
          <p:cNvSpPr/>
          <p:nvPr/>
        </p:nvSpPr>
        <p:spPr>
          <a:xfrm>
            <a:off x="157680" y="4916160"/>
            <a:ext cx="135468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endParaRPr b="1" sz="1800" u="none" strike="noStrike">
              <a:solidFill>
                <a:srgbClr val="000000"/>
              </a:solidFill>
            </a:endParaRPr>
          </a:p>
        </p:txBody>
      </p:sp>
      <p:sp>
        <p:nvSpPr>
          <p:cNvPr id="1484" name="Google Shape;1484;p69"/>
          <p:cNvSpPr/>
          <p:nvPr/>
        </p:nvSpPr>
        <p:spPr>
          <a:xfrm>
            <a:off x="4559040" y="5002920"/>
            <a:ext cx="939960" cy="572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	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5" name="Google Shape;1485;p69"/>
          <p:cNvCxnSpPr>
            <a:stCxn id="1481" idx="2"/>
            <a:endCxn id="1484" idx="0"/>
          </p:cNvCxnSpPr>
          <p:nvPr/>
        </p:nvCxnSpPr>
        <p:spPr>
          <a:xfrm rot="5400000">
            <a:off x="4355220" y="3895440"/>
            <a:ext cx="1781400" cy="433800"/>
          </a:xfrm>
          <a:prstGeom prst="curvedConnector3">
            <a:avLst>
              <a:gd fmla="val 50017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86" name="Google Shape;1486;p69"/>
          <p:cNvCxnSpPr>
            <a:stCxn id="1487" idx="2"/>
            <a:endCxn id="1483" idx="0"/>
          </p:cNvCxnSpPr>
          <p:nvPr/>
        </p:nvCxnSpPr>
        <p:spPr>
          <a:xfrm rot="5400000">
            <a:off x="938160" y="3587880"/>
            <a:ext cx="1225200" cy="1431600"/>
          </a:xfrm>
          <a:prstGeom prst="curvedConnector3">
            <a:avLst>
              <a:gd fmla="val 50009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88" name="Google Shape;1488;p69"/>
          <p:cNvCxnSpPr>
            <a:stCxn id="1487" idx="2"/>
            <a:endCxn id="1482" idx="0"/>
          </p:cNvCxnSpPr>
          <p:nvPr/>
        </p:nvCxnSpPr>
        <p:spPr>
          <a:xfrm flipH="1" rot="-5400000">
            <a:off x="2294010" y="3663630"/>
            <a:ext cx="1220700" cy="1275600"/>
          </a:xfrm>
          <a:prstGeom prst="curvedConnector3">
            <a:avLst>
              <a:gd fmla="val 50016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89" name="Google Shape;1489;p69"/>
          <p:cNvCxnSpPr>
            <a:stCxn id="1473" idx="2"/>
            <a:endCxn id="1474" idx="0"/>
          </p:cNvCxnSpPr>
          <p:nvPr/>
        </p:nvCxnSpPr>
        <p:spPr>
          <a:xfrm flipH="1" rot="-5400000">
            <a:off x="7569540" y="458280"/>
            <a:ext cx="673200" cy="3852000"/>
          </a:xfrm>
          <a:prstGeom prst="curvedConnector3">
            <a:avLst>
              <a:gd fmla="val 50027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90" name="Google Shape;1490;p69"/>
          <p:cNvCxnSpPr>
            <a:stCxn id="1473" idx="2"/>
            <a:endCxn id="1481" idx="0"/>
          </p:cNvCxnSpPr>
          <p:nvPr/>
        </p:nvCxnSpPr>
        <p:spPr>
          <a:xfrm rot="5400000">
            <a:off x="5420940" y="2089680"/>
            <a:ext cx="601200" cy="517200"/>
          </a:xfrm>
          <a:prstGeom prst="curvedConnector3">
            <a:avLst>
              <a:gd fmla="val 50060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87" name="Google Shape;1487;p69"/>
          <p:cNvSpPr/>
          <p:nvPr/>
        </p:nvSpPr>
        <p:spPr>
          <a:xfrm>
            <a:off x="596880" y="2270160"/>
            <a:ext cx="3339360" cy="1420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Loops</a:t>
            </a:r>
            <a:endParaRPr b="1" sz="1800" u="none" strike="noStrike">
              <a:solidFill>
                <a:srgbClr val="000000"/>
              </a:solidFill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1" name="Google Shape;1491;p69"/>
          <p:cNvCxnSpPr>
            <a:stCxn id="1473" idx="2"/>
            <a:endCxn id="1487" idx="0"/>
          </p:cNvCxnSpPr>
          <p:nvPr/>
        </p:nvCxnSpPr>
        <p:spPr>
          <a:xfrm rot="5400000">
            <a:off x="4011990" y="302130"/>
            <a:ext cx="222600" cy="3713700"/>
          </a:xfrm>
          <a:prstGeom prst="curvedConnector3">
            <a:avLst>
              <a:gd fmla="val 50054" name="adj1"/>
            </a:avLst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ransition spd="slow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70"/>
          <p:cNvSpPr txBox="1"/>
          <p:nvPr>
            <p:ph type="title"/>
          </p:nvPr>
        </p:nvSpPr>
        <p:spPr>
          <a:xfrm>
            <a:off x="818280" y="188280"/>
            <a:ext cx="10493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</a:t>
            </a:r>
            <a:r>
              <a:rPr lang="en-US"/>
              <a:t>Iteration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7" name="Google Shape;1497;p70"/>
          <p:cNvSpPr txBox="1"/>
          <p:nvPr/>
        </p:nvSpPr>
        <p:spPr>
          <a:xfrm>
            <a:off x="945000" y="2405700"/>
            <a:ext cx="399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pic>
        <p:nvPicPr>
          <p:cNvPr id="1498" name="Google Shape;149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3850" y="1655725"/>
            <a:ext cx="4158422" cy="174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9" name="Google Shape;1499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1050" y="1655725"/>
            <a:ext cx="4289425" cy="14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0" name="Google Shape;1500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556225"/>
            <a:ext cx="11887198" cy="2491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‪JupyterLab - Google Chrome‬" id="1506" name="Google Shape;1506;p71"/>
          <p:cNvPicPr preferRelativeResize="0"/>
          <p:nvPr/>
        </p:nvPicPr>
        <p:blipFill rotWithShape="1">
          <a:blip r:embed="rId3">
            <a:alphaModFix/>
          </a:blip>
          <a:srcRect b="9463" l="19989" r="48422" t="20298"/>
          <a:stretch/>
        </p:blipFill>
        <p:spPr>
          <a:xfrm>
            <a:off x="3633840" y="1283400"/>
            <a:ext cx="4333680" cy="5187960"/>
          </a:xfrm>
          <a:prstGeom prst="rect">
            <a:avLst/>
          </a:prstGeom>
          <a:noFill/>
          <a:ln>
            <a:noFill/>
          </a:ln>
        </p:spPr>
      </p:pic>
      <p:sp>
        <p:nvSpPr>
          <p:cNvPr id="1507" name="Google Shape;1507;p71"/>
          <p:cNvSpPr txBox="1"/>
          <p:nvPr>
            <p:ph type="title"/>
          </p:nvPr>
        </p:nvSpPr>
        <p:spPr>
          <a:xfrm>
            <a:off x="818280" y="188280"/>
            <a:ext cx="10493280" cy="88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E10D"/>
              </a:buClr>
              <a:buSzPts val="4000"/>
              <a:buFont typeface="Arial"/>
              <a:buNone/>
            </a:pPr>
            <a:r>
              <a:rPr lang="en-US"/>
              <a:t>Do it In Python</a:t>
            </a:r>
            <a:endParaRPr b="1" i="0" sz="40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نسق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