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7" r:id="rId6"/>
    <p:sldId id="266" r:id="rId7"/>
    <p:sldId id="260" r:id="rId8"/>
    <p:sldId id="268" r:id="rId9"/>
    <p:sldId id="269" r:id="rId10"/>
    <p:sldId id="270" r:id="rId11"/>
    <p:sldId id="271" r:id="rId12"/>
    <p:sldId id="261" r:id="rId13"/>
    <p:sldId id="262" r:id="rId14"/>
    <p:sldId id="272" r:id="rId15"/>
    <p:sldId id="274" r:id="rId16"/>
    <p:sldId id="275" r:id="rId17"/>
    <p:sldId id="276" r:id="rId18"/>
    <p:sldId id="273" r:id="rId19"/>
    <p:sldId id="263" r:id="rId20"/>
    <p:sldId id="264" r:id="rId21"/>
    <p:sldId id="26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186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maven.apache.org/pom.html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aliebraheem-fun.github.io/Modern-Programming-Technologies/exam.html" TargetMode="External"/><Relationship Id="rId12" Type="http://schemas.openxmlformats.org/officeDocument/2006/relationships/hyperlink" Target="https://docs.spring.io/spring-framework/referenc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hyperlink" Target="https://www.h2database.com/" TargetMode="External"/><Relationship Id="rId5" Type="http://schemas.openxmlformats.org/officeDocument/2006/relationships/image" Target="../media/image33.png"/><Relationship Id="rId10" Type="http://schemas.openxmlformats.org/officeDocument/2006/relationships/hyperlink" Target="https://docs.hibernate.org/orm/6.4/userguide/html_single/" TargetMode="External"/><Relationship Id="rId4" Type="http://schemas.openxmlformats.org/officeDocument/2006/relationships/image" Target="../media/image12.png"/><Relationship Id="rId9" Type="http://schemas.openxmlformats.org/officeDocument/2006/relationships/hyperlink" Target="https://docs.oracle.com/javase/tutorial/jdbc/basics/prepared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4008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70408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7315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" y="141732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481328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5087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320040" y="219456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258568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320040" y="297180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035808"/>
            <a:ext cx="502920" cy="5029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480560" y="6400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6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480560" y="123444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Системы сборки,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JDBC и Hibernate</a:t>
            </a:r>
            <a:endParaRPr lang="en-US" sz="3400" dirty="0"/>
          </a:p>
        </p:txBody>
      </p:sp>
      <p:sp>
        <p:nvSpPr>
          <p:cNvPr id="17" name="Shape 11"/>
          <p:cNvSpPr/>
          <p:nvPr/>
        </p:nvSpPr>
        <p:spPr>
          <a:xfrm>
            <a:off x="4480560" y="3246120"/>
            <a:ext cx="448056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4480560" y="33832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3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пройти путь от сборки проекта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B3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работы с данными через ORM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480560" y="4663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Современные технологии программирования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занятия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логика: от ручной сборки к высокоуровневой работе с данными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50876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533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26464"/>
            <a:ext cx="64008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148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" y="2606040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проекта,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зависимости, сборка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828800" y="2103120"/>
            <a:ext cx="201168" cy="0"/>
          </a:xfrm>
          <a:prstGeom prst="line">
            <a:avLst/>
          </a:prstGeom>
          <a:noFill/>
          <a:ln w="25400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039112" y="132588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39112" y="1325880"/>
            <a:ext cx="150876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039112" y="13533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1426464"/>
            <a:ext cx="64008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39112" y="2148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CRUD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039112" y="2606040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напрямую,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безопасные запросы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547872" y="2103120"/>
            <a:ext cx="201168" cy="0"/>
          </a:xfrm>
          <a:prstGeom prst="line">
            <a:avLst/>
          </a:prstGeom>
          <a:noFill/>
          <a:ln w="25400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758184" y="132588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758184" y="1325880"/>
            <a:ext cx="150876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758184" y="13533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1426464"/>
            <a:ext cx="64008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58184" y="2148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758184" y="2606040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Скрыть SQL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интерфейсом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266944" y="2103120"/>
            <a:ext cx="201168" cy="0"/>
          </a:xfrm>
          <a:prstGeom prst="line">
            <a:avLst/>
          </a:prstGeom>
          <a:noFill/>
          <a:ln w="25400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477256" y="132588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477256" y="1325880"/>
            <a:ext cx="1508760" cy="77724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477256" y="13533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1426464"/>
            <a:ext cx="640080" cy="5486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77256" y="2148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477256" y="2606040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Java-объекты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таблиц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986016" y="2103120"/>
            <a:ext cx="201168" cy="0"/>
          </a:xfrm>
          <a:prstGeom prst="line">
            <a:avLst/>
          </a:prstGeom>
          <a:noFill/>
          <a:ln w="25400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196328" y="132588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196328" y="1325880"/>
            <a:ext cx="150876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7196328" y="13533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1426464"/>
            <a:ext cx="640080" cy="5486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96328" y="2148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196328" y="2606040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и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о работе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строится на предыдущем — понимайте, зачем переход на следующий уровень.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описывается — не делается вручную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502920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5029200" cy="347472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75488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&lt;project&gt;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</a:t>
            </a: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com.university</a:t>
            </a: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</a:t>
            </a: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movies-app</a:t>
            </a: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</a:t>
            </a: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1.0-SNAPSHOT</a:t>
            </a: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&lt;dependencies&gt;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&lt;dependency&gt;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&lt;groupId&gt;</a:t>
            </a: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com.h2database</a:t>
            </a: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&lt;artifactId&gt;</a:t>
            </a: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&lt;/dependency&gt;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&lt;/dependencies&gt;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&lt;/project&gt;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32120" y="1170432"/>
            <a:ext cx="3291840" cy="1078992"/>
          </a:xfrm>
          <a:prstGeom prst="rect">
            <a:avLst/>
          </a:prstGeom>
          <a:solidFill>
            <a:srgbClr val="132235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0" y="1371600"/>
            <a:ext cx="566928" cy="5669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1426464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0" y="12435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 — идентичность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groupId + artifactId + version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3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уникально определяют артефакт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32120" y="2359152"/>
            <a:ext cx="3291840" cy="1078992"/>
          </a:xfrm>
          <a:prstGeom prst="rect">
            <a:avLst/>
          </a:prstGeom>
          <a:solidFill>
            <a:srgbClr val="132235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669280" y="2560320"/>
            <a:ext cx="566928" cy="5669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2615184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0" y="24323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0" y="276148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Библиотеки подключаются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3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&lt;dependency&gt;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532120" y="3547872"/>
            <a:ext cx="3291840" cy="1078992"/>
          </a:xfrm>
          <a:prstGeom prst="rect">
            <a:avLst/>
          </a:prstGeom>
          <a:solidFill>
            <a:srgbClr val="132235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669280" y="3749040"/>
            <a:ext cx="566928" cy="566928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144" y="3803904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36210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400800" y="39502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→ test → package → clean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3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запускать по частям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13223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Команды: </a:t>
            </a: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compile  mvn package  mvn clean  </a:t>
            </a: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dependency:tree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— прямой разговор с базой данных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16002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978408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15727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Driver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82880" y="1993392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драйвера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/ MySQL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1920240"/>
            <a:ext cx="155448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938528" y="91440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938528" y="914400"/>
            <a:ext cx="1600200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456" y="978408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38528" y="15727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Connection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938528" y="1993392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соединение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getConnection()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920240"/>
            <a:ext cx="155448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694176" y="91440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3694176" y="914400"/>
            <a:ext cx="1600200" cy="658368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104" y="978408"/>
            <a:ext cx="475488" cy="4754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694176" y="15727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PreparedStatement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3694176" y="1993392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SQL-шаблон + параметры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(безопасно!)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1920240"/>
            <a:ext cx="155448" cy="2560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449824" y="91440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5449824" y="914400"/>
            <a:ext cx="1600200" cy="65836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978408"/>
            <a:ext cx="475488" cy="47548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49824" y="15727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ResultSet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5449824" y="1993392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Читаем строки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результата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1920240"/>
            <a:ext cx="155448" cy="25603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205472" y="91440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0"/>
          <p:cNvSpPr/>
          <p:nvPr/>
        </p:nvSpPr>
        <p:spPr>
          <a:xfrm>
            <a:off x="7205472" y="914400"/>
            <a:ext cx="16002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978408"/>
            <a:ext cx="475488" cy="47548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205472" y="15727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Close</a:t>
            </a:r>
            <a:endParaRPr lang="en-US" sz="1050" dirty="0"/>
          </a:p>
        </p:txBody>
      </p:sp>
      <p:sp>
        <p:nvSpPr>
          <p:cNvPr id="33" name="Text 22"/>
          <p:cNvSpPr/>
          <p:nvPr/>
        </p:nvSpPr>
        <p:spPr>
          <a:xfrm>
            <a:off x="7205472" y="1993392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закрывает всё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182880" y="3337560"/>
            <a:ext cx="5120640" cy="1627632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4"/>
          <p:cNvSpPr/>
          <p:nvPr/>
        </p:nvSpPr>
        <p:spPr>
          <a:xfrm>
            <a:off x="347472" y="3456432"/>
            <a:ext cx="4846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sql = "SELECT * FROM movies\n  WHERE LOWER(title) LIKE LOWER(?)";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(Connection con = ds.getConnection();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PreparedStatement ps = con.prepareStatement(sql))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ps.setString(1, "%" + titlePart + "%");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ResultSet rs = ps.executeQuery();</a:t>
            </a:r>
            <a:endParaRPr lang="en-US" sz="105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3410712"/>
            <a:ext cx="347472" cy="34747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943600" y="34015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НЕ делай: sql + userInput (SQL-инъекция!)</a:t>
            </a:r>
            <a:endParaRPr lang="en-US" sz="12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3886200"/>
            <a:ext cx="347472" cy="34747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943600" y="38770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PreparedStatement разделяет SQL и данные</a:t>
            </a:r>
            <a:endParaRPr lang="en-US" sz="12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4361688"/>
            <a:ext cx="347472" cy="34747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943600" y="43525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try-with-resources закрывает ресурсы автоматически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53C1FF-29CE-AA2D-1C79-3DE4AE1BC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490"/>
            <a:ext cx="9144000" cy="484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1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3DD7B6-45F8-FAB8-C38D-A5D6C895E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33"/>
            <a:ext cx="9144000" cy="484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63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28016"/>
            <a:ext cx="7772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— интерфейс между кодом и SQL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560320" cy="2606040"/>
          </a:xfrm>
          <a:prstGeom prst="rect">
            <a:avLst/>
          </a:prstGeom>
          <a:solidFill>
            <a:srgbClr val="132235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56032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987552"/>
            <a:ext cx="50292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/ Test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Вызывает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3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методы DAO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103120"/>
            <a:ext cx="320040" cy="320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0400" y="914400"/>
            <a:ext cx="2560320" cy="2606040"/>
          </a:xfrm>
          <a:prstGeom prst="rect">
            <a:avLst/>
          </a:prstGeom>
          <a:solidFill>
            <a:srgbClr val="132235"/>
          </a:solidFill>
          <a:ln w="1270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00400" y="914400"/>
            <a:ext cx="2560320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987552"/>
            <a:ext cx="50292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004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MovieDAO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(interface)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20040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3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findByTitle()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3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3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delete()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103120"/>
            <a:ext cx="320040" cy="3200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26480" y="914400"/>
            <a:ext cx="2560320" cy="2606040"/>
          </a:xfrm>
          <a:prstGeom prst="rect">
            <a:avLst/>
          </a:prstGeom>
          <a:solidFill>
            <a:srgbClr val="132235"/>
          </a:solidFill>
          <a:ln w="12700">
            <a:solidFill>
              <a:srgbClr val="00695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126480" y="914400"/>
            <a:ext cx="2560320" cy="594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987552"/>
            <a:ext cx="50292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2648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MovieDAOImpl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12648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+ JDBC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3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внутри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274320" y="3657600"/>
            <a:ext cx="8595360" cy="1353312"/>
          </a:xfrm>
          <a:prstGeom prst="rect">
            <a:avLst/>
          </a:prstGeom>
          <a:solidFill>
            <a:srgbClr val="1A003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457200" y="3703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Транзакции (Задание 3b)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57200" y="4096512"/>
            <a:ext cx="53035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con.setAutoCommit(false);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 debit(); credit(); con.commit(); }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(Exception e) { con.rollback(); }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943600" y="3767328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только если ОБЕ операции прошли.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— rollback и деньги не уходят.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923106-B921-9824-CAD2-503D26689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754"/>
            <a:ext cx="9144000" cy="4899991"/>
          </a:xfrm>
          <a:prstGeom prst="rect">
            <a:avLst/>
          </a:prstGeom>
        </p:spPr>
      </p:pic>
      <p:pic>
        <p:nvPicPr>
          <p:cNvPr id="5" name="Graphic 4" descr="Badge 1 outline">
            <a:extLst>
              <a:ext uri="{FF2B5EF4-FFF2-40B4-BE49-F238E27FC236}">
                <a16:creationId xmlns:a16="http://schemas.microsoft.com/office/drawing/2014/main" id="{70591C1A-5C3D-DF11-5AEA-54131416C1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151" y="1835651"/>
            <a:ext cx="230176" cy="23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95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D9DC4D-3F54-9730-40DC-C88119E9E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27"/>
            <a:ext cx="9144000" cy="4879445"/>
          </a:xfrm>
          <a:prstGeom prst="rect">
            <a:avLst/>
          </a:prstGeom>
        </p:spPr>
      </p:pic>
      <p:pic>
        <p:nvPicPr>
          <p:cNvPr id="14" name="Graphic 13" descr="Badge outline">
            <a:extLst>
              <a:ext uri="{FF2B5EF4-FFF2-40B4-BE49-F238E27FC236}">
                <a16:creationId xmlns:a16="http://schemas.microsoft.com/office/drawing/2014/main" id="{EE5FB326-61F0-DB8A-6D0B-F61623F71F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26" y="1978618"/>
            <a:ext cx="230176" cy="23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4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0894C1-0DE0-A0A3-0BD1-B96AA66B2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464"/>
            <a:ext cx="9144000" cy="4898571"/>
          </a:xfrm>
          <a:prstGeom prst="rect">
            <a:avLst/>
          </a:prstGeom>
        </p:spPr>
      </p:pic>
      <p:pic>
        <p:nvPicPr>
          <p:cNvPr id="15" name="Graphic 14" descr="Badge 3 outline">
            <a:extLst>
              <a:ext uri="{FF2B5EF4-FFF2-40B4-BE49-F238E27FC236}">
                <a16:creationId xmlns:a16="http://schemas.microsoft.com/office/drawing/2014/main" id="{41A7A234-25D8-2FA4-849E-E8EA3AEFB6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290" y="2128617"/>
            <a:ext cx="230176" cy="23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8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825712-220F-FF75-B67F-2B9BD4E13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156"/>
            <a:ext cx="9144000" cy="4793187"/>
          </a:xfrm>
          <a:prstGeom prst="rect">
            <a:avLst/>
          </a:prstGeom>
        </p:spPr>
      </p:pic>
      <p:pic>
        <p:nvPicPr>
          <p:cNvPr id="16" name="Graphic 15" descr="Badge 4 outline">
            <a:extLst>
              <a:ext uri="{FF2B5EF4-FFF2-40B4-BE49-F238E27FC236}">
                <a16:creationId xmlns:a16="http://schemas.microsoft.com/office/drawing/2014/main" id="{C7A68419-988B-18DA-C6D6-525A9B89E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912" y="1730326"/>
            <a:ext cx="230176" cy="23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54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28016"/>
            <a:ext cx="7772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 — Java-объекты вместо SQL таблиц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2926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86968"/>
            <a:ext cx="2926080" cy="45720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869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Class (Movie.java)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697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7F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
</a:t>
            </a: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@Table(name=</a:t>
            </a:r>
            <a:r>
              <a:rPr lang="en-US" sz="11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"movies"</a:t>
            </a: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Movie {
</a:t>
            </a:r>
            <a:r>
              <a:rPr lang="en-US" sz="1100" dirty="0">
                <a:solidFill>
                  <a:srgbClr val="F57F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@Id @GeneratedValue
</a:t>
            </a: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Integer </a:t>
            </a: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id;
</a:t>
            </a: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@Column(name=</a:t>
            </a:r>
            <a:r>
              <a:rPr lang="en-US" sz="11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"title"</a:t>
            </a: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  private String </a:t>
            </a: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title;
</a:t>
            </a:r>
            <a:r>
              <a:rPr lang="en-US" sz="110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getters / setters
</a:t>
            </a: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360C"/>
                </a:solidFill>
              </a:rPr>
              <a:t>⟺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BF360C"/>
                </a:solidFill>
              </a:rPr>
              <a:t>ORM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389120" y="886968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886968"/>
            <a:ext cx="2743200" cy="45720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886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Table (movies)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417320"/>
          <a:ext cx="2743200" cy="10363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year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51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Interstellar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51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The Matrix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51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Dune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360920" y="914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аннотации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60920" y="1325880"/>
            <a:ext cx="1645920" cy="457200"/>
          </a:xfrm>
          <a:prstGeom prst="rect">
            <a:avLst/>
          </a:prstGeom>
          <a:solidFill>
            <a:srgbClr val="FBE9E7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06640" y="13441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06640" y="154533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— это таблица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360920" y="1847088"/>
            <a:ext cx="1645920" cy="457200"/>
          </a:xfrm>
          <a:prstGeom prst="rect">
            <a:avLst/>
          </a:prstGeom>
          <a:solidFill>
            <a:srgbClr val="FBE9E7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06640" y="186537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06640" y="206654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Первичный ключ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60920" y="2368296"/>
            <a:ext cx="1645920" cy="457200"/>
          </a:xfrm>
          <a:prstGeom prst="rect">
            <a:avLst/>
          </a:prstGeom>
          <a:solidFill>
            <a:srgbClr val="FBE9E7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406640" y="238658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@GeneratedValue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406640" y="2587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Авто-инкремент ID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360920" y="2889504"/>
            <a:ext cx="1645920" cy="457200"/>
          </a:xfrm>
          <a:prstGeom prst="rect">
            <a:avLst/>
          </a:prstGeom>
          <a:solidFill>
            <a:srgbClr val="FBE9E7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406640" y="29077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@Column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06640" y="31089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поля к столбцу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360920" y="3410712"/>
            <a:ext cx="1645920" cy="457200"/>
          </a:xfrm>
          <a:prstGeom prst="rect">
            <a:avLst/>
          </a:prstGeom>
          <a:solidFill>
            <a:srgbClr val="FBE9E7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406640" y="34290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406640" y="363016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контекст Hibernate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4320" y="4114800"/>
            <a:ext cx="859536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57200" y="41513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Запросы в Hibernate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442569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HQL:  </a:t>
            </a:r>
            <a:r>
              <a:rPr lang="en-US" sz="10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session.createQuery("FROM Movie WHERE title LIKE :t").setParameter("t", "%"+q+"%")  </a:t>
            </a:r>
            <a:r>
              <a:rPr lang="en-US" sz="1050" b="1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Criteria:  </a:t>
            </a:r>
            <a:r>
              <a:rPr lang="en-US" sz="10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cb.like(root.get("title"), "%"+q+"%")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Частые ошибки — избегай их!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28600" y="896112"/>
            <a:ext cx="8686800" cy="1280160"/>
          </a:xfrm>
          <a:prstGeom prst="rect">
            <a:avLst/>
          </a:prstGeom>
          <a:solidFill>
            <a:srgbClr val="12141F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84048" y="941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SQL-инъекция через конкатенацию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84048" y="1243584"/>
            <a:ext cx="4023360" cy="777240"/>
          </a:xfrm>
          <a:prstGeom prst="rect">
            <a:avLst/>
          </a:prstGeom>
          <a:solidFill>
            <a:srgbClr val="1A0000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4048" y="124358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Неправильно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CD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sql = "SELECT * FROM movies WHERE title = '" + input + "'";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45152" y="1243584"/>
            <a:ext cx="4114800" cy="777240"/>
          </a:xfrm>
          <a:prstGeom prst="rect">
            <a:avLst/>
          </a:prstGeom>
          <a:solidFill>
            <a:srgbClr val="001A00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45152" y="124358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Правильно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18304" y="146304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= con.prepareStatement("SELECT * FROM movies WHERE title LIKE ?");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ps.setString(1, "%" + input + "%");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28600" y="2286000"/>
            <a:ext cx="8686800" cy="1280160"/>
          </a:xfrm>
          <a:prstGeom prst="rect">
            <a:avLst/>
          </a:prstGeom>
          <a:solidFill>
            <a:srgbClr val="12141F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84048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закрыт Connection / Statement / ResultSet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4048" y="2633472"/>
            <a:ext cx="4023360" cy="777240"/>
          </a:xfrm>
          <a:prstGeom prst="rect">
            <a:avLst/>
          </a:prstGeom>
          <a:solidFill>
            <a:srgbClr val="1A0000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84048" y="26334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Неправильно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285292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CD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con = DriverManager.getConnection(url);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CD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(соединение не закрыто!)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45152" y="2633472"/>
            <a:ext cx="4114800" cy="777240"/>
          </a:xfrm>
          <a:prstGeom prst="rect">
            <a:avLst/>
          </a:prstGeom>
          <a:solidFill>
            <a:srgbClr val="001A00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645152" y="26334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Правильно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18304" y="285292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(Connection con = DriverManager.getConnection(url);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PreparedStatement ps = ...) { ... }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28600" y="3675888"/>
            <a:ext cx="8686800" cy="1280160"/>
          </a:xfrm>
          <a:prstGeom prst="rect">
            <a:avLst/>
          </a:prstGeom>
          <a:solidFill>
            <a:srgbClr val="12141F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84048" y="3721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HQL пишут имя таблицы вместо имени класса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84048" y="4023360"/>
            <a:ext cx="4023360" cy="777240"/>
          </a:xfrm>
          <a:prstGeom prst="rect">
            <a:avLst/>
          </a:prstGeom>
          <a:solidFill>
            <a:srgbClr val="1A0000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84048" y="40233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Неправильно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424281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CD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session.createQuery("FROM movies WHERE ...");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CD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ошибка: "movies" — это имя таблицы, не класса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645152" y="4023360"/>
            <a:ext cx="4114800" cy="777240"/>
          </a:xfrm>
          <a:prstGeom prst="rect">
            <a:avLst/>
          </a:prstGeom>
          <a:solidFill>
            <a:srgbClr val="001A00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645152" y="4023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Правильно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718304" y="424281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session.createQuery("FROM Movie WHERE ...");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правильно: "Movie" — имя Java-класса с @Entity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0D8DCE-AE33-3341-BC28-952DF769C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209"/>
            <a:ext cx="9144000" cy="4919082"/>
          </a:xfrm>
          <a:prstGeom prst="rect">
            <a:avLst/>
          </a:prstGeom>
        </p:spPr>
      </p:pic>
      <p:pic>
        <p:nvPicPr>
          <p:cNvPr id="4" name="Graphic 3" descr="Badge 1 outline">
            <a:extLst>
              <a:ext uri="{FF2B5EF4-FFF2-40B4-BE49-F238E27FC236}">
                <a16:creationId xmlns:a16="http://schemas.microsoft.com/office/drawing/2014/main" id="{CBA005F3-C80A-F6E6-885D-3586A5738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151" y="2546073"/>
            <a:ext cx="230176" cy="23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51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D1BBE0-6446-DC78-E008-8F1F11C37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262"/>
            <a:ext cx="9144000" cy="48569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ABB84C-AC88-20F1-F23D-E240CE96E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571"/>
            <a:ext cx="9144000" cy="4800357"/>
          </a:xfrm>
          <a:prstGeom prst="rect">
            <a:avLst/>
          </a:prstGeom>
        </p:spPr>
      </p:pic>
      <p:pic>
        <p:nvPicPr>
          <p:cNvPr id="6" name="Graphic 5" descr="Badge outline">
            <a:extLst>
              <a:ext uri="{FF2B5EF4-FFF2-40B4-BE49-F238E27FC236}">
                <a16:creationId xmlns:a16="http://schemas.microsoft.com/office/drawing/2014/main" id="{4DD711D3-5F21-F839-0935-C1BA0948DB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626" y="2400656"/>
            <a:ext cx="230176" cy="23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21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685750-8C5D-EA92-DAC2-C459C958E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475"/>
            <a:ext cx="9144000" cy="4870549"/>
          </a:xfrm>
          <a:prstGeom prst="rect">
            <a:avLst/>
          </a:prstGeom>
        </p:spPr>
      </p:pic>
      <p:pic>
        <p:nvPicPr>
          <p:cNvPr id="4" name="Graphic 3" descr="Badge outline">
            <a:extLst>
              <a:ext uri="{FF2B5EF4-FFF2-40B4-BE49-F238E27FC236}">
                <a16:creationId xmlns:a16="http://schemas.microsoft.com/office/drawing/2014/main" id="{6B346C01-3976-5F4A-FFB3-A0B62DE90E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26" y="2400656"/>
            <a:ext cx="230176" cy="23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07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AAEAC6-6694-9FA4-6967-FCB31B3CF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194"/>
            <a:ext cx="9144000" cy="4967111"/>
          </a:xfrm>
          <a:prstGeom prst="rect">
            <a:avLst/>
          </a:prstGeom>
        </p:spPr>
      </p:pic>
      <p:pic>
        <p:nvPicPr>
          <p:cNvPr id="4" name="Graphic 3" descr="Badge outline">
            <a:extLst>
              <a:ext uri="{FF2B5EF4-FFF2-40B4-BE49-F238E27FC236}">
                <a16:creationId xmlns:a16="http://schemas.microsoft.com/office/drawing/2014/main" id="{999F878D-4DBA-D4A4-EB33-6C80C24832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26" y="2351418"/>
            <a:ext cx="230176" cy="23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572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3F7FFA-90C1-DA64-A3FF-B1CBDA1C5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81"/>
            <a:ext cx="9144000" cy="4808738"/>
          </a:xfrm>
          <a:prstGeom prst="rect">
            <a:avLst/>
          </a:prstGeom>
        </p:spPr>
      </p:pic>
      <p:pic>
        <p:nvPicPr>
          <p:cNvPr id="4" name="Graphic 3" descr="Badge 3 outline">
            <a:extLst>
              <a:ext uri="{FF2B5EF4-FFF2-40B4-BE49-F238E27FC236}">
                <a16:creationId xmlns:a16="http://schemas.microsoft.com/office/drawing/2014/main" id="{80C5F123-0780-A763-503A-638A8E9014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290" y="2972682"/>
            <a:ext cx="230176" cy="23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00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 — полный чеклист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82880" y="84124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82880" y="841248"/>
            <a:ext cx="205740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82880" y="84124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92608" y="1389888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92608" y="1389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1371600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проект Maven с pom.xml (GAV + зависимости)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2608" y="2194560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92608" y="2194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2176272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mvn compile, mvn package, mvn dependency:tree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92608" y="2999232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92608" y="2999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2980944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 скрины вывода команд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395728" y="84124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395728" y="841248"/>
            <a:ext cx="2057400" cy="47548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395728" y="84124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CRUD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505456" y="1389888"/>
            <a:ext cx="292608" cy="29260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505456" y="1389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852928" y="1371600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таблицу movies в H2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505456" y="2194560"/>
            <a:ext cx="292608" cy="29260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505456" y="2194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852928" y="2176272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Реализовать: INSERT / SELECT по части названия / UPDATE / DELETE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505456" y="2999232"/>
            <a:ext cx="292608" cy="29260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505456" y="2999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852928" y="2980944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Использовать PreparedStatement (НЕ конкатенацию!)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505456" y="3803904"/>
            <a:ext cx="292608" cy="29260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505456" y="3803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852928" y="3785616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 для Connection, Statement, ResultSet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608576" y="84124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608576" y="841248"/>
            <a:ext cx="2057400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608576" y="84124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+ Транзакции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718304" y="1389888"/>
            <a:ext cx="292608" cy="29260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718304" y="1389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65776" y="1371600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интерфейс MovieDAO с методами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718304" y="2194560"/>
            <a:ext cx="292608" cy="29260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718304" y="2194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065776" y="2176272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MovieDAOImpl — SQL внутри, скрытый от caller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718304" y="2999232"/>
            <a:ext cx="292608" cy="29260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718304" y="2999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065776" y="2980944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симуляцию перевода (debit + credit в одной транзакции)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718304" y="3803904"/>
            <a:ext cx="292608" cy="29260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718304" y="3803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065776" y="3785616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setAutoCommit(false) → commit / rollback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6821424" y="84124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821424" y="841248"/>
            <a:ext cx="2057400" cy="47548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821424" y="84124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n-US" sz="1250" dirty="0"/>
          </a:p>
        </p:txBody>
      </p:sp>
      <p:sp>
        <p:nvSpPr>
          <p:cNvPr id="50" name="Shape 47"/>
          <p:cNvSpPr/>
          <p:nvPr/>
        </p:nvSpPr>
        <p:spPr>
          <a:xfrm>
            <a:off x="6931152" y="1389888"/>
            <a:ext cx="292608" cy="292608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931152" y="1389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7278624" y="1371600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Аннотировать класс Movie: @Entity @Table @Id @GeneratedValue @Column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931152" y="2194560"/>
            <a:ext cx="292608" cy="292608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6931152" y="2194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7278624" y="2176272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CRUD-операции через Session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6931152" y="2999232"/>
            <a:ext cx="292608" cy="292608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6931152" y="2999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7278624" y="2980944"/>
            <a:ext cx="153619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части названия через HQL AND через Criteria API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182880" y="4800600"/>
            <a:ext cx="877824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274320" y="48097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Сдай: скрины запуска + объяснение каждого шага преподавателю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Сравнение: JDBC vs DAO vs Hibernate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задача — три уровня абстракции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8595360" cy="3648456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JDBC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DAO (JDBC внутри)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Hibernate 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Контроль 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Полный — пишешь сам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Полный — внутри impl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Минимальный — ORM генерирует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Читаемость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 — много кода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 — API чистый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 — работаешь с объектами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Зависимость от БД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Прямая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Скрыта за интерфейсом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Скрыта полностью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Транзакции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Ручные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Ручные или через DAO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@Transactional или 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Гибкость запросов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Максимальная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HQL / Criteria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 применять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Простые скрипты, обучение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DAO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Быстрая разработка, 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6 охватывает ВСЕ три уровня — это и есть путь профессионального Java-разработчика.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тест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66928" cy="5669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6984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607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вопросов — темы лекций 1–6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1874520"/>
            <a:ext cx="566928" cy="5669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938528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92938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минут — следи за временем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20040" y="2743200"/>
            <a:ext cx="566928" cy="5669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807208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79806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Пароль сообщит преподаватель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20040" y="3611880"/>
            <a:ext cx="566928" cy="5669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675888"/>
            <a:ext cx="438912" cy="4389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6667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правильный ответ на вопрос</a:t>
            </a:r>
            <a:endParaRPr lang="en-US" sz="1400" dirty="0"/>
          </a:p>
        </p:txBody>
      </p:sp>
      <p:sp>
        <p:nvSpPr>
          <p:cNvPr id="16" name="Text 10">
            <a:hlinkClick r:id="rId7"/>
          </p:cNvPr>
          <p:cNvSpPr/>
          <p:nvPr/>
        </p:nvSpPr>
        <p:spPr>
          <a:xfrm>
            <a:off x="320040" y="4617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exam.html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663440" y="2743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Полезные ресурсы</a:t>
            </a:r>
            <a:endParaRPr lang="en-US" sz="2200" dirty="0"/>
          </a:p>
        </p:txBody>
      </p:sp>
      <p:sp>
        <p:nvSpPr>
          <p:cNvPr id="18" name="Shape 12"/>
          <p:cNvSpPr/>
          <p:nvPr/>
        </p:nvSpPr>
        <p:spPr>
          <a:xfrm>
            <a:off x="4663440" y="896112"/>
            <a:ext cx="4206240" cy="704088"/>
          </a:xfrm>
          <a:prstGeom prst="rect">
            <a:avLst/>
          </a:prstGeom>
          <a:solidFill>
            <a:srgbClr val="132235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663440" y="896112"/>
            <a:ext cx="164592" cy="7040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4919472" y="9509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POM Reference</a:t>
            </a:r>
            <a:endParaRPr lang="en-US" sz="1200" dirty="0"/>
          </a:p>
        </p:txBody>
      </p:sp>
      <p:sp>
        <p:nvSpPr>
          <p:cNvPr id="21" name="Text 15">
            <a:hlinkClick r:id="rId8"/>
          </p:cNvPr>
          <p:cNvSpPr/>
          <p:nvPr/>
        </p:nvSpPr>
        <p:spPr>
          <a:xfrm>
            <a:off x="4919472" y="1243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https://maven.apache.org/pom.html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663440" y="1700784"/>
            <a:ext cx="4206240" cy="704088"/>
          </a:xfrm>
          <a:prstGeom prst="rect">
            <a:avLst/>
          </a:prstGeom>
          <a:solidFill>
            <a:srgbClr val="132235"/>
          </a:solidFill>
          <a:ln w="12700">
            <a:solidFill>
              <a:srgbClr val="00695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4663440" y="1700784"/>
            <a:ext cx="164592" cy="70408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919472" y="1755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PreparedStatement</a:t>
            </a:r>
            <a:endParaRPr lang="en-US" sz="1200" dirty="0"/>
          </a:p>
        </p:txBody>
      </p:sp>
      <p:sp>
        <p:nvSpPr>
          <p:cNvPr id="25" name="Text 19">
            <a:hlinkClick r:id="rId9"/>
          </p:cNvPr>
          <p:cNvSpPr/>
          <p:nvPr/>
        </p:nvSpPr>
        <p:spPr>
          <a:xfrm>
            <a:off x="4919472" y="20482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https://docs.oracle.com/javase/tutorial/jdbc/basics/prepared.html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663440" y="2505456"/>
            <a:ext cx="4206240" cy="704088"/>
          </a:xfrm>
          <a:prstGeom prst="rect">
            <a:avLst/>
          </a:prstGeom>
          <a:solidFill>
            <a:srgbClr val="132235"/>
          </a:solidFill>
          <a:ln w="1270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663440" y="2505456"/>
            <a:ext cx="164592" cy="70408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4919472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6.4 Guide</a:t>
            </a:r>
            <a:endParaRPr lang="en-US" sz="1200" dirty="0"/>
          </a:p>
        </p:txBody>
      </p:sp>
      <p:sp>
        <p:nvSpPr>
          <p:cNvPr id="29" name="Text 23">
            <a:hlinkClick r:id="rId10"/>
          </p:cNvPr>
          <p:cNvSpPr/>
          <p:nvPr/>
        </p:nvSpPr>
        <p:spPr>
          <a:xfrm>
            <a:off x="4919472" y="2852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https://docs.hibernate.org/orm/6.4/userguide/html_single/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663440" y="3310128"/>
            <a:ext cx="4206240" cy="704088"/>
          </a:xfrm>
          <a:prstGeom prst="rect">
            <a:avLst/>
          </a:prstGeom>
          <a:solidFill>
            <a:srgbClr val="132235"/>
          </a:solidFill>
          <a:ln w="1270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4663440" y="3310128"/>
            <a:ext cx="164592" cy="7040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919472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 Engine</a:t>
            </a:r>
            <a:endParaRPr lang="en-US" sz="1200" dirty="0"/>
          </a:p>
        </p:txBody>
      </p:sp>
      <p:sp>
        <p:nvSpPr>
          <p:cNvPr id="33" name="Text 27">
            <a:hlinkClick r:id="rId11"/>
          </p:cNvPr>
          <p:cNvSpPr/>
          <p:nvPr/>
        </p:nvSpPr>
        <p:spPr>
          <a:xfrm>
            <a:off x="4919472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https://www.h2database.com/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4663440" y="4114800"/>
            <a:ext cx="4206240" cy="704088"/>
          </a:xfrm>
          <a:prstGeom prst="rect">
            <a:avLst/>
          </a:prstGeom>
          <a:solidFill>
            <a:srgbClr val="132235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4663440" y="4114800"/>
            <a:ext cx="164592" cy="7040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4919472" y="4169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Docs</a:t>
            </a:r>
            <a:endParaRPr lang="en-US" sz="1200" dirty="0"/>
          </a:p>
        </p:txBody>
      </p:sp>
      <p:sp>
        <p:nvSpPr>
          <p:cNvPr id="37" name="Text 31">
            <a:hlinkClick r:id="rId12"/>
          </p:cNvPr>
          <p:cNvSpPr/>
          <p:nvPr/>
        </p:nvSpPr>
        <p:spPr>
          <a:xfrm>
            <a:off x="4919472" y="4462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https://docs.spring.io/spring-framework/reference/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1091</Words>
  <Application>Microsoft Office PowerPoint</Application>
  <PresentationFormat>On-screen Show (16:9)</PresentationFormat>
  <Paragraphs>249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Практика 6 — Maven, JDBC, DAO, Hibernate</dc:title>
  <dc:subject>PptxGenJS Presentation</dc:subject>
  <dc:creator>PptxGenJS</dc:creator>
  <cp:lastModifiedBy>user2</cp:lastModifiedBy>
  <cp:revision>10</cp:revision>
  <dcterms:created xsi:type="dcterms:W3CDTF">2026-05-28T20:55:55Z</dcterms:created>
  <dcterms:modified xsi:type="dcterms:W3CDTF">2026-05-29T13:35:10Z</dcterms:modified>
</cp:coreProperties>
</file>