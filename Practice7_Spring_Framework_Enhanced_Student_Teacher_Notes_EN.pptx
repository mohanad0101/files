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68805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of the slide: quickly explain that Practice 7 is no longer only about Java syntax; it is about assembling a full application. Tell students: today we connect objects through Spring, expose a REST API, connect the database, UI, security, tests, and transactions. The key is not to memorize all annotations separately, but to see the chain: a request comes to the Controller, business logic lives in the Service, data lives in the Repository, and Spring connects these parts through IoC/DI.</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map as a promise of the lesson structure. Explain that Spring is not learned as a random set of annotations. We move from project to architecture: first we start the skeleton, then create beans, build REST CRUD, add UI and security, and then add quality infrastructure — AOP, transactions, DTO, validation, and tests. Ask students: which layer should know about HTTP? Answer: Controller. Which layer should know business rules? Service. Which layer should know data? Repository.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point of this slide is disciplined starting. The student should first generate the project with the correct parameters and verify that it compiles. Explain that a Spring Boot starter is not a single library, but a convenient dependency bundle. Ask: why do most dependencies have no versions? Expected answer: because the Spring Boot parent and dependency management control compatible versions. Ask students to save a screenshot of a successful launch and dependency:tree.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idea: IoC moves control over object creation from our code to the container. DI is the specific way to give an object its dependencies. Show the left side as an anti-example: if the Controller creates the Service itself, we cannot easily replace the Service in a test. Then show the right side: the Controller receives an interface in the constructor, and Spring selects the suitable bean. Clarify that constructor injection is preferred because the dependency is mandatory, the field can be final, and the class can be tested without a Spring context.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term bean on this slide. An ordinary Java object becomes a bean when Spring creates and manages it. ApplicationContext can be explained as the main application container. Draw students’ attention to the meaning of annotations: they are not just labels, but hints to the container and to the reader about the class role. Emphasize the problem of several implementations of one interface: it is a common DI mistake. Ask students to predict the error when there are two GreetingService beans without @Primary or @Qualifier.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CRUD in Spring is not one big class, but a chain of layers. The Controller receives HTTP and returns HTTP. The Service decides what to do. The Repository talks to the database through Spring Data JPA. When demonstrating code, emphasize ResponseEntity: it lets us return the status explicitly. For practice, ask students to run each curl request and record not only the JSON, but also the response status. This prepares them for API testing.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JPA and Thymeleaf to the already familiar Controller–Service–Repository chain. Say: JpaRepository is an interface, but Spring Data creates the implementation at startup. H2 is used as an in-memory training database, so after restart the data disappears unless an initializer is added. For Thymeleaf, explain three words: Model passes data to the template, th:field binds a form field, and redirect prevents resubmitting the form when the page is refreshed.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that Spring is valuable not only for DI. It adds infrastructure behavior around business code. Security filters access before the controller or at method level through @PreAuthorize. AOP allows logging service calls without repeating code. Transactions are best placed on the service layer because that is where the whole business operation lives. Be sure to explain self-invocation: if a method calls another method of the same class through this, the Spring proxy does not intercept the call, so @Transactional may not work.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useful as a quality check before submission. Emphasize that production-ready here does not mean a 100% industrial project; it means four basic habits: validate input, do not expose entity directly, return a unified error format, and write at least one controller test. Go through the mistakes quickly but strictly: especially dangerous are direct repository calls from a controller, no DTO, field injection, and incorrect understanding of @Transactional.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at the end as the submission checklist. Go through each column and ask students to check themselves. Very important: the result of the lesson is not only code, but also written answers. In the answers, students must explain why Spring knows which bean to inject, why starter dependencies are needed, why DTO is safer than entity, where transactions should be placed, and why self-invocation breaks expectations. At the end, remind them: if tests do not pass or the application does not start, the work is incomplete.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EF3F7"/>
        </a:solidFill>
        <a:effectLst/>
      </p:bgPr>
    </p:bg>
    <p:spTree>
      <p:nvGrpSpPr>
        <p:cNvPr id="1" name=""/>
        <p:cNvGrpSpPr/>
        <p:nvPr/>
      </p:nvGrpSpPr>
      <p:grpSpPr>
        <a:xfrm>
          <a:off x="0" y="0"/>
          <a:ext cx="0" cy="0"/>
          <a:chOff x="0" y="0"/>
          <a:chExt cx="0" cy="0"/>
        </a:xfrm>
      </p:grpSpPr>
      <p:sp>
        <p:nvSpPr>
          <p:cNvPr id="2" name="Shape 0"/>
          <p:cNvSpPr/>
          <p:nvPr/>
        </p:nvSpPr>
        <p:spPr>
          <a:xfrm>
            <a:off x="0" y="0"/>
            <a:ext cx="2880360" cy="6858000"/>
          </a:xfrm>
          <a:prstGeom prst="rect">
            <a:avLst/>
          </a:prstGeom>
          <a:solidFill>
            <a:srgbClr val="1E73BE"/>
          </a:solidFill>
          <a:ln w="12700">
            <a:solidFill>
              <a:srgbClr val="1E73BE"/>
            </a:solidFill>
            <a:prstDash val="solid"/>
          </a:ln>
        </p:spPr>
        <p:txBody>
          <a:bodyPr/>
          <a:lstStyle/>
          <a:p>
            <a:endParaRPr lang="en-US"/>
          </a:p>
        </p:txBody>
      </p:sp>
      <p:sp>
        <p:nvSpPr>
          <p:cNvPr id="3" name="Shape 1"/>
          <p:cNvSpPr/>
          <p:nvPr/>
        </p:nvSpPr>
        <p:spPr>
          <a:xfrm>
            <a:off x="438912" y="1051560"/>
            <a:ext cx="420624" cy="420624"/>
          </a:xfrm>
          <a:prstGeom prst="ellipse">
            <a:avLst/>
          </a:prstGeom>
          <a:solidFill>
            <a:srgbClr val="D9E9F8"/>
          </a:solidFill>
          <a:ln w="12700">
            <a:solidFill>
              <a:srgbClr val="D9E9F8"/>
            </a:solidFill>
            <a:prstDash val="solid"/>
          </a:ln>
        </p:spPr>
        <p:txBody>
          <a:bodyPr/>
          <a:lstStyle/>
          <a:p>
            <a:endParaRPr lang="en-US"/>
          </a:p>
        </p:txBody>
      </p:sp>
      <p:sp>
        <p:nvSpPr>
          <p:cNvPr id="4" name="Text 2"/>
          <p:cNvSpPr/>
          <p:nvPr/>
        </p:nvSpPr>
        <p:spPr>
          <a:xfrm>
            <a:off x="530352" y="1161288"/>
            <a:ext cx="237744" cy="146304"/>
          </a:xfrm>
          <a:prstGeom prst="rect">
            <a:avLst/>
          </a:prstGeom>
          <a:noFill/>
          <a:ln/>
        </p:spPr>
        <p:txBody>
          <a:bodyPr wrap="square" rtlCol="0" anchor="ctr"/>
          <a:lstStyle/>
          <a:p>
            <a:pPr marL="0" indent="0" algn="ctr">
              <a:buNone/>
            </a:pPr>
            <a:r>
              <a:rPr lang="en-US" sz="900" b="1" dirty="0">
                <a:solidFill>
                  <a:srgbClr val="1E73BE"/>
                </a:solidFill>
              </a:rPr>
              <a:t>1</a:t>
            </a:r>
            <a:endParaRPr lang="en-US" sz="900" dirty="0"/>
          </a:p>
        </p:txBody>
      </p:sp>
      <p:sp>
        <p:nvSpPr>
          <p:cNvPr id="5" name="Text 3"/>
          <p:cNvSpPr/>
          <p:nvPr/>
        </p:nvSpPr>
        <p:spPr>
          <a:xfrm>
            <a:off x="960120" y="1069848"/>
            <a:ext cx="1417320" cy="182880"/>
          </a:xfrm>
          <a:prstGeom prst="rect">
            <a:avLst/>
          </a:prstGeom>
          <a:noFill/>
          <a:ln/>
        </p:spPr>
        <p:txBody>
          <a:bodyPr wrap="square" rtlCol="0" anchor="ctr"/>
          <a:lstStyle/>
          <a:p>
            <a:pPr marL="0" indent="0">
              <a:buNone/>
            </a:pPr>
            <a:r>
              <a:rPr lang="en-US" sz="1100" b="1" dirty="0">
                <a:solidFill>
                  <a:srgbClr val="FFFFFF"/>
                </a:solidFill>
              </a:rPr>
              <a:t>IoC / DI</a:t>
            </a:r>
            <a:endParaRPr lang="en-US" sz="1100" dirty="0"/>
          </a:p>
        </p:txBody>
      </p:sp>
      <p:sp>
        <p:nvSpPr>
          <p:cNvPr id="6" name="Text 4"/>
          <p:cNvSpPr/>
          <p:nvPr/>
        </p:nvSpPr>
        <p:spPr>
          <a:xfrm>
            <a:off x="960120" y="1298448"/>
            <a:ext cx="1645920" cy="164592"/>
          </a:xfrm>
          <a:prstGeom prst="rect">
            <a:avLst/>
          </a:prstGeom>
          <a:noFill/>
          <a:ln/>
        </p:spPr>
        <p:txBody>
          <a:bodyPr wrap="square" rtlCol="0" anchor="ctr">
            <a:normAutofit/>
          </a:bodyPr>
          <a:lstStyle/>
          <a:p>
            <a:pPr marL="0" indent="0">
              <a:buNone/>
            </a:pPr>
            <a:r>
              <a:rPr lang="en-US" sz="650" dirty="0">
                <a:solidFill>
                  <a:srgbClr val="DDEEFF"/>
                </a:solidFill>
              </a:rPr>
              <a:t>container and dependencies</a:t>
            </a:r>
            <a:endParaRPr lang="en-US" sz="650" dirty="0"/>
          </a:p>
        </p:txBody>
      </p:sp>
      <p:sp>
        <p:nvSpPr>
          <p:cNvPr id="7" name="Shape 5"/>
          <p:cNvSpPr/>
          <p:nvPr/>
        </p:nvSpPr>
        <p:spPr>
          <a:xfrm>
            <a:off x="438912" y="2011680"/>
            <a:ext cx="420624" cy="420624"/>
          </a:xfrm>
          <a:prstGeom prst="ellipse">
            <a:avLst/>
          </a:prstGeom>
          <a:solidFill>
            <a:srgbClr val="D9E9F8"/>
          </a:solidFill>
          <a:ln w="12700">
            <a:solidFill>
              <a:srgbClr val="D9E9F8"/>
            </a:solidFill>
            <a:prstDash val="solid"/>
          </a:ln>
        </p:spPr>
        <p:txBody>
          <a:bodyPr/>
          <a:lstStyle/>
          <a:p>
            <a:endParaRPr lang="en-US"/>
          </a:p>
        </p:txBody>
      </p:sp>
      <p:sp>
        <p:nvSpPr>
          <p:cNvPr id="8" name="Text 6"/>
          <p:cNvSpPr/>
          <p:nvPr/>
        </p:nvSpPr>
        <p:spPr>
          <a:xfrm>
            <a:off x="530352" y="2121408"/>
            <a:ext cx="237744" cy="146304"/>
          </a:xfrm>
          <a:prstGeom prst="rect">
            <a:avLst/>
          </a:prstGeom>
          <a:noFill/>
          <a:ln/>
        </p:spPr>
        <p:txBody>
          <a:bodyPr wrap="square" rtlCol="0" anchor="ctr"/>
          <a:lstStyle/>
          <a:p>
            <a:pPr marL="0" indent="0" algn="ctr">
              <a:buNone/>
            </a:pPr>
            <a:r>
              <a:rPr lang="en-US" sz="900" b="1" dirty="0">
                <a:solidFill>
                  <a:srgbClr val="1E73BE"/>
                </a:solidFill>
              </a:rPr>
              <a:t>2</a:t>
            </a:r>
            <a:endParaRPr lang="en-US" sz="900" dirty="0"/>
          </a:p>
        </p:txBody>
      </p:sp>
      <p:sp>
        <p:nvSpPr>
          <p:cNvPr id="9" name="Text 7"/>
          <p:cNvSpPr/>
          <p:nvPr/>
        </p:nvSpPr>
        <p:spPr>
          <a:xfrm>
            <a:off x="960120" y="2029968"/>
            <a:ext cx="1417320" cy="182880"/>
          </a:xfrm>
          <a:prstGeom prst="rect">
            <a:avLst/>
          </a:prstGeom>
          <a:noFill/>
          <a:ln/>
        </p:spPr>
        <p:txBody>
          <a:bodyPr wrap="square" rtlCol="0" anchor="ctr"/>
          <a:lstStyle/>
          <a:p>
            <a:pPr marL="0" indent="0">
              <a:buNone/>
            </a:pPr>
            <a:r>
              <a:rPr lang="en-US" sz="1100" b="1" dirty="0">
                <a:solidFill>
                  <a:srgbClr val="FFFFFF"/>
                </a:solidFill>
              </a:rPr>
              <a:t>Beans</a:t>
            </a:r>
            <a:endParaRPr lang="en-US" sz="1100" dirty="0"/>
          </a:p>
        </p:txBody>
      </p:sp>
      <p:sp>
        <p:nvSpPr>
          <p:cNvPr id="10" name="Text 8"/>
          <p:cNvSpPr/>
          <p:nvPr/>
        </p:nvSpPr>
        <p:spPr>
          <a:xfrm>
            <a:off x="960120" y="2258568"/>
            <a:ext cx="1645920" cy="164592"/>
          </a:xfrm>
          <a:prstGeom prst="rect">
            <a:avLst/>
          </a:prstGeom>
          <a:noFill/>
          <a:ln/>
        </p:spPr>
        <p:txBody>
          <a:bodyPr wrap="square" rtlCol="0" anchor="ctr">
            <a:normAutofit/>
          </a:bodyPr>
          <a:lstStyle/>
          <a:p>
            <a:pPr marL="0" indent="0">
              <a:buNone/>
            </a:pPr>
            <a:r>
              <a:rPr lang="en-US" sz="650" dirty="0">
                <a:solidFill>
                  <a:srgbClr val="DDEEFF"/>
                </a:solidFill>
              </a:rPr>
              <a:t>managed objects</a:t>
            </a:r>
            <a:endParaRPr lang="en-US" sz="650" dirty="0"/>
          </a:p>
        </p:txBody>
      </p:sp>
      <p:sp>
        <p:nvSpPr>
          <p:cNvPr id="11" name="Shape 9"/>
          <p:cNvSpPr/>
          <p:nvPr/>
        </p:nvSpPr>
        <p:spPr>
          <a:xfrm>
            <a:off x="438912" y="2971800"/>
            <a:ext cx="420624" cy="420624"/>
          </a:xfrm>
          <a:prstGeom prst="ellipse">
            <a:avLst/>
          </a:prstGeom>
          <a:solidFill>
            <a:srgbClr val="D9E9F8"/>
          </a:solidFill>
          <a:ln w="12700">
            <a:solidFill>
              <a:srgbClr val="D9E9F8"/>
            </a:solidFill>
            <a:prstDash val="solid"/>
          </a:ln>
        </p:spPr>
        <p:txBody>
          <a:bodyPr/>
          <a:lstStyle/>
          <a:p>
            <a:endParaRPr lang="en-US"/>
          </a:p>
        </p:txBody>
      </p:sp>
      <p:sp>
        <p:nvSpPr>
          <p:cNvPr id="12" name="Text 10"/>
          <p:cNvSpPr/>
          <p:nvPr/>
        </p:nvSpPr>
        <p:spPr>
          <a:xfrm>
            <a:off x="530352" y="3081528"/>
            <a:ext cx="237744" cy="146304"/>
          </a:xfrm>
          <a:prstGeom prst="rect">
            <a:avLst/>
          </a:prstGeom>
          <a:noFill/>
          <a:ln/>
        </p:spPr>
        <p:txBody>
          <a:bodyPr wrap="square" rtlCol="0" anchor="ctr"/>
          <a:lstStyle/>
          <a:p>
            <a:pPr marL="0" indent="0" algn="ctr">
              <a:buNone/>
            </a:pPr>
            <a:r>
              <a:rPr lang="en-US" sz="900" b="1" dirty="0">
                <a:solidFill>
                  <a:srgbClr val="1E73BE"/>
                </a:solidFill>
              </a:rPr>
              <a:t>3</a:t>
            </a:r>
            <a:endParaRPr lang="en-US" sz="900" dirty="0"/>
          </a:p>
        </p:txBody>
      </p:sp>
      <p:sp>
        <p:nvSpPr>
          <p:cNvPr id="13" name="Text 11"/>
          <p:cNvSpPr/>
          <p:nvPr/>
        </p:nvSpPr>
        <p:spPr>
          <a:xfrm>
            <a:off x="960120" y="2990088"/>
            <a:ext cx="1417320" cy="182880"/>
          </a:xfrm>
          <a:prstGeom prst="rect">
            <a:avLst/>
          </a:prstGeom>
          <a:noFill/>
          <a:ln/>
        </p:spPr>
        <p:txBody>
          <a:bodyPr wrap="square" rtlCol="0" anchor="ctr"/>
          <a:lstStyle/>
          <a:p>
            <a:pPr marL="0" indent="0">
              <a:buNone/>
            </a:pPr>
            <a:r>
              <a:rPr lang="en-US" sz="1100" b="1" dirty="0">
                <a:solidFill>
                  <a:srgbClr val="FFFFFF"/>
                </a:solidFill>
              </a:rPr>
              <a:t>REST / JPA</a:t>
            </a:r>
            <a:endParaRPr lang="en-US" sz="1100" dirty="0"/>
          </a:p>
        </p:txBody>
      </p:sp>
      <p:sp>
        <p:nvSpPr>
          <p:cNvPr id="14" name="Text 12"/>
          <p:cNvSpPr/>
          <p:nvPr/>
        </p:nvSpPr>
        <p:spPr>
          <a:xfrm>
            <a:off x="960120" y="3218688"/>
            <a:ext cx="1645920" cy="164592"/>
          </a:xfrm>
          <a:prstGeom prst="rect">
            <a:avLst/>
          </a:prstGeom>
          <a:noFill/>
          <a:ln/>
        </p:spPr>
        <p:txBody>
          <a:bodyPr wrap="square" rtlCol="0" anchor="ctr">
            <a:normAutofit/>
          </a:bodyPr>
          <a:lstStyle/>
          <a:p>
            <a:pPr marL="0" indent="0">
              <a:buNone/>
            </a:pPr>
            <a:r>
              <a:rPr lang="en-US" sz="650" dirty="0">
                <a:solidFill>
                  <a:srgbClr val="DDEEFF"/>
                </a:solidFill>
              </a:rPr>
              <a:t>Student CRUD</a:t>
            </a:r>
            <a:endParaRPr lang="en-US" sz="650" dirty="0"/>
          </a:p>
        </p:txBody>
      </p:sp>
      <p:sp>
        <p:nvSpPr>
          <p:cNvPr id="15" name="Shape 13"/>
          <p:cNvSpPr/>
          <p:nvPr/>
        </p:nvSpPr>
        <p:spPr>
          <a:xfrm>
            <a:off x="438912" y="3931920"/>
            <a:ext cx="420624" cy="420624"/>
          </a:xfrm>
          <a:prstGeom prst="ellipse">
            <a:avLst/>
          </a:prstGeom>
          <a:solidFill>
            <a:srgbClr val="D9E9F8"/>
          </a:solidFill>
          <a:ln w="12700">
            <a:solidFill>
              <a:srgbClr val="D9E9F8"/>
            </a:solidFill>
            <a:prstDash val="solid"/>
          </a:ln>
        </p:spPr>
        <p:txBody>
          <a:bodyPr/>
          <a:lstStyle/>
          <a:p>
            <a:endParaRPr lang="en-US"/>
          </a:p>
        </p:txBody>
      </p:sp>
      <p:sp>
        <p:nvSpPr>
          <p:cNvPr id="16" name="Text 14"/>
          <p:cNvSpPr/>
          <p:nvPr/>
        </p:nvSpPr>
        <p:spPr>
          <a:xfrm>
            <a:off x="530352" y="4041648"/>
            <a:ext cx="237744" cy="146304"/>
          </a:xfrm>
          <a:prstGeom prst="rect">
            <a:avLst/>
          </a:prstGeom>
          <a:noFill/>
          <a:ln/>
        </p:spPr>
        <p:txBody>
          <a:bodyPr wrap="square" rtlCol="0" anchor="ctr"/>
          <a:lstStyle/>
          <a:p>
            <a:pPr marL="0" indent="0" algn="ctr">
              <a:buNone/>
            </a:pPr>
            <a:r>
              <a:rPr lang="en-US" sz="900" b="1" dirty="0">
                <a:solidFill>
                  <a:srgbClr val="1E73BE"/>
                </a:solidFill>
              </a:rPr>
              <a:t>4</a:t>
            </a:r>
            <a:endParaRPr lang="en-US" sz="900" dirty="0"/>
          </a:p>
        </p:txBody>
      </p:sp>
      <p:sp>
        <p:nvSpPr>
          <p:cNvPr id="17" name="Text 15"/>
          <p:cNvSpPr/>
          <p:nvPr/>
        </p:nvSpPr>
        <p:spPr>
          <a:xfrm>
            <a:off x="960120" y="3950208"/>
            <a:ext cx="1417320" cy="182880"/>
          </a:xfrm>
          <a:prstGeom prst="rect">
            <a:avLst/>
          </a:prstGeom>
          <a:noFill/>
          <a:ln/>
        </p:spPr>
        <p:txBody>
          <a:bodyPr wrap="square" rtlCol="0" anchor="ctr"/>
          <a:lstStyle/>
          <a:p>
            <a:pPr marL="0" indent="0">
              <a:buNone/>
            </a:pPr>
            <a:r>
              <a:rPr lang="en-US" sz="1100" b="1" dirty="0">
                <a:solidFill>
                  <a:srgbClr val="FFFFFF"/>
                </a:solidFill>
              </a:rPr>
              <a:t>Security / Tx</a:t>
            </a:r>
            <a:endParaRPr lang="en-US" sz="1100" dirty="0"/>
          </a:p>
        </p:txBody>
      </p:sp>
      <p:sp>
        <p:nvSpPr>
          <p:cNvPr id="18" name="Text 16"/>
          <p:cNvSpPr/>
          <p:nvPr/>
        </p:nvSpPr>
        <p:spPr>
          <a:xfrm>
            <a:off x="960120" y="4178808"/>
            <a:ext cx="1645920" cy="164592"/>
          </a:xfrm>
          <a:prstGeom prst="rect">
            <a:avLst/>
          </a:prstGeom>
          <a:noFill/>
          <a:ln/>
        </p:spPr>
        <p:txBody>
          <a:bodyPr wrap="square" rtlCol="0" anchor="ctr">
            <a:normAutofit/>
          </a:bodyPr>
          <a:lstStyle/>
          <a:p>
            <a:pPr marL="0" indent="0">
              <a:buNone/>
            </a:pPr>
            <a:r>
              <a:rPr lang="en-US" sz="650" dirty="0">
                <a:solidFill>
                  <a:srgbClr val="DDEEFF"/>
                </a:solidFill>
              </a:rPr>
              <a:t>roles and transactions</a:t>
            </a:r>
            <a:endParaRPr lang="en-US" sz="650" dirty="0"/>
          </a:p>
        </p:txBody>
      </p:sp>
      <p:sp>
        <p:nvSpPr>
          <p:cNvPr id="19" name="Shape 17"/>
          <p:cNvSpPr/>
          <p:nvPr/>
        </p:nvSpPr>
        <p:spPr>
          <a:xfrm>
            <a:off x="2880360" y="0"/>
            <a:ext cx="9311335" cy="6858000"/>
          </a:xfrm>
          <a:prstGeom prst="rect">
            <a:avLst/>
          </a:prstGeom>
          <a:solidFill>
            <a:srgbClr val="071A2D"/>
          </a:solidFill>
          <a:ln w="12700">
            <a:solidFill>
              <a:srgbClr val="071A2D"/>
            </a:solidFill>
            <a:prstDash val="solid"/>
          </a:ln>
        </p:spPr>
        <p:txBody>
          <a:bodyPr/>
          <a:lstStyle/>
          <a:p>
            <a:endParaRPr lang="en-US"/>
          </a:p>
        </p:txBody>
      </p:sp>
      <p:sp>
        <p:nvSpPr>
          <p:cNvPr id="20" name="Text 18"/>
          <p:cNvSpPr/>
          <p:nvPr/>
        </p:nvSpPr>
        <p:spPr>
          <a:xfrm>
            <a:off x="3337560" y="777240"/>
            <a:ext cx="1828800" cy="237744"/>
          </a:xfrm>
          <a:prstGeom prst="rect">
            <a:avLst/>
          </a:prstGeom>
          <a:noFill/>
          <a:ln/>
        </p:spPr>
        <p:txBody>
          <a:bodyPr wrap="square" rtlCol="0" anchor="ctr"/>
          <a:lstStyle/>
          <a:p>
            <a:pPr marL="0" indent="0">
              <a:buNone/>
            </a:pPr>
            <a:r>
              <a:rPr lang="en-US" sz="1000" dirty="0">
                <a:solidFill>
                  <a:srgbClr val="8EC9FF"/>
                </a:solidFill>
              </a:rPr>
              <a:t>Practice 7</a:t>
            </a:r>
            <a:endParaRPr lang="en-US" sz="1000" dirty="0"/>
          </a:p>
        </p:txBody>
      </p:sp>
      <p:sp>
        <p:nvSpPr>
          <p:cNvPr id="21" name="Text 19"/>
          <p:cNvSpPr/>
          <p:nvPr/>
        </p:nvSpPr>
        <p:spPr>
          <a:xfrm>
            <a:off x="3337560" y="1170432"/>
            <a:ext cx="6217920" cy="914400"/>
          </a:xfrm>
          <a:prstGeom prst="rect">
            <a:avLst/>
          </a:prstGeom>
          <a:noFill/>
          <a:ln/>
        </p:spPr>
        <p:txBody>
          <a:bodyPr wrap="square" rtlCol="0" anchor="ctr">
            <a:normAutofit/>
          </a:bodyPr>
          <a:lstStyle/>
          <a:p>
            <a:pPr marL="0" indent="0">
              <a:buNone/>
            </a:pPr>
            <a:r>
              <a:rPr lang="en-US" sz="2700" b="1" dirty="0">
                <a:solidFill>
                  <a:srgbClr val="FFFFFF"/>
                </a:solidFill>
                <a:latin typeface="Aptos Display" pitchFamily="34" charset="0"/>
                <a:ea typeface="Aptos Display" pitchFamily="34" charset="-122"/>
                <a:cs typeface="Aptos Display" pitchFamily="34" charset="-120"/>
              </a:rPr>
              <a:t>Spring Framework</a:t>
            </a:r>
            <a:endParaRPr lang="en-US" sz="2700" dirty="0"/>
          </a:p>
          <a:p>
            <a:pPr marL="0" indent="0">
              <a:buNone/>
            </a:pPr>
            <a:r>
              <a:rPr lang="en-US" sz="2700" b="1" dirty="0">
                <a:solidFill>
                  <a:srgbClr val="FFFFFF"/>
                </a:solidFill>
                <a:latin typeface="Aptos Display" pitchFamily="34" charset="0"/>
                <a:ea typeface="Aptos Display" pitchFamily="34" charset="-122"/>
                <a:cs typeface="Aptos Display" pitchFamily="34" charset="-120"/>
              </a:rPr>
              <a:t>and Spring Boot</a:t>
            </a:r>
            <a:endParaRPr lang="en-US" sz="2700" dirty="0"/>
          </a:p>
        </p:txBody>
      </p:sp>
      <p:sp>
        <p:nvSpPr>
          <p:cNvPr id="22" name="Shape 20"/>
          <p:cNvSpPr/>
          <p:nvPr/>
        </p:nvSpPr>
        <p:spPr>
          <a:xfrm>
            <a:off x="3337560" y="2788920"/>
            <a:ext cx="5669280" cy="0"/>
          </a:xfrm>
          <a:prstGeom prst="line">
            <a:avLst/>
          </a:prstGeom>
          <a:noFill/>
          <a:ln w="12700">
            <a:solidFill>
              <a:srgbClr val="7AD7E5"/>
            </a:solidFill>
            <a:prstDash val="solid"/>
          </a:ln>
        </p:spPr>
        <p:txBody>
          <a:bodyPr/>
          <a:lstStyle/>
          <a:p>
            <a:endParaRPr lang="en-US"/>
          </a:p>
        </p:txBody>
      </p:sp>
      <p:sp>
        <p:nvSpPr>
          <p:cNvPr id="23" name="Text 21"/>
          <p:cNvSpPr/>
          <p:nvPr/>
        </p:nvSpPr>
        <p:spPr>
          <a:xfrm>
            <a:off x="3337560" y="3090672"/>
            <a:ext cx="6675120" cy="420624"/>
          </a:xfrm>
          <a:prstGeom prst="rect">
            <a:avLst/>
          </a:prstGeom>
          <a:noFill/>
          <a:ln/>
        </p:spPr>
        <p:txBody>
          <a:bodyPr wrap="square" rtlCol="0" anchor="ctr">
            <a:normAutofit/>
          </a:bodyPr>
          <a:lstStyle/>
          <a:p>
            <a:pPr marL="0" indent="0">
              <a:buNone/>
            </a:pPr>
            <a:r>
              <a:rPr lang="en-US" sz="1050" i="1" dirty="0">
                <a:solidFill>
                  <a:srgbClr val="DDE7EF"/>
                </a:solidFill>
              </a:rPr>
              <a:t>Goal: build a Spring Boot application and understand the path from DI to a production-ready REST service.</a:t>
            </a:r>
            <a:endParaRPr lang="en-US" sz="1050" dirty="0"/>
          </a:p>
        </p:txBody>
      </p:sp>
      <p:sp>
        <p:nvSpPr>
          <p:cNvPr id="24" name="Text 22"/>
          <p:cNvSpPr/>
          <p:nvPr/>
        </p:nvSpPr>
        <p:spPr>
          <a:xfrm>
            <a:off x="3337560" y="6144768"/>
            <a:ext cx="6035040" cy="146304"/>
          </a:xfrm>
          <a:prstGeom prst="rect">
            <a:avLst/>
          </a:prstGeom>
          <a:noFill/>
          <a:ln/>
        </p:spPr>
        <p:txBody>
          <a:bodyPr wrap="square" rtlCol="0" anchor="ctr"/>
          <a:lstStyle/>
          <a:p>
            <a:pPr marL="0" indent="0">
              <a:buNone/>
            </a:pPr>
            <a:r>
              <a:rPr lang="en-US" sz="550" dirty="0">
                <a:solidFill>
                  <a:srgbClr val="7A8DA0"/>
                </a:solidFill>
              </a:rPr>
              <a:t>Source: Modern Programming Technologies / practice7</a:t>
            </a:r>
            <a:endParaRPr lang="en-US" sz="550" dirty="0"/>
          </a:p>
        </p:txBody>
      </p:sp>
      <p:sp>
        <p:nvSpPr>
          <p:cNvPr id="26" name="Text 23"/>
          <p:cNvSpPr/>
          <p:nvPr/>
        </p:nvSpPr>
        <p:spPr>
          <a:xfrm>
            <a:off x="320040" y="6510528"/>
            <a:ext cx="5943600" cy="128016"/>
          </a:xfrm>
          <a:prstGeom prst="rect">
            <a:avLst/>
          </a:prstGeom>
          <a:noFill/>
          <a:ln/>
        </p:spPr>
        <p:txBody>
          <a:bodyPr wrap="square" rtlCol="0" anchor="ctr"/>
          <a:lstStyle/>
          <a:p>
            <a:pPr marL="0" indent="0">
              <a:buNone/>
            </a:pPr>
            <a:r>
              <a:rPr lang="en-US" sz="550" dirty="0">
                <a:solidFill>
                  <a:srgbClr val="9AA7B5"/>
                </a:solidFill>
              </a:rPr>
              <a:t>Modern Programming Technologies • Practice 7</a:t>
            </a:r>
            <a:endParaRPr lang="en-US" sz="550" dirty="0"/>
          </a:p>
        </p:txBody>
      </p:sp>
      <p:sp>
        <p:nvSpPr>
          <p:cNvPr id="27" name="Text 24"/>
          <p:cNvSpPr/>
          <p:nvPr/>
        </p:nvSpPr>
        <p:spPr>
          <a:xfrm>
            <a:off x="11631168" y="6473952"/>
            <a:ext cx="182880" cy="146304"/>
          </a:xfrm>
          <a:prstGeom prst="rect">
            <a:avLst/>
          </a:prstGeom>
          <a:noFill/>
          <a:ln/>
        </p:spPr>
        <p:txBody>
          <a:bodyPr wrap="square" rtlCol="0" anchor="ctr"/>
          <a:lstStyle/>
          <a:p>
            <a:pPr marL="0" indent="0">
              <a:buNone/>
            </a:pPr>
            <a:r>
              <a:rPr lang="en-US" sz="550" dirty="0">
                <a:solidFill>
                  <a:srgbClr val="9AA7B5"/>
                </a:solidFill>
              </a:rPr>
              <a:t>1</a:t>
            </a:r>
            <a:endParaRPr lang="en-US" sz="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F3F7"/>
        </a:solidFill>
        <a:effectLst/>
      </p:bgPr>
    </p:bg>
    <p:spTree>
      <p:nvGrpSpPr>
        <p:cNvPr id="1" name=""/>
        <p:cNvGrpSpPr/>
        <p:nvPr/>
      </p:nvGrpSpPr>
      <p:grpSpPr>
        <a:xfrm>
          <a:off x="0" y="0"/>
          <a:ext cx="0" cy="0"/>
          <a:chOff x="0" y="0"/>
          <a:chExt cx="0" cy="0"/>
        </a:xfrm>
      </p:grpSpPr>
      <p:sp>
        <p:nvSpPr>
          <p:cNvPr id="2" name="Text 0"/>
          <p:cNvSpPr/>
          <p:nvPr/>
        </p:nvSpPr>
        <p:spPr>
          <a:xfrm>
            <a:off x="320040" y="182880"/>
            <a:ext cx="9601200" cy="411480"/>
          </a:xfrm>
          <a:prstGeom prst="rect">
            <a:avLst/>
          </a:prstGeom>
          <a:noFill/>
          <a:ln/>
        </p:spPr>
        <p:txBody>
          <a:bodyPr wrap="square" rtlCol="0" anchor="ctr">
            <a:normAutofit/>
          </a:bodyPr>
          <a:lstStyle/>
          <a:p>
            <a:pPr marL="0" indent="0">
              <a:buNone/>
            </a:pPr>
            <a:r>
              <a:rPr lang="en-US" sz="2400" b="1" dirty="0">
                <a:solidFill>
                  <a:srgbClr val="10263D"/>
                </a:solidFill>
                <a:latin typeface="Aptos Display" pitchFamily="34" charset="0"/>
                <a:ea typeface="Aptos Display" pitchFamily="34" charset="-122"/>
                <a:cs typeface="Aptos Display" pitchFamily="34" charset="-120"/>
              </a:rPr>
              <a:t>Lesson map</a:t>
            </a:r>
            <a:endParaRPr lang="en-US" sz="2400" dirty="0"/>
          </a:p>
        </p:txBody>
      </p:sp>
      <p:sp>
        <p:nvSpPr>
          <p:cNvPr id="3" name="Text 1"/>
          <p:cNvSpPr/>
          <p:nvPr/>
        </p:nvSpPr>
        <p:spPr>
          <a:xfrm>
            <a:off x="329184" y="621792"/>
            <a:ext cx="10789920" cy="228600"/>
          </a:xfrm>
          <a:prstGeom prst="rect">
            <a:avLst/>
          </a:prstGeom>
          <a:noFill/>
          <a:ln/>
        </p:spPr>
        <p:txBody>
          <a:bodyPr wrap="square" rtlCol="0" anchor="ctr">
            <a:normAutofit/>
          </a:bodyPr>
          <a:lstStyle/>
          <a:p>
            <a:pPr marL="0" indent="0">
              <a:buNone/>
            </a:pPr>
            <a:r>
              <a:rPr lang="en-US" sz="950" dirty="0">
                <a:solidFill>
                  <a:srgbClr val="6B7785"/>
                </a:solidFill>
              </a:rPr>
              <a:t>One logic: from starting a Spring Boot project to a secured production-ready REST service</a:t>
            </a:r>
            <a:endParaRPr lang="en-US" sz="950" dirty="0"/>
          </a:p>
        </p:txBody>
      </p:sp>
      <p:sp>
        <p:nvSpPr>
          <p:cNvPr id="4" name="Shape 2"/>
          <p:cNvSpPr/>
          <p:nvPr/>
        </p:nvSpPr>
        <p:spPr>
          <a:xfrm>
            <a:off x="384048" y="1508760"/>
            <a:ext cx="1572768" cy="3246120"/>
          </a:xfrm>
          <a:prstGeom prst="roundRect">
            <a:avLst>
              <a:gd name="adj" fmla="val 2326"/>
            </a:avLst>
          </a:prstGeom>
          <a:solidFill>
            <a:srgbClr val="FFFFFF"/>
          </a:solidFill>
          <a:ln w="12700">
            <a:solidFill>
              <a:srgbClr val="D8E0E8"/>
            </a:solidFill>
            <a:prstDash val="solid"/>
          </a:ln>
        </p:spPr>
        <p:txBody>
          <a:bodyPr/>
          <a:lstStyle/>
          <a:p>
            <a:endParaRPr lang="en-US"/>
          </a:p>
        </p:txBody>
      </p:sp>
      <p:sp>
        <p:nvSpPr>
          <p:cNvPr id="5" name="Shape 3"/>
          <p:cNvSpPr/>
          <p:nvPr/>
        </p:nvSpPr>
        <p:spPr>
          <a:xfrm>
            <a:off x="384048" y="1508760"/>
            <a:ext cx="1572768" cy="566928"/>
          </a:xfrm>
          <a:prstGeom prst="rect">
            <a:avLst/>
          </a:prstGeom>
          <a:solidFill>
            <a:srgbClr val="1E73BE"/>
          </a:solidFill>
          <a:ln w="12700">
            <a:solidFill>
              <a:srgbClr val="1E73BE"/>
            </a:solidFill>
            <a:prstDash val="solid"/>
          </a:ln>
        </p:spPr>
        <p:txBody>
          <a:bodyPr/>
          <a:lstStyle/>
          <a:p>
            <a:endParaRPr lang="en-US"/>
          </a:p>
        </p:txBody>
      </p:sp>
      <p:sp>
        <p:nvSpPr>
          <p:cNvPr id="6" name="Text 4"/>
          <p:cNvSpPr/>
          <p:nvPr/>
        </p:nvSpPr>
        <p:spPr>
          <a:xfrm>
            <a:off x="502920" y="1627632"/>
            <a:ext cx="274320" cy="182880"/>
          </a:xfrm>
          <a:prstGeom prst="rect">
            <a:avLst/>
          </a:prstGeom>
          <a:noFill/>
          <a:ln/>
        </p:spPr>
        <p:txBody>
          <a:bodyPr wrap="square" rtlCol="0" anchor="ctr"/>
          <a:lstStyle/>
          <a:p>
            <a:pPr marL="0" indent="0">
              <a:buNone/>
            </a:pPr>
            <a:r>
              <a:rPr lang="en-US" sz="1300" b="1" dirty="0">
                <a:solidFill>
                  <a:srgbClr val="FFFFFF"/>
                </a:solidFill>
              </a:rPr>
              <a:t>1</a:t>
            </a:r>
            <a:endParaRPr lang="en-US" sz="1300" dirty="0"/>
          </a:p>
        </p:txBody>
      </p:sp>
      <p:sp>
        <p:nvSpPr>
          <p:cNvPr id="7" name="Text 5"/>
          <p:cNvSpPr/>
          <p:nvPr/>
        </p:nvSpPr>
        <p:spPr>
          <a:xfrm>
            <a:off x="475488" y="2331720"/>
            <a:ext cx="1371600" cy="256032"/>
          </a:xfrm>
          <a:prstGeom prst="rect">
            <a:avLst/>
          </a:prstGeom>
          <a:noFill/>
          <a:ln/>
        </p:spPr>
        <p:txBody>
          <a:bodyPr wrap="square" rtlCol="0" anchor="ctr">
            <a:normAutofit/>
          </a:bodyPr>
          <a:lstStyle/>
          <a:p>
            <a:pPr marL="0" indent="0" algn="ctr">
              <a:buNone/>
            </a:pPr>
            <a:r>
              <a:rPr lang="en-US" sz="1000" b="1" dirty="0">
                <a:solidFill>
                  <a:srgbClr val="1E73BE"/>
                </a:solidFill>
              </a:rPr>
              <a:t>Initializr</a:t>
            </a:r>
            <a:endParaRPr lang="en-US" sz="1000" dirty="0"/>
          </a:p>
        </p:txBody>
      </p:sp>
      <p:sp>
        <p:nvSpPr>
          <p:cNvPr id="8" name="Text 6"/>
          <p:cNvSpPr/>
          <p:nvPr/>
        </p:nvSpPr>
        <p:spPr>
          <a:xfrm>
            <a:off x="521208" y="2743200"/>
            <a:ext cx="1298448" cy="502920"/>
          </a:xfrm>
          <a:prstGeom prst="rect">
            <a:avLst/>
          </a:prstGeom>
          <a:noFill/>
          <a:ln/>
        </p:spPr>
        <p:txBody>
          <a:bodyPr wrap="square" rtlCol="0" anchor="ctr">
            <a:normAutofit/>
          </a:bodyPr>
          <a:lstStyle/>
          <a:p>
            <a:pPr marL="0" indent="0" algn="ctr">
              <a:buNone/>
            </a:pPr>
            <a:r>
              <a:rPr lang="en-US" sz="750" dirty="0">
                <a:solidFill>
                  <a:srgbClr val="10263D"/>
                </a:solidFill>
              </a:rPr>
              <a:t>Maven project, dependencies, launch</a:t>
            </a:r>
            <a:endParaRPr lang="en-US" sz="750" dirty="0"/>
          </a:p>
        </p:txBody>
      </p:sp>
      <p:sp>
        <p:nvSpPr>
          <p:cNvPr id="9" name="Shape 7"/>
          <p:cNvSpPr/>
          <p:nvPr/>
        </p:nvSpPr>
        <p:spPr>
          <a:xfrm>
            <a:off x="2286000" y="1508760"/>
            <a:ext cx="1572768" cy="3246120"/>
          </a:xfrm>
          <a:prstGeom prst="roundRect">
            <a:avLst>
              <a:gd name="adj" fmla="val 2326"/>
            </a:avLst>
          </a:prstGeom>
          <a:solidFill>
            <a:srgbClr val="FFFFFF"/>
          </a:solidFill>
          <a:ln w="12700">
            <a:solidFill>
              <a:srgbClr val="D8E0E8"/>
            </a:solidFill>
            <a:prstDash val="solid"/>
          </a:ln>
        </p:spPr>
        <p:txBody>
          <a:bodyPr/>
          <a:lstStyle/>
          <a:p>
            <a:endParaRPr lang="en-US"/>
          </a:p>
        </p:txBody>
      </p:sp>
      <p:sp>
        <p:nvSpPr>
          <p:cNvPr id="10" name="Shape 8"/>
          <p:cNvSpPr/>
          <p:nvPr/>
        </p:nvSpPr>
        <p:spPr>
          <a:xfrm>
            <a:off x="2286000" y="1508760"/>
            <a:ext cx="1572768" cy="566928"/>
          </a:xfrm>
          <a:prstGeom prst="rect">
            <a:avLst/>
          </a:prstGeom>
          <a:solidFill>
            <a:srgbClr val="008C8C"/>
          </a:solidFill>
          <a:ln w="12700">
            <a:solidFill>
              <a:srgbClr val="008C8C"/>
            </a:solidFill>
            <a:prstDash val="solid"/>
          </a:ln>
        </p:spPr>
        <p:txBody>
          <a:bodyPr/>
          <a:lstStyle/>
          <a:p>
            <a:endParaRPr lang="en-US"/>
          </a:p>
        </p:txBody>
      </p:sp>
      <p:sp>
        <p:nvSpPr>
          <p:cNvPr id="11" name="Text 9"/>
          <p:cNvSpPr/>
          <p:nvPr/>
        </p:nvSpPr>
        <p:spPr>
          <a:xfrm>
            <a:off x="2404872" y="1627632"/>
            <a:ext cx="274320" cy="182880"/>
          </a:xfrm>
          <a:prstGeom prst="rect">
            <a:avLst/>
          </a:prstGeom>
          <a:noFill/>
          <a:ln/>
        </p:spPr>
        <p:txBody>
          <a:bodyPr wrap="square" rtlCol="0" anchor="ctr"/>
          <a:lstStyle/>
          <a:p>
            <a:pPr marL="0" indent="0">
              <a:buNone/>
            </a:pPr>
            <a:r>
              <a:rPr lang="en-US" sz="1300" b="1" dirty="0">
                <a:solidFill>
                  <a:srgbClr val="FFFFFF"/>
                </a:solidFill>
              </a:rPr>
              <a:t>2</a:t>
            </a:r>
            <a:endParaRPr lang="en-US" sz="1300" dirty="0"/>
          </a:p>
        </p:txBody>
      </p:sp>
      <p:sp>
        <p:nvSpPr>
          <p:cNvPr id="12" name="Text 10"/>
          <p:cNvSpPr/>
          <p:nvPr/>
        </p:nvSpPr>
        <p:spPr>
          <a:xfrm>
            <a:off x="2377440" y="2331720"/>
            <a:ext cx="1371600" cy="256032"/>
          </a:xfrm>
          <a:prstGeom prst="rect">
            <a:avLst/>
          </a:prstGeom>
          <a:noFill/>
          <a:ln/>
        </p:spPr>
        <p:txBody>
          <a:bodyPr wrap="square" rtlCol="0" anchor="ctr">
            <a:normAutofit/>
          </a:bodyPr>
          <a:lstStyle/>
          <a:p>
            <a:pPr marL="0" indent="0" algn="ctr">
              <a:buNone/>
            </a:pPr>
            <a:r>
              <a:rPr lang="en-US" sz="1000" b="1" dirty="0">
                <a:solidFill>
                  <a:srgbClr val="008C8C"/>
                </a:solidFill>
              </a:rPr>
              <a:t>IoC / DI</a:t>
            </a:r>
            <a:endParaRPr lang="en-US" sz="1000" dirty="0"/>
          </a:p>
        </p:txBody>
      </p:sp>
      <p:sp>
        <p:nvSpPr>
          <p:cNvPr id="13" name="Text 11"/>
          <p:cNvSpPr/>
          <p:nvPr/>
        </p:nvSpPr>
        <p:spPr>
          <a:xfrm>
            <a:off x="2423160" y="2743200"/>
            <a:ext cx="1298448" cy="502920"/>
          </a:xfrm>
          <a:prstGeom prst="rect">
            <a:avLst/>
          </a:prstGeom>
          <a:noFill/>
          <a:ln/>
        </p:spPr>
        <p:txBody>
          <a:bodyPr wrap="square" rtlCol="0" anchor="ctr">
            <a:normAutofit/>
          </a:bodyPr>
          <a:lstStyle/>
          <a:p>
            <a:pPr marL="0" indent="0" algn="ctr">
              <a:buNone/>
            </a:pPr>
            <a:r>
              <a:rPr lang="en-US" sz="750" dirty="0">
                <a:solidFill>
                  <a:srgbClr val="10263D"/>
                </a:solidFill>
              </a:rPr>
              <a:t>Beans, constructor injection, ambiguity</a:t>
            </a:r>
            <a:endParaRPr lang="en-US" sz="750" dirty="0"/>
          </a:p>
        </p:txBody>
      </p:sp>
      <p:sp>
        <p:nvSpPr>
          <p:cNvPr id="14" name="Shape 12"/>
          <p:cNvSpPr/>
          <p:nvPr/>
        </p:nvSpPr>
        <p:spPr>
          <a:xfrm>
            <a:off x="4187952" y="1508760"/>
            <a:ext cx="1572768" cy="3246120"/>
          </a:xfrm>
          <a:prstGeom prst="roundRect">
            <a:avLst>
              <a:gd name="adj" fmla="val 2326"/>
            </a:avLst>
          </a:prstGeom>
          <a:solidFill>
            <a:srgbClr val="FFFFFF"/>
          </a:solidFill>
          <a:ln w="12700">
            <a:solidFill>
              <a:srgbClr val="D8E0E8"/>
            </a:solidFill>
            <a:prstDash val="solid"/>
          </a:ln>
        </p:spPr>
        <p:txBody>
          <a:bodyPr/>
          <a:lstStyle/>
          <a:p>
            <a:endParaRPr lang="en-US"/>
          </a:p>
        </p:txBody>
      </p:sp>
      <p:sp>
        <p:nvSpPr>
          <p:cNvPr id="15" name="Shape 13"/>
          <p:cNvSpPr/>
          <p:nvPr/>
        </p:nvSpPr>
        <p:spPr>
          <a:xfrm>
            <a:off x="4187952" y="1508760"/>
            <a:ext cx="1572768" cy="566928"/>
          </a:xfrm>
          <a:prstGeom prst="rect">
            <a:avLst/>
          </a:prstGeom>
          <a:solidFill>
            <a:srgbClr val="6F1AB1"/>
          </a:solidFill>
          <a:ln w="12700">
            <a:solidFill>
              <a:srgbClr val="6F1AB1"/>
            </a:solidFill>
            <a:prstDash val="solid"/>
          </a:ln>
        </p:spPr>
        <p:txBody>
          <a:bodyPr/>
          <a:lstStyle/>
          <a:p>
            <a:endParaRPr lang="en-US"/>
          </a:p>
        </p:txBody>
      </p:sp>
      <p:sp>
        <p:nvSpPr>
          <p:cNvPr id="16" name="Text 14"/>
          <p:cNvSpPr/>
          <p:nvPr/>
        </p:nvSpPr>
        <p:spPr>
          <a:xfrm>
            <a:off x="4306824" y="1627632"/>
            <a:ext cx="274320" cy="182880"/>
          </a:xfrm>
          <a:prstGeom prst="rect">
            <a:avLst/>
          </a:prstGeom>
          <a:noFill/>
          <a:ln/>
        </p:spPr>
        <p:txBody>
          <a:bodyPr wrap="square" rtlCol="0" anchor="ctr"/>
          <a:lstStyle/>
          <a:p>
            <a:pPr marL="0" indent="0">
              <a:buNone/>
            </a:pPr>
            <a:r>
              <a:rPr lang="en-US" sz="1300" b="1" dirty="0">
                <a:solidFill>
                  <a:srgbClr val="FFFFFF"/>
                </a:solidFill>
              </a:rPr>
              <a:t>3</a:t>
            </a:r>
            <a:endParaRPr lang="en-US" sz="1300" dirty="0"/>
          </a:p>
        </p:txBody>
      </p:sp>
      <p:sp>
        <p:nvSpPr>
          <p:cNvPr id="17" name="Text 15"/>
          <p:cNvSpPr/>
          <p:nvPr/>
        </p:nvSpPr>
        <p:spPr>
          <a:xfrm>
            <a:off x="4279392" y="2331720"/>
            <a:ext cx="1371600" cy="256032"/>
          </a:xfrm>
          <a:prstGeom prst="rect">
            <a:avLst/>
          </a:prstGeom>
          <a:noFill/>
          <a:ln/>
        </p:spPr>
        <p:txBody>
          <a:bodyPr wrap="square" rtlCol="0" anchor="ctr">
            <a:normAutofit/>
          </a:bodyPr>
          <a:lstStyle/>
          <a:p>
            <a:pPr marL="0" indent="0" algn="ctr">
              <a:buNone/>
            </a:pPr>
            <a:r>
              <a:rPr lang="en-US" sz="1000" b="1" dirty="0">
                <a:solidFill>
                  <a:srgbClr val="6F1AB1"/>
                </a:solidFill>
              </a:rPr>
              <a:t>CRUD REST</a:t>
            </a:r>
            <a:endParaRPr lang="en-US" sz="1000" dirty="0"/>
          </a:p>
        </p:txBody>
      </p:sp>
      <p:sp>
        <p:nvSpPr>
          <p:cNvPr id="18" name="Text 16"/>
          <p:cNvSpPr/>
          <p:nvPr/>
        </p:nvSpPr>
        <p:spPr>
          <a:xfrm>
            <a:off x="4325112" y="2743200"/>
            <a:ext cx="1298448" cy="502920"/>
          </a:xfrm>
          <a:prstGeom prst="rect">
            <a:avLst/>
          </a:prstGeom>
          <a:noFill/>
          <a:ln/>
        </p:spPr>
        <p:txBody>
          <a:bodyPr wrap="square" rtlCol="0" anchor="ctr">
            <a:normAutofit/>
          </a:bodyPr>
          <a:lstStyle/>
          <a:p>
            <a:pPr marL="0" indent="0" algn="ctr">
              <a:buNone/>
            </a:pPr>
            <a:r>
              <a:rPr lang="en-US" sz="750" dirty="0">
                <a:solidFill>
                  <a:srgbClr val="10263D"/>
                </a:solidFill>
              </a:rPr>
              <a:t>Student Entity, Repository, Service, Controller</a:t>
            </a:r>
            <a:endParaRPr lang="en-US" sz="750" dirty="0"/>
          </a:p>
        </p:txBody>
      </p:sp>
      <p:sp>
        <p:nvSpPr>
          <p:cNvPr id="19" name="Shape 17"/>
          <p:cNvSpPr/>
          <p:nvPr/>
        </p:nvSpPr>
        <p:spPr>
          <a:xfrm>
            <a:off x="6089904" y="1508760"/>
            <a:ext cx="1572768" cy="3246120"/>
          </a:xfrm>
          <a:prstGeom prst="roundRect">
            <a:avLst>
              <a:gd name="adj" fmla="val 2326"/>
            </a:avLst>
          </a:prstGeom>
          <a:solidFill>
            <a:srgbClr val="FFFFFF"/>
          </a:solidFill>
          <a:ln w="12700">
            <a:solidFill>
              <a:srgbClr val="D8E0E8"/>
            </a:solidFill>
            <a:prstDash val="solid"/>
          </a:ln>
        </p:spPr>
        <p:txBody>
          <a:bodyPr/>
          <a:lstStyle/>
          <a:p>
            <a:endParaRPr lang="en-US"/>
          </a:p>
        </p:txBody>
      </p:sp>
      <p:sp>
        <p:nvSpPr>
          <p:cNvPr id="20" name="Shape 18"/>
          <p:cNvSpPr/>
          <p:nvPr/>
        </p:nvSpPr>
        <p:spPr>
          <a:xfrm>
            <a:off x="6089904" y="1508760"/>
            <a:ext cx="1572768" cy="566928"/>
          </a:xfrm>
          <a:prstGeom prst="rect">
            <a:avLst/>
          </a:prstGeom>
          <a:solidFill>
            <a:srgbClr val="D83B0B"/>
          </a:solidFill>
          <a:ln w="12700">
            <a:solidFill>
              <a:srgbClr val="D83B0B"/>
            </a:solidFill>
            <a:prstDash val="solid"/>
          </a:ln>
        </p:spPr>
        <p:txBody>
          <a:bodyPr/>
          <a:lstStyle/>
          <a:p>
            <a:endParaRPr lang="en-US"/>
          </a:p>
        </p:txBody>
      </p:sp>
      <p:sp>
        <p:nvSpPr>
          <p:cNvPr id="21" name="Text 19"/>
          <p:cNvSpPr/>
          <p:nvPr/>
        </p:nvSpPr>
        <p:spPr>
          <a:xfrm>
            <a:off x="6208776" y="1627632"/>
            <a:ext cx="274320" cy="182880"/>
          </a:xfrm>
          <a:prstGeom prst="rect">
            <a:avLst/>
          </a:prstGeom>
          <a:noFill/>
          <a:ln/>
        </p:spPr>
        <p:txBody>
          <a:bodyPr wrap="square" rtlCol="0" anchor="ctr"/>
          <a:lstStyle/>
          <a:p>
            <a:pPr marL="0" indent="0">
              <a:buNone/>
            </a:pPr>
            <a:r>
              <a:rPr lang="en-US" sz="1300" b="1" dirty="0">
                <a:solidFill>
                  <a:srgbClr val="FFFFFF"/>
                </a:solidFill>
              </a:rPr>
              <a:t>4</a:t>
            </a:r>
            <a:endParaRPr lang="en-US" sz="1300" dirty="0"/>
          </a:p>
        </p:txBody>
      </p:sp>
      <p:sp>
        <p:nvSpPr>
          <p:cNvPr id="22" name="Text 20"/>
          <p:cNvSpPr/>
          <p:nvPr/>
        </p:nvSpPr>
        <p:spPr>
          <a:xfrm>
            <a:off x="6181344" y="2331720"/>
            <a:ext cx="1371600" cy="256032"/>
          </a:xfrm>
          <a:prstGeom prst="rect">
            <a:avLst/>
          </a:prstGeom>
          <a:noFill/>
          <a:ln/>
        </p:spPr>
        <p:txBody>
          <a:bodyPr wrap="square" rtlCol="0" anchor="ctr">
            <a:normAutofit/>
          </a:bodyPr>
          <a:lstStyle/>
          <a:p>
            <a:pPr marL="0" indent="0" algn="ctr">
              <a:buNone/>
            </a:pPr>
            <a:r>
              <a:rPr lang="en-US" sz="1000" b="1" dirty="0">
                <a:solidFill>
                  <a:srgbClr val="D83B0B"/>
                </a:solidFill>
              </a:rPr>
              <a:t>UI + Security</a:t>
            </a:r>
            <a:endParaRPr lang="en-US" sz="1000" dirty="0"/>
          </a:p>
        </p:txBody>
      </p:sp>
      <p:sp>
        <p:nvSpPr>
          <p:cNvPr id="23" name="Text 21"/>
          <p:cNvSpPr/>
          <p:nvPr/>
        </p:nvSpPr>
        <p:spPr>
          <a:xfrm>
            <a:off x="6227064" y="2743200"/>
            <a:ext cx="1298448" cy="502920"/>
          </a:xfrm>
          <a:prstGeom prst="rect">
            <a:avLst/>
          </a:prstGeom>
          <a:noFill/>
          <a:ln/>
        </p:spPr>
        <p:txBody>
          <a:bodyPr wrap="square" rtlCol="0" anchor="ctr">
            <a:normAutofit/>
          </a:bodyPr>
          <a:lstStyle/>
          <a:p>
            <a:pPr marL="0" indent="0" algn="ctr">
              <a:buNone/>
            </a:pPr>
            <a:r>
              <a:rPr lang="en-US" sz="750" dirty="0">
                <a:solidFill>
                  <a:srgbClr val="10263D"/>
                </a:solidFill>
              </a:rPr>
              <a:t>Thymeleaf, USER/ADMIN roles, filters</a:t>
            </a:r>
            <a:endParaRPr lang="en-US" sz="750" dirty="0"/>
          </a:p>
        </p:txBody>
      </p:sp>
      <p:sp>
        <p:nvSpPr>
          <p:cNvPr id="24" name="Shape 22"/>
          <p:cNvSpPr/>
          <p:nvPr/>
        </p:nvSpPr>
        <p:spPr>
          <a:xfrm>
            <a:off x="7991856" y="1508760"/>
            <a:ext cx="1572768" cy="3246120"/>
          </a:xfrm>
          <a:prstGeom prst="roundRect">
            <a:avLst>
              <a:gd name="adj" fmla="val 2326"/>
            </a:avLst>
          </a:prstGeom>
          <a:solidFill>
            <a:srgbClr val="FFFFFF"/>
          </a:solidFill>
          <a:ln w="12700">
            <a:solidFill>
              <a:srgbClr val="D8E0E8"/>
            </a:solidFill>
            <a:prstDash val="solid"/>
          </a:ln>
        </p:spPr>
        <p:txBody>
          <a:bodyPr/>
          <a:lstStyle/>
          <a:p>
            <a:endParaRPr lang="en-US"/>
          </a:p>
        </p:txBody>
      </p:sp>
      <p:sp>
        <p:nvSpPr>
          <p:cNvPr id="25" name="Shape 23"/>
          <p:cNvSpPr/>
          <p:nvPr/>
        </p:nvSpPr>
        <p:spPr>
          <a:xfrm>
            <a:off x="7991856" y="1508760"/>
            <a:ext cx="1572768" cy="566928"/>
          </a:xfrm>
          <a:prstGeom prst="rect">
            <a:avLst/>
          </a:prstGeom>
          <a:solidFill>
            <a:srgbClr val="146B2E"/>
          </a:solidFill>
          <a:ln w="12700">
            <a:solidFill>
              <a:srgbClr val="146B2E"/>
            </a:solidFill>
            <a:prstDash val="solid"/>
          </a:ln>
        </p:spPr>
        <p:txBody>
          <a:bodyPr/>
          <a:lstStyle/>
          <a:p>
            <a:endParaRPr lang="en-US"/>
          </a:p>
        </p:txBody>
      </p:sp>
      <p:sp>
        <p:nvSpPr>
          <p:cNvPr id="26" name="Text 24"/>
          <p:cNvSpPr/>
          <p:nvPr/>
        </p:nvSpPr>
        <p:spPr>
          <a:xfrm>
            <a:off x="8110728" y="1627632"/>
            <a:ext cx="274320" cy="182880"/>
          </a:xfrm>
          <a:prstGeom prst="rect">
            <a:avLst/>
          </a:prstGeom>
          <a:noFill/>
          <a:ln/>
        </p:spPr>
        <p:txBody>
          <a:bodyPr wrap="square" rtlCol="0" anchor="ctr"/>
          <a:lstStyle/>
          <a:p>
            <a:pPr marL="0" indent="0">
              <a:buNone/>
            </a:pPr>
            <a:r>
              <a:rPr lang="en-US" sz="1300" b="1" dirty="0">
                <a:solidFill>
                  <a:srgbClr val="FFFFFF"/>
                </a:solidFill>
              </a:rPr>
              <a:t>5</a:t>
            </a:r>
            <a:endParaRPr lang="en-US" sz="1300" dirty="0"/>
          </a:p>
        </p:txBody>
      </p:sp>
      <p:sp>
        <p:nvSpPr>
          <p:cNvPr id="27" name="Text 25"/>
          <p:cNvSpPr/>
          <p:nvPr/>
        </p:nvSpPr>
        <p:spPr>
          <a:xfrm>
            <a:off x="8083296" y="2331720"/>
            <a:ext cx="1371600" cy="256032"/>
          </a:xfrm>
          <a:prstGeom prst="rect">
            <a:avLst/>
          </a:prstGeom>
          <a:noFill/>
          <a:ln/>
        </p:spPr>
        <p:txBody>
          <a:bodyPr wrap="square" rtlCol="0" anchor="ctr">
            <a:normAutofit/>
          </a:bodyPr>
          <a:lstStyle/>
          <a:p>
            <a:pPr marL="0" indent="0" algn="ctr">
              <a:buNone/>
            </a:pPr>
            <a:r>
              <a:rPr lang="en-US" sz="1000" b="1" dirty="0">
                <a:solidFill>
                  <a:srgbClr val="146B2E"/>
                </a:solidFill>
              </a:rPr>
              <a:t>AOP + Tx</a:t>
            </a:r>
            <a:endParaRPr lang="en-US" sz="1000" dirty="0"/>
          </a:p>
        </p:txBody>
      </p:sp>
      <p:sp>
        <p:nvSpPr>
          <p:cNvPr id="28" name="Text 26"/>
          <p:cNvSpPr/>
          <p:nvPr/>
        </p:nvSpPr>
        <p:spPr>
          <a:xfrm>
            <a:off x="8129016" y="2743200"/>
            <a:ext cx="1298448" cy="502920"/>
          </a:xfrm>
          <a:prstGeom prst="rect">
            <a:avLst/>
          </a:prstGeom>
          <a:noFill/>
          <a:ln/>
        </p:spPr>
        <p:txBody>
          <a:bodyPr wrap="square" rtlCol="0" anchor="ctr">
            <a:normAutofit/>
          </a:bodyPr>
          <a:lstStyle/>
          <a:p>
            <a:pPr marL="0" indent="0" algn="ctr">
              <a:buNone/>
            </a:pPr>
            <a:r>
              <a:rPr lang="en-US" sz="750" dirty="0">
                <a:solidFill>
                  <a:srgbClr val="10263D"/>
                </a:solidFill>
              </a:rPr>
              <a:t>Logging Aspect, @Transactional, self-invocation</a:t>
            </a:r>
            <a:endParaRPr lang="en-US" sz="750" dirty="0"/>
          </a:p>
        </p:txBody>
      </p:sp>
      <p:sp>
        <p:nvSpPr>
          <p:cNvPr id="29" name="Shape 27"/>
          <p:cNvSpPr/>
          <p:nvPr/>
        </p:nvSpPr>
        <p:spPr>
          <a:xfrm>
            <a:off x="9893808" y="1508760"/>
            <a:ext cx="1572768" cy="3246120"/>
          </a:xfrm>
          <a:prstGeom prst="roundRect">
            <a:avLst>
              <a:gd name="adj" fmla="val 2326"/>
            </a:avLst>
          </a:prstGeom>
          <a:solidFill>
            <a:srgbClr val="FFFFFF"/>
          </a:solidFill>
          <a:ln w="12700">
            <a:solidFill>
              <a:srgbClr val="D8E0E8"/>
            </a:solidFill>
            <a:prstDash val="solid"/>
          </a:ln>
        </p:spPr>
        <p:txBody>
          <a:bodyPr/>
          <a:lstStyle/>
          <a:p>
            <a:endParaRPr lang="en-US"/>
          </a:p>
        </p:txBody>
      </p:sp>
      <p:sp>
        <p:nvSpPr>
          <p:cNvPr id="30" name="Shape 28"/>
          <p:cNvSpPr/>
          <p:nvPr/>
        </p:nvSpPr>
        <p:spPr>
          <a:xfrm>
            <a:off x="9893808" y="1508760"/>
            <a:ext cx="1572768" cy="566928"/>
          </a:xfrm>
          <a:prstGeom prst="rect">
            <a:avLst/>
          </a:prstGeom>
          <a:solidFill>
            <a:srgbClr val="0C2238"/>
          </a:solidFill>
          <a:ln w="12700">
            <a:solidFill>
              <a:srgbClr val="0C2238"/>
            </a:solidFill>
            <a:prstDash val="solid"/>
          </a:ln>
        </p:spPr>
        <p:txBody>
          <a:bodyPr/>
          <a:lstStyle/>
          <a:p>
            <a:endParaRPr lang="en-US"/>
          </a:p>
        </p:txBody>
      </p:sp>
      <p:sp>
        <p:nvSpPr>
          <p:cNvPr id="31" name="Text 29"/>
          <p:cNvSpPr/>
          <p:nvPr/>
        </p:nvSpPr>
        <p:spPr>
          <a:xfrm>
            <a:off x="10012680" y="1627632"/>
            <a:ext cx="274320" cy="182880"/>
          </a:xfrm>
          <a:prstGeom prst="rect">
            <a:avLst/>
          </a:prstGeom>
          <a:noFill/>
          <a:ln/>
        </p:spPr>
        <p:txBody>
          <a:bodyPr wrap="square" rtlCol="0" anchor="ctr"/>
          <a:lstStyle/>
          <a:p>
            <a:pPr marL="0" indent="0">
              <a:buNone/>
            </a:pPr>
            <a:r>
              <a:rPr lang="en-US" sz="1300" b="1" dirty="0">
                <a:solidFill>
                  <a:srgbClr val="FFFFFF"/>
                </a:solidFill>
              </a:rPr>
              <a:t>6</a:t>
            </a:r>
            <a:endParaRPr lang="en-US" sz="1300" dirty="0"/>
          </a:p>
        </p:txBody>
      </p:sp>
      <p:sp>
        <p:nvSpPr>
          <p:cNvPr id="32" name="Text 30"/>
          <p:cNvSpPr/>
          <p:nvPr/>
        </p:nvSpPr>
        <p:spPr>
          <a:xfrm>
            <a:off x="9985248" y="2331720"/>
            <a:ext cx="1371600" cy="256032"/>
          </a:xfrm>
          <a:prstGeom prst="rect">
            <a:avLst/>
          </a:prstGeom>
          <a:noFill/>
          <a:ln/>
        </p:spPr>
        <p:txBody>
          <a:bodyPr wrap="square" rtlCol="0" anchor="ctr">
            <a:normAutofit/>
          </a:bodyPr>
          <a:lstStyle/>
          <a:p>
            <a:pPr marL="0" indent="0" algn="ctr">
              <a:buNone/>
            </a:pPr>
            <a:r>
              <a:rPr lang="en-US" sz="1000" b="1" dirty="0">
                <a:solidFill>
                  <a:srgbClr val="0C2238"/>
                </a:solidFill>
              </a:rPr>
              <a:t>Quality</a:t>
            </a:r>
            <a:endParaRPr lang="en-US" sz="1000" dirty="0"/>
          </a:p>
        </p:txBody>
      </p:sp>
      <p:sp>
        <p:nvSpPr>
          <p:cNvPr id="33" name="Text 31"/>
          <p:cNvSpPr/>
          <p:nvPr/>
        </p:nvSpPr>
        <p:spPr>
          <a:xfrm>
            <a:off x="10030968" y="2743200"/>
            <a:ext cx="1298448" cy="502920"/>
          </a:xfrm>
          <a:prstGeom prst="rect">
            <a:avLst/>
          </a:prstGeom>
          <a:noFill/>
          <a:ln/>
        </p:spPr>
        <p:txBody>
          <a:bodyPr wrap="square" rtlCol="0" anchor="ctr">
            <a:normAutofit/>
          </a:bodyPr>
          <a:lstStyle/>
          <a:p>
            <a:pPr marL="0" indent="0" algn="ctr">
              <a:buNone/>
            </a:pPr>
            <a:r>
              <a:rPr lang="en-US" sz="750" dirty="0">
                <a:solidFill>
                  <a:srgbClr val="10263D"/>
                </a:solidFill>
              </a:rPr>
              <a:t>DTO, validation, Advice, MockMvc, report</a:t>
            </a:r>
            <a:endParaRPr lang="en-US" sz="750" dirty="0"/>
          </a:p>
        </p:txBody>
      </p:sp>
      <p:sp>
        <p:nvSpPr>
          <p:cNvPr id="34" name="Text 32"/>
          <p:cNvSpPr/>
          <p:nvPr/>
        </p:nvSpPr>
        <p:spPr>
          <a:xfrm>
            <a:off x="914400" y="5577840"/>
            <a:ext cx="10424160" cy="256032"/>
          </a:xfrm>
          <a:prstGeom prst="rect">
            <a:avLst/>
          </a:prstGeom>
          <a:noFill/>
          <a:ln/>
        </p:spPr>
        <p:txBody>
          <a:bodyPr wrap="square" rtlCol="0" anchor="ctr"/>
          <a:lstStyle/>
          <a:p>
            <a:pPr marL="0" indent="0" algn="ctr">
              <a:buNone/>
            </a:pPr>
            <a:r>
              <a:rPr lang="en-US" sz="1050" i="1" dirty="0">
                <a:solidFill>
                  <a:srgbClr val="6B7785"/>
                </a:solidFill>
              </a:rPr>
              <a:t>Each step adds one responsibility layer. Do not mix web, business logic, database, and security in one class.</a:t>
            </a:r>
            <a:endParaRPr lang="en-US" sz="1050" dirty="0"/>
          </a:p>
        </p:txBody>
      </p:sp>
      <p:sp>
        <p:nvSpPr>
          <p:cNvPr id="35" name="Text 33"/>
          <p:cNvSpPr/>
          <p:nvPr/>
        </p:nvSpPr>
        <p:spPr>
          <a:xfrm>
            <a:off x="320040" y="6309360"/>
            <a:ext cx="9875520" cy="128016"/>
          </a:xfrm>
          <a:prstGeom prst="rect">
            <a:avLst/>
          </a:prstGeom>
          <a:noFill/>
          <a:ln/>
        </p:spPr>
        <p:txBody>
          <a:bodyPr wrap="square" rtlCol="0" anchor="ctr">
            <a:normAutofit/>
          </a:bodyPr>
          <a:lstStyle/>
          <a:p>
            <a:pPr marL="0" indent="0">
              <a:buNone/>
            </a:pPr>
            <a:r>
              <a:rPr lang="en-US" sz="520" dirty="0">
                <a:solidFill>
                  <a:srgbClr val="8B97A4"/>
                </a:solidFill>
              </a:rPr>
              <a:t>Source: practice7.md — parts 1–8 and lesson outcomes</a:t>
            </a:r>
            <a:endParaRPr lang="en-US" sz="520" dirty="0"/>
          </a:p>
        </p:txBody>
      </p:sp>
      <p:sp>
        <p:nvSpPr>
          <p:cNvPr id="37" name="Text 34"/>
          <p:cNvSpPr/>
          <p:nvPr/>
        </p:nvSpPr>
        <p:spPr>
          <a:xfrm>
            <a:off x="320040" y="6510528"/>
            <a:ext cx="5943600" cy="128016"/>
          </a:xfrm>
          <a:prstGeom prst="rect">
            <a:avLst/>
          </a:prstGeom>
          <a:noFill/>
          <a:ln/>
        </p:spPr>
        <p:txBody>
          <a:bodyPr wrap="square" rtlCol="0" anchor="ctr"/>
          <a:lstStyle/>
          <a:p>
            <a:pPr marL="0" indent="0">
              <a:buNone/>
            </a:pPr>
            <a:r>
              <a:rPr lang="en-US" sz="550" dirty="0">
                <a:solidFill>
                  <a:srgbClr val="9AA7B5"/>
                </a:solidFill>
              </a:rPr>
              <a:t>Modern Programming Technologies • Practice 7</a:t>
            </a:r>
            <a:endParaRPr lang="en-US" sz="550" dirty="0"/>
          </a:p>
        </p:txBody>
      </p:sp>
      <p:sp>
        <p:nvSpPr>
          <p:cNvPr id="38" name="Text 35"/>
          <p:cNvSpPr/>
          <p:nvPr/>
        </p:nvSpPr>
        <p:spPr>
          <a:xfrm>
            <a:off x="11631168" y="6473952"/>
            <a:ext cx="182880" cy="146304"/>
          </a:xfrm>
          <a:prstGeom prst="rect">
            <a:avLst/>
          </a:prstGeom>
          <a:noFill/>
          <a:ln/>
        </p:spPr>
        <p:txBody>
          <a:bodyPr wrap="square" rtlCol="0" anchor="ctr"/>
          <a:lstStyle/>
          <a:p>
            <a:pPr marL="0" indent="0">
              <a:buNone/>
            </a:pPr>
            <a:r>
              <a:rPr lang="en-US" sz="550" dirty="0">
                <a:solidFill>
                  <a:srgbClr val="9AA7B5"/>
                </a:solidFill>
              </a:rPr>
              <a:t>2</a:t>
            </a:r>
            <a:endParaRPr lang="en-US" sz="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3F7"/>
        </a:solidFill>
        <a:effectLst/>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1E73BE"/>
          </a:solidFill>
          <a:ln w="12700">
            <a:solidFill>
              <a:srgbClr val="1E73BE"/>
            </a:solidFill>
            <a:prstDash val="solid"/>
          </a:ln>
        </p:spPr>
        <p:txBody>
          <a:bodyPr/>
          <a:lstStyle/>
          <a:p>
            <a:endParaRPr lang="en-US"/>
          </a:p>
        </p:txBody>
      </p:sp>
      <p:sp>
        <p:nvSpPr>
          <p:cNvPr id="3" name="Text 1"/>
          <p:cNvSpPr/>
          <p:nvPr/>
        </p:nvSpPr>
        <p:spPr>
          <a:xfrm>
            <a:off x="411480" y="118872"/>
            <a:ext cx="274320" cy="219456"/>
          </a:xfrm>
          <a:prstGeom prst="rect">
            <a:avLst/>
          </a:prstGeom>
          <a:noFill/>
          <a:ln/>
        </p:spPr>
        <p:txBody>
          <a:bodyPr wrap="square" rtlCol="0" anchor="ctr"/>
          <a:lstStyle/>
          <a:p>
            <a:pPr marL="0" indent="0" algn="ctr">
              <a:buNone/>
            </a:pPr>
            <a:r>
              <a:rPr lang="en-US" sz="1200" b="1" dirty="0">
                <a:solidFill>
                  <a:srgbClr val="FFFFFF"/>
                </a:solidFill>
              </a:rPr>
              <a:t>1</a:t>
            </a:r>
            <a:endParaRPr lang="en-US" sz="1200" dirty="0"/>
          </a:p>
        </p:txBody>
      </p:sp>
      <p:sp>
        <p:nvSpPr>
          <p:cNvPr id="4" name="Text 2"/>
          <p:cNvSpPr/>
          <p:nvPr/>
        </p:nvSpPr>
        <p:spPr>
          <a:xfrm>
            <a:off x="914400" y="73152"/>
            <a:ext cx="10515600" cy="310896"/>
          </a:xfrm>
          <a:prstGeom prst="rect">
            <a:avLst/>
          </a:prstGeom>
          <a:noFill/>
          <a:ln/>
        </p:spPr>
        <p:txBody>
          <a:bodyPr wrap="square" rtlCol="0" anchor="ctr">
            <a:normAutofit/>
          </a:bodyPr>
          <a:lstStyle/>
          <a:p>
            <a:pPr marL="0" indent="0">
              <a:buNone/>
            </a:pPr>
            <a:r>
              <a:rPr lang="en-US" sz="2000" b="1" dirty="0">
                <a:solidFill>
                  <a:srgbClr val="FFFFFF"/>
                </a:solidFill>
              </a:rPr>
              <a:t>Spring Boot project — start the skeleton first</a:t>
            </a:r>
            <a:endParaRPr lang="en-US" sz="2000" dirty="0"/>
          </a:p>
        </p:txBody>
      </p:sp>
      <p:sp>
        <p:nvSpPr>
          <p:cNvPr id="5" name="Shape 3"/>
          <p:cNvSpPr/>
          <p:nvPr/>
        </p:nvSpPr>
        <p:spPr>
          <a:xfrm>
            <a:off x="457200" y="960120"/>
            <a:ext cx="2926080" cy="1051560"/>
          </a:xfrm>
          <a:prstGeom prst="roundRect">
            <a:avLst>
              <a:gd name="adj" fmla="val 5217"/>
            </a:avLst>
          </a:prstGeom>
          <a:solidFill>
            <a:srgbClr val="FFFFFF"/>
          </a:solidFill>
          <a:ln w="12700">
            <a:solidFill>
              <a:srgbClr val="D8E0E8"/>
            </a:solidFill>
            <a:prstDash val="solid"/>
          </a:ln>
        </p:spPr>
        <p:txBody>
          <a:bodyPr/>
          <a:lstStyle/>
          <a:p>
            <a:endParaRPr lang="en-US"/>
          </a:p>
        </p:txBody>
      </p:sp>
      <p:sp>
        <p:nvSpPr>
          <p:cNvPr id="6" name="Shape 4"/>
          <p:cNvSpPr/>
          <p:nvPr/>
        </p:nvSpPr>
        <p:spPr>
          <a:xfrm>
            <a:off x="457200" y="960120"/>
            <a:ext cx="2926080" cy="384048"/>
          </a:xfrm>
          <a:prstGeom prst="rect">
            <a:avLst/>
          </a:prstGeom>
          <a:solidFill>
            <a:srgbClr val="1E73BE"/>
          </a:solidFill>
          <a:ln w="12700">
            <a:solidFill>
              <a:srgbClr val="1E73BE"/>
            </a:solidFill>
            <a:prstDash val="solid"/>
          </a:ln>
        </p:spPr>
        <p:txBody>
          <a:bodyPr/>
          <a:lstStyle/>
          <a:p>
            <a:endParaRPr lang="en-US"/>
          </a:p>
        </p:txBody>
      </p:sp>
      <p:sp>
        <p:nvSpPr>
          <p:cNvPr id="7" name="Text 5"/>
          <p:cNvSpPr/>
          <p:nvPr/>
        </p:nvSpPr>
        <p:spPr>
          <a:xfrm>
            <a:off x="566928" y="1033272"/>
            <a:ext cx="2706624" cy="182880"/>
          </a:xfrm>
          <a:prstGeom prst="rect">
            <a:avLst/>
          </a:prstGeom>
          <a:noFill/>
          <a:ln/>
        </p:spPr>
        <p:txBody>
          <a:bodyPr wrap="square" rtlCol="0" anchor="ctr">
            <a:normAutofit/>
          </a:bodyPr>
          <a:lstStyle/>
          <a:p>
            <a:pPr marL="0" indent="0" algn="ctr">
              <a:buNone/>
            </a:pPr>
            <a:r>
              <a:rPr lang="en-US" sz="1000" b="1" dirty="0">
                <a:solidFill>
                  <a:srgbClr val="FFFFFF"/>
                </a:solidFill>
              </a:rPr>
              <a:t>Spring Initializr</a:t>
            </a:r>
            <a:endParaRPr lang="en-US" sz="1000" dirty="0"/>
          </a:p>
        </p:txBody>
      </p:sp>
      <p:sp>
        <p:nvSpPr>
          <p:cNvPr id="8" name="Text 6"/>
          <p:cNvSpPr/>
          <p:nvPr/>
        </p:nvSpPr>
        <p:spPr>
          <a:xfrm>
            <a:off x="566928" y="1463040"/>
            <a:ext cx="2706624" cy="484632"/>
          </a:xfrm>
          <a:prstGeom prst="rect">
            <a:avLst/>
          </a:prstGeom>
          <a:noFill/>
          <a:ln/>
        </p:spPr>
        <p:txBody>
          <a:bodyPr wrap="square" rtlCol="0" anchor="ctr">
            <a:normAutofit/>
          </a:bodyPr>
          <a:lstStyle/>
          <a:p>
            <a:pPr marL="0" indent="0" algn="ctr">
              <a:buNone/>
            </a:pPr>
            <a:r>
              <a:rPr lang="en-US" sz="900" dirty="0">
                <a:solidFill>
                  <a:srgbClr val="10263D"/>
                </a:solidFill>
              </a:rPr>
              <a:t>Project: Maven</a:t>
            </a:r>
            <a:endParaRPr lang="en-US" sz="900" dirty="0"/>
          </a:p>
          <a:p>
            <a:pPr marL="0" indent="0" algn="ctr">
              <a:buNone/>
            </a:pPr>
            <a:r>
              <a:rPr lang="en-US" sz="900" dirty="0">
                <a:solidFill>
                  <a:srgbClr val="10263D"/>
                </a:solidFill>
              </a:rPr>
              <a:t>Language: Java</a:t>
            </a:r>
            <a:endParaRPr lang="en-US" sz="900" dirty="0"/>
          </a:p>
          <a:p>
            <a:pPr marL="0" indent="0" algn="ctr">
              <a:buNone/>
            </a:pPr>
            <a:r>
              <a:rPr lang="en-US" sz="900" dirty="0">
                <a:solidFill>
                  <a:srgbClr val="10263D"/>
                </a:solidFill>
              </a:rPr>
              <a:t>Boot: 3.5.x</a:t>
            </a:r>
            <a:endParaRPr lang="en-US" sz="900" dirty="0"/>
          </a:p>
          <a:p>
            <a:pPr marL="0" indent="0" algn="ctr">
              <a:buNone/>
            </a:pPr>
            <a:r>
              <a:rPr lang="en-US" sz="900" dirty="0">
                <a:solidFill>
                  <a:srgbClr val="10263D"/>
                </a:solidFill>
              </a:rPr>
              <a:t>Java: 21 or 24</a:t>
            </a:r>
            <a:endParaRPr lang="en-US" sz="900" dirty="0"/>
          </a:p>
        </p:txBody>
      </p:sp>
      <p:sp>
        <p:nvSpPr>
          <p:cNvPr id="9" name="Shape 7"/>
          <p:cNvSpPr/>
          <p:nvPr/>
        </p:nvSpPr>
        <p:spPr>
          <a:xfrm>
            <a:off x="3611880" y="960120"/>
            <a:ext cx="3474720" cy="1051560"/>
          </a:xfrm>
          <a:prstGeom prst="roundRect">
            <a:avLst>
              <a:gd name="adj" fmla="val 5217"/>
            </a:avLst>
          </a:prstGeom>
          <a:solidFill>
            <a:srgbClr val="FFFFFF"/>
          </a:solidFill>
          <a:ln w="12700">
            <a:solidFill>
              <a:srgbClr val="D8E0E8"/>
            </a:solidFill>
            <a:prstDash val="solid"/>
          </a:ln>
        </p:spPr>
        <p:txBody>
          <a:bodyPr/>
          <a:lstStyle/>
          <a:p>
            <a:endParaRPr lang="en-US"/>
          </a:p>
        </p:txBody>
      </p:sp>
      <p:sp>
        <p:nvSpPr>
          <p:cNvPr id="10" name="Shape 8"/>
          <p:cNvSpPr/>
          <p:nvPr/>
        </p:nvSpPr>
        <p:spPr>
          <a:xfrm>
            <a:off x="3611880" y="960120"/>
            <a:ext cx="3474720" cy="384048"/>
          </a:xfrm>
          <a:prstGeom prst="rect">
            <a:avLst/>
          </a:prstGeom>
          <a:solidFill>
            <a:srgbClr val="008C8C"/>
          </a:solidFill>
          <a:ln w="12700">
            <a:solidFill>
              <a:srgbClr val="008C8C"/>
            </a:solidFill>
            <a:prstDash val="solid"/>
          </a:ln>
        </p:spPr>
        <p:txBody>
          <a:bodyPr/>
          <a:lstStyle/>
          <a:p>
            <a:endParaRPr lang="en-US"/>
          </a:p>
        </p:txBody>
      </p:sp>
      <p:sp>
        <p:nvSpPr>
          <p:cNvPr id="11" name="Text 9"/>
          <p:cNvSpPr/>
          <p:nvPr/>
        </p:nvSpPr>
        <p:spPr>
          <a:xfrm>
            <a:off x="3721608" y="1033272"/>
            <a:ext cx="3255264" cy="182880"/>
          </a:xfrm>
          <a:prstGeom prst="rect">
            <a:avLst/>
          </a:prstGeom>
          <a:noFill/>
          <a:ln/>
        </p:spPr>
        <p:txBody>
          <a:bodyPr wrap="square" rtlCol="0" anchor="ctr">
            <a:normAutofit/>
          </a:bodyPr>
          <a:lstStyle/>
          <a:p>
            <a:pPr marL="0" indent="0" algn="ctr">
              <a:buNone/>
            </a:pPr>
            <a:r>
              <a:rPr lang="en-US" sz="1000" b="1" dirty="0">
                <a:solidFill>
                  <a:srgbClr val="FFFFFF"/>
                </a:solidFill>
              </a:rPr>
              <a:t>Coordinates</a:t>
            </a:r>
            <a:endParaRPr lang="en-US" sz="1000" dirty="0"/>
          </a:p>
        </p:txBody>
      </p:sp>
      <p:sp>
        <p:nvSpPr>
          <p:cNvPr id="12" name="Text 10"/>
          <p:cNvSpPr/>
          <p:nvPr/>
        </p:nvSpPr>
        <p:spPr>
          <a:xfrm>
            <a:off x="3721608" y="1463040"/>
            <a:ext cx="3255264" cy="484632"/>
          </a:xfrm>
          <a:prstGeom prst="rect">
            <a:avLst/>
          </a:prstGeom>
          <a:noFill/>
          <a:ln/>
        </p:spPr>
        <p:txBody>
          <a:bodyPr wrap="square" rtlCol="0" anchor="ctr">
            <a:normAutofit/>
          </a:bodyPr>
          <a:lstStyle/>
          <a:p>
            <a:pPr marL="0" indent="0" algn="ctr">
              <a:buNone/>
            </a:pPr>
            <a:r>
              <a:rPr lang="en-US" sz="900" dirty="0">
                <a:solidFill>
                  <a:srgbClr val="10263D"/>
                </a:solidFill>
              </a:rPr>
              <a:t>group: mpt.it</a:t>
            </a:r>
            <a:endParaRPr lang="en-US" sz="900" dirty="0"/>
          </a:p>
          <a:p>
            <a:pPr marL="0" indent="0" algn="ctr">
              <a:buNone/>
            </a:pPr>
            <a:r>
              <a:rPr lang="en-US" sz="900" dirty="0">
                <a:solidFill>
                  <a:srgbClr val="10263D"/>
                </a:solidFill>
              </a:rPr>
              <a:t>artifact/name: student</a:t>
            </a:r>
            <a:endParaRPr lang="en-US" sz="900" dirty="0"/>
          </a:p>
          <a:p>
            <a:pPr marL="0" indent="0" algn="ctr">
              <a:buNone/>
            </a:pPr>
            <a:r>
              <a:rPr lang="en-US" sz="900" dirty="0">
                <a:solidFill>
                  <a:srgbClr val="10263D"/>
                </a:solidFill>
              </a:rPr>
              <a:t>package: lecture.seven.student</a:t>
            </a:r>
            <a:endParaRPr lang="en-US" sz="900" dirty="0"/>
          </a:p>
          <a:p>
            <a:pPr marL="0" indent="0" algn="ctr">
              <a:buNone/>
            </a:pPr>
            <a:r>
              <a:rPr lang="en-US" sz="900" dirty="0">
                <a:solidFill>
                  <a:srgbClr val="10263D"/>
                </a:solidFill>
              </a:rPr>
              <a:t>packaging: Jar</a:t>
            </a:r>
            <a:endParaRPr lang="en-US" sz="900" dirty="0"/>
          </a:p>
        </p:txBody>
      </p:sp>
      <p:sp>
        <p:nvSpPr>
          <p:cNvPr id="13" name="Shape 11"/>
          <p:cNvSpPr/>
          <p:nvPr/>
        </p:nvSpPr>
        <p:spPr>
          <a:xfrm>
            <a:off x="7315200" y="960120"/>
            <a:ext cx="4434840" cy="1051560"/>
          </a:xfrm>
          <a:prstGeom prst="roundRect">
            <a:avLst>
              <a:gd name="adj" fmla="val 5217"/>
            </a:avLst>
          </a:prstGeom>
          <a:solidFill>
            <a:srgbClr val="FFFFFF"/>
          </a:solidFill>
          <a:ln w="12700">
            <a:solidFill>
              <a:srgbClr val="D8E0E8"/>
            </a:solidFill>
            <a:prstDash val="solid"/>
          </a:ln>
        </p:spPr>
        <p:txBody>
          <a:bodyPr/>
          <a:lstStyle/>
          <a:p>
            <a:endParaRPr lang="en-US"/>
          </a:p>
        </p:txBody>
      </p:sp>
      <p:sp>
        <p:nvSpPr>
          <p:cNvPr id="14" name="Shape 12"/>
          <p:cNvSpPr/>
          <p:nvPr/>
        </p:nvSpPr>
        <p:spPr>
          <a:xfrm>
            <a:off x="7315200" y="960120"/>
            <a:ext cx="4434840" cy="384048"/>
          </a:xfrm>
          <a:prstGeom prst="rect">
            <a:avLst/>
          </a:prstGeom>
          <a:solidFill>
            <a:srgbClr val="146B2E"/>
          </a:solidFill>
          <a:ln w="12700">
            <a:solidFill>
              <a:srgbClr val="146B2E"/>
            </a:solidFill>
            <a:prstDash val="solid"/>
          </a:ln>
        </p:spPr>
        <p:txBody>
          <a:bodyPr/>
          <a:lstStyle/>
          <a:p>
            <a:endParaRPr lang="en-US"/>
          </a:p>
        </p:txBody>
      </p:sp>
      <p:sp>
        <p:nvSpPr>
          <p:cNvPr id="15" name="Text 13"/>
          <p:cNvSpPr/>
          <p:nvPr/>
        </p:nvSpPr>
        <p:spPr>
          <a:xfrm>
            <a:off x="7424928" y="1033272"/>
            <a:ext cx="4215384" cy="182880"/>
          </a:xfrm>
          <a:prstGeom prst="rect">
            <a:avLst/>
          </a:prstGeom>
          <a:noFill/>
          <a:ln/>
        </p:spPr>
        <p:txBody>
          <a:bodyPr wrap="square" rtlCol="0" anchor="ctr">
            <a:normAutofit/>
          </a:bodyPr>
          <a:lstStyle/>
          <a:p>
            <a:pPr marL="0" indent="0" algn="ctr">
              <a:buNone/>
            </a:pPr>
            <a:r>
              <a:rPr lang="en-US" sz="1000" b="1" dirty="0">
                <a:solidFill>
                  <a:srgbClr val="FFFFFF"/>
                </a:solidFill>
              </a:rPr>
              <a:t>Dependencies</a:t>
            </a:r>
            <a:endParaRPr lang="en-US" sz="1000" dirty="0"/>
          </a:p>
        </p:txBody>
      </p:sp>
      <p:sp>
        <p:nvSpPr>
          <p:cNvPr id="16" name="Text 14"/>
          <p:cNvSpPr/>
          <p:nvPr/>
        </p:nvSpPr>
        <p:spPr>
          <a:xfrm>
            <a:off x="7424928" y="1463040"/>
            <a:ext cx="4215384" cy="484632"/>
          </a:xfrm>
          <a:prstGeom prst="rect">
            <a:avLst/>
          </a:prstGeom>
          <a:noFill/>
          <a:ln/>
        </p:spPr>
        <p:txBody>
          <a:bodyPr wrap="square" rtlCol="0" anchor="ctr">
            <a:normAutofit/>
          </a:bodyPr>
          <a:lstStyle/>
          <a:p>
            <a:pPr marL="0" indent="0" algn="ctr">
              <a:buNone/>
            </a:pPr>
            <a:r>
              <a:rPr lang="en-US" sz="900" dirty="0">
                <a:solidFill>
                  <a:srgbClr val="10263D"/>
                </a:solidFill>
              </a:rPr>
              <a:t>Spring Web • Spring Data JPA • Spring Security</a:t>
            </a:r>
            <a:endParaRPr lang="en-US" sz="900" dirty="0"/>
          </a:p>
          <a:p>
            <a:pPr marL="0" indent="0" algn="ctr">
              <a:buNone/>
            </a:pPr>
            <a:r>
              <a:rPr lang="en-US" sz="900" dirty="0">
                <a:solidFill>
                  <a:srgbClr val="10263D"/>
                </a:solidFill>
              </a:rPr>
              <a:t>Thymeleaf • H2 Database • DevTools</a:t>
            </a:r>
            <a:endParaRPr lang="en-US" sz="900" dirty="0"/>
          </a:p>
        </p:txBody>
      </p:sp>
      <p:sp>
        <p:nvSpPr>
          <p:cNvPr id="17" name="Shape 15"/>
          <p:cNvSpPr/>
          <p:nvPr/>
        </p:nvSpPr>
        <p:spPr>
          <a:xfrm>
            <a:off x="502920" y="2377440"/>
            <a:ext cx="5257800" cy="1234440"/>
          </a:xfrm>
          <a:prstGeom prst="rect">
            <a:avLst/>
          </a:prstGeom>
          <a:solidFill>
            <a:srgbClr val="071A2D"/>
          </a:solidFill>
          <a:ln w="12700">
            <a:solidFill>
              <a:srgbClr val="1E73BE"/>
            </a:solidFill>
            <a:prstDash val="solid"/>
          </a:ln>
        </p:spPr>
        <p:txBody>
          <a:bodyPr/>
          <a:lstStyle/>
          <a:p>
            <a:endParaRPr lang="en-US"/>
          </a:p>
        </p:txBody>
      </p:sp>
      <p:sp>
        <p:nvSpPr>
          <p:cNvPr id="18" name="Text 16"/>
          <p:cNvSpPr/>
          <p:nvPr/>
        </p:nvSpPr>
        <p:spPr>
          <a:xfrm>
            <a:off x="621792" y="2487168"/>
            <a:ext cx="5020056" cy="1014984"/>
          </a:xfrm>
          <a:prstGeom prst="rect">
            <a:avLst/>
          </a:prstGeom>
          <a:noFill/>
          <a:ln/>
        </p:spPr>
        <p:txBody>
          <a:bodyPr wrap="square" lIns="254" tIns="254" rIns="254" bIns="254" rtlCol="0" anchor="ctr">
            <a:normAutofit/>
          </a:bodyPr>
          <a:lstStyle/>
          <a:p>
            <a:pPr marL="0" indent="0">
              <a:buNone/>
            </a:pPr>
            <a:r>
              <a:rPr lang="en-US" sz="1000" dirty="0">
                <a:solidFill>
                  <a:srgbClr val="BFE1FF"/>
                </a:solidFill>
                <a:latin typeface="Consolas" pitchFamily="34" charset="0"/>
                <a:ea typeface="Consolas" pitchFamily="34" charset="-122"/>
                <a:cs typeface="Consolas" pitchFamily="34" charset="-120"/>
              </a:rPr>
              <a:t>./mvnw clean compile      # Linux / macOS</a:t>
            </a:r>
            <a:endParaRPr lang="en-US" sz="1000" dirty="0"/>
          </a:p>
          <a:p>
            <a:pPr marL="0" indent="0">
              <a:buNone/>
            </a:pPr>
            <a:r>
              <a:rPr lang="en-US" sz="1000" dirty="0">
                <a:solidFill>
                  <a:srgbClr val="BFE1FF"/>
                </a:solidFill>
                <a:latin typeface="Consolas" pitchFamily="34" charset="0"/>
                <a:ea typeface="Consolas" pitchFamily="34" charset="-122"/>
                <a:cs typeface="Consolas" pitchFamily="34" charset="-120"/>
              </a:rPr>
              <a:t>mvnw.cmd clean compile   # Windows</a:t>
            </a:r>
            <a:endParaRPr lang="en-US" sz="1000" dirty="0"/>
          </a:p>
          <a:p>
            <a:pPr marL="0" indent="0">
              <a:buNone/>
            </a:pPr>
            <a:r>
              <a:rPr lang="en-US" sz="1000" dirty="0">
                <a:solidFill>
                  <a:srgbClr val="BFE1FF"/>
                </a:solidFill>
                <a:latin typeface="Consolas" pitchFamily="34" charset="0"/>
                <a:ea typeface="Consolas" pitchFamily="34" charset="-122"/>
                <a:cs typeface="Consolas" pitchFamily="34" charset="-120"/>
              </a:rPr>
              <a:t>./mvnw spring-boot:run   # start the application</a:t>
            </a:r>
            <a:endParaRPr lang="en-US" sz="1000" dirty="0"/>
          </a:p>
        </p:txBody>
      </p:sp>
      <p:sp>
        <p:nvSpPr>
          <p:cNvPr id="19" name="Shape 17"/>
          <p:cNvSpPr/>
          <p:nvPr/>
        </p:nvSpPr>
        <p:spPr>
          <a:xfrm>
            <a:off x="6172200" y="2377440"/>
            <a:ext cx="5074920" cy="1234440"/>
          </a:xfrm>
          <a:prstGeom prst="rect">
            <a:avLst/>
          </a:prstGeom>
          <a:solidFill>
            <a:srgbClr val="071A2D"/>
          </a:solidFill>
          <a:ln w="12700">
            <a:solidFill>
              <a:srgbClr val="008C8C"/>
            </a:solidFill>
            <a:prstDash val="solid"/>
          </a:ln>
        </p:spPr>
        <p:txBody>
          <a:bodyPr/>
          <a:lstStyle/>
          <a:p>
            <a:endParaRPr lang="en-US"/>
          </a:p>
        </p:txBody>
      </p:sp>
      <p:sp>
        <p:nvSpPr>
          <p:cNvPr id="20" name="Text 18"/>
          <p:cNvSpPr/>
          <p:nvPr/>
        </p:nvSpPr>
        <p:spPr>
          <a:xfrm>
            <a:off x="6291072" y="2487168"/>
            <a:ext cx="4837176" cy="1014984"/>
          </a:xfrm>
          <a:prstGeom prst="rect">
            <a:avLst/>
          </a:prstGeom>
          <a:noFill/>
          <a:ln/>
        </p:spPr>
        <p:txBody>
          <a:bodyPr wrap="square" lIns="254" tIns="254" rIns="254" bIns="254" rtlCol="0" anchor="ctr">
            <a:normAutofit/>
          </a:bodyPr>
          <a:lstStyle/>
          <a:p>
            <a:pPr marL="0" indent="0">
              <a:buNone/>
            </a:pPr>
            <a:r>
              <a:rPr lang="en-US" sz="1000" dirty="0">
                <a:solidFill>
                  <a:srgbClr val="BFE1FF"/>
                </a:solidFill>
                <a:latin typeface="Consolas" pitchFamily="34" charset="0"/>
                <a:ea typeface="Consolas" pitchFamily="34" charset="-122"/>
                <a:cs typeface="Consolas" pitchFamily="34" charset="-120"/>
              </a:rPr>
              <a:t>mvn dependency:tree</a:t>
            </a:r>
            <a:endParaRPr lang="en-US" sz="1000" dirty="0"/>
          </a:p>
          <a:p>
            <a:pPr marL="0" indent="0">
              <a:buNone/>
            </a:pPr>
            <a:endParaRPr lang="en-US" sz="1000" dirty="0"/>
          </a:p>
          <a:p>
            <a:pPr marL="0" indent="0">
              <a:buNone/>
            </a:pPr>
            <a:r>
              <a:rPr lang="en-US" sz="1000" dirty="0">
                <a:solidFill>
                  <a:srgbClr val="BFE1FF"/>
                </a:solidFill>
                <a:latin typeface="Consolas" pitchFamily="34" charset="0"/>
                <a:ea typeface="Consolas" pitchFamily="34" charset="-122"/>
                <a:cs typeface="Consolas" pitchFamily="34" charset="-120"/>
              </a:rPr>
              <a:t>Check starter-web:</a:t>
            </a:r>
            <a:endParaRPr lang="en-US" sz="1000" dirty="0"/>
          </a:p>
          <a:p>
            <a:pPr marL="0" indent="0">
              <a:buNone/>
            </a:pPr>
            <a:r>
              <a:rPr lang="en-US" sz="1000" dirty="0">
                <a:solidFill>
                  <a:srgbClr val="BFE1FF"/>
                </a:solidFill>
                <a:latin typeface="Consolas" pitchFamily="34" charset="0"/>
                <a:ea typeface="Consolas" pitchFamily="34" charset="-122"/>
                <a:cs typeface="Consolas" pitchFamily="34" charset="-120"/>
              </a:rPr>
              <a:t>Spring MVC + Jackson + Tomcat + logging</a:t>
            </a:r>
            <a:endParaRPr lang="en-US" sz="1000" dirty="0"/>
          </a:p>
        </p:txBody>
      </p:sp>
      <p:sp>
        <p:nvSpPr>
          <p:cNvPr id="21" name="Text 19"/>
          <p:cNvSpPr/>
          <p:nvPr/>
        </p:nvSpPr>
        <p:spPr>
          <a:xfrm>
            <a:off x="502920" y="4069080"/>
            <a:ext cx="3840480" cy="256032"/>
          </a:xfrm>
          <a:prstGeom prst="rect">
            <a:avLst/>
          </a:prstGeom>
          <a:noFill/>
          <a:ln/>
        </p:spPr>
        <p:txBody>
          <a:bodyPr wrap="square" rtlCol="0" anchor="ctr"/>
          <a:lstStyle/>
          <a:p>
            <a:pPr marL="0" indent="0">
              <a:buNone/>
            </a:pPr>
            <a:r>
              <a:rPr lang="en-US" sz="1600" b="1" dirty="0">
                <a:solidFill>
                  <a:srgbClr val="10263D"/>
                </a:solidFill>
              </a:rPr>
              <a:t>What to explain in pom.xml</a:t>
            </a:r>
            <a:endParaRPr lang="en-US" sz="1600" dirty="0"/>
          </a:p>
        </p:txBody>
      </p:sp>
      <p:sp>
        <p:nvSpPr>
          <p:cNvPr id="22" name="Text 20"/>
          <p:cNvSpPr/>
          <p:nvPr/>
        </p:nvSpPr>
        <p:spPr>
          <a:xfrm>
            <a:off x="640080" y="4434840"/>
            <a:ext cx="5394960" cy="201168"/>
          </a:xfrm>
          <a:prstGeom prst="rect">
            <a:avLst/>
          </a:prstGeom>
          <a:noFill/>
          <a:ln/>
        </p:spPr>
        <p:txBody>
          <a:bodyPr wrap="square" rtlCol="0" anchor="ctr"/>
          <a:lstStyle/>
          <a:p>
            <a:pPr marL="0" indent="0">
              <a:buNone/>
            </a:pPr>
            <a:r>
              <a:rPr lang="en-US" sz="1020" dirty="0">
                <a:solidFill>
                  <a:srgbClr val="10263D"/>
                </a:solidFill>
              </a:rPr>
              <a:t>✓ parent manages versions and defaults</a:t>
            </a:r>
            <a:endParaRPr lang="en-US" sz="1020" dirty="0"/>
          </a:p>
        </p:txBody>
      </p:sp>
      <p:sp>
        <p:nvSpPr>
          <p:cNvPr id="23" name="Text 21"/>
          <p:cNvSpPr/>
          <p:nvPr/>
        </p:nvSpPr>
        <p:spPr>
          <a:xfrm>
            <a:off x="640080" y="4745736"/>
            <a:ext cx="5394960" cy="201168"/>
          </a:xfrm>
          <a:prstGeom prst="rect">
            <a:avLst/>
          </a:prstGeom>
          <a:noFill/>
          <a:ln/>
        </p:spPr>
        <p:txBody>
          <a:bodyPr wrap="square" rtlCol="0" anchor="ctr"/>
          <a:lstStyle/>
          <a:p>
            <a:pPr marL="0" indent="0">
              <a:buNone/>
            </a:pPr>
            <a:r>
              <a:rPr lang="en-US" sz="1020" dirty="0">
                <a:solidFill>
                  <a:srgbClr val="10263D"/>
                </a:solidFill>
              </a:rPr>
              <a:t>✓ starter dependencies collect a typical set of libraries</a:t>
            </a:r>
            <a:endParaRPr lang="en-US" sz="1020" dirty="0"/>
          </a:p>
        </p:txBody>
      </p:sp>
      <p:sp>
        <p:nvSpPr>
          <p:cNvPr id="24" name="Text 22"/>
          <p:cNvSpPr/>
          <p:nvPr/>
        </p:nvSpPr>
        <p:spPr>
          <a:xfrm>
            <a:off x="640080" y="5056632"/>
            <a:ext cx="5394960" cy="201168"/>
          </a:xfrm>
          <a:prstGeom prst="rect">
            <a:avLst/>
          </a:prstGeom>
          <a:noFill/>
          <a:ln/>
        </p:spPr>
        <p:txBody>
          <a:bodyPr wrap="square" rtlCol="0" anchor="ctr"/>
          <a:lstStyle/>
          <a:p>
            <a:pPr marL="0" indent="0">
              <a:buNone/>
            </a:pPr>
            <a:r>
              <a:rPr lang="en-US" sz="1020" dirty="0">
                <a:solidFill>
                  <a:srgbClr val="10263D"/>
                </a:solidFill>
              </a:rPr>
              <a:t>✓ spring-boot-maven-plugin simplifies running and packaging</a:t>
            </a:r>
            <a:endParaRPr lang="en-US" sz="1020" dirty="0"/>
          </a:p>
        </p:txBody>
      </p:sp>
      <p:sp>
        <p:nvSpPr>
          <p:cNvPr id="25" name="Text 23"/>
          <p:cNvSpPr/>
          <p:nvPr/>
        </p:nvSpPr>
        <p:spPr>
          <a:xfrm>
            <a:off x="640080" y="5367528"/>
            <a:ext cx="5394960" cy="201168"/>
          </a:xfrm>
          <a:prstGeom prst="rect">
            <a:avLst/>
          </a:prstGeom>
          <a:noFill/>
          <a:ln/>
        </p:spPr>
        <p:txBody>
          <a:bodyPr wrap="square" rtlCol="0" anchor="ctr"/>
          <a:lstStyle/>
          <a:p>
            <a:pPr marL="0" indent="0">
              <a:buNone/>
            </a:pPr>
            <a:r>
              <a:rPr lang="en-US" sz="1020" dirty="0">
                <a:solidFill>
                  <a:srgbClr val="10263D"/>
                </a:solidFill>
              </a:rPr>
              <a:t>✓ dependency:tree shows transitive dependencies</a:t>
            </a:r>
            <a:endParaRPr lang="en-US" sz="1020" dirty="0"/>
          </a:p>
        </p:txBody>
      </p:sp>
      <p:sp>
        <p:nvSpPr>
          <p:cNvPr id="26" name="Shape 24"/>
          <p:cNvSpPr/>
          <p:nvPr/>
        </p:nvSpPr>
        <p:spPr>
          <a:xfrm>
            <a:off x="6629400" y="3977640"/>
            <a:ext cx="4160520" cy="1463040"/>
          </a:xfrm>
          <a:prstGeom prst="roundRect">
            <a:avLst>
              <a:gd name="adj" fmla="val 5000"/>
            </a:avLst>
          </a:prstGeom>
          <a:solidFill>
            <a:srgbClr val="FFF6E8"/>
          </a:solidFill>
          <a:ln w="12700">
            <a:solidFill>
              <a:srgbClr val="F6A623"/>
            </a:solidFill>
            <a:prstDash val="solid"/>
          </a:ln>
        </p:spPr>
        <p:txBody>
          <a:bodyPr/>
          <a:lstStyle/>
          <a:p>
            <a:endParaRPr lang="en-US"/>
          </a:p>
        </p:txBody>
      </p:sp>
      <p:sp>
        <p:nvSpPr>
          <p:cNvPr id="27" name="Text 25"/>
          <p:cNvSpPr/>
          <p:nvPr/>
        </p:nvSpPr>
        <p:spPr>
          <a:xfrm>
            <a:off x="6858000" y="4224528"/>
            <a:ext cx="3657600" cy="201168"/>
          </a:xfrm>
          <a:prstGeom prst="rect">
            <a:avLst/>
          </a:prstGeom>
          <a:noFill/>
          <a:ln/>
        </p:spPr>
        <p:txBody>
          <a:bodyPr wrap="square" rtlCol="0" anchor="ctr"/>
          <a:lstStyle/>
          <a:p>
            <a:pPr marL="0" indent="0">
              <a:buNone/>
            </a:pPr>
            <a:r>
              <a:rPr lang="en-US" sz="1200" b="1" dirty="0">
                <a:solidFill>
                  <a:srgbClr val="D83B0B"/>
                </a:solidFill>
              </a:rPr>
              <a:t>Expected result</a:t>
            </a:r>
            <a:endParaRPr lang="en-US" sz="1200" dirty="0"/>
          </a:p>
        </p:txBody>
      </p:sp>
      <p:sp>
        <p:nvSpPr>
          <p:cNvPr id="28" name="Text 26"/>
          <p:cNvSpPr/>
          <p:nvPr/>
        </p:nvSpPr>
        <p:spPr>
          <a:xfrm>
            <a:off x="6858000" y="4553712"/>
            <a:ext cx="3611880" cy="548640"/>
          </a:xfrm>
          <a:prstGeom prst="rect">
            <a:avLst/>
          </a:prstGeom>
          <a:noFill/>
          <a:ln/>
        </p:spPr>
        <p:txBody>
          <a:bodyPr wrap="square" rtlCol="0" anchor="ctr">
            <a:normAutofit/>
          </a:bodyPr>
          <a:lstStyle/>
          <a:p>
            <a:pPr marL="0" indent="0">
              <a:buNone/>
            </a:pPr>
            <a:r>
              <a:rPr lang="en-US" sz="920" dirty="0">
                <a:solidFill>
                  <a:srgbClr val="10263D"/>
                </a:solidFill>
              </a:rPr>
              <a:t>The console shows the Spring Boot banner and Tomcat starting on port 8080. If the app does not start — fix the build first, do not write more code yet.</a:t>
            </a:r>
            <a:endParaRPr lang="en-US" sz="920" dirty="0"/>
          </a:p>
        </p:txBody>
      </p:sp>
      <p:sp>
        <p:nvSpPr>
          <p:cNvPr id="29" name="Text 27"/>
          <p:cNvSpPr/>
          <p:nvPr/>
        </p:nvSpPr>
        <p:spPr>
          <a:xfrm>
            <a:off x="320040" y="6309360"/>
            <a:ext cx="9875520" cy="128016"/>
          </a:xfrm>
          <a:prstGeom prst="rect">
            <a:avLst/>
          </a:prstGeom>
          <a:noFill/>
          <a:ln/>
        </p:spPr>
        <p:txBody>
          <a:bodyPr wrap="square" rtlCol="0" anchor="ctr">
            <a:normAutofit/>
          </a:bodyPr>
          <a:lstStyle/>
          <a:p>
            <a:pPr marL="0" indent="0">
              <a:buNone/>
            </a:pPr>
            <a:r>
              <a:rPr lang="en-US" sz="520" dirty="0">
                <a:solidFill>
                  <a:srgbClr val="8B97A4"/>
                </a:solidFill>
              </a:rPr>
              <a:t>Source: practice7.md, part 1: Spring Initializr, pom.xml, project launch</a:t>
            </a:r>
            <a:endParaRPr lang="en-US" sz="520" dirty="0"/>
          </a:p>
        </p:txBody>
      </p:sp>
      <p:sp>
        <p:nvSpPr>
          <p:cNvPr id="31" name="Text 28"/>
          <p:cNvSpPr/>
          <p:nvPr/>
        </p:nvSpPr>
        <p:spPr>
          <a:xfrm>
            <a:off x="320040" y="6510528"/>
            <a:ext cx="5943600" cy="128016"/>
          </a:xfrm>
          <a:prstGeom prst="rect">
            <a:avLst/>
          </a:prstGeom>
          <a:noFill/>
          <a:ln/>
        </p:spPr>
        <p:txBody>
          <a:bodyPr wrap="square" rtlCol="0" anchor="ctr"/>
          <a:lstStyle/>
          <a:p>
            <a:pPr marL="0" indent="0">
              <a:buNone/>
            </a:pPr>
            <a:r>
              <a:rPr lang="en-US" sz="550" dirty="0">
                <a:solidFill>
                  <a:srgbClr val="9AA7B5"/>
                </a:solidFill>
              </a:rPr>
              <a:t>Modern Programming Technologies • Practice 7</a:t>
            </a:r>
            <a:endParaRPr lang="en-US" sz="550" dirty="0"/>
          </a:p>
        </p:txBody>
      </p:sp>
      <p:sp>
        <p:nvSpPr>
          <p:cNvPr id="32" name="Text 29"/>
          <p:cNvSpPr/>
          <p:nvPr/>
        </p:nvSpPr>
        <p:spPr>
          <a:xfrm>
            <a:off x="11631168" y="6473952"/>
            <a:ext cx="182880" cy="146304"/>
          </a:xfrm>
          <a:prstGeom prst="rect">
            <a:avLst/>
          </a:prstGeom>
          <a:noFill/>
          <a:ln/>
        </p:spPr>
        <p:txBody>
          <a:bodyPr wrap="square" rtlCol="0" anchor="ctr"/>
          <a:lstStyle/>
          <a:p>
            <a:pPr marL="0" indent="0">
              <a:buNone/>
            </a:pPr>
            <a:r>
              <a:rPr lang="en-US" sz="550" dirty="0">
                <a:solidFill>
                  <a:srgbClr val="9AA7B5"/>
                </a:solidFill>
              </a:rPr>
              <a:t>3</a:t>
            </a:r>
            <a:endParaRPr lang="en-US" sz="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F3F7"/>
        </a:solidFill>
        <a:effectLst/>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008C8C"/>
          </a:solidFill>
          <a:ln w="12700">
            <a:solidFill>
              <a:srgbClr val="008C8C"/>
            </a:solidFill>
            <a:prstDash val="solid"/>
          </a:ln>
        </p:spPr>
        <p:txBody>
          <a:bodyPr/>
          <a:lstStyle/>
          <a:p>
            <a:endParaRPr lang="en-US"/>
          </a:p>
        </p:txBody>
      </p:sp>
      <p:sp>
        <p:nvSpPr>
          <p:cNvPr id="3" name="Text 1"/>
          <p:cNvSpPr/>
          <p:nvPr/>
        </p:nvSpPr>
        <p:spPr>
          <a:xfrm>
            <a:off x="411480" y="118872"/>
            <a:ext cx="274320" cy="219456"/>
          </a:xfrm>
          <a:prstGeom prst="rect">
            <a:avLst/>
          </a:prstGeom>
          <a:noFill/>
          <a:ln/>
        </p:spPr>
        <p:txBody>
          <a:bodyPr wrap="square" rtlCol="0" anchor="ctr"/>
          <a:lstStyle/>
          <a:p>
            <a:pPr marL="0" indent="0" algn="ctr">
              <a:buNone/>
            </a:pPr>
            <a:r>
              <a:rPr lang="en-US" sz="1200" b="1" dirty="0">
                <a:solidFill>
                  <a:srgbClr val="FFFFFF"/>
                </a:solidFill>
              </a:rPr>
              <a:t>2</a:t>
            </a:r>
            <a:endParaRPr lang="en-US" sz="1200" dirty="0"/>
          </a:p>
        </p:txBody>
      </p:sp>
      <p:sp>
        <p:nvSpPr>
          <p:cNvPr id="4" name="Text 2"/>
          <p:cNvSpPr/>
          <p:nvPr/>
        </p:nvSpPr>
        <p:spPr>
          <a:xfrm>
            <a:off x="914400" y="73152"/>
            <a:ext cx="10515600" cy="310896"/>
          </a:xfrm>
          <a:prstGeom prst="rect">
            <a:avLst/>
          </a:prstGeom>
          <a:noFill/>
          <a:ln/>
        </p:spPr>
        <p:txBody>
          <a:bodyPr wrap="square" rtlCol="0" anchor="ctr">
            <a:normAutofit/>
          </a:bodyPr>
          <a:lstStyle/>
          <a:p>
            <a:pPr marL="0" indent="0">
              <a:buNone/>
            </a:pPr>
            <a:r>
              <a:rPr lang="en-US" sz="2000" b="1" dirty="0">
                <a:solidFill>
                  <a:srgbClr val="FFFFFF"/>
                </a:solidFill>
              </a:rPr>
              <a:t>IoC and DI — the class declares a dependency, Spring provides it</a:t>
            </a:r>
            <a:endParaRPr lang="en-US" sz="2000" dirty="0"/>
          </a:p>
        </p:txBody>
      </p:sp>
      <p:sp>
        <p:nvSpPr>
          <p:cNvPr id="5" name="Text 3"/>
          <p:cNvSpPr/>
          <p:nvPr/>
        </p:nvSpPr>
        <p:spPr>
          <a:xfrm>
            <a:off x="502920" y="868680"/>
            <a:ext cx="3931920" cy="228600"/>
          </a:xfrm>
          <a:prstGeom prst="rect">
            <a:avLst/>
          </a:prstGeom>
          <a:noFill/>
          <a:ln/>
        </p:spPr>
        <p:txBody>
          <a:bodyPr wrap="square" rtlCol="0" anchor="ctr"/>
          <a:lstStyle/>
          <a:p>
            <a:pPr marL="0" indent="0">
              <a:buNone/>
            </a:pPr>
            <a:r>
              <a:rPr lang="en-US" sz="1400" b="1" dirty="0">
                <a:solidFill>
                  <a:srgbClr val="10263D"/>
                </a:solidFill>
              </a:rPr>
              <a:t>Without Spring: manual object creation</a:t>
            </a:r>
            <a:endParaRPr lang="en-US" sz="1400" dirty="0"/>
          </a:p>
        </p:txBody>
      </p:sp>
      <p:sp>
        <p:nvSpPr>
          <p:cNvPr id="6" name="Shape 4"/>
          <p:cNvSpPr/>
          <p:nvPr/>
        </p:nvSpPr>
        <p:spPr>
          <a:xfrm>
            <a:off x="502920" y="1298448"/>
            <a:ext cx="1554480" cy="713232"/>
          </a:xfrm>
          <a:prstGeom prst="roundRect">
            <a:avLst>
              <a:gd name="adj" fmla="val 7692"/>
            </a:avLst>
          </a:prstGeom>
          <a:solidFill>
            <a:srgbClr val="FFFFFF"/>
          </a:solidFill>
          <a:ln w="12700">
            <a:solidFill>
              <a:srgbClr val="D8E0E8"/>
            </a:solidFill>
            <a:prstDash val="solid"/>
          </a:ln>
        </p:spPr>
        <p:txBody>
          <a:bodyPr/>
          <a:lstStyle/>
          <a:p>
            <a:endParaRPr lang="en-US"/>
          </a:p>
        </p:txBody>
      </p:sp>
      <p:sp>
        <p:nvSpPr>
          <p:cNvPr id="7" name="Shape 5"/>
          <p:cNvSpPr/>
          <p:nvPr/>
        </p:nvSpPr>
        <p:spPr>
          <a:xfrm>
            <a:off x="502920" y="1298448"/>
            <a:ext cx="1554480" cy="384048"/>
          </a:xfrm>
          <a:prstGeom prst="rect">
            <a:avLst/>
          </a:prstGeom>
          <a:solidFill>
            <a:srgbClr val="C62828"/>
          </a:solidFill>
          <a:ln w="12700">
            <a:solidFill>
              <a:srgbClr val="C62828"/>
            </a:solidFill>
            <a:prstDash val="solid"/>
          </a:ln>
        </p:spPr>
        <p:txBody>
          <a:bodyPr/>
          <a:lstStyle/>
          <a:p>
            <a:endParaRPr lang="en-US"/>
          </a:p>
        </p:txBody>
      </p:sp>
      <p:sp>
        <p:nvSpPr>
          <p:cNvPr id="8" name="Text 6"/>
          <p:cNvSpPr/>
          <p:nvPr/>
        </p:nvSpPr>
        <p:spPr>
          <a:xfrm>
            <a:off x="612648" y="1371600"/>
            <a:ext cx="1335024" cy="182880"/>
          </a:xfrm>
          <a:prstGeom prst="rect">
            <a:avLst/>
          </a:prstGeom>
          <a:noFill/>
          <a:ln/>
        </p:spPr>
        <p:txBody>
          <a:bodyPr wrap="square" rtlCol="0" anchor="ctr">
            <a:normAutofit/>
          </a:bodyPr>
          <a:lstStyle/>
          <a:p>
            <a:pPr marL="0" indent="0" algn="ctr">
              <a:buNone/>
            </a:pPr>
            <a:r>
              <a:rPr lang="en-US" sz="1000" b="1" dirty="0">
                <a:solidFill>
                  <a:srgbClr val="FFFFFF"/>
                </a:solidFill>
              </a:rPr>
              <a:t>Controller</a:t>
            </a:r>
            <a:endParaRPr lang="en-US" sz="1000" dirty="0"/>
          </a:p>
        </p:txBody>
      </p:sp>
      <p:sp>
        <p:nvSpPr>
          <p:cNvPr id="9" name="Text 7"/>
          <p:cNvSpPr/>
          <p:nvPr/>
        </p:nvSpPr>
        <p:spPr>
          <a:xfrm>
            <a:off x="612648" y="1801368"/>
            <a:ext cx="1335024" cy="146304"/>
          </a:xfrm>
          <a:prstGeom prst="rect">
            <a:avLst/>
          </a:prstGeom>
          <a:noFill/>
          <a:ln/>
        </p:spPr>
        <p:txBody>
          <a:bodyPr wrap="square" rtlCol="0" anchor="ctr">
            <a:normAutofit/>
          </a:bodyPr>
          <a:lstStyle/>
          <a:p>
            <a:pPr marL="0" indent="0" algn="ctr">
              <a:buNone/>
            </a:pPr>
            <a:r>
              <a:rPr lang="en-US" sz="800" dirty="0">
                <a:solidFill>
                  <a:srgbClr val="10263D"/>
                </a:solidFill>
              </a:rPr>
              <a:t>new Service()</a:t>
            </a:r>
            <a:endParaRPr lang="en-US" sz="800" dirty="0"/>
          </a:p>
        </p:txBody>
      </p:sp>
      <p:sp>
        <p:nvSpPr>
          <p:cNvPr id="10" name="Shape 8"/>
          <p:cNvSpPr/>
          <p:nvPr/>
        </p:nvSpPr>
        <p:spPr>
          <a:xfrm>
            <a:off x="2423160" y="1298448"/>
            <a:ext cx="1554480" cy="713232"/>
          </a:xfrm>
          <a:prstGeom prst="roundRect">
            <a:avLst>
              <a:gd name="adj" fmla="val 7692"/>
            </a:avLst>
          </a:prstGeom>
          <a:solidFill>
            <a:srgbClr val="FFFFFF"/>
          </a:solidFill>
          <a:ln w="12700">
            <a:solidFill>
              <a:srgbClr val="D8E0E8"/>
            </a:solidFill>
            <a:prstDash val="solid"/>
          </a:ln>
        </p:spPr>
        <p:txBody>
          <a:bodyPr/>
          <a:lstStyle/>
          <a:p>
            <a:endParaRPr lang="en-US"/>
          </a:p>
        </p:txBody>
      </p:sp>
      <p:sp>
        <p:nvSpPr>
          <p:cNvPr id="11" name="Shape 9"/>
          <p:cNvSpPr/>
          <p:nvPr/>
        </p:nvSpPr>
        <p:spPr>
          <a:xfrm>
            <a:off x="2423160" y="1298448"/>
            <a:ext cx="1554480" cy="384048"/>
          </a:xfrm>
          <a:prstGeom prst="rect">
            <a:avLst/>
          </a:prstGeom>
          <a:solidFill>
            <a:srgbClr val="C62828"/>
          </a:solidFill>
          <a:ln w="12700">
            <a:solidFill>
              <a:srgbClr val="C62828"/>
            </a:solidFill>
            <a:prstDash val="solid"/>
          </a:ln>
        </p:spPr>
        <p:txBody>
          <a:bodyPr/>
          <a:lstStyle/>
          <a:p>
            <a:endParaRPr lang="en-US"/>
          </a:p>
        </p:txBody>
      </p:sp>
      <p:sp>
        <p:nvSpPr>
          <p:cNvPr id="12" name="Text 10"/>
          <p:cNvSpPr/>
          <p:nvPr/>
        </p:nvSpPr>
        <p:spPr>
          <a:xfrm>
            <a:off x="2532888" y="1371600"/>
            <a:ext cx="1335024" cy="182880"/>
          </a:xfrm>
          <a:prstGeom prst="rect">
            <a:avLst/>
          </a:prstGeom>
          <a:noFill/>
          <a:ln/>
        </p:spPr>
        <p:txBody>
          <a:bodyPr wrap="square" rtlCol="0" anchor="ctr">
            <a:normAutofit/>
          </a:bodyPr>
          <a:lstStyle/>
          <a:p>
            <a:pPr marL="0" indent="0" algn="ctr">
              <a:buNone/>
            </a:pPr>
            <a:r>
              <a:rPr lang="en-US" sz="1000" b="1" dirty="0">
                <a:solidFill>
                  <a:srgbClr val="FFFFFF"/>
                </a:solidFill>
              </a:rPr>
              <a:t>Service</a:t>
            </a:r>
            <a:endParaRPr lang="en-US" sz="1000" dirty="0"/>
          </a:p>
        </p:txBody>
      </p:sp>
      <p:sp>
        <p:nvSpPr>
          <p:cNvPr id="13" name="Text 11"/>
          <p:cNvSpPr/>
          <p:nvPr/>
        </p:nvSpPr>
        <p:spPr>
          <a:xfrm>
            <a:off x="2532888" y="1801368"/>
            <a:ext cx="1335024" cy="146304"/>
          </a:xfrm>
          <a:prstGeom prst="rect">
            <a:avLst/>
          </a:prstGeom>
          <a:noFill/>
          <a:ln/>
        </p:spPr>
        <p:txBody>
          <a:bodyPr wrap="square" rtlCol="0" anchor="ctr">
            <a:normAutofit/>
          </a:bodyPr>
          <a:lstStyle/>
          <a:p>
            <a:pPr marL="0" indent="0" algn="ctr">
              <a:buNone/>
            </a:pPr>
            <a:r>
              <a:rPr lang="en-US" sz="800" dirty="0">
                <a:solidFill>
                  <a:srgbClr val="10263D"/>
                </a:solidFill>
              </a:rPr>
              <a:t>new Repository()</a:t>
            </a:r>
            <a:endParaRPr lang="en-US" sz="800" dirty="0"/>
          </a:p>
        </p:txBody>
      </p:sp>
      <p:sp>
        <p:nvSpPr>
          <p:cNvPr id="14" name="Shape 12"/>
          <p:cNvSpPr/>
          <p:nvPr/>
        </p:nvSpPr>
        <p:spPr>
          <a:xfrm>
            <a:off x="4343400" y="1298448"/>
            <a:ext cx="1554480" cy="713232"/>
          </a:xfrm>
          <a:prstGeom prst="roundRect">
            <a:avLst>
              <a:gd name="adj" fmla="val 7692"/>
            </a:avLst>
          </a:prstGeom>
          <a:solidFill>
            <a:srgbClr val="FFFFFF"/>
          </a:solidFill>
          <a:ln w="12700">
            <a:solidFill>
              <a:srgbClr val="D8E0E8"/>
            </a:solidFill>
            <a:prstDash val="solid"/>
          </a:ln>
        </p:spPr>
        <p:txBody>
          <a:bodyPr/>
          <a:lstStyle/>
          <a:p>
            <a:endParaRPr lang="en-US"/>
          </a:p>
        </p:txBody>
      </p:sp>
      <p:sp>
        <p:nvSpPr>
          <p:cNvPr id="15" name="Shape 13"/>
          <p:cNvSpPr/>
          <p:nvPr/>
        </p:nvSpPr>
        <p:spPr>
          <a:xfrm>
            <a:off x="4343400" y="1298448"/>
            <a:ext cx="1554480" cy="384048"/>
          </a:xfrm>
          <a:prstGeom prst="rect">
            <a:avLst/>
          </a:prstGeom>
          <a:solidFill>
            <a:srgbClr val="C62828"/>
          </a:solidFill>
          <a:ln w="12700">
            <a:solidFill>
              <a:srgbClr val="C62828"/>
            </a:solidFill>
            <a:prstDash val="solid"/>
          </a:ln>
        </p:spPr>
        <p:txBody>
          <a:bodyPr/>
          <a:lstStyle/>
          <a:p>
            <a:endParaRPr lang="en-US"/>
          </a:p>
        </p:txBody>
      </p:sp>
      <p:sp>
        <p:nvSpPr>
          <p:cNvPr id="16" name="Text 14"/>
          <p:cNvSpPr/>
          <p:nvPr/>
        </p:nvSpPr>
        <p:spPr>
          <a:xfrm>
            <a:off x="4453128" y="1371600"/>
            <a:ext cx="1335024" cy="182880"/>
          </a:xfrm>
          <a:prstGeom prst="rect">
            <a:avLst/>
          </a:prstGeom>
          <a:noFill/>
          <a:ln/>
        </p:spPr>
        <p:txBody>
          <a:bodyPr wrap="square" rtlCol="0" anchor="ctr">
            <a:normAutofit/>
          </a:bodyPr>
          <a:lstStyle/>
          <a:p>
            <a:pPr marL="0" indent="0" algn="ctr">
              <a:buNone/>
            </a:pPr>
            <a:r>
              <a:rPr lang="en-US" sz="1000" b="1" dirty="0">
                <a:solidFill>
                  <a:srgbClr val="FFFFFF"/>
                </a:solidFill>
              </a:rPr>
              <a:t>Repository</a:t>
            </a:r>
            <a:endParaRPr lang="en-US" sz="1000" dirty="0"/>
          </a:p>
        </p:txBody>
      </p:sp>
      <p:sp>
        <p:nvSpPr>
          <p:cNvPr id="17" name="Text 15"/>
          <p:cNvSpPr/>
          <p:nvPr/>
        </p:nvSpPr>
        <p:spPr>
          <a:xfrm>
            <a:off x="4453128" y="1801368"/>
            <a:ext cx="1335024" cy="146304"/>
          </a:xfrm>
          <a:prstGeom prst="rect">
            <a:avLst/>
          </a:prstGeom>
          <a:noFill/>
          <a:ln/>
        </p:spPr>
        <p:txBody>
          <a:bodyPr wrap="square" rtlCol="0" anchor="ctr">
            <a:normAutofit/>
          </a:bodyPr>
          <a:lstStyle/>
          <a:p>
            <a:pPr marL="0" indent="0" algn="ctr">
              <a:buNone/>
            </a:pPr>
            <a:r>
              <a:rPr lang="en-US" sz="800" dirty="0">
                <a:solidFill>
                  <a:srgbClr val="10263D"/>
                </a:solidFill>
              </a:rPr>
              <a:t>new DB Client()</a:t>
            </a:r>
            <a:endParaRPr lang="en-US" sz="800" dirty="0"/>
          </a:p>
        </p:txBody>
      </p:sp>
      <p:sp>
        <p:nvSpPr>
          <p:cNvPr id="18" name="Shape 16"/>
          <p:cNvSpPr/>
          <p:nvPr/>
        </p:nvSpPr>
        <p:spPr>
          <a:xfrm>
            <a:off x="2057400" y="1664208"/>
            <a:ext cx="365760" cy="0"/>
          </a:xfrm>
          <a:prstGeom prst="line">
            <a:avLst/>
          </a:prstGeom>
          <a:noFill/>
          <a:ln w="12700">
            <a:solidFill>
              <a:srgbClr val="6B7785"/>
            </a:solidFill>
            <a:prstDash val="solid"/>
            <a:headEnd type="none"/>
            <a:tailEnd type="triangle"/>
          </a:ln>
        </p:spPr>
        <p:txBody>
          <a:bodyPr/>
          <a:lstStyle/>
          <a:p>
            <a:endParaRPr lang="en-US"/>
          </a:p>
        </p:txBody>
      </p:sp>
      <p:sp>
        <p:nvSpPr>
          <p:cNvPr id="19" name="Shape 17"/>
          <p:cNvSpPr/>
          <p:nvPr/>
        </p:nvSpPr>
        <p:spPr>
          <a:xfrm>
            <a:off x="3977640" y="1664208"/>
            <a:ext cx="365760" cy="0"/>
          </a:xfrm>
          <a:prstGeom prst="line">
            <a:avLst/>
          </a:prstGeom>
          <a:noFill/>
          <a:ln w="12700">
            <a:solidFill>
              <a:srgbClr val="6B7785"/>
            </a:solidFill>
            <a:prstDash val="solid"/>
            <a:tailEnd type="triangle"/>
          </a:ln>
        </p:spPr>
        <p:txBody>
          <a:bodyPr/>
          <a:lstStyle/>
          <a:p>
            <a:endParaRPr lang="en-US"/>
          </a:p>
        </p:txBody>
      </p:sp>
      <p:sp>
        <p:nvSpPr>
          <p:cNvPr id="20" name="Text 18"/>
          <p:cNvSpPr/>
          <p:nvPr/>
        </p:nvSpPr>
        <p:spPr>
          <a:xfrm>
            <a:off x="685800" y="2240280"/>
            <a:ext cx="4754880" cy="256032"/>
          </a:xfrm>
          <a:prstGeom prst="rect">
            <a:avLst/>
          </a:prstGeom>
          <a:noFill/>
          <a:ln/>
        </p:spPr>
        <p:txBody>
          <a:bodyPr wrap="square" rtlCol="0" anchor="ctr"/>
          <a:lstStyle/>
          <a:p>
            <a:pPr marL="0" indent="0">
              <a:buNone/>
            </a:pPr>
            <a:r>
              <a:rPr lang="en-US" sz="1000" b="1" dirty="0">
                <a:solidFill>
                  <a:srgbClr val="C62828"/>
                </a:solidFill>
              </a:rPr>
              <a:t>Problems: tight coupling, hard tests, difficult to replace implementation.</a:t>
            </a:r>
            <a:endParaRPr lang="en-US" sz="1000" dirty="0"/>
          </a:p>
        </p:txBody>
      </p:sp>
      <p:sp>
        <p:nvSpPr>
          <p:cNvPr id="21" name="Text 19"/>
          <p:cNvSpPr/>
          <p:nvPr/>
        </p:nvSpPr>
        <p:spPr>
          <a:xfrm>
            <a:off x="6400800" y="868680"/>
            <a:ext cx="4114800" cy="228600"/>
          </a:xfrm>
          <a:prstGeom prst="rect">
            <a:avLst/>
          </a:prstGeom>
          <a:noFill/>
          <a:ln/>
        </p:spPr>
        <p:txBody>
          <a:bodyPr wrap="square" rtlCol="0" anchor="ctr"/>
          <a:lstStyle/>
          <a:p>
            <a:pPr marL="0" indent="0">
              <a:buNone/>
            </a:pPr>
            <a:r>
              <a:rPr lang="en-US" sz="1400" b="1" dirty="0">
                <a:solidFill>
                  <a:srgbClr val="10263D"/>
                </a:solidFill>
              </a:rPr>
              <a:t>Spring style: constructor injection</a:t>
            </a:r>
            <a:endParaRPr lang="en-US" sz="1400" dirty="0"/>
          </a:p>
        </p:txBody>
      </p:sp>
      <p:sp>
        <p:nvSpPr>
          <p:cNvPr id="22" name="Shape 20"/>
          <p:cNvSpPr/>
          <p:nvPr/>
        </p:nvSpPr>
        <p:spPr>
          <a:xfrm>
            <a:off x="6400800" y="1234440"/>
            <a:ext cx="5166360" cy="1874520"/>
          </a:xfrm>
          <a:prstGeom prst="rect">
            <a:avLst/>
          </a:prstGeom>
          <a:solidFill>
            <a:srgbClr val="071A2D"/>
          </a:solidFill>
          <a:ln w="12700">
            <a:solidFill>
              <a:srgbClr val="008C8C"/>
            </a:solidFill>
            <a:prstDash val="solid"/>
          </a:ln>
        </p:spPr>
        <p:txBody>
          <a:bodyPr/>
          <a:lstStyle/>
          <a:p>
            <a:endParaRPr lang="en-US"/>
          </a:p>
        </p:txBody>
      </p:sp>
      <p:sp>
        <p:nvSpPr>
          <p:cNvPr id="23" name="Text 21"/>
          <p:cNvSpPr/>
          <p:nvPr/>
        </p:nvSpPr>
        <p:spPr>
          <a:xfrm>
            <a:off x="6519672" y="1344168"/>
            <a:ext cx="4928616" cy="1655064"/>
          </a:xfrm>
          <a:prstGeom prst="rect">
            <a:avLst/>
          </a:prstGeom>
          <a:noFill/>
          <a:ln/>
        </p:spPr>
        <p:txBody>
          <a:bodyPr wrap="square" lIns="254" tIns="254" rIns="254" bIns="254" rtlCol="0" anchor="ctr">
            <a:normAutofit/>
          </a:bodyPr>
          <a:lstStyle/>
          <a:p>
            <a:pPr marL="0" indent="0">
              <a:buNone/>
            </a:pPr>
            <a:r>
              <a:rPr lang="en-US" sz="850" dirty="0">
                <a:solidFill>
                  <a:srgbClr val="BFE1FF"/>
                </a:solidFill>
                <a:latin typeface="Consolas" pitchFamily="34" charset="0"/>
                <a:ea typeface="Consolas" pitchFamily="34" charset="-122"/>
                <a:cs typeface="Consolas" pitchFamily="34" charset="-120"/>
              </a:rPr>
              <a:t>@RestController</a:t>
            </a:r>
            <a:endParaRPr lang="en-US" sz="850" dirty="0"/>
          </a:p>
          <a:p>
            <a:pPr marL="0" indent="0">
              <a:buNone/>
            </a:pPr>
            <a:r>
              <a:rPr lang="en-US" sz="850" dirty="0">
                <a:solidFill>
                  <a:srgbClr val="BFE1FF"/>
                </a:solidFill>
                <a:latin typeface="Consolas" pitchFamily="34" charset="0"/>
                <a:ea typeface="Consolas" pitchFamily="34" charset="-122"/>
                <a:cs typeface="Consolas" pitchFamily="34" charset="-120"/>
              </a:rPr>
              <a:t>@RequestMapping("/api/greet")</a:t>
            </a:r>
            <a:endParaRPr lang="en-US" sz="850" dirty="0"/>
          </a:p>
          <a:p>
            <a:pPr marL="0" indent="0">
              <a:buNone/>
            </a:pPr>
            <a:r>
              <a:rPr lang="en-US" sz="850" dirty="0">
                <a:solidFill>
                  <a:srgbClr val="BFE1FF"/>
                </a:solidFill>
                <a:latin typeface="Consolas" pitchFamily="34" charset="0"/>
                <a:ea typeface="Consolas" pitchFamily="34" charset="-122"/>
                <a:cs typeface="Consolas" pitchFamily="34" charset="-120"/>
              </a:rPr>
              <a:t>class GreetingController {</a:t>
            </a:r>
            <a:endParaRPr lang="en-US" sz="850" dirty="0"/>
          </a:p>
          <a:p>
            <a:pPr marL="0" indent="0">
              <a:buNone/>
            </a:pPr>
            <a:r>
              <a:rPr lang="en-US" sz="850" dirty="0">
                <a:solidFill>
                  <a:srgbClr val="BFE1FF"/>
                </a:solidFill>
                <a:latin typeface="Consolas" pitchFamily="34" charset="0"/>
                <a:ea typeface="Consolas" pitchFamily="34" charset="-122"/>
                <a:cs typeface="Consolas" pitchFamily="34" charset="-120"/>
              </a:rPr>
              <a:t>  private final GreetingService service;</a:t>
            </a:r>
            <a:endParaRPr lang="en-US" sz="850" dirty="0"/>
          </a:p>
          <a:p>
            <a:pPr marL="0" indent="0">
              <a:buNone/>
            </a:pPr>
            <a:endParaRPr lang="en-US" sz="850" dirty="0"/>
          </a:p>
          <a:p>
            <a:pPr marL="0" indent="0">
              <a:buNone/>
            </a:pPr>
            <a:r>
              <a:rPr lang="en-US" sz="850" dirty="0">
                <a:solidFill>
                  <a:srgbClr val="BFE1FF"/>
                </a:solidFill>
                <a:latin typeface="Consolas" pitchFamily="34" charset="0"/>
                <a:ea typeface="Consolas" pitchFamily="34" charset="-122"/>
                <a:cs typeface="Consolas" pitchFamily="34" charset="-120"/>
              </a:rPr>
              <a:t>  GreetingController(GreetingService service) {</a:t>
            </a:r>
            <a:endParaRPr lang="en-US" sz="850" dirty="0"/>
          </a:p>
          <a:p>
            <a:pPr marL="0" indent="0">
              <a:buNone/>
            </a:pPr>
            <a:r>
              <a:rPr lang="en-US" sz="850" dirty="0">
                <a:solidFill>
                  <a:srgbClr val="BFE1FF"/>
                </a:solidFill>
                <a:latin typeface="Consolas" pitchFamily="34" charset="0"/>
                <a:ea typeface="Consolas" pitchFamily="34" charset="-122"/>
                <a:cs typeface="Consolas" pitchFamily="34" charset="-120"/>
              </a:rPr>
              <a:t>    this.service = service;</a:t>
            </a:r>
            <a:endParaRPr lang="en-US" sz="850" dirty="0"/>
          </a:p>
          <a:p>
            <a:pPr marL="0" indent="0">
              <a:buNone/>
            </a:pPr>
            <a:r>
              <a:rPr lang="en-US" sz="850" dirty="0">
                <a:solidFill>
                  <a:srgbClr val="BFE1FF"/>
                </a:solidFill>
                <a:latin typeface="Consolas" pitchFamily="34" charset="0"/>
                <a:ea typeface="Consolas" pitchFamily="34" charset="-122"/>
                <a:cs typeface="Consolas" pitchFamily="34" charset="-120"/>
              </a:rPr>
              <a:t>  }</a:t>
            </a:r>
            <a:endParaRPr lang="en-US" sz="850" dirty="0"/>
          </a:p>
          <a:p>
            <a:pPr marL="0" indent="0">
              <a:buNone/>
            </a:pPr>
            <a:r>
              <a:rPr lang="en-US" sz="850" dirty="0">
                <a:solidFill>
                  <a:srgbClr val="BFE1FF"/>
                </a:solidFill>
                <a:latin typeface="Consolas" pitchFamily="34" charset="0"/>
                <a:ea typeface="Consolas" pitchFamily="34" charset="-122"/>
                <a:cs typeface="Consolas" pitchFamily="34" charset="-120"/>
              </a:rPr>
              <a:t>}</a:t>
            </a:r>
            <a:endParaRPr lang="en-US" sz="850" dirty="0"/>
          </a:p>
        </p:txBody>
      </p:sp>
      <p:sp>
        <p:nvSpPr>
          <p:cNvPr id="24" name="Shape 22"/>
          <p:cNvSpPr/>
          <p:nvPr/>
        </p:nvSpPr>
        <p:spPr>
          <a:xfrm>
            <a:off x="777240" y="3429000"/>
            <a:ext cx="2971800" cy="1051560"/>
          </a:xfrm>
          <a:prstGeom prst="roundRect">
            <a:avLst>
              <a:gd name="adj" fmla="val 6957"/>
            </a:avLst>
          </a:prstGeom>
          <a:solidFill>
            <a:srgbClr val="E8F5FF"/>
          </a:solidFill>
          <a:ln w="12700">
            <a:solidFill>
              <a:srgbClr val="1E73BE"/>
            </a:solidFill>
            <a:prstDash val="solid"/>
          </a:ln>
        </p:spPr>
        <p:txBody>
          <a:bodyPr/>
          <a:lstStyle/>
          <a:p>
            <a:endParaRPr lang="en-US"/>
          </a:p>
        </p:txBody>
      </p:sp>
      <p:sp>
        <p:nvSpPr>
          <p:cNvPr id="25" name="Text 23"/>
          <p:cNvSpPr/>
          <p:nvPr/>
        </p:nvSpPr>
        <p:spPr>
          <a:xfrm>
            <a:off x="960120" y="3703320"/>
            <a:ext cx="2606040" cy="365760"/>
          </a:xfrm>
          <a:prstGeom prst="rect">
            <a:avLst/>
          </a:prstGeom>
          <a:noFill/>
          <a:ln/>
        </p:spPr>
        <p:txBody>
          <a:bodyPr wrap="square" rtlCol="0" anchor="ctr"/>
          <a:lstStyle/>
          <a:p>
            <a:pPr marL="0" indent="0" algn="ctr">
              <a:buNone/>
            </a:pPr>
            <a:r>
              <a:rPr lang="en-US" sz="1100" b="1" dirty="0">
                <a:solidFill>
                  <a:srgbClr val="10263D"/>
                </a:solidFill>
              </a:rPr>
              <a:t>The class says:</a:t>
            </a:r>
            <a:endParaRPr lang="en-US" sz="1100" dirty="0"/>
          </a:p>
          <a:p>
            <a:pPr marL="0" indent="0" algn="ctr">
              <a:buNone/>
            </a:pPr>
            <a:r>
              <a:rPr lang="en-US" sz="1100" b="1" dirty="0">
                <a:solidFill>
                  <a:srgbClr val="10263D"/>
                </a:solidFill>
              </a:rPr>
              <a:t>“I need GreetingService”</a:t>
            </a:r>
            <a:endParaRPr lang="en-US" sz="1100" dirty="0"/>
          </a:p>
        </p:txBody>
      </p:sp>
      <p:sp>
        <p:nvSpPr>
          <p:cNvPr id="26" name="Shape 24"/>
          <p:cNvSpPr/>
          <p:nvPr/>
        </p:nvSpPr>
        <p:spPr>
          <a:xfrm>
            <a:off x="4434840" y="3246120"/>
            <a:ext cx="3154680" cy="1417320"/>
          </a:xfrm>
          <a:prstGeom prst="roundRect">
            <a:avLst>
              <a:gd name="adj" fmla="val 5161"/>
            </a:avLst>
          </a:prstGeom>
          <a:solidFill>
            <a:srgbClr val="FFFFFF"/>
          </a:solidFill>
          <a:ln w="12700">
            <a:solidFill>
              <a:srgbClr val="008C8C"/>
            </a:solidFill>
            <a:prstDash val="solid"/>
          </a:ln>
        </p:spPr>
        <p:txBody>
          <a:bodyPr/>
          <a:lstStyle/>
          <a:p>
            <a:endParaRPr lang="en-US"/>
          </a:p>
        </p:txBody>
      </p:sp>
      <p:sp>
        <p:nvSpPr>
          <p:cNvPr id="27" name="Text 25"/>
          <p:cNvSpPr/>
          <p:nvPr/>
        </p:nvSpPr>
        <p:spPr>
          <a:xfrm>
            <a:off x="4663440" y="3566160"/>
            <a:ext cx="2697480" cy="548640"/>
          </a:xfrm>
          <a:prstGeom prst="rect">
            <a:avLst/>
          </a:prstGeom>
          <a:noFill/>
          <a:ln/>
        </p:spPr>
        <p:txBody>
          <a:bodyPr wrap="square" rtlCol="0" anchor="ctr">
            <a:normAutofit/>
          </a:bodyPr>
          <a:lstStyle/>
          <a:p>
            <a:pPr marL="0" indent="0" algn="ctr">
              <a:buNone/>
            </a:pPr>
            <a:r>
              <a:rPr lang="en-US" sz="1000" b="1" dirty="0">
                <a:solidFill>
                  <a:srgbClr val="10263D"/>
                </a:solidFill>
              </a:rPr>
              <a:t>Spring IoC Container</a:t>
            </a:r>
            <a:endParaRPr lang="en-US" sz="1000" dirty="0"/>
          </a:p>
          <a:p>
            <a:pPr marL="0" indent="0" algn="ctr">
              <a:buNone/>
            </a:pPr>
            <a:r>
              <a:rPr lang="en-US" sz="1000" b="1" dirty="0">
                <a:solidFill>
                  <a:srgbClr val="10263D"/>
                </a:solidFill>
              </a:rPr>
              <a:t>creates beans, wires dependencies, manages the lifecycle</a:t>
            </a:r>
            <a:endParaRPr lang="en-US" sz="1000" dirty="0"/>
          </a:p>
        </p:txBody>
      </p:sp>
      <p:sp>
        <p:nvSpPr>
          <p:cNvPr id="28" name="Shape 26"/>
          <p:cNvSpPr/>
          <p:nvPr/>
        </p:nvSpPr>
        <p:spPr>
          <a:xfrm>
            <a:off x="8321040" y="3429000"/>
            <a:ext cx="2743200" cy="1051560"/>
          </a:xfrm>
          <a:prstGeom prst="roundRect">
            <a:avLst>
              <a:gd name="adj" fmla="val 6957"/>
            </a:avLst>
          </a:prstGeom>
          <a:solidFill>
            <a:srgbClr val="E9F7EE"/>
          </a:solidFill>
          <a:ln w="12700">
            <a:solidFill>
              <a:srgbClr val="146B2E"/>
            </a:solidFill>
            <a:prstDash val="solid"/>
          </a:ln>
        </p:spPr>
        <p:txBody>
          <a:bodyPr/>
          <a:lstStyle/>
          <a:p>
            <a:endParaRPr lang="en-US"/>
          </a:p>
        </p:txBody>
      </p:sp>
      <p:sp>
        <p:nvSpPr>
          <p:cNvPr id="29" name="Text 27"/>
          <p:cNvSpPr/>
          <p:nvPr/>
        </p:nvSpPr>
        <p:spPr>
          <a:xfrm>
            <a:off x="8577072" y="3730752"/>
            <a:ext cx="2240280" cy="310896"/>
          </a:xfrm>
          <a:prstGeom prst="rect">
            <a:avLst/>
          </a:prstGeom>
          <a:noFill/>
          <a:ln/>
        </p:spPr>
        <p:txBody>
          <a:bodyPr wrap="square" rtlCol="0" anchor="ctr"/>
          <a:lstStyle/>
          <a:p>
            <a:pPr marL="0" indent="0" algn="ctr">
              <a:buNone/>
            </a:pPr>
            <a:r>
              <a:rPr lang="en-US" sz="1100" b="1" dirty="0">
                <a:solidFill>
                  <a:srgbClr val="10263D"/>
                </a:solidFill>
              </a:rPr>
              <a:t>Ready object</a:t>
            </a:r>
            <a:endParaRPr lang="en-US" sz="1100" dirty="0"/>
          </a:p>
          <a:p>
            <a:pPr marL="0" indent="0" algn="ctr">
              <a:buNone/>
            </a:pPr>
            <a:r>
              <a:rPr lang="en-US" sz="1100" b="1" dirty="0">
                <a:solidFill>
                  <a:srgbClr val="10263D"/>
                </a:solidFill>
              </a:rPr>
              <a:t>receives a dependency</a:t>
            </a:r>
            <a:endParaRPr lang="en-US" sz="1100" dirty="0"/>
          </a:p>
        </p:txBody>
      </p:sp>
      <p:sp>
        <p:nvSpPr>
          <p:cNvPr id="30" name="Shape 28"/>
          <p:cNvSpPr/>
          <p:nvPr/>
        </p:nvSpPr>
        <p:spPr>
          <a:xfrm>
            <a:off x="3749040" y="3931920"/>
            <a:ext cx="685800" cy="0"/>
          </a:xfrm>
          <a:prstGeom prst="line">
            <a:avLst/>
          </a:prstGeom>
          <a:noFill/>
          <a:ln w="12700">
            <a:solidFill>
              <a:srgbClr val="008C8C"/>
            </a:solidFill>
            <a:prstDash val="solid"/>
            <a:tailEnd type="triangle"/>
          </a:ln>
        </p:spPr>
        <p:txBody>
          <a:bodyPr/>
          <a:lstStyle/>
          <a:p>
            <a:endParaRPr lang="en-US"/>
          </a:p>
        </p:txBody>
      </p:sp>
      <p:sp>
        <p:nvSpPr>
          <p:cNvPr id="31" name="Shape 29"/>
          <p:cNvSpPr/>
          <p:nvPr/>
        </p:nvSpPr>
        <p:spPr>
          <a:xfrm>
            <a:off x="7589520" y="3931920"/>
            <a:ext cx="731520" cy="0"/>
          </a:xfrm>
          <a:prstGeom prst="line">
            <a:avLst/>
          </a:prstGeom>
          <a:noFill/>
          <a:ln w="12700">
            <a:solidFill>
              <a:srgbClr val="008C8C"/>
            </a:solidFill>
            <a:prstDash val="solid"/>
            <a:tailEnd type="triangle"/>
          </a:ln>
        </p:spPr>
        <p:txBody>
          <a:bodyPr/>
          <a:lstStyle/>
          <a:p>
            <a:endParaRPr lang="en-US"/>
          </a:p>
        </p:txBody>
      </p:sp>
      <p:sp>
        <p:nvSpPr>
          <p:cNvPr id="32" name="Text 30"/>
          <p:cNvSpPr/>
          <p:nvPr/>
        </p:nvSpPr>
        <p:spPr>
          <a:xfrm>
            <a:off x="320040" y="6309360"/>
            <a:ext cx="9875520" cy="128016"/>
          </a:xfrm>
          <a:prstGeom prst="rect">
            <a:avLst/>
          </a:prstGeom>
          <a:noFill/>
          <a:ln/>
        </p:spPr>
        <p:txBody>
          <a:bodyPr wrap="square" rtlCol="0" anchor="ctr">
            <a:normAutofit/>
          </a:bodyPr>
          <a:lstStyle/>
          <a:p>
            <a:pPr marL="0" indent="0">
              <a:buNone/>
            </a:pPr>
            <a:r>
              <a:rPr lang="en-US" sz="520" dirty="0">
                <a:solidFill>
                  <a:srgbClr val="8B97A4"/>
                </a:solidFill>
              </a:rPr>
              <a:t>Source: practice7.md, part 2: IoC/DI and three injection methods</a:t>
            </a:r>
            <a:endParaRPr lang="en-US" sz="520" dirty="0"/>
          </a:p>
        </p:txBody>
      </p:sp>
      <p:sp>
        <p:nvSpPr>
          <p:cNvPr id="34" name="Text 31"/>
          <p:cNvSpPr/>
          <p:nvPr/>
        </p:nvSpPr>
        <p:spPr>
          <a:xfrm>
            <a:off x="320040" y="6510528"/>
            <a:ext cx="5943600" cy="128016"/>
          </a:xfrm>
          <a:prstGeom prst="rect">
            <a:avLst/>
          </a:prstGeom>
          <a:noFill/>
          <a:ln/>
        </p:spPr>
        <p:txBody>
          <a:bodyPr wrap="square" rtlCol="0" anchor="ctr"/>
          <a:lstStyle/>
          <a:p>
            <a:pPr marL="0" indent="0">
              <a:buNone/>
            </a:pPr>
            <a:r>
              <a:rPr lang="en-US" sz="550" dirty="0">
                <a:solidFill>
                  <a:srgbClr val="9AA7B5"/>
                </a:solidFill>
              </a:rPr>
              <a:t>Modern Programming Technologies • Practice 7</a:t>
            </a:r>
            <a:endParaRPr lang="en-US" sz="550" dirty="0"/>
          </a:p>
        </p:txBody>
      </p:sp>
      <p:sp>
        <p:nvSpPr>
          <p:cNvPr id="35" name="Text 32"/>
          <p:cNvSpPr/>
          <p:nvPr/>
        </p:nvSpPr>
        <p:spPr>
          <a:xfrm>
            <a:off x="11631168" y="6473952"/>
            <a:ext cx="182880" cy="146304"/>
          </a:xfrm>
          <a:prstGeom prst="rect">
            <a:avLst/>
          </a:prstGeom>
          <a:noFill/>
          <a:ln/>
        </p:spPr>
        <p:txBody>
          <a:bodyPr wrap="square" rtlCol="0" anchor="ctr"/>
          <a:lstStyle/>
          <a:p>
            <a:pPr marL="0" indent="0">
              <a:buNone/>
            </a:pPr>
            <a:r>
              <a:rPr lang="en-US" sz="550" dirty="0">
                <a:solidFill>
                  <a:srgbClr val="9AA7B5"/>
                </a:solidFill>
              </a:rPr>
              <a:t>4</a:t>
            </a:r>
            <a:endParaRPr lang="en-US" sz="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F3F7"/>
        </a:solidFill>
        <a:effectLst/>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6F1AB1"/>
          </a:solidFill>
          <a:ln w="12700">
            <a:solidFill>
              <a:srgbClr val="6F1AB1"/>
            </a:solidFill>
            <a:prstDash val="solid"/>
          </a:ln>
        </p:spPr>
        <p:txBody>
          <a:bodyPr/>
          <a:lstStyle/>
          <a:p>
            <a:endParaRPr lang="en-US"/>
          </a:p>
        </p:txBody>
      </p:sp>
      <p:sp>
        <p:nvSpPr>
          <p:cNvPr id="3" name="Text 1"/>
          <p:cNvSpPr/>
          <p:nvPr/>
        </p:nvSpPr>
        <p:spPr>
          <a:xfrm>
            <a:off x="411480" y="118872"/>
            <a:ext cx="274320" cy="219456"/>
          </a:xfrm>
          <a:prstGeom prst="rect">
            <a:avLst/>
          </a:prstGeom>
          <a:noFill/>
          <a:ln/>
        </p:spPr>
        <p:txBody>
          <a:bodyPr wrap="square" rtlCol="0" anchor="ctr"/>
          <a:lstStyle/>
          <a:p>
            <a:pPr marL="0" indent="0" algn="ctr">
              <a:buNone/>
            </a:pPr>
            <a:r>
              <a:rPr lang="en-US" sz="1200" b="1" dirty="0">
                <a:solidFill>
                  <a:srgbClr val="FFFFFF"/>
                </a:solidFill>
              </a:rPr>
              <a:t>3</a:t>
            </a:r>
            <a:endParaRPr lang="en-US" sz="1200" dirty="0"/>
          </a:p>
        </p:txBody>
      </p:sp>
      <p:sp>
        <p:nvSpPr>
          <p:cNvPr id="4" name="Text 2"/>
          <p:cNvSpPr/>
          <p:nvPr/>
        </p:nvSpPr>
        <p:spPr>
          <a:xfrm>
            <a:off x="914400" y="73152"/>
            <a:ext cx="10515600" cy="310896"/>
          </a:xfrm>
          <a:prstGeom prst="rect">
            <a:avLst/>
          </a:prstGeom>
          <a:noFill/>
          <a:ln/>
        </p:spPr>
        <p:txBody>
          <a:bodyPr wrap="square" rtlCol="0" anchor="ctr">
            <a:normAutofit/>
          </a:bodyPr>
          <a:lstStyle/>
          <a:p>
            <a:pPr marL="0" indent="0">
              <a:buNone/>
            </a:pPr>
            <a:r>
              <a:rPr lang="en-US" sz="2000" b="1" dirty="0">
                <a:solidFill>
                  <a:srgbClr val="FFFFFF"/>
                </a:solidFill>
              </a:rPr>
              <a:t>Beans and ApplicationContext — an object becomes part of the container</a:t>
            </a:r>
            <a:endParaRPr lang="en-US" sz="2000" dirty="0"/>
          </a:p>
        </p:txBody>
      </p:sp>
      <p:sp>
        <p:nvSpPr>
          <p:cNvPr id="5" name="Shape 3"/>
          <p:cNvSpPr/>
          <p:nvPr/>
        </p:nvSpPr>
        <p:spPr>
          <a:xfrm>
            <a:off x="548640" y="960120"/>
            <a:ext cx="2057400" cy="1051560"/>
          </a:xfrm>
          <a:prstGeom prst="roundRect">
            <a:avLst>
              <a:gd name="adj" fmla="val 5217"/>
            </a:avLst>
          </a:prstGeom>
          <a:solidFill>
            <a:srgbClr val="FFFFFF"/>
          </a:solidFill>
          <a:ln w="12700">
            <a:solidFill>
              <a:srgbClr val="D8E0E8"/>
            </a:solidFill>
            <a:prstDash val="solid"/>
          </a:ln>
        </p:spPr>
        <p:txBody>
          <a:bodyPr/>
          <a:lstStyle/>
          <a:p>
            <a:endParaRPr lang="en-US"/>
          </a:p>
        </p:txBody>
      </p:sp>
      <p:sp>
        <p:nvSpPr>
          <p:cNvPr id="6" name="Shape 4"/>
          <p:cNvSpPr/>
          <p:nvPr/>
        </p:nvSpPr>
        <p:spPr>
          <a:xfrm>
            <a:off x="548640" y="960120"/>
            <a:ext cx="2057400" cy="384048"/>
          </a:xfrm>
          <a:prstGeom prst="rect">
            <a:avLst/>
          </a:prstGeom>
          <a:solidFill>
            <a:srgbClr val="1E73BE"/>
          </a:solidFill>
          <a:ln w="12700">
            <a:solidFill>
              <a:srgbClr val="1E73BE"/>
            </a:solidFill>
            <a:prstDash val="solid"/>
          </a:ln>
        </p:spPr>
        <p:txBody>
          <a:bodyPr/>
          <a:lstStyle/>
          <a:p>
            <a:endParaRPr lang="en-US"/>
          </a:p>
        </p:txBody>
      </p:sp>
      <p:sp>
        <p:nvSpPr>
          <p:cNvPr id="7" name="Text 5"/>
          <p:cNvSpPr/>
          <p:nvPr/>
        </p:nvSpPr>
        <p:spPr>
          <a:xfrm>
            <a:off x="658368" y="1033272"/>
            <a:ext cx="1837944" cy="182880"/>
          </a:xfrm>
          <a:prstGeom prst="rect">
            <a:avLst/>
          </a:prstGeom>
          <a:noFill/>
          <a:ln/>
        </p:spPr>
        <p:txBody>
          <a:bodyPr wrap="square" rtlCol="0" anchor="ctr">
            <a:normAutofit/>
          </a:bodyPr>
          <a:lstStyle/>
          <a:p>
            <a:pPr marL="0" indent="0" algn="ctr">
              <a:buNone/>
            </a:pPr>
            <a:r>
              <a:rPr lang="en-US" sz="1000" b="1" dirty="0">
                <a:solidFill>
                  <a:srgbClr val="FFFFFF"/>
                </a:solidFill>
              </a:rPr>
              <a:t>1. Scans</a:t>
            </a:r>
            <a:endParaRPr lang="en-US" sz="1000" dirty="0"/>
          </a:p>
        </p:txBody>
      </p:sp>
      <p:sp>
        <p:nvSpPr>
          <p:cNvPr id="8" name="Text 6"/>
          <p:cNvSpPr/>
          <p:nvPr/>
        </p:nvSpPr>
        <p:spPr>
          <a:xfrm>
            <a:off x="658368" y="1463040"/>
            <a:ext cx="1837944" cy="484632"/>
          </a:xfrm>
          <a:prstGeom prst="rect">
            <a:avLst/>
          </a:prstGeom>
          <a:noFill/>
          <a:ln/>
        </p:spPr>
        <p:txBody>
          <a:bodyPr wrap="square" rtlCol="0" anchor="ctr">
            <a:normAutofit/>
          </a:bodyPr>
          <a:lstStyle/>
          <a:p>
            <a:pPr marL="0" indent="0" algn="ctr">
              <a:buNone/>
            </a:pPr>
            <a:r>
              <a:rPr lang="en-US" sz="900" dirty="0">
                <a:solidFill>
                  <a:srgbClr val="10263D"/>
                </a:solidFill>
              </a:rPr>
              <a:t>classes and configuration</a:t>
            </a:r>
            <a:endParaRPr lang="en-US" sz="900" dirty="0"/>
          </a:p>
        </p:txBody>
      </p:sp>
      <p:sp>
        <p:nvSpPr>
          <p:cNvPr id="9" name="Shape 7"/>
          <p:cNvSpPr/>
          <p:nvPr/>
        </p:nvSpPr>
        <p:spPr>
          <a:xfrm>
            <a:off x="2606040" y="1490472"/>
            <a:ext cx="731520" cy="0"/>
          </a:xfrm>
          <a:prstGeom prst="line">
            <a:avLst/>
          </a:prstGeom>
          <a:noFill/>
          <a:ln w="12700">
            <a:solidFill>
              <a:srgbClr val="6B7785"/>
            </a:solidFill>
            <a:prstDash val="solid"/>
            <a:tailEnd type="triangle"/>
          </a:ln>
        </p:spPr>
        <p:txBody>
          <a:bodyPr/>
          <a:lstStyle/>
          <a:p>
            <a:endParaRPr lang="en-US"/>
          </a:p>
        </p:txBody>
      </p:sp>
      <p:sp>
        <p:nvSpPr>
          <p:cNvPr id="10" name="Shape 8"/>
          <p:cNvSpPr/>
          <p:nvPr/>
        </p:nvSpPr>
        <p:spPr>
          <a:xfrm>
            <a:off x="3337560" y="960120"/>
            <a:ext cx="2057400" cy="1051560"/>
          </a:xfrm>
          <a:prstGeom prst="roundRect">
            <a:avLst>
              <a:gd name="adj" fmla="val 5217"/>
            </a:avLst>
          </a:prstGeom>
          <a:solidFill>
            <a:srgbClr val="FFFFFF"/>
          </a:solidFill>
          <a:ln w="12700">
            <a:solidFill>
              <a:srgbClr val="D8E0E8"/>
            </a:solidFill>
            <a:prstDash val="solid"/>
          </a:ln>
        </p:spPr>
        <p:txBody>
          <a:bodyPr/>
          <a:lstStyle/>
          <a:p>
            <a:endParaRPr lang="en-US"/>
          </a:p>
        </p:txBody>
      </p:sp>
      <p:sp>
        <p:nvSpPr>
          <p:cNvPr id="11" name="Shape 9"/>
          <p:cNvSpPr/>
          <p:nvPr/>
        </p:nvSpPr>
        <p:spPr>
          <a:xfrm>
            <a:off x="3337560" y="960120"/>
            <a:ext cx="2057400" cy="384048"/>
          </a:xfrm>
          <a:prstGeom prst="rect">
            <a:avLst/>
          </a:prstGeom>
          <a:solidFill>
            <a:srgbClr val="008C8C"/>
          </a:solidFill>
          <a:ln w="12700">
            <a:solidFill>
              <a:srgbClr val="008C8C"/>
            </a:solidFill>
            <a:prstDash val="solid"/>
          </a:ln>
        </p:spPr>
        <p:txBody>
          <a:bodyPr/>
          <a:lstStyle/>
          <a:p>
            <a:endParaRPr lang="en-US"/>
          </a:p>
        </p:txBody>
      </p:sp>
      <p:sp>
        <p:nvSpPr>
          <p:cNvPr id="12" name="Text 10"/>
          <p:cNvSpPr/>
          <p:nvPr/>
        </p:nvSpPr>
        <p:spPr>
          <a:xfrm>
            <a:off x="3447288" y="1033272"/>
            <a:ext cx="1837944" cy="182880"/>
          </a:xfrm>
          <a:prstGeom prst="rect">
            <a:avLst/>
          </a:prstGeom>
          <a:noFill/>
          <a:ln/>
        </p:spPr>
        <p:txBody>
          <a:bodyPr wrap="square" rtlCol="0" anchor="ctr">
            <a:normAutofit/>
          </a:bodyPr>
          <a:lstStyle/>
          <a:p>
            <a:pPr marL="0" indent="0" algn="ctr">
              <a:buNone/>
            </a:pPr>
            <a:r>
              <a:rPr lang="en-US" sz="1000" b="1" dirty="0">
                <a:solidFill>
                  <a:srgbClr val="FFFFFF"/>
                </a:solidFill>
              </a:rPr>
              <a:t>2. Creates</a:t>
            </a:r>
            <a:endParaRPr lang="en-US" sz="1000" dirty="0"/>
          </a:p>
        </p:txBody>
      </p:sp>
      <p:sp>
        <p:nvSpPr>
          <p:cNvPr id="13" name="Text 11"/>
          <p:cNvSpPr/>
          <p:nvPr/>
        </p:nvSpPr>
        <p:spPr>
          <a:xfrm>
            <a:off x="3447288" y="1463040"/>
            <a:ext cx="1837944" cy="484632"/>
          </a:xfrm>
          <a:prstGeom prst="rect">
            <a:avLst/>
          </a:prstGeom>
          <a:noFill/>
          <a:ln/>
        </p:spPr>
        <p:txBody>
          <a:bodyPr wrap="square" rtlCol="0" anchor="ctr">
            <a:normAutofit/>
          </a:bodyPr>
          <a:lstStyle/>
          <a:p>
            <a:pPr marL="0" indent="0" algn="ctr">
              <a:buNone/>
            </a:pPr>
            <a:r>
              <a:rPr lang="en-US" sz="900" dirty="0">
                <a:solidFill>
                  <a:srgbClr val="10263D"/>
                </a:solidFill>
              </a:rPr>
              <a:t>bean instances</a:t>
            </a:r>
            <a:endParaRPr lang="en-US" sz="900" dirty="0"/>
          </a:p>
        </p:txBody>
      </p:sp>
      <p:sp>
        <p:nvSpPr>
          <p:cNvPr id="14" name="Shape 12"/>
          <p:cNvSpPr/>
          <p:nvPr/>
        </p:nvSpPr>
        <p:spPr>
          <a:xfrm>
            <a:off x="5394960" y="1490472"/>
            <a:ext cx="731520" cy="0"/>
          </a:xfrm>
          <a:prstGeom prst="line">
            <a:avLst/>
          </a:prstGeom>
          <a:noFill/>
          <a:ln w="12700">
            <a:solidFill>
              <a:srgbClr val="6B7785"/>
            </a:solidFill>
            <a:prstDash val="solid"/>
            <a:tailEnd type="triangle"/>
          </a:ln>
        </p:spPr>
        <p:txBody>
          <a:bodyPr/>
          <a:lstStyle/>
          <a:p>
            <a:endParaRPr lang="en-US"/>
          </a:p>
        </p:txBody>
      </p:sp>
      <p:sp>
        <p:nvSpPr>
          <p:cNvPr id="15" name="Shape 13"/>
          <p:cNvSpPr/>
          <p:nvPr/>
        </p:nvSpPr>
        <p:spPr>
          <a:xfrm>
            <a:off x="6126480" y="960120"/>
            <a:ext cx="2057400" cy="1051560"/>
          </a:xfrm>
          <a:prstGeom prst="roundRect">
            <a:avLst>
              <a:gd name="adj" fmla="val 5217"/>
            </a:avLst>
          </a:prstGeom>
          <a:solidFill>
            <a:srgbClr val="FFFFFF"/>
          </a:solidFill>
          <a:ln w="12700">
            <a:solidFill>
              <a:srgbClr val="D8E0E8"/>
            </a:solidFill>
            <a:prstDash val="solid"/>
          </a:ln>
        </p:spPr>
        <p:txBody>
          <a:bodyPr/>
          <a:lstStyle/>
          <a:p>
            <a:endParaRPr lang="en-US"/>
          </a:p>
        </p:txBody>
      </p:sp>
      <p:sp>
        <p:nvSpPr>
          <p:cNvPr id="16" name="Shape 14"/>
          <p:cNvSpPr/>
          <p:nvPr/>
        </p:nvSpPr>
        <p:spPr>
          <a:xfrm>
            <a:off x="6126480" y="960120"/>
            <a:ext cx="2057400" cy="384048"/>
          </a:xfrm>
          <a:prstGeom prst="rect">
            <a:avLst/>
          </a:prstGeom>
          <a:solidFill>
            <a:srgbClr val="6F1AB1"/>
          </a:solidFill>
          <a:ln w="12700">
            <a:solidFill>
              <a:srgbClr val="6F1AB1"/>
            </a:solidFill>
            <a:prstDash val="solid"/>
          </a:ln>
        </p:spPr>
        <p:txBody>
          <a:bodyPr/>
          <a:lstStyle/>
          <a:p>
            <a:endParaRPr lang="en-US"/>
          </a:p>
        </p:txBody>
      </p:sp>
      <p:sp>
        <p:nvSpPr>
          <p:cNvPr id="17" name="Text 15"/>
          <p:cNvSpPr/>
          <p:nvPr/>
        </p:nvSpPr>
        <p:spPr>
          <a:xfrm>
            <a:off x="6236208" y="1033272"/>
            <a:ext cx="1837944" cy="182880"/>
          </a:xfrm>
          <a:prstGeom prst="rect">
            <a:avLst/>
          </a:prstGeom>
          <a:noFill/>
          <a:ln/>
        </p:spPr>
        <p:txBody>
          <a:bodyPr wrap="square" rtlCol="0" anchor="ctr">
            <a:normAutofit/>
          </a:bodyPr>
          <a:lstStyle/>
          <a:p>
            <a:pPr marL="0" indent="0" algn="ctr">
              <a:buNone/>
            </a:pPr>
            <a:r>
              <a:rPr lang="en-US" sz="1000" b="1" dirty="0">
                <a:solidFill>
                  <a:srgbClr val="FFFFFF"/>
                </a:solidFill>
              </a:rPr>
              <a:t>3. Injects</a:t>
            </a:r>
            <a:endParaRPr lang="en-US" sz="1000" dirty="0"/>
          </a:p>
        </p:txBody>
      </p:sp>
      <p:sp>
        <p:nvSpPr>
          <p:cNvPr id="18" name="Text 16"/>
          <p:cNvSpPr/>
          <p:nvPr/>
        </p:nvSpPr>
        <p:spPr>
          <a:xfrm>
            <a:off x="6236208" y="1463040"/>
            <a:ext cx="1837944" cy="484632"/>
          </a:xfrm>
          <a:prstGeom prst="rect">
            <a:avLst/>
          </a:prstGeom>
          <a:noFill/>
          <a:ln/>
        </p:spPr>
        <p:txBody>
          <a:bodyPr wrap="square" rtlCol="0" anchor="ctr">
            <a:normAutofit/>
          </a:bodyPr>
          <a:lstStyle/>
          <a:p>
            <a:pPr marL="0" indent="0" algn="ctr">
              <a:buNone/>
            </a:pPr>
            <a:r>
              <a:rPr lang="en-US" sz="900" dirty="0">
                <a:solidFill>
                  <a:srgbClr val="10263D"/>
                </a:solidFill>
              </a:rPr>
              <a:t>dependencies</a:t>
            </a:r>
            <a:endParaRPr lang="en-US" sz="900" dirty="0"/>
          </a:p>
        </p:txBody>
      </p:sp>
      <p:sp>
        <p:nvSpPr>
          <p:cNvPr id="19" name="Shape 17"/>
          <p:cNvSpPr/>
          <p:nvPr/>
        </p:nvSpPr>
        <p:spPr>
          <a:xfrm>
            <a:off x="8183880" y="1490472"/>
            <a:ext cx="731520" cy="0"/>
          </a:xfrm>
          <a:prstGeom prst="line">
            <a:avLst/>
          </a:prstGeom>
          <a:noFill/>
          <a:ln w="12700">
            <a:solidFill>
              <a:srgbClr val="6B7785"/>
            </a:solidFill>
            <a:prstDash val="solid"/>
            <a:tailEnd type="triangle"/>
          </a:ln>
        </p:spPr>
        <p:txBody>
          <a:bodyPr/>
          <a:lstStyle/>
          <a:p>
            <a:endParaRPr lang="en-US"/>
          </a:p>
        </p:txBody>
      </p:sp>
      <p:sp>
        <p:nvSpPr>
          <p:cNvPr id="20" name="Shape 18"/>
          <p:cNvSpPr/>
          <p:nvPr/>
        </p:nvSpPr>
        <p:spPr>
          <a:xfrm>
            <a:off x="8915400" y="960120"/>
            <a:ext cx="2057400" cy="1051560"/>
          </a:xfrm>
          <a:prstGeom prst="roundRect">
            <a:avLst>
              <a:gd name="adj" fmla="val 5217"/>
            </a:avLst>
          </a:prstGeom>
          <a:solidFill>
            <a:srgbClr val="FFFFFF"/>
          </a:solidFill>
          <a:ln w="12700">
            <a:solidFill>
              <a:srgbClr val="D8E0E8"/>
            </a:solidFill>
            <a:prstDash val="solid"/>
          </a:ln>
        </p:spPr>
        <p:txBody>
          <a:bodyPr/>
          <a:lstStyle/>
          <a:p>
            <a:endParaRPr lang="en-US"/>
          </a:p>
        </p:txBody>
      </p:sp>
      <p:sp>
        <p:nvSpPr>
          <p:cNvPr id="21" name="Shape 19"/>
          <p:cNvSpPr/>
          <p:nvPr/>
        </p:nvSpPr>
        <p:spPr>
          <a:xfrm>
            <a:off x="8915400" y="960120"/>
            <a:ext cx="2057400" cy="384048"/>
          </a:xfrm>
          <a:prstGeom prst="rect">
            <a:avLst/>
          </a:prstGeom>
          <a:solidFill>
            <a:srgbClr val="146B2E"/>
          </a:solidFill>
          <a:ln w="12700">
            <a:solidFill>
              <a:srgbClr val="146B2E"/>
            </a:solidFill>
            <a:prstDash val="solid"/>
          </a:ln>
        </p:spPr>
        <p:txBody>
          <a:bodyPr/>
          <a:lstStyle/>
          <a:p>
            <a:endParaRPr lang="en-US"/>
          </a:p>
        </p:txBody>
      </p:sp>
      <p:sp>
        <p:nvSpPr>
          <p:cNvPr id="22" name="Text 20"/>
          <p:cNvSpPr/>
          <p:nvPr/>
        </p:nvSpPr>
        <p:spPr>
          <a:xfrm>
            <a:off x="9025128" y="1033272"/>
            <a:ext cx="1837944" cy="182880"/>
          </a:xfrm>
          <a:prstGeom prst="rect">
            <a:avLst/>
          </a:prstGeom>
          <a:noFill/>
          <a:ln/>
        </p:spPr>
        <p:txBody>
          <a:bodyPr wrap="square" rtlCol="0" anchor="ctr">
            <a:normAutofit/>
          </a:bodyPr>
          <a:lstStyle/>
          <a:p>
            <a:pPr marL="0" indent="0" algn="ctr">
              <a:buNone/>
            </a:pPr>
            <a:r>
              <a:rPr lang="en-US" sz="1000" b="1" dirty="0">
                <a:solidFill>
                  <a:srgbClr val="FFFFFF"/>
                </a:solidFill>
              </a:rPr>
              <a:t>4. Manages</a:t>
            </a:r>
            <a:endParaRPr lang="en-US" sz="1000" dirty="0"/>
          </a:p>
        </p:txBody>
      </p:sp>
      <p:sp>
        <p:nvSpPr>
          <p:cNvPr id="23" name="Text 21"/>
          <p:cNvSpPr/>
          <p:nvPr/>
        </p:nvSpPr>
        <p:spPr>
          <a:xfrm>
            <a:off x="9025128" y="1463040"/>
            <a:ext cx="1837944" cy="484632"/>
          </a:xfrm>
          <a:prstGeom prst="rect">
            <a:avLst/>
          </a:prstGeom>
          <a:noFill/>
          <a:ln/>
        </p:spPr>
        <p:txBody>
          <a:bodyPr wrap="square" rtlCol="0" anchor="ctr">
            <a:normAutofit/>
          </a:bodyPr>
          <a:lstStyle/>
          <a:p>
            <a:pPr marL="0" indent="0" algn="ctr">
              <a:buNone/>
            </a:pPr>
            <a:r>
              <a:rPr lang="en-US" sz="900" dirty="0">
                <a:solidFill>
                  <a:srgbClr val="10263D"/>
                </a:solidFill>
              </a:rPr>
              <a:t>lifecycle and scope</a:t>
            </a:r>
            <a:endParaRPr lang="en-US" sz="900" dirty="0"/>
          </a:p>
        </p:txBody>
      </p:sp>
      <p:sp>
        <p:nvSpPr>
          <p:cNvPr id="24" name="Text 22"/>
          <p:cNvSpPr/>
          <p:nvPr/>
        </p:nvSpPr>
        <p:spPr>
          <a:xfrm>
            <a:off x="594360" y="2514600"/>
            <a:ext cx="3657600" cy="237744"/>
          </a:xfrm>
          <a:prstGeom prst="rect">
            <a:avLst/>
          </a:prstGeom>
          <a:noFill/>
          <a:ln/>
        </p:spPr>
        <p:txBody>
          <a:bodyPr wrap="square" rtlCol="0" anchor="ctr"/>
          <a:lstStyle/>
          <a:p>
            <a:pPr marL="0" indent="0">
              <a:buNone/>
            </a:pPr>
            <a:r>
              <a:rPr lang="en-US" sz="1500" b="1" dirty="0">
                <a:solidFill>
                  <a:srgbClr val="10263D"/>
                </a:solidFill>
              </a:rPr>
              <a:t>Stereotype annotations</a:t>
            </a:r>
            <a:endParaRPr lang="en-US" sz="1500" dirty="0"/>
          </a:p>
        </p:txBody>
      </p:sp>
      <p:sp>
        <p:nvSpPr>
          <p:cNvPr id="25" name="Shape 23"/>
          <p:cNvSpPr/>
          <p:nvPr/>
        </p:nvSpPr>
        <p:spPr>
          <a:xfrm>
            <a:off x="685800" y="2907792"/>
            <a:ext cx="1874520" cy="256032"/>
          </a:xfrm>
          <a:prstGeom prst="roundRect">
            <a:avLst>
              <a:gd name="adj" fmla="val 14286"/>
            </a:avLst>
          </a:prstGeom>
          <a:solidFill>
            <a:srgbClr val="E8F1FA"/>
          </a:solidFill>
          <a:ln w="12700">
            <a:solidFill>
              <a:srgbClr val="1E73BE"/>
            </a:solidFill>
            <a:prstDash val="solid"/>
          </a:ln>
        </p:spPr>
        <p:txBody>
          <a:bodyPr/>
          <a:lstStyle/>
          <a:p>
            <a:endParaRPr lang="en-US"/>
          </a:p>
        </p:txBody>
      </p:sp>
      <p:sp>
        <p:nvSpPr>
          <p:cNvPr id="26" name="Text 24"/>
          <p:cNvSpPr/>
          <p:nvPr/>
        </p:nvSpPr>
        <p:spPr>
          <a:xfrm>
            <a:off x="804672" y="2953512"/>
            <a:ext cx="1600200" cy="128016"/>
          </a:xfrm>
          <a:prstGeom prst="rect">
            <a:avLst/>
          </a:prstGeom>
          <a:noFill/>
          <a:ln/>
        </p:spPr>
        <p:txBody>
          <a:bodyPr wrap="square" rtlCol="0" anchor="ctr"/>
          <a:lstStyle/>
          <a:p>
            <a:pPr marL="0" indent="0" algn="ctr">
              <a:buNone/>
            </a:pPr>
            <a:r>
              <a:rPr lang="en-US" sz="840" b="1" dirty="0">
                <a:solidFill>
                  <a:srgbClr val="1E73BE"/>
                </a:solidFill>
              </a:rPr>
              <a:t>@Component</a:t>
            </a:r>
            <a:endParaRPr lang="en-US" sz="840" dirty="0"/>
          </a:p>
        </p:txBody>
      </p:sp>
      <p:sp>
        <p:nvSpPr>
          <p:cNvPr id="27" name="Text 25"/>
          <p:cNvSpPr/>
          <p:nvPr/>
        </p:nvSpPr>
        <p:spPr>
          <a:xfrm>
            <a:off x="2788920" y="2944368"/>
            <a:ext cx="2926080" cy="146304"/>
          </a:xfrm>
          <a:prstGeom prst="rect">
            <a:avLst/>
          </a:prstGeom>
          <a:noFill/>
          <a:ln/>
        </p:spPr>
        <p:txBody>
          <a:bodyPr wrap="square" rtlCol="0" anchor="ctr"/>
          <a:lstStyle/>
          <a:p>
            <a:pPr marL="0" indent="0">
              <a:buNone/>
            </a:pPr>
            <a:r>
              <a:rPr lang="en-US" sz="850" dirty="0">
                <a:solidFill>
                  <a:srgbClr val="10263D"/>
                </a:solidFill>
              </a:rPr>
              <a:t>general Spring component</a:t>
            </a:r>
            <a:endParaRPr lang="en-US" sz="850" dirty="0"/>
          </a:p>
        </p:txBody>
      </p:sp>
      <p:sp>
        <p:nvSpPr>
          <p:cNvPr id="28" name="Shape 26"/>
          <p:cNvSpPr/>
          <p:nvPr/>
        </p:nvSpPr>
        <p:spPr>
          <a:xfrm>
            <a:off x="685800" y="3300984"/>
            <a:ext cx="1874520" cy="256032"/>
          </a:xfrm>
          <a:prstGeom prst="roundRect">
            <a:avLst>
              <a:gd name="adj" fmla="val 14286"/>
            </a:avLst>
          </a:prstGeom>
          <a:solidFill>
            <a:srgbClr val="E8F1FA"/>
          </a:solidFill>
          <a:ln w="12700">
            <a:solidFill>
              <a:srgbClr val="1E73BE"/>
            </a:solidFill>
            <a:prstDash val="solid"/>
          </a:ln>
        </p:spPr>
        <p:txBody>
          <a:bodyPr/>
          <a:lstStyle/>
          <a:p>
            <a:endParaRPr lang="en-US"/>
          </a:p>
        </p:txBody>
      </p:sp>
      <p:sp>
        <p:nvSpPr>
          <p:cNvPr id="29" name="Text 27"/>
          <p:cNvSpPr/>
          <p:nvPr/>
        </p:nvSpPr>
        <p:spPr>
          <a:xfrm>
            <a:off x="804672" y="3346704"/>
            <a:ext cx="1600200" cy="128016"/>
          </a:xfrm>
          <a:prstGeom prst="rect">
            <a:avLst/>
          </a:prstGeom>
          <a:noFill/>
          <a:ln/>
        </p:spPr>
        <p:txBody>
          <a:bodyPr wrap="square" rtlCol="0" anchor="ctr"/>
          <a:lstStyle/>
          <a:p>
            <a:pPr marL="0" indent="0" algn="ctr">
              <a:buNone/>
            </a:pPr>
            <a:r>
              <a:rPr lang="en-US" sz="840" b="1" dirty="0">
                <a:solidFill>
                  <a:srgbClr val="1E73BE"/>
                </a:solidFill>
              </a:rPr>
              <a:t>@Service</a:t>
            </a:r>
            <a:endParaRPr lang="en-US" sz="840" dirty="0"/>
          </a:p>
        </p:txBody>
      </p:sp>
      <p:sp>
        <p:nvSpPr>
          <p:cNvPr id="30" name="Text 28"/>
          <p:cNvSpPr/>
          <p:nvPr/>
        </p:nvSpPr>
        <p:spPr>
          <a:xfrm>
            <a:off x="2788920" y="3337560"/>
            <a:ext cx="2926080" cy="146304"/>
          </a:xfrm>
          <a:prstGeom prst="rect">
            <a:avLst/>
          </a:prstGeom>
          <a:noFill/>
          <a:ln/>
        </p:spPr>
        <p:txBody>
          <a:bodyPr wrap="square" rtlCol="0" anchor="ctr"/>
          <a:lstStyle/>
          <a:p>
            <a:pPr marL="0" indent="0">
              <a:buNone/>
            </a:pPr>
            <a:r>
              <a:rPr lang="en-US" sz="850" dirty="0">
                <a:solidFill>
                  <a:srgbClr val="10263D"/>
                </a:solidFill>
              </a:rPr>
              <a:t>business logic</a:t>
            </a:r>
            <a:endParaRPr lang="en-US" sz="850" dirty="0"/>
          </a:p>
        </p:txBody>
      </p:sp>
      <p:sp>
        <p:nvSpPr>
          <p:cNvPr id="31" name="Shape 29"/>
          <p:cNvSpPr/>
          <p:nvPr/>
        </p:nvSpPr>
        <p:spPr>
          <a:xfrm>
            <a:off x="685800" y="3694176"/>
            <a:ext cx="1874520" cy="256032"/>
          </a:xfrm>
          <a:prstGeom prst="roundRect">
            <a:avLst>
              <a:gd name="adj" fmla="val 14286"/>
            </a:avLst>
          </a:prstGeom>
          <a:solidFill>
            <a:srgbClr val="E8F1FA"/>
          </a:solidFill>
          <a:ln w="12700">
            <a:solidFill>
              <a:srgbClr val="1E73BE"/>
            </a:solidFill>
            <a:prstDash val="solid"/>
          </a:ln>
        </p:spPr>
        <p:txBody>
          <a:bodyPr/>
          <a:lstStyle/>
          <a:p>
            <a:endParaRPr lang="en-US"/>
          </a:p>
        </p:txBody>
      </p:sp>
      <p:sp>
        <p:nvSpPr>
          <p:cNvPr id="32" name="Text 30"/>
          <p:cNvSpPr/>
          <p:nvPr/>
        </p:nvSpPr>
        <p:spPr>
          <a:xfrm>
            <a:off x="804672" y="3739896"/>
            <a:ext cx="1600200" cy="128016"/>
          </a:xfrm>
          <a:prstGeom prst="rect">
            <a:avLst/>
          </a:prstGeom>
          <a:noFill/>
          <a:ln/>
        </p:spPr>
        <p:txBody>
          <a:bodyPr wrap="square" rtlCol="0" anchor="ctr"/>
          <a:lstStyle/>
          <a:p>
            <a:pPr marL="0" indent="0" algn="ctr">
              <a:buNone/>
            </a:pPr>
            <a:r>
              <a:rPr lang="en-US" sz="840" b="1" dirty="0">
                <a:solidFill>
                  <a:srgbClr val="1E73BE"/>
                </a:solidFill>
              </a:rPr>
              <a:t>@Repository</a:t>
            </a:r>
            <a:endParaRPr lang="en-US" sz="840" dirty="0"/>
          </a:p>
        </p:txBody>
      </p:sp>
      <p:sp>
        <p:nvSpPr>
          <p:cNvPr id="33" name="Text 31"/>
          <p:cNvSpPr/>
          <p:nvPr/>
        </p:nvSpPr>
        <p:spPr>
          <a:xfrm>
            <a:off x="2788920" y="3730752"/>
            <a:ext cx="2926080" cy="146304"/>
          </a:xfrm>
          <a:prstGeom prst="rect">
            <a:avLst/>
          </a:prstGeom>
          <a:noFill/>
          <a:ln/>
        </p:spPr>
        <p:txBody>
          <a:bodyPr wrap="square" rtlCol="0" anchor="ctr"/>
          <a:lstStyle/>
          <a:p>
            <a:pPr marL="0" indent="0">
              <a:buNone/>
            </a:pPr>
            <a:r>
              <a:rPr lang="en-US" sz="850" dirty="0">
                <a:solidFill>
                  <a:srgbClr val="10263D"/>
                </a:solidFill>
              </a:rPr>
              <a:t>data access</a:t>
            </a:r>
            <a:endParaRPr lang="en-US" sz="850" dirty="0"/>
          </a:p>
        </p:txBody>
      </p:sp>
      <p:sp>
        <p:nvSpPr>
          <p:cNvPr id="34" name="Shape 32"/>
          <p:cNvSpPr/>
          <p:nvPr/>
        </p:nvSpPr>
        <p:spPr>
          <a:xfrm>
            <a:off x="685800" y="4087368"/>
            <a:ext cx="1874520" cy="256032"/>
          </a:xfrm>
          <a:prstGeom prst="roundRect">
            <a:avLst>
              <a:gd name="adj" fmla="val 14286"/>
            </a:avLst>
          </a:prstGeom>
          <a:solidFill>
            <a:srgbClr val="E8F1FA"/>
          </a:solidFill>
          <a:ln w="12700">
            <a:solidFill>
              <a:srgbClr val="1E73BE"/>
            </a:solidFill>
            <a:prstDash val="solid"/>
          </a:ln>
        </p:spPr>
        <p:txBody>
          <a:bodyPr/>
          <a:lstStyle/>
          <a:p>
            <a:endParaRPr lang="en-US"/>
          </a:p>
        </p:txBody>
      </p:sp>
      <p:sp>
        <p:nvSpPr>
          <p:cNvPr id="35" name="Text 33"/>
          <p:cNvSpPr/>
          <p:nvPr/>
        </p:nvSpPr>
        <p:spPr>
          <a:xfrm>
            <a:off x="804672" y="4133088"/>
            <a:ext cx="1600200" cy="128016"/>
          </a:xfrm>
          <a:prstGeom prst="rect">
            <a:avLst/>
          </a:prstGeom>
          <a:noFill/>
          <a:ln/>
        </p:spPr>
        <p:txBody>
          <a:bodyPr wrap="square" rtlCol="0" anchor="ctr"/>
          <a:lstStyle/>
          <a:p>
            <a:pPr marL="0" indent="0" algn="ctr">
              <a:buNone/>
            </a:pPr>
            <a:r>
              <a:rPr lang="en-US" sz="840" b="1" dirty="0">
                <a:solidFill>
                  <a:srgbClr val="1E73BE"/>
                </a:solidFill>
              </a:rPr>
              <a:t>@Controller</a:t>
            </a:r>
            <a:endParaRPr lang="en-US" sz="840" dirty="0"/>
          </a:p>
        </p:txBody>
      </p:sp>
      <p:sp>
        <p:nvSpPr>
          <p:cNvPr id="36" name="Text 34"/>
          <p:cNvSpPr/>
          <p:nvPr/>
        </p:nvSpPr>
        <p:spPr>
          <a:xfrm>
            <a:off x="2788920" y="4123944"/>
            <a:ext cx="2926080" cy="146304"/>
          </a:xfrm>
          <a:prstGeom prst="rect">
            <a:avLst/>
          </a:prstGeom>
          <a:noFill/>
          <a:ln/>
        </p:spPr>
        <p:txBody>
          <a:bodyPr wrap="square" rtlCol="0" anchor="ctr"/>
          <a:lstStyle/>
          <a:p>
            <a:pPr marL="0" indent="0">
              <a:buNone/>
            </a:pPr>
            <a:r>
              <a:rPr lang="en-US" sz="850" dirty="0">
                <a:solidFill>
                  <a:srgbClr val="10263D"/>
                </a:solidFill>
              </a:rPr>
              <a:t>web layer / views</a:t>
            </a:r>
            <a:endParaRPr lang="en-US" sz="850" dirty="0"/>
          </a:p>
        </p:txBody>
      </p:sp>
      <p:sp>
        <p:nvSpPr>
          <p:cNvPr id="37" name="Shape 35"/>
          <p:cNvSpPr/>
          <p:nvPr/>
        </p:nvSpPr>
        <p:spPr>
          <a:xfrm>
            <a:off x="685800" y="4480560"/>
            <a:ext cx="1874520" cy="256032"/>
          </a:xfrm>
          <a:prstGeom prst="roundRect">
            <a:avLst>
              <a:gd name="adj" fmla="val 14286"/>
            </a:avLst>
          </a:prstGeom>
          <a:solidFill>
            <a:srgbClr val="E8F1FA"/>
          </a:solidFill>
          <a:ln w="12700">
            <a:solidFill>
              <a:srgbClr val="1E73BE"/>
            </a:solidFill>
            <a:prstDash val="solid"/>
          </a:ln>
        </p:spPr>
        <p:txBody>
          <a:bodyPr/>
          <a:lstStyle/>
          <a:p>
            <a:endParaRPr lang="en-US"/>
          </a:p>
        </p:txBody>
      </p:sp>
      <p:sp>
        <p:nvSpPr>
          <p:cNvPr id="38" name="Text 36"/>
          <p:cNvSpPr/>
          <p:nvPr/>
        </p:nvSpPr>
        <p:spPr>
          <a:xfrm>
            <a:off x="804672" y="4526280"/>
            <a:ext cx="1600200" cy="128016"/>
          </a:xfrm>
          <a:prstGeom prst="rect">
            <a:avLst/>
          </a:prstGeom>
          <a:noFill/>
          <a:ln/>
        </p:spPr>
        <p:txBody>
          <a:bodyPr wrap="square" rtlCol="0" anchor="ctr"/>
          <a:lstStyle/>
          <a:p>
            <a:pPr marL="0" indent="0" algn="ctr">
              <a:buNone/>
            </a:pPr>
            <a:r>
              <a:rPr lang="en-US" sz="840" b="1" dirty="0">
                <a:solidFill>
                  <a:srgbClr val="1E73BE"/>
                </a:solidFill>
              </a:rPr>
              <a:t>@RestController</a:t>
            </a:r>
            <a:endParaRPr lang="en-US" sz="840" dirty="0"/>
          </a:p>
        </p:txBody>
      </p:sp>
      <p:sp>
        <p:nvSpPr>
          <p:cNvPr id="39" name="Text 37"/>
          <p:cNvSpPr/>
          <p:nvPr/>
        </p:nvSpPr>
        <p:spPr>
          <a:xfrm>
            <a:off x="2788920" y="4517136"/>
            <a:ext cx="2926080" cy="146304"/>
          </a:xfrm>
          <a:prstGeom prst="rect">
            <a:avLst/>
          </a:prstGeom>
          <a:noFill/>
          <a:ln/>
        </p:spPr>
        <p:txBody>
          <a:bodyPr wrap="square" rtlCol="0" anchor="ctr"/>
          <a:lstStyle/>
          <a:p>
            <a:pPr marL="0" indent="0">
              <a:buNone/>
            </a:pPr>
            <a:r>
              <a:rPr lang="en-US" sz="850" dirty="0">
                <a:solidFill>
                  <a:srgbClr val="10263D"/>
                </a:solidFill>
              </a:rPr>
              <a:t>REST = JSON/text response</a:t>
            </a:r>
            <a:endParaRPr lang="en-US" sz="850" dirty="0"/>
          </a:p>
        </p:txBody>
      </p:sp>
      <p:sp>
        <p:nvSpPr>
          <p:cNvPr id="40" name="Shape 38"/>
          <p:cNvSpPr/>
          <p:nvPr/>
        </p:nvSpPr>
        <p:spPr>
          <a:xfrm>
            <a:off x="6400800" y="2468880"/>
            <a:ext cx="5029200" cy="1325880"/>
          </a:xfrm>
          <a:prstGeom prst="rect">
            <a:avLst/>
          </a:prstGeom>
          <a:solidFill>
            <a:srgbClr val="071A2D"/>
          </a:solidFill>
          <a:ln w="12700">
            <a:solidFill>
              <a:srgbClr val="6F1AB1"/>
            </a:solidFill>
            <a:prstDash val="solid"/>
          </a:ln>
        </p:spPr>
        <p:txBody>
          <a:bodyPr/>
          <a:lstStyle/>
          <a:p>
            <a:endParaRPr lang="en-US"/>
          </a:p>
        </p:txBody>
      </p:sp>
      <p:sp>
        <p:nvSpPr>
          <p:cNvPr id="41" name="Text 39"/>
          <p:cNvSpPr/>
          <p:nvPr/>
        </p:nvSpPr>
        <p:spPr>
          <a:xfrm>
            <a:off x="6519672" y="2578608"/>
            <a:ext cx="4791456" cy="1106424"/>
          </a:xfrm>
          <a:prstGeom prst="rect">
            <a:avLst/>
          </a:prstGeom>
          <a:noFill/>
          <a:ln/>
        </p:spPr>
        <p:txBody>
          <a:bodyPr wrap="square" lIns="254" tIns="254" rIns="254" bIns="254" rtlCol="0" anchor="ctr">
            <a:normAutofit/>
          </a:bodyPr>
          <a:lstStyle/>
          <a:p>
            <a:pPr marL="0" indent="0">
              <a:buNone/>
            </a:pPr>
            <a:r>
              <a:rPr lang="en-US" sz="850" dirty="0">
                <a:solidFill>
                  <a:srgbClr val="BFE1FF"/>
                </a:solidFill>
                <a:latin typeface="Consolas" pitchFamily="34" charset="0"/>
                <a:ea typeface="Consolas" pitchFamily="34" charset="-122"/>
                <a:cs typeface="Consolas" pitchFamily="34" charset="-120"/>
              </a:rPr>
              <a:t>@Service</a:t>
            </a:r>
            <a:endParaRPr lang="en-US" sz="850" dirty="0"/>
          </a:p>
          <a:p>
            <a:pPr marL="0" indent="0">
              <a:buNone/>
            </a:pPr>
            <a:r>
              <a:rPr lang="en-US" sz="850" dirty="0">
                <a:solidFill>
                  <a:srgbClr val="BFE1FF"/>
                </a:solidFill>
                <a:latin typeface="Consolas" pitchFamily="34" charset="0"/>
                <a:ea typeface="Consolas" pitchFamily="34" charset="-122"/>
                <a:cs typeface="Consolas" pitchFamily="34" charset="-120"/>
              </a:rPr>
              <a:t>class EnglishGreetingService implements GreetingService { ... }</a:t>
            </a:r>
            <a:endParaRPr lang="en-US" sz="850" dirty="0"/>
          </a:p>
          <a:p>
            <a:pPr marL="0" indent="0">
              <a:buNone/>
            </a:pPr>
            <a:endParaRPr lang="en-US" sz="850" dirty="0"/>
          </a:p>
          <a:p>
            <a:pPr marL="0" indent="0">
              <a:buNone/>
            </a:pPr>
            <a:r>
              <a:rPr lang="en-US" sz="850" dirty="0">
                <a:solidFill>
                  <a:srgbClr val="BFE1FF"/>
                </a:solidFill>
                <a:latin typeface="Consolas" pitchFamily="34" charset="0"/>
                <a:ea typeface="Consolas" pitchFamily="34" charset="-122"/>
                <a:cs typeface="Consolas" pitchFamily="34" charset="-120"/>
              </a:rPr>
              <a:t>// If @Service is removed → Spring will not create a bean</a:t>
            </a:r>
            <a:endParaRPr lang="en-US" sz="850" dirty="0"/>
          </a:p>
        </p:txBody>
      </p:sp>
      <p:sp>
        <p:nvSpPr>
          <p:cNvPr id="42" name="Shape 40"/>
          <p:cNvSpPr/>
          <p:nvPr/>
        </p:nvSpPr>
        <p:spPr>
          <a:xfrm>
            <a:off x="6400800" y="4160520"/>
            <a:ext cx="5029200" cy="1115568"/>
          </a:xfrm>
          <a:prstGeom prst="roundRect">
            <a:avLst>
              <a:gd name="adj" fmla="val 6557"/>
            </a:avLst>
          </a:prstGeom>
          <a:solidFill>
            <a:srgbClr val="FFF1F1"/>
          </a:solidFill>
          <a:ln w="12700">
            <a:solidFill>
              <a:srgbClr val="C62828"/>
            </a:solidFill>
            <a:prstDash val="solid"/>
          </a:ln>
        </p:spPr>
        <p:txBody>
          <a:bodyPr/>
          <a:lstStyle/>
          <a:p>
            <a:endParaRPr lang="en-US"/>
          </a:p>
        </p:txBody>
      </p:sp>
      <p:sp>
        <p:nvSpPr>
          <p:cNvPr id="43" name="Text 41"/>
          <p:cNvSpPr/>
          <p:nvPr/>
        </p:nvSpPr>
        <p:spPr>
          <a:xfrm>
            <a:off x="6629400" y="4352544"/>
            <a:ext cx="1920240" cy="182880"/>
          </a:xfrm>
          <a:prstGeom prst="rect">
            <a:avLst/>
          </a:prstGeom>
          <a:noFill/>
          <a:ln/>
        </p:spPr>
        <p:txBody>
          <a:bodyPr wrap="square" rtlCol="0" anchor="ctr"/>
          <a:lstStyle/>
          <a:p>
            <a:pPr marL="0" indent="0">
              <a:buNone/>
            </a:pPr>
            <a:r>
              <a:rPr lang="en-US" sz="1100" b="1" dirty="0">
                <a:solidFill>
                  <a:srgbClr val="C62828"/>
                </a:solidFill>
              </a:rPr>
              <a:t>Typical problem</a:t>
            </a:r>
            <a:endParaRPr lang="en-US" sz="1100" dirty="0"/>
          </a:p>
        </p:txBody>
      </p:sp>
      <p:sp>
        <p:nvSpPr>
          <p:cNvPr id="44" name="Text 42"/>
          <p:cNvSpPr/>
          <p:nvPr/>
        </p:nvSpPr>
        <p:spPr>
          <a:xfrm>
            <a:off x="6629400" y="4617720"/>
            <a:ext cx="4526280" cy="411480"/>
          </a:xfrm>
          <a:prstGeom prst="rect">
            <a:avLst/>
          </a:prstGeom>
          <a:noFill/>
          <a:ln/>
        </p:spPr>
        <p:txBody>
          <a:bodyPr wrap="square" rtlCol="0" anchor="ctr">
            <a:normAutofit/>
          </a:bodyPr>
          <a:lstStyle/>
          <a:p>
            <a:pPr marL="0" indent="0">
              <a:buNone/>
            </a:pPr>
            <a:r>
              <a:rPr lang="en-US" sz="920" dirty="0">
                <a:solidFill>
                  <a:srgbClr val="10263D"/>
                </a:solidFill>
              </a:rPr>
              <a:t>If there are two GreetingService implementations and both are marked @Service, Spring does not know which one to inject. Solutions: @Primary, @Qualifier, or change the design.</a:t>
            </a:r>
            <a:endParaRPr lang="en-US" sz="920" dirty="0"/>
          </a:p>
        </p:txBody>
      </p:sp>
      <p:sp>
        <p:nvSpPr>
          <p:cNvPr id="45" name="Text 43"/>
          <p:cNvSpPr/>
          <p:nvPr/>
        </p:nvSpPr>
        <p:spPr>
          <a:xfrm>
            <a:off x="320040" y="6309360"/>
            <a:ext cx="9875520" cy="128016"/>
          </a:xfrm>
          <a:prstGeom prst="rect">
            <a:avLst/>
          </a:prstGeom>
          <a:noFill/>
          <a:ln/>
        </p:spPr>
        <p:txBody>
          <a:bodyPr wrap="square" rtlCol="0" anchor="ctr">
            <a:normAutofit/>
          </a:bodyPr>
          <a:lstStyle/>
          <a:p>
            <a:pPr marL="0" indent="0">
              <a:buNone/>
            </a:pPr>
            <a:r>
              <a:rPr lang="en-US" sz="520" dirty="0">
                <a:solidFill>
                  <a:srgbClr val="8B97A4"/>
                </a:solidFill>
              </a:rPr>
              <a:t>Source: Spring Core / beans; practice7.md, questions about @Service and a second GreetingService implementation</a:t>
            </a:r>
            <a:endParaRPr lang="en-US" sz="520" dirty="0"/>
          </a:p>
        </p:txBody>
      </p:sp>
      <p:sp>
        <p:nvSpPr>
          <p:cNvPr id="47" name="Text 44"/>
          <p:cNvSpPr/>
          <p:nvPr/>
        </p:nvSpPr>
        <p:spPr>
          <a:xfrm>
            <a:off x="320040" y="6510528"/>
            <a:ext cx="5943600" cy="128016"/>
          </a:xfrm>
          <a:prstGeom prst="rect">
            <a:avLst/>
          </a:prstGeom>
          <a:noFill/>
          <a:ln/>
        </p:spPr>
        <p:txBody>
          <a:bodyPr wrap="square" rtlCol="0" anchor="ctr"/>
          <a:lstStyle/>
          <a:p>
            <a:pPr marL="0" indent="0">
              <a:buNone/>
            </a:pPr>
            <a:r>
              <a:rPr lang="en-US" sz="550" dirty="0">
                <a:solidFill>
                  <a:srgbClr val="9AA7B5"/>
                </a:solidFill>
              </a:rPr>
              <a:t>Modern Programming Technologies • Practice 7</a:t>
            </a:r>
            <a:endParaRPr lang="en-US" sz="550" dirty="0"/>
          </a:p>
        </p:txBody>
      </p:sp>
      <p:sp>
        <p:nvSpPr>
          <p:cNvPr id="48" name="Text 45"/>
          <p:cNvSpPr/>
          <p:nvPr/>
        </p:nvSpPr>
        <p:spPr>
          <a:xfrm>
            <a:off x="11631168" y="6473952"/>
            <a:ext cx="182880" cy="146304"/>
          </a:xfrm>
          <a:prstGeom prst="rect">
            <a:avLst/>
          </a:prstGeom>
          <a:noFill/>
          <a:ln/>
        </p:spPr>
        <p:txBody>
          <a:bodyPr wrap="square" rtlCol="0" anchor="ctr"/>
          <a:lstStyle/>
          <a:p>
            <a:pPr marL="0" indent="0">
              <a:buNone/>
            </a:pPr>
            <a:r>
              <a:rPr lang="en-US" sz="550" dirty="0">
                <a:solidFill>
                  <a:srgbClr val="9AA7B5"/>
                </a:solidFill>
              </a:rPr>
              <a:t>5</a:t>
            </a:r>
            <a:endParaRPr lang="en-US" sz="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F3F7"/>
        </a:solidFill>
        <a:effectLst/>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D83B0B"/>
          </a:solidFill>
          <a:ln w="12700">
            <a:solidFill>
              <a:srgbClr val="D83B0B"/>
            </a:solidFill>
            <a:prstDash val="solid"/>
          </a:ln>
        </p:spPr>
        <p:txBody>
          <a:bodyPr/>
          <a:lstStyle/>
          <a:p>
            <a:endParaRPr lang="en-US"/>
          </a:p>
        </p:txBody>
      </p:sp>
      <p:sp>
        <p:nvSpPr>
          <p:cNvPr id="3" name="Text 1"/>
          <p:cNvSpPr/>
          <p:nvPr/>
        </p:nvSpPr>
        <p:spPr>
          <a:xfrm>
            <a:off x="411480" y="118872"/>
            <a:ext cx="274320" cy="219456"/>
          </a:xfrm>
          <a:prstGeom prst="rect">
            <a:avLst/>
          </a:prstGeom>
          <a:noFill/>
          <a:ln/>
        </p:spPr>
        <p:txBody>
          <a:bodyPr wrap="square" rtlCol="0" anchor="ctr"/>
          <a:lstStyle/>
          <a:p>
            <a:pPr marL="0" indent="0" algn="ctr">
              <a:buNone/>
            </a:pPr>
            <a:r>
              <a:rPr lang="en-US" sz="1200" b="1" dirty="0">
                <a:solidFill>
                  <a:srgbClr val="FFFFFF"/>
                </a:solidFill>
              </a:rPr>
              <a:t>4</a:t>
            </a:r>
            <a:endParaRPr lang="en-US" sz="1200" dirty="0"/>
          </a:p>
        </p:txBody>
      </p:sp>
      <p:sp>
        <p:nvSpPr>
          <p:cNvPr id="4" name="Text 2"/>
          <p:cNvSpPr/>
          <p:nvPr/>
        </p:nvSpPr>
        <p:spPr>
          <a:xfrm>
            <a:off x="914400" y="73152"/>
            <a:ext cx="10515600" cy="310896"/>
          </a:xfrm>
          <a:prstGeom prst="rect">
            <a:avLst/>
          </a:prstGeom>
          <a:noFill/>
          <a:ln/>
        </p:spPr>
        <p:txBody>
          <a:bodyPr wrap="square" rtlCol="0" anchor="ctr">
            <a:normAutofit/>
          </a:bodyPr>
          <a:lstStyle/>
          <a:p>
            <a:pPr marL="0" indent="0">
              <a:buNone/>
            </a:pPr>
            <a:r>
              <a:rPr lang="en-US" sz="2000" b="1" dirty="0">
                <a:solidFill>
                  <a:srgbClr val="FFFFFF"/>
                </a:solidFill>
              </a:rPr>
              <a:t>REST CRUD — Controller → Service → Repository → Database</a:t>
            </a:r>
            <a:endParaRPr lang="en-US" sz="2000" dirty="0"/>
          </a:p>
        </p:txBody>
      </p:sp>
      <p:sp>
        <p:nvSpPr>
          <p:cNvPr id="5" name="Shape 3"/>
          <p:cNvSpPr/>
          <p:nvPr/>
        </p:nvSpPr>
        <p:spPr>
          <a:xfrm>
            <a:off x="594360" y="1143000"/>
            <a:ext cx="1600200" cy="868680"/>
          </a:xfrm>
          <a:prstGeom prst="roundRect">
            <a:avLst>
              <a:gd name="adj" fmla="val 6316"/>
            </a:avLst>
          </a:prstGeom>
          <a:solidFill>
            <a:srgbClr val="FFFFFF"/>
          </a:solidFill>
          <a:ln w="12700">
            <a:solidFill>
              <a:srgbClr val="1E73BE"/>
            </a:solidFill>
            <a:prstDash val="solid"/>
          </a:ln>
        </p:spPr>
        <p:txBody>
          <a:bodyPr/>
          <a:lstStyle/>
          <a:p>
            <a:endParaRPr lang="en-US"/>
          </a:p>
        </p:txBody>
      </p:sp>
      <p:sp>
        <p:nvSpPr>
          <p:cNvPr id="6" name="Text 4"/>
          <p:cNvSpPr/>
          <p:nvPr/>
        </p:nvSpPr>
        <p:spPr>
          <a:xfrm>
            <a:off x="731520" y="1280160"/>
            <a:ext cx="1325880" cy="594360"/>
          </a:xfrm>
          <a:prstGeom prst="rect">
            <a:avLst/>
          </a:prstGeom>
          <a:noFill/>
          <a:ln/>
        </p:spPr>
        <p:txBody>
          <a:bodyPr wrap="square" rtlCol="0" anchor="ctr">
            <a:normAutofit/>
          </a:bodyPr>
          <a:lstStyle/>
          <a:p>
            <a:pPr marL="0" indent="0" algn="ctr">
              <a:buNone/>
            </a:pPr>
            <a:r>
              <a:rPr lang="en-US" sz="950" dirty="0">
                <a:solidFill>
                  <a:srgbClr val="10263D"/>
                </a:solidFill>
              </a:rPr>
              <a:t>HTTP</a:t>
            </a:r>
            <a:endParaRPr lang="en-US" sz="950" dirty="0"/>
          </a:p>
          <a:p>
            <a:pPr marL="0" indent="0" algn="ctr">
              <a:buNone/>
            </a:pPr>
            <a:r>
              <a:rPr lang="en-US" sz="950" dirty="0">
                <a:solidFill>
                  <a:srgbClr val="10263D"/>
                </a:solidFill>
              </a:rPr>
              <a:t>Request</a:t>
            </a:r>
            <a:endParaRPr lang="en-US" sz="950" dirty="0"/>
          </a:p>
        </p:txBody>
      </p:sp>
      <p:sp>
        <p:nvSpPr>
          <p:cNvPr id="7" name="Shape 5"/>
          <p:cNvSpPr/>
          <p:nvPr/>
        </p:nvSpPr>
        <p:spPr>
          <a:xfrm>
            <a:off x="2194560" y="1572768"/>
            <a:ext cx="658368" cy="0"/>
          </a:xfrm>
          <a:prstGeom prst="line">
            <a:avLst/>
          </a:prstGeom>
          <a:noFill/>
          <a:ln w="12700">
            <a:solidFill>
              <a:srgbClr val="6B7785"/>
            </a:solidFill>
            <a:prstDash val="solid"/>
            <a:tailEnd type="triangle"/>
          </a:ln>
        </p:spPr>
        <p:txBody>
          <a:bodyPr/>
          <a:lstStyle/>
          <a:p>
            <a:endParaRPr lang="en-US"/>
          </a:p>
        </p:txBody>
      </p:sp>
      <p:sp>
        <p:nvSpPr>
          <p:cNvPr id="8" name="Shape 6"/>
          <p:cNvSpPr/>
          <p:nvPr/>
        </p:nvSpPr>
        <p:spPr>
          <a:xfrm>
            <a:off x="2862072" y="1143000"/>
            <a:ext cx="1600200" cy="868680"/>
          </a:xfrm>
          <a:prstGeom prst="roundRect">
            <a:avLst>
              <a:gd name="adj" fmla="val 6316"/>
            </a:avLst>
          </a:prstGeom>
          <a:solidFill>
            <a:srgbClr val="FFFFFF"/>
          </a:solidFill>
          <a:ln w="12700">
            <a:solidFill>
              <a:srgbClr val="6F1AB1"/>
            </a:solidFill>
            <a:prstDash val="solid"/>
          </a:ln>
        </p:spPr>
        <p:txBody>
          <a:bodyPr/>
          <a:lstStyle/>
          <a:p>
            <a:endParaRPr lang="en-US"/>
          </a:p>
        </p:txBody>
      </p:sp>
      <p:sp>
        <p:nvSpPr>
          <p:cNvPr id="9" name="Text 7"/>
          <p:cNvSpPr/>
          <p:nvPr/>
        </p:nvSpPr>
        <p:spPr>
          <a:xfrm>
            <a:off x="2999232" y="1280160"/>
            <a:ext cx="1325880" cy="594360"/>
          </a:xfrm>
          <a:prstGeom prst="rect">
            <a:avLst/>
          </a:prstGeom>
          <a:noFill/>
          <a:ln/>
        </p:spPr>
        <p:txBody>
          <a:bodyPr wrap="square" rtlCol="0" anchor="ctr">
            <a:normAutofit/>
          </a:bodyPr>
          <a:lstStyle/>
          <a:p>
            <a:pPr marL="0" indent="0" algn="ctr">
              <a:buNone/>
            </a:pPr>
            <a:r>
              <a:rPr lang="en-US" sz="950" dirty="0">
                <a:solidFill>
                  <a:srgbClr val="10263D"/>
                </a:solidFill>
              </a:rPr>
              <a:t>StudentRestController</a:t>
            </a:r>
            <a:endParaRPr lang="en-US" sz="950" dirty="0"/>
          </a:p>
          <a:p>
            <a:pPr marL="0" indent="0" algn="ctr">
              <a:buNone/>
            </a:pPr>
            <a:r>
              <a:rPr lang="en-US" sz="950" dirty="0">
                <a:solidFill>
                  <a:srgbClr val="10263D"/>
                </a:solidFill>
              </a:rPr>
              <a:t>@RequestMapping</a:t>
            </a:r>
            <a:endParaRPr lang="en-US" sz="950" dirty="0"/>
          </a:p>
        </p:txBody>
      </p:sp>
      <p:sp>
        <p:nvSpPr>
          <p:cNvPr id="10" name="Shape 8"/>
          <p:cNvSpPr/>
          <p:nvPr/>
        </p:nvSpPr>
        <p:spPr>
          <a:xfrm>
            <a:off x="4462272" y="1572768"/>
            <a:ext cx="658368" cy="0"/>
          </a:xfrm>
          <a:prstGeom prst="line">
            <a:avLst/>
          </a:prstGeom>
          <a:noFill/>
          <a:ln w="12700">
            <a:solidFill>
              <a:srgbClr val="6B7785"/>
            </a:solidFill>
            <a:prstDash val="solid"/>
            <a:tailEnd type="triangle"/>
          </a:ln>
        </p:spPr>
        <p:txBody>
          <a:bodyPr/>
          <a:lstStyle/>
          <a:p>
            <a:endParaRPr lang="en-US"/>
          </a:p>
        </p:txBody>
      </p:sp>
      <p:sp>
        <p:nvSpPr>
          <p:cNvPr id="11" name="Shape 9"/>
          <p:cNvSpPr/>
          <p:nvPr/>
        </p:nvSpPr>
        <p:spPr>
          <a:xfrm>
            <a:off x="5129784" y="1143000"/>
            <a:ext cx="1600200" cy="868680"/>
          </a:xfrm>
          <a:prstGeom prst="roundRect">
            <a:avLst>
              <a:gd name="adj" fmla="val 6316"/>
            </a:avLst>
          </a:prstGeom>
          <a:solidFill>
            <a:srgbClr val="FFFFFF"/>
          </a:solidFill>
          <a:ln w="12700">
            <a:solidFill>
              <a:srgbClr val="008C8C"/>
            </a:solidFill>
            <a:prstDash val="solid"/>
          </a:ln>
        </p:spPr>
        <p:txBody>
          <a:bodyPr/>
          <a:lstStyle/>
          <a:p>
            <a:endParaRPr lang="en-US"/>
          </a:p>
        </p:txBody>
      </p:sp>
      <p:sp>
        <p:nvSpPr>
          <p:cNvPr id="12" name="Text 10"/>
          <p:cNvSpPr/>
          <p:nvPr/>
        </p:nvSpPr>
        <p:spPr>
          <a:xfrm>
            <a:off x="5266944" y="1280160"/>
            <a:ext cx="1325880" cy="594360"/>
          </a:xfrm>
          <a:prstGeom prst="rect">
            <a:avLst/>
          </a:prstGeom>
          <a:noFill/>
          <a:ln/>
        </p:spPr>
        <p:txBody>
          <a:bodyPr wrap="square" rtlCol="0" anchor="ctr">
            <a:normAutofit/>
          </a:bodyPr>
          <a:lstStyle/>
          <a:p>
            <a:pPr marL="0" indent="0" algn="ctr">
              <a:buNone/>
            </a:pPr>
            <a:r>
              <a:rPr lang="en-US" sz="950" dirty="0">
                <a:solidFill>
                  <a:srgbClr val="10263D"/>
                </a:solidFill>
              </a:rPr>
              <a:t>StudentService</a:t>
            </a:r>
            <a:endParaRPr lang="en-US" sz="950" dirty="0"/>
          </a:p>
          <a:p>
            <a:pPr marL="0" indent="0" algn="ctr">
              <a:buNone/>
            </a:pPr>
            <a:r>
              <a:rPr lang="en-US" sz="950" dirty="0">
                <a:solidFill>
                  <a:srgbClr val="10263D"/>
                </a:solidFill>
              </a:rPr>
              <a:t>business rules</a:t>
            </a:r>
            <a:endParaRPr lang="en-US" sz="950" dirty="0"/>
          </a:p>
        </p:txBody>
      </p:sp>
      <p:sp>
        <p:nvSpPr>
          <p:cNvPr id="13" name="Shape 11"/>
          <p:cNvSpPr/>
          <p:nvPr/>
        </p:nvSpPr>
        <p:spPr>
          <a:xfrm>
            <a:off x="6729984" y="1572768"/>
            <a:ext cx="658368" cy="0"/>
          </a:xfrm>
          <a:prstGeom prst="line">
            <a:avLst/>
          </a:prstGeom>
          <a:noFill/>
          <a:ln w="12700">
            <a:solidFill>
              <a:srgbClr val="6B7785"/>
            </a:solidFill>
            <a:prstDash val="solid"/>
            <a:tailEnd type="triangle"/>
          </a:ln>
        </p:spPr>
        <p:txBody>
          <a:bodyPr/>
          <a:lstStyle/>
          <a:p>
            <a:endParaRPr lang="en-US"/>
          </a:p>
        </p:txBody>
      </p:sp>
      <p:sp>
        <p:nvSpPr>
          <p:cNvPr id="14" name="Shape 12"/>
          <p:cNvSpPr/>
          <p:nvPr/>
        </p:nvSpPr>
        <p:spPr>
          <a:xfrm>
            <a:off x="7397496" y="1143000"/>
            <a:ext cx="1600200" cy="868680"/>
          </a:xfrm>
          <a:prstGeom prst="roundRect">
            <a:avLst>
              <a:gd name="adj" fmla="val 6316"/>
            </a:avLst>
          </a:prstGeom>
          <a:solidFill>
            <a:srgbClr val="FFFFFF"/>
          </a:solidFill>
          <a:ln w="12700">
            <a:solidFill>
              <a:srgbClr val="146B2E"/>
            </a:solidFill>
            <a:prstDash val="solid"/>
          </a:ln>
        </p:spPr>
        <p:txBody>
          <a:bodyPr/>
          <a:lstStyle/>
          <a:p>
            <a:endParaRPr lang="en-US"/>
          </a:p>
        </p:txBody>
      </p:sp>
      <p:sp>
        <p:nvSpPr>
          <p:cNvPr id="15" name="Text 13"/>
          <p:cNvSpPr/>
          <p:nvPr/>
        </p:nvSpPr>
        <p:spPr>
          <a:xfrm>
            <a:off x="7534656" y="1280160"/>
            <a:ext cx="1325880" cy="594360"/>
          </a:xfrm>
          <a:prstGeom prst="rect">
            <a:avLst/>
          </a:prstGeom>
          <a:noFill/>
          <a:ln/>
        </p:spPr>
        <p:txBody>
          <a:bodyPr wrap="square" rtlCol="0" anchor="ctr">
            <a:normAutofit/>
          </a:bodyPr>
          <a:lstStyle/>
          <a:p>
            <a:pPr marL="0" indent="0" algn="ctr">
              <a:buNone/>
            </a:pPr>
            <a:r>
              <a:rPr lang="en-US" sz="950" dirty="0">
                <a:solidFill>
                  <a:srgbClr val="10263D"/>
                </a:solidFill>
              </a:rPr>
              <a:t>StudentRepository</a:t>
            </a:r>
            <a:endParaRPr lang="en-US" sz="950" dirty="0"/>
          </a:p>
          <a:p>
            <a:pPr marL="0" indent="0" algn="ctr">
              <a:buNone/>
            </a:pPr>
            <a:r>
              <a:rPr lang="en-US" sz="950" dirty="0">
                <a:solidFill>
                  <a:srgbClr val="10263D"/>
                </a:solidFill>
              </a:rPr>
              <a:t>JpaRepository</a:t>
            </a:r>
            <a:endParaRPr lang="en-US" sz="950" dirty="0"/>
          </a:p>
        </p:txBody>
      </p:sp>
      <p:sp>
        <p:nvSpPr>
          <p:cNvPr id="16" name="Shape 14"/>
          <p:cNvSpPr/>
          <p:nvPr/>
        </p:nvSpPr>
        <p:spPr>
          <a:xfrm>
            <a:off x="8997696" y="1572768"/>
            <a:ext cx="658368" cy="0"/>
          </a:xfrm>
          <a:prstGeom prst="line">
            <a:avLst/>
          </a:prstGeom>
          <a:noFill/>
          <a:ln w="12700">
            <a:solidFill>
              <a:srgbClr val="6B7785"/>
            </a:solidFill>
            <a:prstDash val="solid"/>
            <a:tailEnd type="triangle"/>
          </a:ln>
        </p:spPr>
        <p:txBody>
          <a:bodyPr/>
          <a:lstStyle/>
          <a:p>
            <a:endParaRPr lang="en-US"/>
          </a:p>
        </p:txBody>
      </p:sp>
      <p:sp>
        <p:nvSpPr>
          <p:cNvPr id="17" name="Shape 15"/>
          <p:cNvSpPr/>
          <p:nvPr/>
        </p:nvSpPr>
        <p:spPr>
          <a:xfrm>
            <a:off x="9665208" y="1143000"/>
            <a:ext cx="1600200" cy="868680"/>
          </a:xfrm>
          <a:prstGeom prst="roundRect">
            <a:avLst>
              <a:gd name="adj" fmla="val 6316"/>
            </a:avLst>
          </a:prstGeom>
          <a:solidFill>
            <a:srgbClr val="FFFFFF"/>
          </a:solidFill>
          <a:ln w="12700">
            <a:solidFill>
              <a:srgbClr val="D83B0B"/>
            </a:solidFill>
            <a:prstDash val="solid"/>
          </a:ln>
        </p:spPr>
        <p:txBody>
          <a:bodyPr/>
          <a:lstStyle/>
          <a:p>
            <a:endParaRPr lang="en-US"/>
          </a:p>
        </p:txBody>
      </p:sp>
      <p:sp>
        <p:nvSpPr>
          <p:cNvPr id="18" name="Text 16"/>
          <p:cNvSpPr/>
          <p:nvPr/>
        </p:nvSpPr>
        <p:spPr>
          <a:xfrm>
            <a:off x="9802368" y="1280160"/>
            <a:ext cx="1325880" cy="594360"/>
          </a:xfrm>
          <a:prstGeom prst="rect">
            <a:avLst/>
          </a:prstGeom>
          <a:noFill/>
          <a:ln/>
        </p:spPr>
        <p:txBody>
          <a:bodyPr wrap="square" rtlCol="0" anchor="ctr">
            <a:normAutofit/>
          </a:bodyPr>
          <a:lstStyle/>
          <a:p>
            <a:pPr marL="0" indent="0" algn="ctr">
              <a:buNone/>
            </a:pPr>
            <a:r>
              <a:rPr lang="en-US" sz="950" dirty="0">
                <a:solidFill>
                  <a:srgbClr val="10263D"/>
                </a:solidFill>
              </a:rPr>
              <a:t>H2 DB</a:t>
            </a:r>
            <a:endParaRPr lang="en-US" sz="950" dirty="0"/>
          </a:p>
          <a:p>
            <a:pPr marL="0" indent="0" algn="ctr">
              <a:buNone/>
            </a:pPr>
            <a:r>
              <a:rPr lang="en-US" sz="950" dirty="0">
                <a:solidFill>
                  <a:srgbClr val="10263D"/>
                </a:solidFill>
              </a:rPr>
              <a:t>students</a:t>
            </a:r>
            <a:endParaRPr lang="en-US" sz="950" dirty="0"/>
          </a:p>
        </p:txBody>
      </p:sp>
      <p:sp>
        <p:nvSpPr>
          <p:cNvPr id="19" name="Text 17"/>
          <p:cNvSpPr/>
          <p:nvPr/>
        </p:nvSpPr>
        <p:spPr>
          <a:xfrm>
            <a:off x="594360" y="2423160"/>
            <a:ext cx="3657600" cy="237744"/>
          </a:xfrm>
          <a:prstGeom prst="rect">
            <a:avLst/>
          </a:prstGeom>
          <a:noFill/>
          <a:ln/>
        </p:spPr>
        <p:txBody>
          <a:bodyPr wrap="square" rtlCol="0" anchor="ctr"/>
          <a:lstStyle/>
          <a:p>
            <a:pPr marL="0" indent="0">
              <a:buNone/>
            </a:pPr>
            <a:r>
              <a:rPr lang="en-US" sz="1500" b="1" dirty="0">
                <a:solidFill>
                  <a:srgbClr val="10263D"/>
                </a:solidFill>
              </a:rPr>
              <a:t>Minimal CRUD API</a:t>
            </a:r>
            <a:endParaRPr lang="en-US" sz="1500" dirty="0"/>
          </a:p>
        </p:txBody>
      </p:sp>
      <p:sp>
        <p:nvSpPr>
          <p:cNvPr id="20" name="Shape 18"/>
          <p:cNvSpPr/>
          <p:nvPr/>
        </p:nvSpPr>
        <p:spPr>
          <a:xfrm>
            <a:off x="685800" y="2816352"/>
            <a:ext cx="960120" cy="228600"/>
          </a:xfrm>
          <a:prstGeom prst="rect">
            <a:avLst/>
          </a:prstGeom>
          <a:solidFill>
            <a:srgbClr val="1E73BE"/>
          </a:solidFill>
          <a:ln w="12700">
            <a:solidFill>
              <a:srgbClr val="1E73BE"/>
            </a:solidFill>
            <a:prstDash val="solid"/>
          </a:ln>
        </p:spPr>
        <p:txBody>
          <a:bodyPr/>
          <a:lstStyle/>
          <a:p>
            <a:endParaRPr lang="en-US"/>
          </a:p>
        </p:txBody>
      </p:sp>
      <p:sp>
        <p:nvSpPr>
          <p:cNvPr id="21" name="Text 19"/>
          <p:cNvSpPr/>
          <p:nvPr/>
        </p:nvSpPr>
        <p:spPr>
          <a:xfrm>
            <a:off x="749808" y="2852928"/>
            <a:ext cx="822960" cy="109728"/>
          </a:xfrm>
          <a:prstGeom prst="rect">
            <a:avLst/>
          </a:prstGeom>
          <a:noFill/>
          <a:ln/>
        </p:spPr>
        <p:txBody>
          <a:bodyPr wrap="square" rtlCol="0" anchor="ctr"/>
          <a:lstStyle/>
          <a:p>
            <a:pPr marL="0" indent="0" algn="ctr">
              <a:buNone/>
            </a:pPr>
            <a:r>
              <a:rPr lang="en-US" sz="750" b="1" dirty="0">
                <a:solidFill>
                  <a:srgbClr val="FFFFFF"/>
                </a:solidFill>
              </a:rPr>
              <a:t>GET</a:t>
            </a:r>
            <a:endParaRPr lang="en-US" sz="750" dirty="0"/>
          </a:p>
        </p:txBody>
      </p:sp>
      <p:sp>
        <p:nvSpPr>
          <p:cNvPr id="22" name="Text 20"/>
          <p:cNvSpPr/>
          <p:nvPr/>
        </p:nvSpPr>
        <p:spPr>
          <a:xfrm>
            <a:off x="1828800" y="2843784"/>
            <a:ext cx="2148840" cy="128016"/>
          </a:xfrm>
          <a:prstGeom prst="rect">
            <a:avLst/>
          </a:prstGeom>
          <a:noFill/>
          <a:ln/>
        </p:spPr>
        <p:txBody>
          <a:bodyPr wrap="square" rtlCol="0" anchor="ctr"/>
          <a:lstStyle/>
          <a:p>
            <a:pPr marL="0" indent="0">
              <a:buNone/>
            </a:pPr>
            <a:r>
              <a:rPr lang="en-US" sz="820" dirty="0">
                <a:solidFill>
                  <a:srgbClr val="10263D"/>
                </a:solidFill>
                <a:latin typeface="Consolas" pitchFamily="34" charset="0"/>
                <a:ea typeface="Consolas" pitchFamily="34" charset="-122"/>
                <a:cs typeface="Consolas" pitchFamily="34" charset="-120"/>
              </a:rPr>
              <a:t>/api/students</a:t>
            </a:r>
            <a:endParaRPr lang="en-US" sz="820" dirty="0"/>
          </a:p>
        </p:txBody>
      </p:sp>
      <p:sp>
        <p:nvSpPr>
          <p:cNvPr id="23" name="Text 21"/>
          <p:cNvSpPr/>
          <p:nvPr/>
        </p:nvSpPr>
        <p:spPr>
          <a:xfrm>
            <a:off x="4069080" y="2843784"/>
            <a:ext cx="1554480" cy="128016"/>
          </a:xfrm>
          <a:prstGeom prst="rect">
            <a:avLst/>
          </a:prstGeom>
          <a:noFill/>
          <a:ln/>
        </p:spPr>
        <p:txBody>
          <a:bodyPr wrap="square" rtlCol="0" anchor="ctr"/>
          <a:lstStyle/>
          <a:p>
            <a:pPr marL="0" indent="0">
              <a:buNone/>
            </a:pPr>
            <a:r>
              <a:rPr lang="en-US" sz="820" dirty="0">
                <a:solidFill>
                  <a:srgbClr val="6B7785"/>
                </a:solidFill>
              </a:rPr>
              <a:t>all students</a:t>
            </a:r>
            <a:endParaRPr lang="en-US" sz="820" dirty="0"/>
          </a:p>
        </p:txBody>
      </p:sp>
      <p:sp>
        <p:nvSpPr>
          <p:cNvPr id="24" name="Shape 22"/>
          <p:cNvSpPr/>
          <p:nvPr/>
        </p:nvSpPr>
        <p:spPr>
          <a:xfrm>
            <a:off x="685800" y="3145536"/>
            <a:ext cx="960120" cy="228600"/>
          </a:xfrm>
          <a:prstGeom prst="rect">
            <a:avLst/>
          </a:prstGeom>
          <a:solidFill>
            <a:srgbClr val="1E73BE"/>
          </a:solidFill>
          <a:ln w="12700">
            <a:solidFill>
              <a:srgbClr val="1E73BE"/>
            </a:solidFill>
            <a:prstDash val="solid"/>
          </a:ln>
        </p:spPr>
        <p:txBody>
          <a:bodyPr/>
          <a:lstStyle/>
          <a:p>
            <a:endParaRPr lang="en-US"/>
          </a:p>
        </p:txBody>
      </p:sp>
      <p:sp>
        <p:nvSpPr>
          <p:cNvPr id="25" name="Text 23"/>
          <p:cNvSpPr/>
          <p:nvPr/>
        </p:nvSpPr>
        <p:spPr>
          <a:xfrm>
            <a:off x="749808" y="3182112"/>
            <a:ext cx="822960" cy="109728"/>
          </a:xfrm>
          <a:prstGeom prst="rect">
            <a:avLst/>
          </a:prstGeom>
          <a:noFill/>
          <a:ln/>
        </p:spPr>
        <p:txBody>
          <a:bodyPr wrap="square" rtlCol="0" anchor="ctr"/>
          <a:lstStyle/>
          <a:p>
            <a:pPr marL="0" indent="0" algn="ctr">
              <a:buNone/>
            </a:pPr>
            <a:r>
              <a:rPr lang="en-US" sz="750" b="1" dirty="0">
                <a:solidFill>
                  <a:srgbClr val="FFFFFF"/>
                </a:solidFill>
              </a:rPr>
              <a:t>GET</a:t>
            </a:r>
            <a:endParaRPr lang="en-US" sz="750" dirty="0"/>
          </a:p>
        </p:txBody>
      </p:sp>
      <p:sp>
        <p:nvSpPr>
          <p:cNvPr id="26" name="Text 24"/>
          <p:cNvSpPr/>
          <p:nvPr/>
        </p:nvSpPr>
        <p:spPr>
          <a:xfrm>
            <a:off x="1828800" y="3172968"/>
            <a:ext cx="2148840" cy="128016"/>
          </a:xfrm>
          <a:prstGeom prst="rect">
            <a:avLst/>
          </a:prstGeom>
          <a:noFill/>
          <a:ln/>
        </p:spPr>
        <p:txBody>
          <a:bodyPr wrap="square" rtlCol="0" anchor="ctr"/>
          <a:lstStyle/>
          <a:p>
            <a:pPr marL="0" indent="0">
              <a:buNone/>
            </a:pPr>
            <a:r>
              <a:rPr lang="en-US" sz="820" dirty="0">
                <a:solidFill>
                  <a:srgbClr val="10263D"/>
                </a:solidFill>
                <a:latin typeface="Consolas" pitchFamily="34" charset="0"/>
                <a:ea typeface="Consolas" pitchFamily="34" charset="-122"/>
                <a:cs typeface="Consolas" pitchFamily="34" charset="-120"/>
              </a:rPr>
              <a:t>/api/students/{id}</a:t>
            </a:r>
            <a:endParaRPr lang="en-US" sz="820" dirty="0"/>
          </a:p>
        </p:txBody>
      </p:sp>
      <p:sp>
        <p:nvSpPr>
          <p:cNvPr id="27" name="Text 25"/>
          <p:cNvSpPr/>
          <p:nvPr/>
        </p:nvSpPr>
        <p:spPr>
          <a:xfrm>
            <a:off x="4069080" y="3172968"/>
            <a:ext cx="1554480" cy="128016"/>
          </a:xfrm>
          <a:prstGeom prst="rect">
            <a:avLst/>
          </a:prstGeom>
          <a:noFill/>
          <a:ln/>
        </p:spPr>
        <p:txBody>
          <a:bodyPr wrap="square" rtlCol="0" anchor="ctr"/>
          <a:lstStyle/>
          <a:p>
            <a:pPr marL="0" indent="0">
              <a:buNone/>
            </a:pPr>
            <a:r>
              <a:rPr lang="en-US" sz="820" dirty="0">
                <a:solidFill>
                  <a:srgbClr val="6B7785"/>
                </a:solidFill>
              </a:rPr>
              <a:t>by id</a:t>
            </a:r>
            <a:endParaRPr lang="en-US" sz="820" dirty="0"/>
          </a:p>
        </p:txBody>
      </p:sp>
      <p:sp>
        <p:nvSpPr>
          <p:cNvPr id="28" name="Shape 26"/>
          <p:cNvSpPr/>
          <p:nvPr/>
        </p:nvSpPr>
        <p:spPr>
          <a:xfrm>
            <a:off x="685800" y="3474720"/>
            <a:ext cx="960120" cy="228600"/>
          </a:xfrm>
          <a:prstGeom prst="rect">
            <a:avLst/>
          </a:prstGeom>
          <a:solidFill>
            <a:srgbClr val="146B2E"/>
          </a:solidFill>
          <a:ln w="12700">
            <a:solidFill>
              <a:srgbClr val="146B2E"/>
            </a:solidFill>
            <a:prstDash val="solid"/>
          </a:ln>
        </p:spPr>
        <p:txBody>
          <a:bodyPr/>
          <a:lstStyle/>
          <a:p>
            <a:endParaRPr lang="en-US"/>
          </a:p>
        </p:txBody>
      </p:sp>
      <p:sp>
        <p:nvSpPr>
          <p:cNvPr id="29" name="Text 27"/>
          <p:cNvSpPr/>
          <p:nvPr/>
        </p:nvSpPr>
        <p:spPr>
          <a:xfrm>
            <a:off x="749808" y="3511296"/>
            <a:ext cx="822960" cy="109728"/>
          </a:xfrm>
          <a:prstGeom prst="rect">
            <a:avLst/>
          </a:prstGeom>
          <a:noFill/>
          <a:ln/>
        </p:spPr>
        <p:txBody>
          <a:bodyPr wrap="square" rtlCol="0" anchor="ctr"/>
          <a:lstStyle/>
          <a:p>
            <a:pPr marL="0" indent="0" algn="ctr">
              <a:buNone/>
            </a:pPr>
            <a:r>
              <a:rPr lang="en-US" sz="750" b="1" dirty="0">
                <a:solidFill>
                  <a:srgbClr val="FFFFFF"/>
                </a:solidFill>
              </a:rPr>
              <a:t>POST</a:t>
            </a:r>
            <a:endParaRPr lang="en-US" sz="750" dirty="0"/>
          </a:p>
        </p:txBody>
      </p:sp>
      <p:sp>
        <p:nvSpPr>
          <p:cNvPr id="30" name="Text 28"/>
          <p:cNvSpPr/>
          <p:nvPr/>
        </p:nvSpPr>
        <p:spPr>
          <a:xfrm>
            <a:off x="1828800" y="3502152"/>
            <a:ext cx="2148840" cy="128016"/>
          </a:xfrm>
          <a:prstGeom prst="rect">
            <a:avLst/>
          </a:prstGeom>
          <a:noFill/>
          <a:ln/>
        </p:spPr>
        <p:txBody>
          <a:bodyPr wrap="square" rtlCol="0" anchor="ctr"/>
          <a:lstStyle/>
          <a:p>
            <a:pPr marL="0" indent="0">
              <a:buNone/>
            </a:pPr>
            <a:r>
              <a:rPr lang="en-US" sz="820" dirty="0">
                <a:solidFill>
                  <a:srgbClr val="10263D"/>
                </a:solidFill>
                <a:latin typeface="Consolas" pitchFamily="34" charset="0"/>
                <a:ea typeface="Consolas" pitchFamily="34" charset="-122"/>
                <a:cs typeface="Consolas" pitchFamily="34" charset="-120"/>
              </a:rPr>
              <a:t>/api/students</a:t>
            </a:r>
            <a:endParaRPr lang="en-US" sz="820" dirty="0"/>
          </a:p>
        </p:txBody>
      </p:sp>
      <p:sp>
        <p:nvSpPr>
          <p:cNvPr id="31" name="Text 29"/>
          <p:cNvSpPr/>
          <p:nvPr/>
        </p:nvSpPr>
        <p:spPr>
          <a:xfrm>
            <a:off x="4069080" y="3502152"/>
            <a:ext cx="1554480" cy="128016"/>
          </a:xfrm>
          <a:prstGeom prst="rect">
            <a:avLst/>
          </a:prstGeom>
          <a:noFill/>
          <a:ln/>
        </p:spPr>
        <p:txBody>
          <a:bodyPr wrap="square" rtlCol="0" anchor="ctr"/>
          <a:lstStyle/>
          <a:p>
            <a:pPr marL="0" indent="0">
              <a:buNone/>
            </a:pPr>
            <a:r>
              <a:rPr lang="en-US" sz="820" dirty="0">
                <a:solidFill>
                  <a:srgbClr val="6B7785"/>
                </a:solidFill>
              </a:rPr>
              <a:t>create</a:t>
            </a:r>
            <a:endParaRPr lang="en-US" sz="820" dirty="0"/>
          </a:p>
        </p:txBody>
      </p:sp>
      <p:sp>
        <p:nvSpPr>
          <p:cNvPr id="32" name="Shape 30"/>
          <p:cNvSpPr/>
          <p:nvPr/>
        </p:nvSpPr>
        <p:spPr>
          <a:xfrm>
            <a:off x="685800" y="3803904"/>
            <a:ext cx="960120" cy="228600"/>
          </a:xfrm>
          <a:prstGeom prst="rect">
            <a:avLst/>
          </a:prstGeom>
          <a:solidFill>
            <a:srgbClr val="6F1AB1"/>
          </a:solidFill>
          <a:ln w="12700">
            <a:solidFill>
              <a:srgbClr val="6F1AB1"/>
            </a:solidFill>
            <a:prstDash val="solid"/>
          </a:ln>
        </p:spPr>
        <p:txBody>
          <a:bodyPr/>
          <a:lstStyle/>
          <a:p>
            <a:endParaRPr lang="en-US"/>
          </a:p>
        </p:txBody>
      </p:sp>
      <p:sp>
        <p:nvSpPr>
          <p:cNvPr id="33" name="Text 31"/>
          <p:cNvSpPr/>
          <p:nvPr/>
        </p:nvSpPr>
        <p:spPr>
          <a:xfrm>
            <a:off x="749808" y="3840480"/>
            <a:ext cx="822960" cy="109728"/>
          </a:xfrm>
          <a:prstGeom prst="rect">
            <a:avLst/>
          </a:prstGeom>
          <a:noFill/>
          <a:ln/>
        </p:spPr>
        <p:txBody>
          <a:bodyPr wrap="square" rtlCol="0" anchor="ctr"/>
          <a:lstStyle/>
          <a:p>
            <a:pPr marL="0" indent="0" algn="ctr">
              <a:buNone/>
            </a:pPr>
            <a:r>
              <a:rPr lang="en-US" sz="750" b="1" dirty="0">
                <a:solidFill>
                  <a:srgbClr val="FFFFFF"/>
                </a:solidFill>
              </a:rPr>
              <a:t>PUT</a:t>
            </a:r>
            <a:endParaRPr lang="en-US" sz="750" dirty="0"/>
          </a:p>
        </p:txBody>
      </p:sp>
      <p:sp>
        <p:nvSpPr>
          <p:cNvPr id="34" name="Text 32"/>
          <p:cNvSpPr/>
          <p:nvPr/>
        </p:nvSpPr>
        <p:spPr>
          <a:xfrm>
            <a:off x="1828800" y="3831336"/>
            <a:ext cx="2148840" cy="128016"/>
          </a:xfrm>
          <a:prstGeom prst="rect">
            <a:avLst/>
          </a:prstGeom>
          <a:noFill/>
          <a:ln/>
        </p:spPr>
        <p:txBody>
          <a:bodyPr wrap="square" rtlCol="0" anchor="ctr"/>
          <a:lstStyle/>
          <a:p>
            <a:pPr marL="0" indent="0">
              <a:buNone/>
            </a:pPr>
            <a:r>
              <a:rPr lang="en-US" sz="820" dirty="0">
                <a:solidFill>
                  <a:srgbClr val="10263D"/>
                </a:solidFill>
                <a:latin typeface="Consolas" pitchFamily="34" charset="0"/>
                <a:ea typeface="Consolas" pitchFamily="34" charset="-122"/>
                <a:cs typeface="Consolas" pitchFamily="34" charset="-120"/>
              </a:rPr>
              <a:t>/api/students/{id}</a:t>
            </a:r>
            <a:endParaRPr lang="en-US" sz="820" dirty="0"/>
          </a:p>
        </p:txBody>
      </p:sp>
      <p:sp>
        <p:nvSpPr>
          <p:cNvPr id="35" name="Text 33"/>
          <p:cNvSpPr/>
          <p:nvPr/>
        </p:nvSpPr>
        <p:spPr>
          <a:xfrm>
            <a:off x="4069080" y="3831336"/>
            <a:ext cx="1554480" cy="128016"/>
          </a:xfrm>
          <a:prstGeom prst="rect">
            <a:avLst/>
          </a:prstGeom>
          <a:noFill/>
          <a:ln/>
        </p:spPr>
        <p:txBody>
          <a:bodyPr wrap="square" rtlCol="0" anchor="ctr"/>
          <a:lstStyle/>
          <a:p>
            <a:pPr marL="0" indent="0">
              <a:buNone/>
            </a:pPr>
            <a:r>
              <a:rPr lang="en-US" sz="820" dirty="0">
                <a:solidFill>
                  <a:srgbClr val="6B7785"/>
                </a:solidFill>
              </a:rPr>
              <a:t>update</a:t>
            </a:r>
            <a:endParaRPr lang="en-US" sz="820" dirty="0"/>
          </a:p>
        </p:txBody>
      </p:sp>
      <p:sp>
        <p:nvSpPr>
          <p:cNvPr id="36" name="Shape 34"/>
          <p:cNvSpPr/>
          <p:nvPr/>
        </p:nvSpPr>
        <p:spPr>
          <a:xfrm>
            <a:off x="685800" y="4133088"/>
            <a:ext cx="960120" cy="228600"/>
          </a:xfrm>
          <a:prstGeom prst="rect">
            <a:avLst/>
          </a:prstGeom>
          <a:solidFill>
            <a:srgbClr val="C62828"/>
          </a:solidFill>
          <a:ln w="12700">
            <a:solidFill>
              <a:srgbClr val="C62828"/>
            </a:solidFill>
            <a:prstDash val="solid"/>
          </a:ln>
        </p:spPr>
        <p:txBody>
          <a:bodyPr/>
          <a:lstStyle/>
          <a:p>
            <a:endParaRPr lang="en-US"/>
          </a:p>
        </p:txBody>
      </p:sp>
      <p:sp>
        <p:nvSpPr>
          <p:cNvPr id="37" name="Text 35"/>
          <p:cNvSpPr/>
          <p:nvPr/>
        </p:nvSpPr>
        <p:spPr>
          <a:xfrm>
            <a:off x="749808" y="4169664"/>
            <a:ext cx="822960" cy="109728"/>
          </a:xfrm>
          <a:prstGeom prst="rect">
            <a:avLst/>
          </a:prstGeom>
          <a:noFill/>
          <a:ln/>
        </p:spPr>
        <p:txBody>
          <a:bodyPr wrap="square" rtlCol="0" anchor="ctr"/>
          <a:lstStyle/>
          <a:p>
            <a:pPr marL="0" indent="0" algn="ctr">
              <a:buNone/>
            </a:pPr>
            <a:r>
              <a:rPr lang="en-US" sz="750" b="1" dirty="0">
                <a:solidFill>
                  <a:srgbClr val="FFFFFF"/>
                </a:solidFill>
              </a:rPr>
              <a:t>DELETE</a:t>
            </a:r>
            <a:endParaRPr lang="en-US" sz="750" dirty="0"/>
          </a:p>
        </p:txBody>
      </p:sp>
      <p:sp>
        <p:nvSpPr>
          <p:cNvPr id="38" name="Text 36"/>
          <p:cNvSpPr/>
          <p:nvPr/>
        </p:nvSpPr>
        <p:spPr>
          <a:xfrm>
            <a:off x="1828800" y="4160520"/>
            <a:ext cx="2148840" cy="128016"/>
          </a:xfrm>
          <a:prstGeom prst="rect">
            <a:avLst/>
          </a:prstGeom>
          <a:noFill/>
          <a:ln/>
        </p:spPr>
        <p:txBody>
          <a:bodyPr wrap="square" rtlCol="0" anchor="ctr"/>
          <a:lstStyle/>
          <a:p>
            <a:pPr marL="0" indent="0">
              <a:buNone/>
            </a:pPr>
            <a:r>
              <a:rPr lang="en-US" sz="820" dirty="0">
                <a:solidFill>
                  <a:srgbClr val="10263D"/>
                </a:solidFill>
                <a:latin typeface="Consolas" pitchFamily="34" charset="0"/>
                <a:ea typeface="Consolas" pitchFamily="34" charset="-122"/>
                <a:cs typeface="Consolas" pitchFamily="34" charset="-120"/>
              </a:rPr>
              <a:t>/api/students/{id}</a:t>
            </a:r>
            <a:endParaRPr lang="en-US" sz="820" dirty="0"/>
          </a:p>
        </p:txBody>
      </p:sp>
      <p:sp>
        <p:nvSpPr>
          <p:cNvPr id="39" name="Text 37"/>
          <p:cNvSpPr/>
          <p:nvPr/>
        </p:nvSpPr>
        <p:spPr>
          <a:xfrm>
            <a:off x="4069080" y="4160520"/>
            <a:ext cx="1554480" cy="128016"/>
          </a:xfrm>
          <a:prstGeom prst="rect">
            <a:avLst/>
          </a:prstGeom>
          <a:noFill/>
          <a:ln/>
        </p:spPr>
        <p:txBody>
          <a:bodyPr wrap="square" rtlCol="0" anchor="ctr"/>
          <a:lstStyle/>
          <a:p>
            <a:pPr marL="0" indent="0">
              <a:buNone/>
            </a:pPr>
            <a:r>
              <a:rPr lang="en-US" sz="820" dirty="0">
                <a:solidFill>
                  <a:srgbClr val="6B7785"/>
                </a:solidFill>
              </a:rPr>
              <a:t>delete</a:t>
            </a:r>
            <a:endParaRPr lang="en-US" sz="820" dirty="0"/>
          </a:p>
        </p:txBody>
      </p:sp>
      <p:sp>
        <p:nvSpPr>
          <p:cNvPr id="40" name="Shape 38"/>
          <p:cNvSpPr/>
          <p:nvPr/>
        </p:nvSpPr>
        <p:spPr>
          <a:xfrm>
            <a:off x="6172200" y="2468880"/>
            <a:ext cx="5120640" cy="1965960"/>
          </a:xfrm>
          <a:prstGeom prst="rect">
            <a:avLst/>
          </a:prstGeom>
          <a:solidFill>
            <a:srgbClr val="071A2D"/>
          </a:solidFill>
          <a:ln w="12700">
            <a:solidFill>
              <a:srgbClr val="D83B0B"/>
            </a:solidFill>
            <a:prstDash val="solid"/>
          </a:ln>
        </p:spPr>
        <p:txBody>
          <a:bodyPr/>
          <a:lstStyle/>
          <a:p>
            <a:endParaRPr lang="en-US"/>
          </a:p>
        </p:txBody>
      </p:sp>
      <p:sp>
        <p:nvSpPr>
          <p:cNvPr id="41" name="Text 39"/>
          <p:cNvSpPr/>
          <p:nvPr/>
        </p:nvSpPr>
        <p:spPr>
          <a:xfrm>
            <a:off x="6291072" y="2578608"/>
            <a:ext cx="4882896" cy="1746504"/>
          </a:xfrm>
          <a:prstGeom prst="rect">
            <a:avLst/>
          </a:prstGeom>
          <a:noFill/>
          <a:ln/>
        </p:spPr>
        <p:txBody>
          <a:bodyPr wrap="square" lIns="254" tIns="254" rIns="254" bIns="254" rtlCol="0" anchor="ctr">
            <a:normAutofit/>
          </a:bodyPr>
          <a:lstStyle/>
          <a:p>
            <a:pPr marL="0" indent="0">
              <a:buNone/>
            </a:pPr>
            <a:r>
              <a:rPr lang="en-US" sz="820" dirty="0">
                <a:solidFill>
                  <a:srgbClr val="BFE1FF"/>
                </a:solidFill>
                <a:latin typeface="Consolas" pitchFamily="34" charset="0"/>
                <a:ea typeface="Consolas" pitchFamily="34" charset="-122"/>
                <a:cs typeface="Consolas" pitchFamily="34" charset="-120"/>
              </a:rPr>
              <a:t>@PostMapping</a:t>
            </a:r>
            <a:endParaRPr lang="en-US" sz="820" dirty="0"/>
          </a:p>
          <a:p>
            <a:pPr marL="0" indent="0">
              <a:buNone/>
            </a:pPr>
            <a:r>
              <a:rPr lang="en-US" sz="820" dirty="0">
                <a:solidFill>
                  <a:srgbClr val="BFE1FF"/>
                </a:solidFill>
                <a:latin typeface="Consolas" pitchFamily="34" charset="0"/>
                <a:ea typeface="Consolas" pitchFamily="34" charset="-122"/>
                <a:cs typeface="Consolas" pitchFamily="34" charset="-120"/>
              </a:rPr>
              <a:t>ResponseEntity&lt;Student&gt; create(@RequestBody Student s) {</a:t>
            </a:r>
            <a:endParaRPr lang="en-US" sz="820" dirty="0"/>
          </a:p>
          <a:p>
            <a:pPr marL="0" indent="0">
              <a:buNone/>
            </a:pPr>
            <a:r>
              <a:rPr lang="en-US" sz="820" dirty="0">
                <a:solidFill>
                  <a:srgbClr val="BFE1FF"/>
                </a:solidFill>
                <a:latin typeface="Consolas" pitchFamily="34" charset="0"/>
                <a:ea typeface="Consolas" pitchFamily="34" charset="-122"/>
                <a:cs typeface="Consolas" pitchFamily="34" charset="-120"/>
              </a:rPr>
              <a:t>  return ResponseEntity.status(HttpStatus.CREATED)</a:t>
            </a:r>
            <a:endParaRPr lang="en-US" sz="820" dirty="0"/>
          </a:p>
          <a:p>
            <a:pPr marL="0" indent="0">
              <a:buNone/>
            </a:pPr>
            <a:r>
              <a:rPr lang="en-US" sz="820" dirty="0">
                <a:solidFill>
                  <a:srgbClr val="BFE1FF"/>
                </a:solidFill>
                <a:latin typeface="Consolas" pitchFamily="34" charset="0"/>
                <a:ea typeface="Consolas" pitchFamily="34" charset="-122"/>
                <a:cs typeface="Consolas" pitchFamily="34" charset="-120"/>
              </a:rPr>
              <a:t>      .body(studentService.save(s));</a:t>
            </a:r>
            <a:endParaRPr lang="en-US" sz="820" dirty="0"/>
          </a:p>
          <a:p>
            <a:pPr marL="0" indent="0">
              <a:buNone/>
            </a:pPr>
            <a:r>
              <a:rPr lang="en-US" sz="820" dirty="0">
                <a:solidFill>
                  <a:srgbClr val="BFE1FF"/>
                </a:solidFill>
                <a:latin typeface="Consolas" pitchFamily="34" charset="0"/>
                <a:ea typeface="Consolas" pitchFamily="34" charset="-122"/>
                <a:cs typeface="Consolas" pitchFamily="34" charset="-120"/>
              </a:rPr>
              <a:t>}</a:t>
            </a:r>
            <a:endParaRPr lang="en-US" sz="820" dirty="0"/>
          </a:p>
          <a:p>
            <a:pPr marL="0" indent="0">
              <a:buNone/>
            </a:pPr>
            <a:endParaRPr lang="en-US" sz="820" dirty="0"/>
          </a:p>
          <a:p>
            <a:pPr marL="0" indent="0">
              <a:buNone/>
            </a:pPr>
            <a:r>
              <a:rPr lang="en-US" sz="820" dirty="0">
                <a:solidFill>
                  <a:srgbClr val="BFE1FF"/>
                </a:solidFill>
                <a:latin typeface="Consolas" pitchFamily="34" charset="0"/>
                <a:ea typeface="Consolas" pitchFamily="34" charset="-122"/>
                <a:cs typeface="Consolas" pitchFamily="34" charset="-120"/>
              </a:rPr>
              <a:t>@DeleteMapping("/{id}")</a:t>
            </a:r>
            <a:endParaRPr lang="en-US" sz="820" dirty="0"/>
          </a:p>
          <a:p>
            <a:pPr marL="0" indent="0">
              <a:buNone/>
            </a:pPr>
            <a:r>
              <a:rPr lang="en-US" sz="820" dirty="0">
                <a:solidFill>
                  <a:srgbClr val="BFE1FF"/>
                </a:solidFill>
                <a:latin typeface="Consolas" pitchFamily="34" charset="0"/>
                <a:ea typeface="Consolas" pitchFamily="34" charset="-122"/>
                <a:cs typeface="Consolas" pitchFamily="34" charset="-120"/>
              </a:rPr>
              <a:t>ResponseEntity&lt;Void&gt; delete(@PathVariable Long id) { ... }</a:t>
            </a:r>
            <a:endParaRPr lang="en-US" sz="820" dirty="0"/>
          </a:p>
        </p:txBody>
      </p:sp>
      <p:sp>
        <p:nvSpPr>
          <p:cNvPr id="42" name="Shape 40"/>
          <p:cNvSpPr/>
          <p:nvPr/>
        </p:nvSpPr>
        <p:spPr>
          <a:xfrm>
            <a:off x="6172200" y="4709160"/>
            <a:ext cx="5120640" cy="640080"/>
          </a:xfrm>
          <a:prstGeom prst="roundRect">
            <a:avLst>
              <a:gd name="adj" fmla="val 8571"/>
            </a:avLst>
          </a:prstGeom>
          <a:solidFill>
            <a:srgbClr val="E9F7EE"/>
          </a:solidFill>
          <a:ln w="12700">
            <a:solidFill>
              <a:srgbClr val="146B2E"/>
            </a:solidFill>
            <a:prstDash val="solid"/>
          </a:ln>
        </p:spPr>
        <p:txBody>
          <a:bodyPr/>
          <a:lstStyle/>
          <a:p>
            <a:endParaRPr lang="en-US"/>
          </a:p>
        </p:txBody>
      </p:sp>
      <p:sp>
        <p:nvSpPr>
          <p:cNvPr id="43" name="Text 41"/>
          <p:cNvSpPr/>
          <p:nvPr/>
        </p:nvSpPr>
        <p:spPr>
          <a:xfrm>
            <a:off x="6400800" y="4901184"/>
            <a:ext cx="4663440" cy="155448"/>
          </a:xfrm>
          <a:prstGeom prst="rect">
            <a:avLst/>
          </a:prstGeom>
          <a:noFill/>
          <a:ln/>
        </p:spPr>
        <p:txBody>
          <a:bodyPr wrap="square" rtlCol="0" anchor="ctr">
            <a:normAutofit/>
          </a:bodyPr>
          <a:lstStyle/>
          <a:p>
            <a:pPr marL="0" indent="0">
              <a:buNone/>
            </a:pPr>
            <a:r>
              <a:rPr lang="en-US" sz="880" b="1" dirty="0">
                <a:solidFill>
                  <a:srgbClr val="10263D"/>
                </a:solidFill>
              </a:rPr>
              <a:t>Check not only the response body, but also the HTTP status: 201 Created, 200 OK, 204 No Content, 404 Not Found.</a:t>
            </a:r>
            <a:endParaRPr lang="en-US" sz="880" dirty="0"/>
          </a:p>
        </p:txBody>
      </p:sp>
      <p:sp>
        <p:nvSpPr>
          <p:cNvPr id="44" name="Text 42"/>
          <p:cNvSpPr/>
          <p:nvPr/>
        </p:nvSpPr>
        <p:spPr>
          <a:xfrm>
            <a:off x="320040" y="6309360"/>
            <a:ext cx="9875520" cy="128016"/>
          </a:xfrm>
          <a:prstGeom prst="rect">
            <a:avLst/>
          </a:prstGeom>
          <a:noFill/>
          <a:ln/>
        </p:spPr>
        <p:txBody>
          <a:bodyPr wrap="square" rtlCol="0" anchor="ctr">
            <a:normAutofit/>
          </a:bodyPr>
          <a:lstStyle/>
          <a:p>
            <a:pPr marL="0" indent="0">
              <a:buNone/>
            </a:pPr>
            <a:r>
              <a:rPr lang="en-US" sz="520" dirty="0">
                <a:solidFill>
                  <a:srgbClr val="8B97A4"/>
                </a:solidFill>
              </a:rPr>
              <a:t>Source: practice7.md, part 3: Student Entity, JpaRepository, Service, REST Controller and curl tests</a:t>
            </a:r>
            <a:endParaRPr lang="en-US" sz="520" dirty="0"/>
          </a:p>
        </p:txBody>
      </p:sp>
      <p:sp>
        <p:nvSpPr>
          <p:cNvPr id="46" name="Text 43"/>
          <p:cNvSpPr/>
          <p:nvPr/>
        </p:nvSpPr>
        <p:spPr>
          <a:xfrm>
            <a:off x="320040" y="6510528"/>
            <a:ext cx="5943600" cy="128016"/>
          </a:xfrm>
          <a:prstGeom prst="rect">
            <a:avLst/>
          </a:prstGeom>
          <a:noFill/>
          <a:ln/>
        </p:spPr>
        <p:txBody>
          <a:bodyPr wrap="square" rtlCol="0" anchor="ctr"/>
          <a:lstStyle/>
          <a:p>
            <a:pPr marL="0" indent="0">
              <a:buNone/>
            </a:pPr>
            <a:r>
              <a:rPr lang="en-US" sz="550" dirty="0">
                <a:solidFill>
                  <a:srgbClr val="9AA7B5"/>
                </a:solidFill>
              </a:rPr>
              <a:t>Modern Programming Technologies • Practice 7</a:t>
            </a:r>
            <a:endParaRPr lang="en-US" sz="550" dirty="0"/>
          </a:p>
        </p:txBody>
      </p:sp>
      <p:sp>
        <p:nvSpPr>
          <p:cNvPr id="47" name="Text 44"/>
          <p:cNvSpPr/>
          <p:nvPr/>
        </p:nvSpPr>
        <p:spPr>
          <a:xfrm>
            <a:off x="11631168" y="6473952"/>
            <a:ext cx="182880" cy="146304"/>
          </a:xfrm>
          <a:prstGeom prst="rect">
            <a:avLst/>
          </a:prstGeom>
          <a:noFill/>
          <a:ln/>
        </p:spPr>
        <p:txBody>
          <a:bodyPr wrap="square" rtlCol="0" anchor="ctr"/>
          <a:lstStyle/>
          <a:p>
            <a:pPr marL="0" indent="0">
              <a:buNone/>
            </a:pPr>
            <a:r>
              <a:rPr lang="en-US" sz="550" dirty="0">
                <a:solidFill>
                  <a:srgbClr val="9AA7B5"/>
                </a:solidFill>
              </a:rPr>
              <a:t>6</a:t>
            </a:r>
            <a:endParaRPr lang="en-US" sz="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F3F7"/>
        </a:solidFill>
        <a:effectLst/>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146B2E"/>
          </a:solidFill>
          <a:ln w="12700">
            <a:solidFill>
              <a:srgbClr val="146B2E"/>
            </a:solidFill>
            <a:prstDash val="solid"/>
          </a:ln>
        </p:spPr>
        <p:txBody>
          <a:bodyPr/>
          <a:lstStyle/>
          <a:p>
            <a:endParaRPr lang="en-US"/>
          </a:p>
        </p:txBody>
      </p:sp>
      <p:sp>
        <p:nvSpPr>
          <p:cNvPr id="3" name="Text 1"/>
          <p:cNvSpPr/>
          <p:nvPr/>
        </p:nvSpPr>
        <p:spPr>
          <a:xfrm>
            <a:off x="411480" y="118872"/>
            <a:ext cx="274320" cy="219456"/>
          </a:xfrm>
          <a:prstGeom prst="rect">
            <a:avLst/>
          </a:prstGeom>
          <a:noFill/>
          <a:ln/>
        </p:spPr>
        <p:txBody>
          <a:bodyPr wrap="square" rtlCol="0" anchor="ctr"/>
          <a:lstStyle/>
          <a:p>
            <a:pPr marL="0" indent="0" algn="ctr">
              <a:buNone/>
            </a:pPr>
            <a:r>
              <a:rPr lang="en-US" sz="1200" b="1" dirty="0">
                <a:solidFill>
                  <a:srgbClr val="FFFFFF"/>
                </a:solidFill>
              </a:rPr>
              <a:t>5</a:t>
            </a:r>
            <a:endParaRPr lang="en-US" sz="1200" dirty="0"/>
          </a:p>
        </p:txBody>
      </p:sp>
      <p:sp>
        <p:nvSpPr>
          <p:cNvPr id="4" name="Text 2"/>
          <p:cNvSpPr/>
          <p:nvPr/>
        </p:nvSpPr>
        <p:spPr>
          <a:xfrm>
            <a:off x="914400" y="73152"/>
            <a:ext cx="10515600" cy="310896"/>
          </a:xfrm>
          <a:prstGeom prst="rect">
            <a:avLst/>
          </a:prstGeom>
          <a:noFill/>
          <a:ln/>
        </p:spPr>
        <p:txBody>
          <a:bodyPr wrap="square" rtlCol="0" anchor="ctr">
            <a:normAutofit/>
          </a:bodyPr>
          <a:lstStyle/>
          <a:p>
            <a:pPr marL="0" indent="0">
              <a:buNone/>
            </a:pPr>
            <a:r>
              <a:rPr lang="en-US" sz="2000" b="1" dirty="0">
                <a:solidFill>
                  <a:srgbClr val="FFFFFF"/>
                </a:solidFill>
              </a:rPr>
              <a:t>JPA, H2 and Thymeleaf — data and a simple web page</a:t>
            </a:r>
            <a:endParaRPr lang="en-US" sz="2000" dirty="0"/>
          </a:p>
        </p:txBody>
      </p:sp>
      <p:sp>
        <p:nvSpPr>
          <p:cNvPr id="5" name="Shape 3"/>
          <p:cNvSpPr/>
          <p:nvPr/>
        </p:nvSpPr>
        <p:spPr>
          <a:xfrm>
            <a:off x="502920" y="960120"/>
            <a:ext cx="3657600" cy="1828800"/>
          </a:xfrm>
          <a:prstGeom prst="rect">
            <a:avLst/>
          </a:prstGeom>
          <a:solidFill>
            <a:srgbClr val="071A2D"/>
          </a:solidFill>
          <a:ln w="12700">
            <a:solidFill>
              <a:srgbClr val="146B2E"/>
            </a:solidFill>
            <a:prstDash val="solid"/>
          </a:ln>
        </p:spPr>
        <p:txBody>
          <a:bodyPr/>
          <a:lstStyle/>
          <a:p>
            <a:endParaRPr lang="en-US"/>
          </a:p>
        </p:txBody>
      </p:sp>
      <p:sp>
        <p:nvSpPr>
          <p:cNvPr id="6" name="Text 4"/>
          <p:cNvSpPr/>
          <p:nvPr/>
        </p:nvSpPr>
        <p:spPr>
          <a:xfrm>
            <a:off x="621792" y="1069848"/>
            <a:ext cx="3419856" cy="1609344"/>
          </a:xfrm>
          <a:prstGeom prst="rect">
            <a:avLst/>
          </a:prstGeom>
          <a:noFill/>
          <a:ln/>
        </p:spPr>
        <p:txBody>
          <a:bodyPr wrap="square" lIns="254" tIns="254" rIns="254" bIns="254" rtlCol="0" anchor="ctr">
            <a:normAutofit/>
          </a:bodyPr>
          <a:lstStyle/>
          <a:p>
            <a:pPr marL="0" indent="0">
              <a:buNone/>
            </a:pPr>
            <a:r>
              <a:rPr lang="en-US" sz="850" dirty="0">
                <a:solidFill>
                  <a:srgbClr val="BFE1FF"/>
                </a:solidFill>
                <a:latin typeface="Consolas" pitchFamily="34" charset="0"/>
                <a:ea typeface="Consolas" pitchFamily="34" charset="-122"/>
                <a:cs typeface="Consolas" pitchFamily="34" charset="-120"/>
              </a:rPr>
              <a:t>@Entity</a:t>
            </a:r>
            <a:endParaRPr lang="en-US" sz="850" dirty="0"/>
          </a:p>
          <a:p>
            <a:pPr marL="0" indent="0">
              <a:buNone/>
            </a:pPr>
            <a:r>
              <a:rPr lang="en-US" sz="850" dirty="0">
                <a:solidFill>
                  <a:srgbClr val="BFE1FF"/>
                </a:solidFill>
                <a:latin typeface="Consolas" pitchFamily="34" charset="0"/>
                <a:ea typeface="Consolas" pitchFamily="34" charset="-122"/>
                <a:cs typeface="Consolas" pitchFamily="34" charset="-120"/>
              </a:rPr>
              <a:t>@Table(name = "students")</a:t>
            </a:r>
            <a:endParaRPr lang="en-US" sz="850" dirty="0"/>
          </a:p>
          <a:p>
            <a:pPr marL="0" indent="0">
              <a:buNone/>
            </a:pPr>
            <a:r>
              <a:rPr lang="en-US" sz="850" dirty="0">
                <a:solidFill>
                  <a:srgbClr val="BFE1FF"/>
                </a:solidFill>
                <a:latin typeface="Consolas" pitchFamily="34" charset="0"/>
                <a:ea typeface="Consolas" pitchFamily="34" charset="-122"/>
                <a:cs typeface="Consolas" pitchFamily="34" charset="-120"/>
              </a:rPr>
              <a:t>class Student {</a:t>
            </a:r>
            <a:endParaRPr lang="en-US" sz="850" dirty="0"/>
          </a:p>
          <a:p>
            <a:pPr marL="0" indent="0">
              <a:buNone/>
            </a:pPr>
            <a:r>
              <a:rPr lang="en-US" sz="850" dirty="0">
                <a:solidFill>
                  <a:srgbClr val="BFE1FF"/>
                </a:solidFill>
                <a:latin typeface="Consolas" pitchFamily="34" charset="0"/>
                <a:ea typeface="Consolas" pitchFamily="34" charset="-122"/>
                <a:cs typeface="Consolas" pitchFamily="34" charset="-120"/>
              </a:rPr>
              <a:t>  @Id @GeneratedValue</a:t>
            </a:r>
            <a:endParaRPr lang="en-US" sz="850" dirty="0"/>
          </a:p>
          <a:p>
            <a:pPr marL="0" indent="0">
              <a:buNone/>
            </a:pPr>
            <a:r>
              <a:rPr lang="en-US" sz="850" dirty="0">
                <a:solidFill>
                  <a:srgbClr val="BFE1FF"/>
                </a:solidFill>
                <a:latin typeface="Consolas" pitchFamily="34" charset="0"/>
                <a:ea typeface="Consolas" pitchFamily="34" charset="-122"/>
                <a:cs typeface="Consolas" pitchFamily="34" charset="-120"/>
              </a:rPr>
              <a:t>  private Long id;</a:t>
            </a:r>
            <a:endParaRPr lang="en-US" sz="850" dirty="0"/>
          </a:p>
          <a:p>
            <a:pPr marL="0" indent="0">
              <a:buNone/>
            </a:pPr>
            <a:r>
              <a:rPr lang="en-US" sz="850" dirty="0">
                <a:solidFill>
                  <a:srgbClr val="BFE1FF"/>
                </a:solidFill>
                <a:latin typeface="Consolas" pitchFamily="34" charset="0"/>
                <a:ea typeface="Consolas" pitchFamily="34" charset="-122"/>
                <a:cs typeface="Consolas" pitchFamily="34" charset="-120"/>
              </a:rPr>
              <a:t>  @Column(nullable=false, length=100)</a:t>
            </a:r>
            <a:endParaRPr lang="en-US" sz="850" dirty="0"/>
          </a:p>
          <a:p>
            <a:pPr marL="0" indent="0">
              <a:buNone/>
            </a:pPr>
            <a:r>
              <a:rPr lang="en-US" sz="850" dirty="0">
                <a:solidFill>
                  <a:srgbClr val="BFE1FF"/>
                </a:solidFill>
                <a:latin typeface="Consolas" pitchFamily="34" charset="0"/>
                <a:ea typeface="Consolas" pitchFamily="34" charset="-122"/>
                <a:cs typeface="Consolas" pitchFamily="34" charset="-120"/>
              </a:rPr>
              <a:t>  private String name;</a:t>
            </a:r>
            <a:endParaRPr lang="en-US" sz="850" dirty="0"/>
          </a:p>
          <a:p>
            <a:pPr marL="0" indent="0">
              <a:buNone/>
            </a:pPr>
            <a:r>
              <a:rPr lang="en-US" sz="850" dirty="0">
                <a:solidFill>
                  <a:srgbClr val="BFE1FF"/>
                </a:solidFill>
                <a:latin typeface="Consolas" pitchFamily="34" charset="0"/>
                <a:ea typeface="Consolas" pitchFamily="34" charset="-122"/>
                <a:cs typeface="Consolas" pitchFamily="34" charset="-120"/>
              </a:rPr>
              <a:t>}</a:t>
            </a:r>
            <a:endParaRPr lang="en-US" sz="850" dirty="0"/>
          </a:p>
        </p:txBody>
      </p:sp>
      <p:sp>
        <p:nvSpPr>
          <p:cNvPr id="7" name="Shape 5"/>
          <p:cNvSpPr/>
          <p:nvPr/>
        </p:nvSpPr>
        <p:spPr>
          <a:xfrm>
            <a:off x="4480560" y="960120"/>
            <a:ext cx="2468880" cy="1828800"/>
          </a:xfrm>
          <a:prstGeom prst="roundRect">
            <a:avLst>
              <a:gd name="adj" fmla="val 3000"/>
            </a:avLst>
          </a:prstGeom>
          <a:solidFill>
            <a:srgbClr val="FFFFFF"/>
          </a:solidFill>
          <a:ln w="12700">
            <a:solidFill>
              <a:srgbClr val="D8E0E8"/>
            </a:solidFill>
            <a:prstDash val="solid"/>
          </a:ln>
        </p:spPr>
        <p:txBody>
          <a:bodyPr/>
          <a:lstStyle/>
          <a:p>
            <a:endParaRPr lang="en-US"/>
          </a:p>
        </p:txBody>
      </p:sp>
      <p:sp>
        <p:nvSpPr>
          <p:cNvPr id="8" name="Shape 6"/>
          <p:cNvSpPr/>
          <p:nvPr/>
        </p:nvSpPr>
        <p:spPr>
          <a:xfrm>
            <a:off x="4480560" y="960120"/>
            <a:ext cx="2468880" cy="384048"/>
          </a:xfrm>
          <a:prstGeom prst="rect">
            <a:avLst/>
          </a:prstGeom>
          <a:solidFill>
            <a:srgbClr val="008C8C"/>
          </a:solidFill>
          <a:ln w="12700">
            <a:solidFill>
              <a:srgbClr val="008C8C"/>
            </a:solidFill>
            <a:prstDash val="solid"/>
          </a:ln>
        </p:spPr>
        <p:txBody>
          <a:bodyPr/>
          <a:lstStyle/>
          <a:p>
            <a:endParaRPr lang="en-US"/>
          </a:p>
        </p:txBody>
      </p:sp>
      <p:sp>
        <p:nvSpPr>
          <p:cNvPr id="9" name="Text 7"/>
          <p:cNvSpPr/>
          <p:nvPr/>
        </p:nvSpPr>
        <p:spPr>
          <a:xfrm>
            <a:off x="4590288" y="1033272"/>
            <a:ext cx="2249424" cy="182880"/>
          </a:xfrm>
          <a:prstGeom prst="rect">
            <a:avLst/>
          </a:prstGeom>
          <a:noFill/>
          <a:ln/>
        </p:spPr>
        <p:txBody>
          <a:bodyPr wrap="square" rtlCol="0" anchor="ctr">
            <a:normAutofit/>
          </a:bodyPr>
          <a:lstStyle/>
          <a:p>
            <a:pPr marL="0" indent="0" algn="ctr">
              <a:buNone/>
            </a:pPr>
            <a:r>
              <a:rPr lang="en-US" sz="1000" b="1" dirty="0">
                <a:solidFill>
                  <a:srgbClr val="FFFFFF"/>
                </a:solidFill>
              </a:rPr>
              <a:t>JpaRepository</a:t>
            </a:r>
            <a:endParaRPr lang="en-US" sz="1000" dirty="0"/>
          </a:p>
        </p:txBody>
      </p:sp>
      <p:sp>
        <p:nvSpPr>
          <p:cNvPr id="10" name="Text 8"/>
          <p:cNvSpPr/>
          <p:nvPr/>
        </p:nvSpPr>
        <p:spPr>
          <a:xfrm>
            <a:off x="4590288" y="1463040"/>
            <a:ext cx="2249424" cy="1261872"/>
          </a:xfrm>
          <a:prstGeom prst="rect">
            <a:avLst/>
          </a:prstGeom>
          <a:noFill/>
          <a:ln/>
        </p:spPr>
        <p:txBody>
          <a:bodyPr wrap="square" rtlCol="0" anchor="ctr">
            <a:normAutofit/>
          </a:bodyPr>
          <a:lstStyle/>
          <a:p>
            <a:pPr marL="0" indent="0" algn="ctr">
              <a:buNone/>
            </a:pPr>
            <a:r>
              <a:rPr lang="en-US" sz="850" dirty="0">
                <a:solidFill>
                  <a:srgbClr val="10263D"/>
                </a:solidFill>
              </a:rPr>
              <a:t>interface StudentRepository</a:t>
            </a:r>
            <a:endParaRPr lang="en-US" sz="850" dirty="0"/>
          </a:p>
          <a:p>
            <a:pPr marL="0" indent="0" algn="ctr">
              <a:buNone/>
            </a:pPr>
            <a:r>
              <a:rPr lang="en-US" sz="850" dirty="0">
                <a:solidFill>
                  <a:srgbClr val="10263D"/>
                </a:solidFill>
              </a:rPr>
              <a:t>extends JpaRepository&lt;Student, Long&gt;</a:t>
            </a:r>
            <a:endParaRPr lang="en-US" sz="850" dirty="0"/>
          </a:p>
          <a:p>
            <a:pPr marL="0" indent="0" algn="ctr">
              <a:buNone/>
            </a:pPr>
            <a:endParaRPr lang="en-US" sz="850" dirty="0"/>
          </a:p>
          <a:p>
            <a:pPr marL="0" indent="0" algn="ctr">
              <a:buNone/>
            </a:pPr>
            <a:r>
              <a:rPr lang="en-US" sz="850" dirty="0">
                <a:solidFill>
                  <a:srgbClr val="10263D"/>
                </a:solidFill>
              </a:rPr>
              <a:t>Spring Data generates the implementation automatically</a:t>
            </a:r>
            <a:endParaRPr lang="en-US" sz="850" dirty="0"/>
          </a:p>
        </p:txBody>
      </p:sp>
      <p:sp>
        <p:nvSpPr>
          <p:cNvPr id="11" name="Shape 9"/>
          <p:cNvSpPr/>
          <p:nvPr/>
        </p:nvSpPr>
        <p:spPr>
          <a:xfrm>
            <a:off x="7269480" y="960120"/>
            <a:ext cx="4343400" cy="1828800"/>
          </a:xfrm>
          <a:prstGeom prst="rect">
            <a:avLst/>
          </a:prstGeom>
          <a:solidFill>
            <a:srgbClr val="071A2D"/>
          </a:solidFill>
          <a:ln w="12700">
            <a:solidFill>
              <a:srgbClr val="1E73BE"/>
            </a:solidFill>
            <a:prstDash val="solid"/>
          </a:ln>
        </p:spPr>
        <p:txBody>
          <a:bodyPr/>
          <a:lstStyle/>
          <a:p>
            <a:endParaRPr lang="en-US"/>
          </a:p>
        </p:txBody>
      </p:sp>
      <p:sp>
        <p:nvSpPr>
          <p:cNvPr id="12" name="Text 10"/>
          <p:cNvSpPr/>
          <p:nvPr/>
        </p:nvSpPr>
        <p:spPr>
          <a:xfrm>
            <a:off x="7388352" y="1069848"/>
            <a:ext cx="4105656" cy="1609344"/>
          </a:xfrm>
          <a:prstGeom prst="rect">
            <a:avLst/>
          </a:prstGeom>
          <a:noFill/>
          <a:ln/>
        </p:spPr>
        <p:txBody>
          <a:bodyPr wrap="square" lIns="254" tIns="254" rIns="254" bIns="254" rtlCol="0" anchor="ctr">
            <a:normAutofit/>
          </a:bodyPr>
          <a:lstStyle/>
          <a:p>
            <a:pPr marL="0" indent="0">
              <a:buNone/>
            </a:pPr>
            <a:r>
              <a:rPr lang="en-US" sz="900" dirty="0">
                <a:solidFill>
                  <a:srgbClr val="BFE1FF"/>
                </a:solidFill>
                <a:latin typeface="Consolas" pitchFamily="34" charset="0"/>
                <a:ea typeface="Consolas" pitchFamily="34" charset="-122"/>
                <a:cs typeface="Consolas" pitchFamily="34" charset="-120"/>
              </a:rPr>
              <a:t>spring.datasource.url=jdbc:h2:mem:testdb</a:t>
            </a:r>
            <a:endParaRPr lang="en-US" sz="900" dirty="0"/>
          </a:p>
          <a:p>
            <a:pPr marL="0" indent="0">
              <a:buNone/>
            </a:pPr>
            <a:r>
              <a:rPr lang="en-US" sz="900" dirty="0">
                <a:solidFill>
                  <a:srgbClr val="BFE1FF"/>
                </a:solidFill>
                <a:latin typeface="Consolas" pitchFamily="34" charset="0"/>
                <a:ea typeface="Consolas" pitchFamily="34" charset="-122"/>
                <a:cs typeface="Consolas" pitchFamily="34" charset="-120"/>
              </a:rPr>
              <a:t>spring.jpa.hibernate.ddl-auto=update</a:t>
            </a:r>
            <a:endParaRPr lang="en-US" sz="900" dirty="0"/>
          </a:p>
          <a:p>
            <a:pPr marL="0" indent="0">
              <a:buNone/>
            </a:pPr>
            <a:r>
              <a:rPr lang="en-US" sz="900" dirty="0">
                <a:solidFill>
                  <a:srgbClr val="BFE1FF"/>
                </a:solidFill>
                <a:latin typeface="Consolas" pitchFamily="34" charset="0"/>
                <a:ea typeface="Consolas" pitchFamily="34" charset="-122"/>
                <a:cs typeface="Consolas" pitchFamily="34" charset="-120"/>
              </a:rPr>
              <a:t>spring.h2.console.enabled=true</a:t>
            </a:r>
            <a:endParaRPr lang="en-US" sz="900" dirty="0"/>
          </a:p>
        </p:txBody>
      </p:sp>
      <p:sp>
        <p:nvSpPr>
          <p:cNvPr id="13" name="Text 11"/>
          <p:cNvSpPr/>
          <p:nvPr/>
        </p:nvSpPr>
        <p:spPr>
          <a:xfrm>
            <a:off x="640080" y="3246120"/>
            <a:ext cx="3474720" cy="237744"/>
          </a:xfrm>
          <a:prstGeom prst="rect">
            <a:avLst/>
          </a:prstGeom>
          <a:noFill/>
          <a:ln/>
        </p:spPr>
        <p:txBody>
          <a:bodyPr wrap="square" rtlCol="0" anchor="ctr"/>
          <a:lstStyle/>
          <a:p>
            <a:pPr marL="0" indent="0">
              <a:buNone/>
            </a:pPr>
            <a:r>
              <a:rPr lang="en-US" sz="1500" b="1" dirty="0">
                <a:solidFill>
                  <a:srgbClr val="10263D"/>
                </a:solidFill>
              </a:rPr>
              <a:t>Web UI through Thymeleaf</a:t>
            </a:r>
            <a:endParaRPr lang="en-US" sz="1500" dirty="0"/>
          </a:p>
        </p:txBody>
      </p:sp>
      <p:sp>
        <p:nvSpPr>
          <p:cNvPr id="14" name="Shape 12"/>
          <p:cNvSpPr/>
          <p:nvPr/>
        </p:nvSpPr>
        <p:spPr>
          <a:xfrm>
            <a:off x="640080" y="3703320"/>
            <a:ext cx="2057400" cy="841248"/>
          </a:xfrm>
          <a:prstGeom prst="roundRect">
            <a:avLst>
              <a:gd name="adj" fmla="val 6522"/>
            </a:avLst>
          </a:prstGeom>
          <a:solidFill>
            <a:srgbClr val="FFFFFF"/>
          </a:solidFill>
          <a:ln w="12700">
            <a:solidFill>
              <a:srgbClr val="1E73BE"/>
            </a:solidFill>
            <a:prstDash val="solid"/>
          </a:ln>
        </p:spPr>
        <p:txBody>
          <a:bodyPr/>
          <a:lstStyle/>
          <a:p>
            <a:endParaRPr lang="en-US"/>
          </a:p>
        </p:txBody>
      </p:sp>
      <p:sp>
        <p:nvSpPr>
          <p:cNvPr id="15" name="Text 13"/>
          <p:cNvSpPr/>
          <p:nvPr/>
        </p:nvSpPr>
        <p:spPr>
          <a:xfrm>
            <a:off x="777240" y="3840480"/>
            <a:ext cx="1783080" cy="566928"/>
          </a:xfrm>
          <a:prstGeom prst="rect">
            <a:avLst/>
          </a:prstGeom>
          <a:noFill/>
          <a:ln/>
        </p:spPr>
        <p:txBody>
          <a:bodyPr wrap="square" rtlCol="0" anchor="ctr">
            <a:normAutofit/>
          </a:bodyPr>
          <a:lstStyle/>
          <a:p>
            <a:pPr marL="0" indent="0" algn="ctr">
              <a:buNone/>
            </a:pPr>
            <a:r>
              <a:rPr lang="en-US" sz="810" dirty="0">
                <a:solidFill>
                  <a:srgbClr val="10263D"/>
                </a:solidFill>
              </a:rPr>
              <a:t>GET /students</a:t>
            </a:r>
            <a:endParaRPr lang="en-US" sz="810" dirty="0"/>
          </a:p>
          <a:p>
            <a:pPr marL="0" indent="0" algn="ctr">
              <a:buNone/>
            </a:pPr>
            <a:r>
              <a:rPr lang="en-US" sz="810" dirty="0">
                <a:solidFill>
                  <a:srgbClr val="10263D"/>
                </a:solidFill>
              </a:rPr>
              <a:t>Controller puts the list into Model</a:t>
            </a:r>
            <a:endParaRPr lang="en-US" sz="810" dirty="0"/>
          </a:p>
        </p:txBody>
      </p:sp>
      <p:sp>
        <p:nvSpPr>
          <p:cNvPr id="16" name="Shape 14"/>
          <p:cNvSpPr/>
          <p:nvPr/>
        </p:nvSpPr>
        <p:spPr>
          <a:xfrm>
            <a:off x="2697480" y="4133088"/>
            <a:ext cx="685800" cy="0"/>
          </a:xfrm>
          <a:prstGeom prst="line">
            <a:avLst/>
          </a:prstGeom>
          <a:noFill/>
          <a:ln w="12700">
            <a:solidFill>
              <a:srgbClr val="6B7785"/>
            </a:solidFill>
            <a:prstDash val="solid"/>
            <a:tailEnd type="triangle"/>
          </a:ln>
        </p:spPr>
        <p:txBody>
          <a:bodyPr/>
          <a:lstStyle/>
          <a:p>
            <a:endParaRPr lang="en-US"/>
          </a:p>
        </p:txBody>
      </p:sp>
      <p:sp>
        <p:nvSpPr>
          <p:cNvPr id="17" name="Shape 15"/>
          <p:cNvSpPr/>
          <p:nvPr/>
        </p:nvSpPr>
        <p:spPr>
          <a:xfrm>
            <a:off x="3429000" y="3703320"/>
            <a:ext cx="2057400" cy="841248"/>
          </a:xfrm>
          <a:prstGeom prst="roundRect">
            <a:avLst>
              <a:gd name="adj" fmla="val 6522"/>
            </a:avLst>
          </a:prstGeom>
          <a:solidFill>
            <a:srgbClr val="FFFFFF"/>
          </a:solidFill>
          <a:ln w="12700">
            <a:solidFill>
              <a:srgbClr val="6F1AB1"/>
            </a:solidFill>
            <a:prstDash val="solid"/>
          </a:ln>
        </p:spPr>
        <p:txBody>
          <a:bodyPr/>
          <a:lstStyle/>
          <a:p>
            <a:endParaRPr lang="en-US"/>
          </a:p>
        </p:txBody>
      </p:sp>
      <p:sp>
        <p:nvSpPr>
          <p:cNvPr id="18" name="Text 16"/>
          <p:cNvSpPr/>
          <p:nvPr/>
        </p:nvSpPr>
        <p:spPr>
          <a:xfrm>
            <a:off x="3566160" y="3840480"/>
            <a:ext cx="1783080" cy="566928"/>
          </a:xfrm>
          <a:prstGeom prst="rect">
            <a:avLst/>
          </a:prstGeom>
          <a:noFill/>
          <a:ln/>
        </p:spPr>
        <p:txBody>
          <a:bodyPr wrap="square" rtlCol="0" anchor="ctr">
            <a:normAutofit/>
          </a:bodyPr>
          <a:lstStyle/>
          <a:p>
            <a:pPr marL="0" indent="0" algn="ctr">
              <a:buNone/>
            </a:pPr>
            <a:r>
              <a:rPr lang="en-US" sz="810" dirty="0">
                <a:solidFill>
                  <a:srgbClr val="10263D"/>
                </a:solidFill>
              </a:rPr>
              <a:t>students.html</a:t>
            </a:r>
            <a:endParaRPr lang="en-US" sz="810" dirty="0"/>
          </a:p>
          <a:p>
            <a:pPr marL="0" indent="0" algn="ctr">
              <a:buNone/>
            </a:pPr>
            <a:r>
              <a:rPr lang="en-US" sz="810" dirty="0">
                <a:solidFill>
                  <a:srgbClr val="10263D"/>
                </a:solidFill>
              </a:rPr>
              <a:t>th:object and th:field bind the form</a:t>
            </a:r>
            <a:endParaRPr lang="en-US" sz="810" dirty="0"/>
          </a:p>
        </p:txBody>
      </p:sp>
      <p:sp>
        <p:nvSpPr>
          <p:cNvPr id="19" name="Shape 17"/>
          <p:cNvSpPr/>
          <p:nvPr/>
        </p:nvSpPr>
        <p:spPr>
          <a:xfrm>
            <a:off x="5486400" y="4133088"/>
            <a:ext cx="685800" cy="0"/>
          </a:xfrm>
          <a:prstGeom prst="line">
            <a:avLst/>
          </a:prstGeom>
          <a:noFill/>
          <a:ln w="12700">
            <a:solidFill>
              <a:srgbClr val="6B7785"/>
            </a:solidFill>
            <a:prstDash val="solid"/>
            <a:tailEnd type="triangle"/>
          </a:ln>
        </p:spPr>
        <p:txBody>
          <a:bodyPr/>
          <a:lstStyle/>
          <a:p>
            <a:endParaRPr lang="en-US"/>
          </a:p>
        </p:txBody>
      </p:sp>
      <p:sp>
        <p:nvSpPr>
          <p:cNvPr id="20" name="Shape 18"/>
          <p:cNvSpPr/>
          <p:nvPr/>
        </p:nvSpPr>
        <p:spPr>
          <a:xfrm>
            <a:off x="6217920" y="3703320"/>
            <a:ext cx="2057400" cy="841248"/>
          </a:xfrm>
          <a:prstGeom prst="roundRect">
            <a:avLst>
              <a:gd name="adj" fmla="val 6522"/>
            </a:avLst>
          </a:prstGeom>
          <a:solidFill>
            <a:srgbClr val="FFFFFF"/>
          </a:solidFill>
          <a:ln w="12700">
            <a:solidFill>
              <a:srgbClr val="008C8C"/>
            </a:solidFill>
            <a:prstDash val="solid"/>
          </a:ln>
        </p:spPr>
        <p:txBody>
          <a:bodyPr/>
          <a:lstStyle/>
          <a:p>
            <a:endParaRPr lang="en-US"/>
          </a:p>
        </p:txBody>
      </p:sp>
      <p:sp>
        <p:nvSpPr>
          <p:cNvPr id="21" name="Text 19"/>
          <p:cNvSpPr/>
          <p:nvPr/>
        </p:nvSpPr>
        <p:spPr>
          <a:xfrm>
            <a:off x="6355080" y="3840480"/>
            <a:ext cx="1783080" cy="566928"/>
          </a:xfrm>
          <a:prstGeom prst="rect">
            <a:avLst/>
          </a:prstGeom>
          <a:noFill/>
          <a:ln/>
        </p:spPr>
        <p:txBody>
          <a:bodyPr wrap="square" rtlCol="0" anchor="ctr">
            <a:normAutofit/>
          </a:bodyPr>
          <a:lstStyle/>
          <a:p>
            <a:pPr marL="0" indent="0" algn="ctr">
              <a:buNone/>
            </a:pPr>
            <a:r>
              <a:rPr lang="en-US" sz="810" dirty="0">
                <a:solidFill>
                  <a:srgbClr val="10263D"/>
                </a:solidFill>
              </a:rPr>
              <a:t>POST /save</a:t>
            </a:r>
            <a:endParaRPr lang="en-US" sz="810" dirty="0"/>
          </a:p>
          <a:p>
            <a:pPr marL="0" indent="0" algn="ctr">
              <a:buNone/>
            </a:pPr>
            <a:r>
              <a:rPr lang="en-US" sz="810" dirty="0">
                <a:solidFill>
                  <a:srgbClr val="10263D"/>
                </a:solidFill>
              </a:rPr>
              <a:t>Service saves the data</a:t>
            </a:r>
            <a:endParaRPr lang="en-US" sz="810" dirty="0"/>
          </a:p>
        </p:txBody>
      </p:sp>
      <p:sp>
        <p:nvSpPr>
          <p:cNvPr id="22" name="Shape 20"/>
          <p:cNvSpPr/>
          <p:nvPr/>
        </p:nvSpPr>
        <p:spPr>
          <a:xfrm>
            <a:off x="8275320" y="4133088"/>
            <a:ext cx="685800" cy="0"/>
          </a:xfrm>
          <a:prstGeom prst="line">
            <a:avLst/>
          </a:prstGeom>
          <a:noFill/>
          <a:ln w="12700">
            <a:solidFill>
              <a:srgbClr val="6B7785"/>
            </a:solidFill>
            <a:prstDash val="solid"/>
            <a:tailEnd type="triangle"/>
          </a:ln>
        </p:spPr>
        <p:txBody>
          <a:bodyPr/>
          <a:lstStyle/>
          <a:p>
            <a:endParaRPr lang="en-US"/>
          </a:p>
        </p:txBody>
      </p:sp>
      <p:sp>
        <p:nvSpPr>
          <p:cNvPr id="23" name="Shape 21"/>
          <p:cNvSpPr/>
          <p:nvPr/>
        </p:nvSpPr>
        <p:spPr>
          <a:xfrm>
            <a:off x="9006840" y="3703320"/>
            <a:ext cx="2057400" cy="841248"/>
          </a:xfrm>
          <a:prstGeom prst="roundRect">
            <a:avLst>
              <a:gd name="adj" fmla="val 6522"/>
            </a:avLst>
          </a:prstGeom>
          <a:solidFill>
            <a:srgbClr val="FFFFFF"/>
          </a:solidFill>
          <a:ln w="12700">
            <a:solidFill>
              <a:srgbClr val="D83B0B"/>
            </a:solidFill>
            <a:prstDash val="solid"/>
          </a:ln>
        </p:spPr>
        <p:txBody>
          <a:bodyPr/>
          <a:lstStyle/>
          <a:p>
            <a:endParaRPr lang="en-US"/>
          </a:p>
        </p:txBody>
      </p:sp>
      <p:sp>
        <p:nvSpPr>
          <p:cNvPr id="24" name="Text 22"/>
          <p:cNvSpPr/>
          <p:nvPr/>
        </p:nvSpPr>
        <p:spPr>
          <a:xfrm>
            <a:off x="9144000" y="3840480"/>
            <a:ext cx="1783080" cy="566928"/>
          </a:xfrm>
          <a:prstGeom prst="rect">
            <a:avLst/>
          </a:prstGeom>
          <a:noFill/>
          <a:ln/>
        </p:spPr>
        <p:txBody>
          <a:bodyPr wrap="square" rtlCol="0" anchor="ctr">
            <a:normAutofit/>
          </a:bodyPr>
          <a:lstStyle/>
          <a:p>
            <a:pPr marL="0" indent="0" algn="ctr">
              <a:buNone/>
            </a:pPr>
            <a:r>
              <a:rPr lang="en-US" sz="810" dirty="0">
                <a:solidFill>
                  <a:srgbClr val="10263D"/>
                </a:solidFill>
              </a:rPr>
              <a:t>redirect:/students</a:t>
            </a:r>
            <a:endParaRPr lang="en-US" sz="810" dirty="0"/>
          </a:p>
          <a:p>
            <a:pPr marL="0" indent="0" algn="ctr">
              <a:buNone/>
            </a:pPr>
            <a:r>
              <a:rPr lang="en-US" sz="810" dirty="0">
                <a:solidFill>
                  <a:srgbClr val="10263D"/>
                </a:solidFill>
              </a:rPr>
              <a:t>the browser shows the list again</a:t>
            </a:r>
            <a:endParaRPr lang="en-US" sz="810" dirty="0"/>
          </a:p>
        </p:txBody>
      </p:sp>
      <p:sp>
        <p:nvSpPr>
          <p:cNvPr id="25" name="Shape 23"/>
          <p:cNvSpPr/>
          <p:nvPr/>
        </p:nvSpPr>
        <p:spPr>
          <a:xfrm>
            <a:off x="1097280" y="5074920"/>
            <a:ext cx="9966960" cy="502920"/>
          </a:xfrm>
          <a:prstGeom prst="roundRect">
            <a:avLst>
              <a:gd name="adj" fmla="val 9091"/>
            </a:avLst>
          </a:prstGeom>
          <a:solidFill>
            <a:srgbClr val="F2FFF1"/>
          </a:solidFill>
          <a:ln w="12700">
            <a:solidFill>
              <a:srgbClr val="146B2E"/>
            </a:solidFill>
            <a:prstDash val="solid"/>
          </a:ln>
        </p:spPr>
        <p:txBody>
          <a:bodyPr/>
          <a:lstStyle/>
          <a:p>
            <a:endParaRPr lang="en-US"/>
          </a:p>
        </p:txBody>
      </p:sp>
      <p:sp>
        <p:nvSpPr>
          <p:cNvPr id="26" name="Text 24"/>
          <p:cNvSpPr/>
          <p:nvPr/>
        </p:nvSpPr>
        <p:spPr>
          <a:xfrm>
            <a:off x="1325880" y="5257800"/>
            <a:ext cx="9509760" cy="128016"/>
          </a:xfrm>
          <a:prstGeom prst="rect">
            <a:avLst/>
          </a:prstGeom>
          <a:noFill/>
          <a:ln/>
        </p:spPr>
        <p:txBody>
          <a:bodyPr wrap="square" rtlCol="0" anchor="ctr"/>
          <a:lstStyle/>
          <a:p>
            <a:pPr marL="0" indent="0" algn="ctr">
              <a:buNone/>
            </a:pPr>
            <a:r>
              <a:rPr lang="en-US" sz="950" b="1" dirty="0">
                <a:solidFill>
                  <a:srgbClr val="146B2E"/>
                </a:solidFill>
              </a:rPr>
              <a:t>Submit: working REST CRUD + /students page that shows the list and allows adding/deleting a student.</a:t>
            </a:r>
            <a:endParaRPr lang="en-US" sz="950" dirty="0"/>
          </a:p>
        </p:txBody>
      </p:sp>
      <p:sp>
        <p:nvSpPr>
          <p:cNvPr id="27" name="Text 25"/>
          <p:cNvSpPr/>
          <p:nvPr/>
        </p:nvSpPr>
        <p:spPr>
          <a:xfrm>
            <a:off x="320040" y="6309360"/>
            <a:ext cx="9875520" cy="128016"/>
          </a:xfrm>
          <a:prstGeom prst="rect">
            <a:avLst/>
          </a:prstGeom>
          <a:noFill/>
          <a:ln/>
        </p:spPr>
        <p:txBody>
          <a:bodyPr wrap="square" rtlCol="0" anchor="ctr">
            <a:normAutofit/>
          </a:bodyPr>
          <a:lstStyle/>
          <a:p>
            <a:pPr marL="0" indent="0">
              <a:buNone/>
            </a:pPr>
            <a:r>
              <a:rPr lang="en-US" sz="520" dirty="0">
                <a:solidFill>
                  <a:srgbClr val="8B97A4"/>
                </a:solidFill>
              </a:rPr>
              <a:t>Source: practice7.md, parts 3–4: JPA entity, H2 properties, WebController and Thymeleaf template</a:t>
            </a:r>
            <a:endParaRPr lang="en-US" sz="520" dirty="0"/>
          </a:p>
        </p:txBody>
      </p:sp>
      <p:sp>
        <p:nvSpPr>
          <p:cNvPr id="29" name="Text 26"/>
          <p:cNvSpPr/>
          <p:nvPr/>
        </p:nvSpPr>
        <p:spPr>
          <a:xfrm>
            <a:off x="320040" y="6510528"/>
            <a:ext cx="5943600" cy="128016"/>
          </a:xfrm>
          <a:prstGeom prst="rect">
            <a:avLst/>
          </a:prstGeom>
          <a:noFill/>
          <a:ln/>
        </p:spPr>
        <p:txBody>
          <a:bodyPr wrap="square" rtlCol="0" anchor="ctr"/>
          <a:lstStyle/>
          <a:p>
            <a:pPr marL="0" indent="0">
              <a:buNone/>
            </a:pPr>
            <a:r>
              <a:rPr lang="en-US" sz="550" dirty="0">
                <a:solidFill>
                  <a:srgbClr val="9AA7B5"/>
                </a:solidFill>
              </a:rPr>
              <a:t>Modern Programming Technologies • Practice 7</a:t>
            </a:r>
            <a:endParaRPr lang="en-US" sz="550" dirty="0"/>
          </a:p>
        </p:txBody>
      </p:sp>
      <p:sp>
        <p:nvSpPr>
          <p:cNvPr id="30" name="Text 27"/>
          <p:cNvSpPr/>
          <p:nvPr/>
        </p:nvSpPr>
        <p:spPr>
          <a:xfrm>
            <a:off x="11631168" y="6473952"/>
            <a:ext cx="182880" cy="146304"/>
          </a:xfrm>
          <a:prstGeom prst="rect">
            <a:avLst/>
          </a:prstGeom>
          <a:noFill/>
          <a:ln/>
        </p:spPr>
        <p:txBody>
          <a:bodyPr wrap="square" rtlCol="0" anchor="ctr"/>
          <a:lstStyle/>
          <a:p>
            <a:pPr marL="0" indent="0">
              <a:buNone/>
            </a:pPr>
            <a:r>
              <a:rPr lang="en-US" sz="550" dirty="0">
                <a:solidFill>
                  <a:srgbClr val="9AA7B5"/>
                </a:solidFill>
              </a:rPr>
              <a:t>7</a:t>
            </a:r>
            <a:endParaRPr lang="en-US" sz="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3F7"/>
        </a:solidFill>
        <a:effectLst/>
      </p:bgPr>
    </p:bg>
    <p:spTree>
      <p:nvGrpSpPr>
        <p:cNvPr id="1" name=""/>
        <p:cNvGrpSpPr/>
        <p:nvPr/>
      </p:nvGrpSpPr>
      <p:grpSpPr>
        <a:xfrm>
          <a:off x="0" y="0"/>
          <a:ext cx="0" cy="0"/>
          <a:chOff x="0" y="0"/>
          <a:chExt cx="0" cy="0"/>
        </a:xfrm>
      </p:grpSpPr>
      <p:sp>
        <p:nvSpPr>
          <p:cNvPr id="2" name="Shape 0"/>
          <p:cNvSpPr/>
          <p:nvPr/>
        </p:nvSpPr>
        <p:spPr>
          <a:xfrm>
            <a:off x="0" y="0"/>
            <a:ext cx="12191695" cy="530352"/>
          </a:xfrm>
          <a:prstGeom prst="rect">
            <a:avLst/>
          </a:prstGeom>
          <a:solidFill>
            <a:srgbClr val="0C2238"/>
          </a:solidFill>
          <a:ln w="12700">
            <a:solidFill>
              <a:srgbClr val="0C2238"/>
            </a:solidFill>
            <a:prstDash val="solid"/>
          </a:ln>
        </p:spPr>
        <p:txBody>
          <a:bodyPr/>
          <a:lstStyle/>
          <a:p>
            <a:endParaRPr lang="en-US"/>
          </a:p>
        </p:txBody>
      </p:sp>
      <p:sp>
        <p:nvSpPr>
          <p:cNvPr id="3" name="Text 1"/>
          <p:cNvSpPr/>
          <p:nvPr/>
        </p:nvSpPr>
        <p:spPr>
          <a:xfrm>
            <a:off x="411480" y="118872"/>
            <a:ext cx="274320" cy="219456"/>
          </a:xfrm>
          <a:prstGeom prst="rect">
            <a:avLst/>
          </a:prstGeom>
          <a:noFill/>
          <a:ln/>
        </p:spPr>
        <p:txBody>
          <a:bodyPr wrap="square" rtlCol="0" anchor="ctr"/>
          <a:lstStyle/>
          <a:p>
            <a:pPr marL="0" indent="0" algn="ctr">
              <a:buNone/>
            </a:pPr>
            <a:r>
              <a:rPr lang="en-US" sz="1200" b="1" dirty="0">
                <a:solidFill>
                  <a:srgbClr val="FFFFFF"/>
                </a:solidFill>
              </a:rPr>
              <a:t>6</a:t>
            </a:r>
            <a:endParaRPr lang="en-US" sz="1200" dirty="0"/>
          </a:p>
        </p:txBody>
      </p:sp>
      <p:sp>
        <p:nvSpPr>
          <p:cNvPr id="4" name="Text 2"/>
          <p:cNvSpPr/>
          <p:nvPr/>
        </p:nvSpPr>
        <p:spPr>
          <a:xfrm>
            <a:off x="914400" y="73152"/>
            <a:ext cx="10515600" cy="310896"/>
          </a:xfrm>
          <a:prstGeom prst="rect">
            <a:avLst/>
          </a:prstGeom>
          <a:noFill/>
          <a:ln/>
        </p:spPr>
        <p:txBody>
          <a:bodyPr wrap="square" rtlCol="0" anchor="ctr">
            <a:normAutofit/>
          </a:bodyPr>
          <a:lstStyle/>
          <a:p>
            <a:pPr marL="0" indent="0">
              <a:buNone/>
            </a:pPr>
            <a:r>
              <a:rPr lang="en-US" sz="2000" b="1" dirty="0">
                <a:solidFill>
                  <a:srgbClr val="FFFFFF"/>
                </a:solidFill>
              </a:rPr>
              <a:t>Security, AOP and Transactions — infrastructure around business code</a:t>
            </a:r>
            <a:endParaRPr lang="en-US" sz="2000" dirty="0"/>
          </a:p>
        </p:txBody>
      </p:sp>
      <p:sp>
        <p:nvSpPr>
          <p:cNvPr id="5" name="Shape 3"/>
          <p:cNvSpPr/>
          <p:nvPr/>
        </p:nvSpPr>
        <p:spPr>
          <a:xfrm>
            <a:off x="548640" y="960120"/>
            <a:ext cx="3429000" cy="1188720"/>
          </a:xfrm>
          <a:prstGeom prst="roundRect">
            <a:avLst>
              <a:gd name="adj" fmla="val 4615"/>
            </a:avLst>
          </a:prstGeom>
          <a:solidFill>
            <a:srgbClr val="FFFFFF"/>
          </a:solidFill>
          <a:ln w="12700">
            <a:solidFill>
              <a:srgbClr val="D8E0E8"/>
            </a:solidFill>
            <a:prstDash val="solid"/>
          </a:ln>
        </p:spPr>
        <p:txBody>
          <a:bodyPr/>
          <a:lstStyle/>
          <a:p>
            <a:endParaRPr lang="en-US"/>
          </a:p>
        </p:txBody>
      </p:sp>
      <p:sp>
        <p:nvSpPr>
          <p:cNvPr id="6" name="Shape 4"/>
          <p:cNvSpPr/>
          <p:nvPr/>
        </p:nvSpPr>
        <p:spPr>
          <a:xfrm>
            <a:off x="548640" y="960120"/>
            <a:ext cx="3429000" cy="384048"/>
          </a:xfrm>
          <a:prstGeom prst="rect">
            <a:avLst/>
          </a:prstGeom>
          <a:solidFill>
            <a:srgbClr val="1E73BE"/>
          </a:solidFill>
          <a:ln w="12700">
            <a:solidFill>
              <a:srgbClr val="1E73BE"/>
            </a:solidFill>
            <a:prstDash val="solid"/>
          </a:ln>
        </p:spPr>
        <p:txBody>
          <a:bodyPr/>
          <a:lstStyle/>
          <a:p>
            <a:endParaRPr lang="en-US"/>
          </a:p>
        </p:txBody>
      </p:sp>
      <p:sp>
        <p:nvSpPr>
          <p:cNvPr id="7" name="Text 5"/>
          <p:cNvSpPr/>
          <p:nvPr/>
        </p:nvSpPr>
        <p:spPr>
          <a:xfrm>
            <a:off x="658368" y="1033272"/>
            <a:ext cx="3209544" cy="182880"/>
          </a:xfrm>
          <a:prstGeom prst="rect">
            <a:avLst/>
          </a:prstGeom>
          <a:noFill/>
          <a:ln/>
        </p:spPr>
        <p:txBody>
          <a:bodyPr wrap="square" rtlCol="0" anchor="ctr">
            <a:normAutofit/>
          </a:bodyPr>
          <a:lstStyle/>
          <a:p>
            <a:pPr marL="0" indent="0" algn="ctr">
              <a:buNone/>
            </a:pPr>
            <a:r>
              <a:rPr lang="en-US" sz="1000" b="1" dirty="0">
                <a:solidFill>
                  <a:srgbClr val="FFFFFF"/>
                </a:solidFill>
              </a:rPr>
              <a:t>Spring Security</a:t>
            </a:r>
            <a:endParaRPr lang="en-US" sz="1000" dirty="0"/>
          </a:p>
        </p:txBody>
      </p:sp>
      <p:sp>
        <p:nvSpPr>
          <p:cNvPr id="8" name="Text 6"/>
          <p:cNvSpPr/>
          <p:nvPr/>
        </p:nvSpPr>
        <p:spPr>
          <a:xfrm>
            <a:off x="658368" y="1463040"/>
            <a:ext cx="3209544" cy="621792"/>
          </a:xfrm>
          <a:prstGeom prst="rect">
            <a:avLst/>
          </a:prstGeom>
          <a:noFill/>
          <a:ln/>
        </p:spPr>
        <p:txBody>
          <a:bodyPr wrap="square" rtlCol="0" anchor="ctr">
            <a:normAutofit/>
          </a:bodyPr>
          <a:lstStyle/>
          <a:p>
            <a:pPr marL="0" indent="0" algn="ctr">
              <a:buNone/>
            </a:pPr>
            <a:r>
              <a:rPr lang="en-US" sz="870" dirty="0">
                <a:solidFill>
                  <a:srgbClr val="10263D"/>
                </a:solidFill>
              </a:rPr>
              <a:t>SecurityFilterChain defines access rules.</a:t>
            </a:r>
            <a:endParaRPr lang="en-US" sz="870" dirty="0"/>
          </a:p>
          <a:p>
            <a:pPr marL="0" indent="0" algn="ctr">
              <a:buNone/>
            </a:pPr>
            <a:r>
              <a:rPr lang="en-US" sz="870" dirty="0">
                <a:solidFill>
                  <a:srgbClr val="10263D"/>
                </a:solidFill>
              </a:rPr>
              <a:t>USER can read, ADMIN can modify.</a:t>
            </a:r>
            <a:endParaRPr lang="en-US" sz="870" dirty="0"/>
          </a:p>
          <a:p>
            <a:pPr marL="0" indent="0" algn="ctr">
              <a:buNone/>
            </a:pPr>
            <a:r>
              <a:rPr lang="en-US" sz="870" dirty="0">
                <a:solidFill>
                  <a:srgbClr val="10263D"/>
                </a:solidFill>
              </a:rPr>
              <a:t>PasswordEncoder stores hashes, not plain text.</a:t>
            </a:r>
            <a:endParaRPr lang="en-US" sz="870" dirty="0"/>
          </a:p>
        </p:txBody>
      </p:sp>
      <p:sp>
        <p:nvSpPr>
          <p:cNvPr id="9" name="Shape 7"/>
          <p:cNvSpPr/>
          <p:nvPr/>
        </p:nvSpPr>
        <p:spPr>
          <a:xfrm>
            <a:off x="4389120" y="960120"/>
            <a:ext cx="3429000" cy="1188720"/>
          </a:xfrm>
          <a:prstGeom prst="roundRect">
            <a:avLst>
              <a:gd name="adj" fmla="val 4615"/>
            </a:avLst>
          </a:prstGeom>
          <a:solidFill>
            <a:srgbClr val="FFFFFF"/>
          </a:solidFill>
          <a:ln w="12700">
            <a:solidFill>
              <a:srgbClr val="D8E0E8"/>
            </a:solidFill>
            <a:prstDash val="solid"/>
          </a:ln>
        </p:spPr>
        <p:txBody>
          <a:bodyPr/>
          <a:lstStyle/>
          <a:p>
            <a:endParaRPr lang="en-US"/>
          </a:p>
        </p:txBody>
      </p:sp>
      <p:sp>
        <p:nvSpPr>
          <p:cNvPr id="10" name="Shape 8"/>
          <p:cNvSpPr/>
          <p:nvPr/>
        </p:nvSpPr>
        <p:spPr>
          <a:xfrm>
            <a:off x="4389120" y="960120"/>
            <a:ext cx="3429000" cy="384048"/>
          </a:xfrm>
          <a:prstGeom prst="rect">
            <a:avLst/>
          </a:prstGeom>
          <a:solidFill>
            <a:srgbClr val="6F1AB1"/>
          </a:solidFill>
          <a:ln w="12700">
            <a:solidFill>
              <a:srgbClr val="6F1AB1"/>
            </a:solidFill>
            <a:prstDash val="solid"/>
          </a:ln>
        </p:spPr>
        <p:txBody>
          <a:bodyPr/>
          <a:lstStyle/>
          <a:p>
            <a:endParaRPr lang="en-US"/>
          </a:p>
        </p:txBody>
      </p:sp>
      <p:sp>
        <p:nvSpPr>
          <p:cNvPr id="11" name="Text 9"/>
          <p:cNvSpPr/>
          <p:nvPr/>
        </p:nvSpPr>
        <p:spPr>
          <a:xfrm>
            <a:off x="4498848" y="1033272"/>
            <a:ext cx="3209544" cy="182880"/>
          </a:xfrm>
          <a:prstGeom prst="rect">
            <a:avLst/>
          </a:prstGeom>
          <a:noFill/>
          <a:ln/>
        </p:spPr>
        <p:txBody>
          <a:bodyPr wrap="square" rtlCol="0" anchor="ctr">
            <a:normAutofit/>
          </a:bodyPr>
          <a:lstStyle/>
          <a:p>
            <a:pPr marL="0" indent="0" algn="ctr">
              <a:buNone/>
            </a:pPr>
            <a:r>
              <a:rPr lang="en-US" sz="1000" b="1" dirty="0">
                <a:solidFill>
                  <a:srgbClr val="FFFFFF"/>
                </a:solidFill>
              </a:rPr>
              <a:t>AOP Logging</a:t>
            </a:r>
            <a:endParaRPr lang="en-US" sz="1000" dirty="0"/>
          </a:p>
        </p:txBody>
      </p:sp>
      <p:sp>
        <p:nvSpPr>
          <p:cNvPr id="12" name="Text 10"/>
          <p:cNvSpPr/>
          <p:nvPr/>
        </p:nvSpPr>
        <p:spPr>
          <a:xfrm>
            <a:off x="4498848" y="1463040"/>
            <a:ext cx="3209544" cy="621792"/>
          </a:xfrm>
          <a:prstGeom prst="rect">
            <a:avLst/>
          </a:prstGeom>
          <a:noFill/>
          <a:ln/>
        </p:spPr>
        <p:txBody>
          <a:bodyPr wrap="square" rtlCol="0" anchor="ctr">
            <a:normAutofit/>
          </a:bodyPr>
          <a:lstStyle/>
          <a:p>
            <a:pPr marL="0" indent="0" algn="ctr">
              <a:buNone/>
            </a:pPr>
            <a:r>
              <a:rPr lang="en-US" sz="870" dirty="0">
                <a:solidFill>
                  <a:srgbClr val="10263D"/>
                </a:solidFill>
              </a:rPr>
              <a:t>@Aspect + @Before/@AfterReturning</a:t>
            </a:r>
            <a:endParaRPr lang="en-US" sz="870" dirty="0"/>
          </a:p>
          <a:p>
            <a:pPr marL="0" indent="0" algn="ctr">
              <a:buNone/>
            </a:pPr>
            <a:r>
              <a:rPr lang="en-US" sz="870" dirty="0">
                <a:solidFill>
                  <a:srgbClr val="10263D"/>
                </a:solidFill>
              </a:rPr>
              <a:t>write service-method calls to the log</a:t>
            </a:r>
            <a:endParaRPr lang="en-US" sz="870" dirty="0"/>
          </a:p>
          <a:p>
            <a:pPr marL="0" indent="0" algn="ctr">
              <a:buNone/>
            </a:pPr>
            <a:r>
              <a:rPr lang="en-US" sz="870" dirty="0">
                <a:solidFill>
                  <a:srgbClr val="10263D"/>
                </a:solidFill>
              </a:rPr>
              <a:t>without copying code into every method.</a:t>
            </a:r>
            <a:endParaRPr lang="en-US" sz="870" dirty="0"/>
          </a:p>
        </p:txBody>
      </p:sp>
      <p:sp>
        <p:nvSpPr>
          <p:cNvPr id="13" name="Shape 11"/>
          <p:cNvSpPr/>
          <p:nvPr/>
        </p:nvSpPr>
        <p:spPr>
          <a:xfrm>
            <a:off x="8229600" y="960120"/>
            <a:ext cx="3429000" cy="1188720"/>
          </a:xfrm>
          <a:prstGeom prst="roundRect">
            <a:avLst>
              <a:gd name="adj" fmla="val 4615"/>
            </a:avLst>
          </a:prstGeom>
          <a:solidFill>
            <a:srgbClr val="FFFFFF"/>
          </a:solidFill>
          <a:ln w="12700">
            <a:solidFill>
              <a:srgbClr val="D8E0E8"/>
            </a:solidFill>
            <a:prstDash val="solid"/>
          </a:ln>
        </p:spPr>
        <p:txBody>
          <a:bodyPr/>
          <a:lstStyle/>
          <a:p>
            <a:endParaRPr lang="en-US"/>
          </a:p>
        </p:txBody>
      </p:sp>
      <p:sp>
        <p:nvSpPr>
          <p:cNvPr id="14" name="Shape 12"/>
          <p:cNvSpPr/>
          <p:nvPr/>
        </p:nvSpPr>
        <p:spPr>
          <a:xfrm>
            <a:off x="8229600" y="960120"/>
            <a:ext cx="3429000" cy="384048"/>
          </a:xfrm>
          <a:prstGeom prst="rect">
            <a:avLst/>
          </a:prstGeom>
          <a:solidFill>
            <a:srgbClr val="146B2E"/>
          </a:solidFill>
          <a:ln w="12700">
            <a:solidFill>
              <a:srgbClr val="146B2E"/>
            </a:solidFill>
            <a:prstDash val="solid"/>
          </a:ln>
        </p:spPr>
        <p:txBody>
          <a:bodyPr/>
          <a:lstStyle/>
          <a:p>
            <a:endParaRPr lang="en-US"/>
          </a:p>
        </p:txBody>
      </p:sp>
      <p:sp>
        <p:nvSpPr>
          <p:cNvPr id="15" name="Text 13"/>
          <p:cNvSpPr/>
          <p:nvPr/>
        </p:nvSpPr>
        <p:spPr>
          <a:xfrm>
            <a:off x="8339328" y="1033272"/>
            <a:ext cx="3209544" cy="182880"/>
          </a:xfrm>
          <a:prstGeom prst="rect">
            <a:avLst/>
          </a:prstGeom>
          <a:noFill/>
          <a:ln/>
        </p:spPr>
        <p:txBody>
          <a:bodyPr wrap="square" rtlCol="0" anchor="ctr">
            <a:normAutofit/>
          </a:bodyPr>
          <a:lstStyle/>
          <a:p>
            <a:pPr marL="0" indent="0" algn="ctr">
              <a:buNone/>
            </a:pPr>
            <a:r>
              <a:rPr lang="en-US" sz="1000" b="1" dirty="0">
                <a:solidFill>
                  <a:srgbClr val="FFFFFF"/>
                </a:solidFill>
              </a:rPr>
              <a:t>Transactions</a:t>
            </a:r>
            <a:endParaRPr lang="en-US" sz="1000" dirty="0"/>
          </a:p>
        </p:txBody>
      </p:sp>
      <p:sp>
        <p:nvSpPr>
          <p:cNvPr id="16" name="Text 14"/>
          <p:cNvSpPr/>
          <p:nvPr/>
        </p:nvSpPr>
        <p:spPr>
          <a:xfrm>
            <a:off x="8339328" y="1463040"/>
            <a:ext cx="3209544" cy="621792"/>
          </a:xfrm>
          <a:prstGeom prst="rect">
            <a:avLst/>
          </a:prstGeom>
          <a:noFill/>
          <a:ln/>
        </p:spPr>
        <p:txBody>
          <a:bodyPr wrap="square" rtlCol="0" anchor="ctr">
            <a:normAutofit/>
          </a:bodyPr>
          <a:lstStyle/>
          <a:p>
            <a:pPr marL="0" indent="0" algn="ctr">
              <a:buNone/>
            </a:pPr>
            <a:r>
              <a:rPr lang="en-US" sz="870" dirty="0">
                <a:solidFill>
                  <a:srgbClr val="10263D"/>
                </a:solidFill>
              </a:rPr>
              <a:t>@Transactional on the service layer.</a:t>
            </a:r>
            <a:endParaRPr lang="en-US" sz="870" dirty="0"/>
          </a:p>
          <a:p>
            <a:pPr marL="0" indent="0" algn="ctr">
              <a:buNone/>
            </a:pPr>
            <a:r>
              <a:rPr lang="en-US" sz="870" dirty="0">
                <a:solidFill>
                  <a:srgbClr val="10263D"/>
                </a:solidFill>
              </a:rPr>
              <a:t>An error in the middle of an operation must roll back all changes.</a:t>
            </a:r>
            <a:endParaRPr lang="en-US" sz="870" dirty="0"/>
          </a:p>
        </p:txBody>
      </p:sp>
      <p:sp>
        <p:nvSpPr>
          <p:cNvPr id="17" name="Shape 15"/>
          <p:cNvSpPr/>
          <p:nvPr/>
        </p:nvSpPr>
        <p:spPr>
          <a:xfrm>
            <a:off x="548640" y="2560320"/>
            <a:ext cx="3429000" cy="1508760"/>
          </a:xfrm>
          <a:prstGeom prst="rect">
            <a:avLst/>
          </a:prstGeom>
          <a:solidFill>
            <a:srgbClr val="071A2D"/>
          </a:solidFill>
          <a:ln w="12700">
            <a:solidFill>
              <a:srgbClr val="1E73BE"/>
            </a:solidFill>
            <a:prstDash val="solid"/>
          </a:ln>
        </p:spPr>
        <p:txBody>
          <a:bodyPr/>
          <a:lstStyle/>
          <a:p>
            <a:endParaRPr lang="en-US"/>
          </a:p>
        </p:txBody>
      </p:sp>
      <p:sp>
        <p:nvSpPr>
          <p:cNvPr id="18" name="Text 16"/>
          <p:cNvSpPr/>
          <p:nvPr/>
        </p:nvSpPr>
        <p:spPr>
          <a:xfrm>
            <a:off x="667512" y="2670048"/>
            <a:ext cx="3191256" cy="1289304"/>
          </a:xfrm>
          <a:prstGeom prst="rect">
            <a:avLst/>
          </a:prstGeom>
          <a:noFill/>
          <a:ln/>
        </p:spPr>
        <p:txBody>
          <a:bodyPr wrap="square" lIns="254" tIns="254" rIns="254" bIns="254" rtlCol="0" anchor="ctr">
            <a:normAutofit/>
          </a:bodyPr>
          <a:lstStyle/>
          <a:p>
            <a:pPr marL="0" indent="0">
              <a:buNone/>
            </a:pPr>
            <a:r>
              <a:rPr lang="en-US" sz="740" dirty="0">
                <a:solidFill>
                  <a:srgbClr val="BFE1FF"/>
                </a:solidFill>
                <a:latin typeface="Consolas" pitchFamily="34" charset="0"/>
                <a:ea typeface="Consolas" pitchFamily="34" charset="-122"/>
                <a:cs typeface="Consolas" pitchFamily="34" charset="-120"/>
              </a:rPr>
              <a:t>http.authorizeHttpRequests(auth -&gt; auth</a:t>
            </a:r>
            <a:endParaRPr lang="en-US" sz="740" dirty="0"/>
          </a:p>
          <a:p>
            <a:pPr marL="0" indent="0">
              <a:buNone/>
            </a:pPr>
            <a:r>
              <a:rPr lang="en-US" sz="740" dirty="0">
                <a:solidFill>
                  <a:srgbClr val="BFE1FF"/>
                </a:solidFill>
                <a:latin typeface="Consolas" pitchFamily="34" charset="0"/>
                <a:ea typeface="Consolas" pitchFamily="34" charset="-122"/>
                <a:cs typeface="Consolas" pitchFamily="34" charset="-120"/>
              </a:rPr>
              <a:t>  .requestMatchers("/api/students").hasAnyRole("USER","ADMIN")</a:t>
            </a:r>
            <a:endParaRPr lang="en-US" sz="740" dirty="0"/>
          </a:p>
          <a:p>
            <a:pPr marL="0" indent="0">
              <a:buNone/>
            </a:pPr>
            <a:r>
              <a:rPr lang="en-US" sz="740" dirty="0">
                <a:solidFill>
                  <a:srgbClr val="BFE1FF"/>
                </a:solidFill>
                <a:latin typeface="Consolas" pitchFamily="34" charset="0"/>
                <a:ea typeface="Consolas" pitchFamily="34" charset="-122"/>
                <a:cs typeface="Consolas" pitchFamily="34" charset="-120"/>
              </a:rPr>
              <a:t>  .requestMatchers("/api/students/**").hasRole("ADMIN")</a:t>
            </a:r>
            <a:endParaRPr lang="en-US" sz="740" dirty="0"/>
          </a:p>
          <a:p>
            <a:pPr marL="0" indent="0">
              <a:buNone/>
            </a:pPr>
            <a:r>
              <a:rPr lang="en-US" sz="740" dirty="0">
                <a:solidFill>
                  <a:srgbClr val="BFE1FF"/>
                </a:solidFill>
                <a:latin typeface="Consolas" pitchFamily="34" charset="0"/>
                <a:ea typeface="Consolas" pitchFamily="34" charset="-122"/>
                <a:cs typeface="Consolas" pitchFamily="34" charset="-120"/>
              </a:rPr>
              <a:t>  .anyRequest().permitAll())</a:t>
            </a:r>
            <a:endParaRPr lang="en-US" sz="740" dirty="0"/>
          </a:p>
        </p:txBody>
      </p:sp>
      <p:sp>
        <p:nvSpPr>
          <p:cNvPr id="19" name="Shape 17"/>
          <p:cNvSpPr/>
          <p:nvPr/>
        </p:nvSpPr>
        <p:spPr>
          <a:xfrm>
            <a:off x="4389120" y="2560320"/>
            <a:ext cx="3429000" cy="1508760"/>
          </a:xfrm>
          <a:prstGeom prst="rect">
            <a:avLst/>
          </a:prstGeom>
          <a:solidFill>
            <a:srgbClr val="071A2D"/>
          </a:solidFill>
          <a:ln w="12700">
            <a:solidFill>
              <a:srgbClr val="6F1AB1"/>
            </a:solidFill>
            <a:prstDash val="solid"/>
          </a:ln>
        </p:spPr>
        <p:txBody>
          <a:bodyPr/>
          <a:lstStyle/>
          <a:p>
            <a:endParaRPr lang="en-US"/>
          </a:p>
        </p:txBody>
      </p:sp>
      <p:sp>
        <p:nvSpPr>
          <p:cNvPr id="20" name="Text 18"/>
          <p:cNvSpPr/>
          <p:nvPr/>
        </p:nvSpPr>
        <p:spPr>
          <a:xfrm>
            <a:off x="4507992" y="2670048"/>
            <a:ext cx="3191256" cy="1289304"/>
          </a:xfrm>
          <a:prstGeom prst="rect">
            <a:avLst/>
          </a:prstGeom>
          <a:noFill/>
          <a:ln/>
        </p:spPr>
        <p:txBody>
          <a:bodyPr wrap="square" lIns="254" tIns="254" rIns="254" bIns="254" rtlCol="0" anchor="ctr">
            <a:normAutofit/>
          </a:bodyPr>
          <a:lstStyle/>
          <a:p>
            <a:pPr marL="0" indent="0">
              <a:buNone/>
            </a:pPr>
            <a:r>
              <a:rPr lang="en-US" sz="770" dirty="0">
                <a:solidFill>
                  <a:srgbClr val="BFE1FF"/>
                </a:solidFill>
                <a:latin typeface="Consolas" pitchFamily="34" charset="0"/>
                <a:ea typeface="Consolas" pitchFamily="34" charset="-122"/>
                <a:cs typeface="Consolas" pitchFamily="34" charset="-120"/>
              </a:rPr>
              <a:t>@Aspect @Component</a:t>
            </a:r>
            <a:endParaRPr lang="en-US" sz="770" dirty="0"/>
          </a:p>
          <a:p>
            <a:pPr marL="0" indent="0">
              <a:buNone/>
            </a:pPr>
            <a:r>
              <a:rPr lang="en-US" sz="770" dirty="0">
                <a:solidFill>
                  <a:srgbClr val="BFE1FF"/>
                </a:solidFill>
                <a:latin typeface="Consolas" pitchFamily="34" charset="0"/>
                <a:ea typeface="Consolas" pitchFamily="34" charset="-122"/>
                <a:cs typeface="Consolas" pitchFamily="34" charset="-120"/>
              </a:rPr>
              <a:t>class LoggingAspect {</a:t>
            </a:r>
            <a:endParaRPr lang="en-US" sz="770" dirty="0"/>
          </a:p>
          <a:p>
            <a:pPr marL="0" indent="0">
              <a:buNone/>
            </a:pPr>
            <a:r>
              <a:rPr lang="en-US" sz="770" dirty="0">
                <a:solidFill>
                  <a:srgbClr val="BFE1FF"/>
                </a:solidFill>
                <a:latin typeface="Consolas" pitchFamily="34" charset="0"/>
                <a:ea typeface="Consolas" pitchFamily="34" charset="-122"/>
                <a:cs typeface="Consolas" pitchFamily="34" charset="-120"/>
              </a:rPr>
              <a:t>  @Before("execution(* ...service.*.*(..))")</a:t>
            </a:r>
            <a:endParaRPr lang="en-US" sz="770" dirty="0"/>
          </a:p>
          <a:p>
            <a:pPr marL="0" indent="0">
              <a:buNone/>
            </a:pPr>
            <a:r>
              <a:rPr lang="en-US" sz="770" dirty="0">
                <a:solidFill>
                  <a:srgbClr val="BFE1FF"/>
                </a:solidFill>
                <a:latin typeface="Consolas" pitchFamily="34" charset="0"/>
                <a:ea typeface="Consolas" pitchFamily="34" charset="-122"/>
                <a:cs typeface="Consolas" pitchFamily="34" charset="-120"/>
              </a:rPr>
              <a:t>  void logBefore(JoinPoint jp) { ... }</a:t>
            </a:r>
            <a:endParaRPr lang="en-US" sz="770" dirty="0"/>
          </a:p>
          <a:p>
            <a:pPr marL="0" indent="0">
              <a:buNone/>
            </a:pPr>
            <a:r>
              <a:rPr lang="en-US" sz="770" dirty="0">
                <a:solidFill>
                  <a:srgbClr val="BFE1FF"/>
                </a:solidFill>
                <a:latin typeface="Consolas" pitchFamily="34" charset="0"/>
                <a:ea typeface="Consolas" pitchFamily="34" charset="-122"/>
                <a:cs typeface="Consolas" pitchFamily="34" charset="-120"/>
              </a:rPr>
              <a:t>}</a:t>
            </a:r>
            <a:endParaRPr lang="en-US" sz="770" dirty="0"/>
          </a:p>
        </p:txBody>
      </p:sp>
      <p:sp>
        <p:nvSpPr>
          <p:cNvPr id="21" name="Shape 19"/>
          <p:cNvSpPr/>
          <p:nvPr/>
        </p:nvSpPr>
        <p:spPr>
          <a:xfrm>
            <a:off x="8229600" y="2560320"/>
            <a:ext cx="3429000" cy="1508760"/>
          </a:xfrm>
          <a:prstGeom prst="rect">
            <a:avLst/>
          </a:prstGeom>
          <a:solidFill>
            <a:srgbClr val="071A2D"/>
          </a:solidFill>
          <a:ln w="12700">
            <a:solidFill>
              <a:srgbClr val="146B2E"/>
            </a:solidFill>
            <a:prstDash val="solid"/>
          </a:ln>
        </p:spPr>
        <p:txBody>
          <a:bodyPr/>
          <a:lstStyle/>
          <a:p>
            <a:endParaRPr lang="en-US"/>
          </a:p>
        </p:txBody>
      </p:sp>
      <p:sp>
        <p:nvSpPr>
          <p:cNvPr id="22" name="Text 20"/>
          <p:cNvSpPr/>
          <p:nvPr/>
        </p:nvSpPr>
        <p:spPr>
          <a:xfrm>
            <a:off x="8348472" y="2670048"/>
            <a:ext cx="3191256" cy="1289304"/>
          </a:xfrm>
          <a:prstGeom prst="rect">
            <a:avLst/>
          </a:prstGeom>
          <a:noFill/>
          <a:ln/>
        </p:spPr>
        <p:txBody>
          <a:bodyPr wrap="square" lIns="254" tIns="254" rIns="254" bIns="254" rtlCol="0" anchor="ctr">
            <a:normAutofit/>
          </a:bodyPr>
          <a:lstStyle/>
          <a:p>
            <a:pPr marL="0" indent="0">
              <a:buNone/>
            </a:pPr>
            <a:r>
              <a:rPr lang="en-US" sz="730" dirty="0">
                <a:solidFill>
                  <a:srgbClr val="BFE1FF"/>
                </a:solidFill>
                <a:latin typeface="Consolas" pitchFamily="34" charset="0"/>
                <a:ea typeface="Consolas" pitchFamily="34" charset="-122"/>
                <a:cs typeface="Consolas" pitchFamily="34" charset="-120"/>
              </a:rPr>
              <a:t>@Transactional</a:t>
            </a:r>
            <a:endParaRPr lang="en-US" sz="730" dirty="0"/>
          </a:p>
          <a:p>
            <a:pPr marL="0" indent="0">
              <a:buNone/>
            </a:pPr>
            <a:r>
              <a:rPr lang="en-US" sz="730" dirty="0">
                <a:solidFill>
                  <a:srgbClr val="BFE1FF"/>
                </a:solidFill>
                <a:latin typeface="Consolas" pitchFamily="34" charset="0"/>
                <a:ea typeface="Consolas" pitchFamily="34" charset="-122"/>
                <a:cs typeface="Consolas" pitchFamily="34" charset="-120"/>
              </a:rPr>
              <a:t>void saveTwoOneBroken(Student good, Student bad) {</a:t>
            </a:r>
            <a:endParaRPr lang="en-US" sz="730" dirty="0"/>
          </a:p>
          <a:p>
            <a:pPr marL="0" indent="0">
              <a:buNone/>
            </a:pPr>
            <a:r>
              <a:rPr lang="en-US" sz="730" dirty="0">
                <a:solidFill>
                  <a:srgbClr val="BFE1FF"/>
                </a:solidFill>
                <a:latin typeface="Consolas" pitchFamily="34" charset="0"/>
                <a:ea typeface="Consolas" pitchFamily="34" charset="-122"/>
                <a:cs typeface="Consolas" pitchFamily="34" charset="-120"/>
              </a:rPr>
              <a:t>  repository.save(good);</a:t>
            </a:r>
            <a:endParaRPr lang="en-US" sz="730" dirty="0"/>
          </a:p>
          <a:p>
            <a:pPr marL="0" indent="0">
              <a:buNone/>
            </a:pPr>
            <a:r>
              <a:rPr lang="en-US" sz="730" dirty="0">
                <a:solidFill>
                  <a:srgbClr val="BFE1FF"/>
                </a:solidFill>
                <a:latin typeface="Consolas" pitchFamily="34" charset="0"/>
                <a:ea typeface="Consolas" pitchFamily="34" charset="-122"/>
                <a:cs typeface="Consolas" pitchFamily="34" charset="-120"/>
              </a:rPr>
              <a:t>  if (bad.getName().isBlank()) throw ...;</a:t>
            </a:r>
            <a:endParaRPr lang="en-US" sz="730" dirty="0"/>
          </a:p>
          <a:p>
            <a:pPr marL="0" indent="0">
              <a:buNone/>
            </a:pPr>
            <a:r>
              <a:rPr lang="en-US" sz="730" dirty="0">
                <a:solidFill>
                  <a:srgbClr val="BFE1FF"/>
                </a:solidFill>
                <a:latin typeface="Consolas" pitchFamily="34" charset="0"/>
                <a:ea typeface="Consolas" pitchFamily="34" charset="-122"/>
                <a:cs typeface="Consolas" pitchFamily="34" charset="-120"/>
              </a:rPr>
              <a:t>  repository.save(bad);</a:t>
            </a:r>
            <a:endParaRPr lang="en-US" sz="730" dirty="0"/>
          </a:p>
          <a:p>
            <a:pPr marL="0" indent="0">
              <a:buNone/>
            </a:pPr>
            <a:r>
              <a:rPr lang="en-US" sz="730" dirty="0">
                <a:solidFill>
                  <a:srgbClr val="BFE1FF"/>
                </a:solidFill>
                <a:latin typeface="Consolas" pitchFamily="34" charset="0"/>
                <a:ea typeface="Consolas" pitchFamily="34" charset="-122"/>
                <a:cs typeface="Consolas" pitchFamily="34" charset="-120"/>
              </a:rPr>
              <a:t>}</a:t>
            </a:r>
            <a:endParaRPr lang="en-US" sz="730" dirty="0"/>
          </a:p>
        </p:txBody>
      </p:sp>
      <p:sp>
        <p:nvSpPr>
          <p:cNvPr id="23" name="Shape 21"/>
          <p:cNvSpPr/>
          <p:nvPr/>
        </p:nvSpPr>
        <p:spPr>
          <a:xfrm>
            <a:off x="1051560" y="4709160"/>
            <a:ext cx="9966960" cy="685800"/>
          </a:xfrm>
          <a:prstGeom prst="roundRect">
            <a:avLst>
              <a:gd name="adj" fmla="val 6667"/>
            </a:avLst>
          </a:prstGeom>
          <a:solidFill>
            <a:srgbClr val="FFF1F1"/>
          </a:solidFill>
          <a:ln w="12700">
            <a:solidFill>
              <a:srgbClr val="C62828"/>
            </a:solidFill>
            <a:prstDash val="solid"/>
          </a:ln>
        </p:spPr>
        <p:txBody>
          <a:bodyPr/>
          <a:lstStyle/>
          <a:p>
            <a:endParaRPr lang="en-US"/>
          </a:p>
        </p:txBody>
      </p:sp>
      <p:sp>
        <p:nvSpPr>
          <p:cNvPr id="24" name="Text 22"/>
          <p:cNvSpPr/>
          <p:nvPr/>
        </p:nvSpPr>
        <p:spPr>
          <a:xfrm>
            <a:off x="1280160" y="4956048"/>
            <a:ext cx="9464040" cy="164592"/>
          </a:xfrm>
          <a:prstGeom prst="rect">
            <a:avLst/>
          </a:prstGeom>
          <a:noFill/>
          <a:ln/>
        </p:spPr>
        <p:txBody>
          <a:bodyPr wrap="square" rtlCol="0" anchor="ctr"/>
          <a:lstStyle/>
          <a:p>
            <a:pPr marL="0" indent="0" algn="ctr">
              <a:buNone/>
            </a:pPr>
            <a:r>
              <a:rPr lang="en-US" sz="930" b="1" dirty="0">
                <a:solidFill>
                  <a:srgbClr val="C62828"/>
                </a:solidFill>
              </a:rPr>
              <a:t>Critical trap: self-invocation. Calling this.innerWithTransaction(...) bypasses the Spring proxy, so the transaction may not open.</a:t>
            </a:r>
            <a:endParaRPr lang="en-US" sz="930" dirty="0"/>
          </a:p>
        </p:txBody>
      </p:sp>
      <p:sp>
        <p:nvSpPr>
          <p:cNvPr id="25" name="Text 23"/>
          <p:cNvSpPr/>
          <p:nvPr/>
        </p:nvSpPr>
        <p:spPr>
          <a:xfrm>
            <a:off x="320040" y="6309360"/>
            <a:ext cx="9875520" cy="128016"/>
          </a:xfrm>
          <a:prstGeom prst="rect">
            <a:avLst/>
          </a:prstGeom>
          <a:noFill/>
          <a:ln/>
        </p:spPr>
        <p:txBody>
          <a:bodyPr wrap="square" rtlCol="0" anchor="ctr">
            <a:normAutofit/>
          </a:bodyPr>
          <a:lstStyle/>
          <a:p>
            <a:pPr marL="0" indent="0">
              <a:buNone/>
            </a:pPr>
            <a:r>
              <a:rPr lang="en-US" sz="520" dirty="0">
                <a:solidFill>
                  <a:srgbClr val="8B97A4"/>
                </a:solidFill>
              </a:rPr>
              <a:t>Source: practice7.md, parts 5–7: Security, AOP, @Transactional and self-invocation</a:t>
            </a:r>
            <a:endParaRPr lang="en-US" sz="520" dirty="0"/>
          </a:p>
        </p:txBody>
      </p:sp>
      <p:sp>
        <p:nvSpPr>
          <p:cNvPr id="27" name="Text 24"/>
          <p:cNvSpPr/>
          <p:nvPr/>
        </p:nvSpPr>
        <p:spPr>
          <a:xfrm>
            <a:off x="320040" y="6510528"/>
            <a:ext cx="5943600" cy="128016"/>
          </a:xfrm>
          <a:prstGeom prst="rect">
            <a:avLst/>
          </a:prstGeom>
          <a:noFill/>
          <a:ln/>
        </p:spPr>
        <p:txBody>
          <a:bodyPr wrap="square" rtlCol="0" anchor="ctr"/>
          <a:lstStyle/>
          <a:p>
            <a:pPr marL="0" indent="0">
              <a:buNone/>
            </a:pPr>
            <a:r>
              <a:rPr lang="en-US" sz="550" dirty="0">
                <a:solidFill>
                  <a:srgbClr val="9AA7B5"/>
                </a:solidFill>
              </a:rPr>
              <a:t>Modern Programming Technologies • Practice 7</a:t>
            </a:r>
            <a:endParaRPr lang="en-US" sz="550" dirty="0"/>
          </a:p>
        </p:txBody>
      </p:sp>
      <p:sp>
        <p:nvSpPr>
          <p:cNvPr id="28" name="Text 25"/>
          <p:cNvSpPr/>
          <p:nvPr/>
        </p:nvSpPr>
        <p:spPr>
          <a:xfrm>
            <a:off x="11631168" y="6473952"/>
            <a:ext cx="182880" cy="146304"/>
          </a:xfrm>
          <a:prstGeom prst="rect">
            <a:avLst/>
          </a:prstGeom>
          <a:noFill/>
          <a:ln/>
        </p:spPr>
        <p:txBody>
          <a:bodyPr wrap="square" rtlCol="0" anchor="ctr"/>
          <a:lstStyle/>
          <a:p>
            <a:pPr marL="0" indent="0">
              <a:buNone/>
            </a:pPr>
            <a:r>
              <a:rPr lang="en-US" sz="550" dirty="0">
                <a:solidFill>
                  <a:srgbClr val="9AA7B5"/>
                </a:solidFill>
              </a:rPr>
              <a:t>8</a:t>
            </a:r>
            <a:endParaRPr lang="en-US" sz="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F3F7"/>
        </a:solidFill>
        <a:effectLst/>
      </p:bgPr>
    </p:bg>
    <p:spTree>
      <p:nvGrpSpPr>
        <p:cNvPr id="1" name=""/>
        <p:cNvGrpSpPr/>
        <p:nvPr/>
      </p:nvGrpSpPr>
      <p:grpSpPr>
        <a:xfrm>
          <a:off x="0" y="0"/>
          <a:ext cx="0" cy="0"/>
          <a:chOff x="0" y="0"/>
          <a:chExt cx="0" cy="0"/>
        </a:xfrm>
      </p:grpSpPr>
      <p:sp>
        <p:nvSpPr>
          <p:cNvPr id="2" name="Text 0"/>
          <p:cNvSpPr/>
          <p:nvPr/>
        </p:nvSpPr>
        <p:spPr>
          <a:xfrm>
            <a:off x="320040" y="182880"/>
            <a:ext cx="9601200" cy="411480"/>
          </a:xfrm>
          <a:prstGeom prst="rect">
            <a:avLst/>
          </a:prstGeom>
          <a:noFill/>
          <a:ln/>
        </p:spPr>
        <p:txBody>
          <a:bodyPr wrap="square" rtlCol="0" anchor="ctr">
            <a:normAutofit/>
          </a:bodyPr>
          <a:lstStyle/>
          <a:p>
            <a:pPr marL="0" indent="0">
              <a:buNone/>
            </a:pPr>
            <a:r>
              <a:rPr lang="en-US" sz="2400" b="1" dirty="0">
                <a:solidFill>
                  <a:srgbClr val="10263D"/>
                </a:solidFill>
                <a:latin typeface="Aptos Display" pitchFamily="34" charset="0"/>
                <a:ea typeface="Aptos Display" pitchFamily="34" charset="-122"/>
                <a:cs typeface="Aptos Display" pitchFamily="34" charset="-120"/>
              </a:rPr>
              <a:t>Production-ready improvements and common mistakes</a:t>
            </a:r>
            <a:endParaRPr lang="en-US" sz="2400" dirty="0"/>
          </a:p>
        </p:txBody>
      </p:sp>
      <p:sp>
        <p:nvSpPr>
          <p:cNvPr id="3" name="Text 1"/>
          <p:cNvSpPr/>
          <p:nvPr/>
        </p:nvSpPr>
        <p:spPr>
          <a:xfrm>
            <a:off x="329184" y="621792"/>
            <a:ext cx="10789920" cy="228600"/>
          </a:xfrm>
          <a:prstGeom prst="rect">
            <a:avLst/>
          </a:prstGeom>
          <a:noFill/>
          <a:ln/>
        </p:spPr>
        <p:txBody>
          <a:bodyPr wrap="square" rtlCol="0" anchor="ctr">
            <a:normAutofit/>
          </a:bodyPr>
          <a:lstStyle/>
          <a:p>
            <a:pPr marL="0" indent="0">
              <a:buNone/>
            </a:pPr>
            <a:r>
              <a:rPr lang="en-US" sz="950" dirty="0">
                <a:solidFill>
                  <a:srgbClr val="6B7785"/>
                </a:solidFill>
              </a:rPr>
              <a:t>After basic CRUD, the student must raise the API to a more realistic quality level</a:t>
            </a:r>
            <a:endParaRPr lang="en-US" sz="950" dirty="0"/>
          </a:p>
        </p:txBody>
      </p:sp>
      <p:sp>
        <p:nvSpPr>
          <p:cNvPr id="4" name="Shape 2"/>
          <p:cNvSpPr/>
          <p:nvPr/>
        </p:nvSpPr>
        <p:spPr>
          <a:xfrm>
            <a:off x="502920" y="1097280"/>
            <a:ext cx="2148840" cy="1188720"/>
          </a:xfrm>
          <a:prstGeom prst="roundRect">
            <a:avLst>
              <a:gd name="adj" fmla="val 4615"/>
            </a:avLst>
          </a:prstGeom>
          <a:solidFill>
            <a:srgbClr val="FFFFFF"/>
          </a:solidFill>
          <a:ln w="12700">
            <a:solidFill>
              <a:srgbClr val="D8E0E8"/>
            </a:solidFill>
            <a:prstDash val="solid"/>
          </a:ln>
        </p:spPr>
        <p:txBody>
          <a:bodyPr/>
          <a:lstStyle/>
          <a:p>
            <a:endParaRPr lang="en-US"/>
          </a:p>
        </p:txBody>
      </p:sp>
      <p:sp>
        <p:nvSpPr>
          <p:cNvPr id="5" name="Shape 3"/>
          <p:cNvSpPr/>
          <p:nvPr/>
        </p:nvSpPr>
        <p:spPr>
          <a:xfrm>
            <a:off x="502920" y="1097280"/>
            <a:ext cx="2148840" cy="384048"/>
          </a:xfrm>
          <a:prstGeom prst="rect">
            <a:avLst/>
          </a:prstGeom>
          <a:solidFill>
            <a:srgbClr val="1E73BE"/>
          </a:solidFill>
          <a:ln w="12700">
            <a:solidFill>
              <a:srgbClr val="1E73BE"/>
            </a:solidFill>
            <a:prstDash val="solid"/>
          </a:ln>
        </p:spPr>
        <p:txBody>
          <a:bodyPr/>
          <a:lstStyle/>
          <a:p>
            <a:endParaRPr lang="en-US"/>
          </a:p>
        </p:txBody>
      </p:sp>
      <p:sp>
        <p:nvSpPr>
          <p:cNvPr id="6" name="Text 4"/>
          <p:cNvSpPr/>
          <p:nvPr/>
        </p:nvSpPr>
        <p:spPr>
          <a:xfrm>
            <a:off x="612648" y="1170432"/>
            <a:ext cx="1929384" cy="182880"/>
          </a:xfrm>
          <a:prstGeom prst="rect">
            <a:avLst/>
          </a:prstGeom>
          <a:noFill/>
          <a:ln/>
        </p:spPr>
        <p:txBody>
          <a:bodyPr wrap="square" rtlCol="0" anchor="ctr">
            <a:normAutofit/>
          </a:bodyPr>
          <a:lstStyle/>
          <a:p>
            <a:pPr marL="0" indent="0" algn="ctr">
              <a:buNone/>
            </a:pPr>
            <a:r>
              <a:rPr lang="en-US" sz="1000" b="1" dirty="0">
                <a:solidFill>
                  <a:srgbClr val="FFFFFF"/>
                </a:solidFill>
              </a:rPr>
              <a:t>Validation</a:t>
            </a:r>
            <a:endParaRPr lang="en-US" sz="1000" dirty="0"/>
          </a:p>
        </p:txBody>
      </p:sp>
      <p:sp>
        <p:nvSpPr>
          <p:cNvPr id="7" name="Text 5"/>
          <p:cNvSpPr/>
          <p:nvPr/>
        </p:nvSpPr>
        <p:spPr>
          <a:xfrm>
            <a:off x="612648" y="1600200"/>
            <a:ext cx="1929384" cy="621792"/>
          </a:xfrm>
          <a:prstGeom prst="rect">
            <a:avLst/>
          </a:prstGeom>
          <a:noFill/>
          <a:ln/>
        </p:spPr>
        <p:txBody>
          <a:bodyPr wrap="square" rtlCol="0" anchor="ctr">
            <a:normAutofit/>
          </a:bodyPr>
          <a:lstStyle/>
          <a:p>
            <a:pPr marL="0" indent="0" algn="ctr">
              <a:buNone/>
            </a:pPr>
            <a:r>
              <a:rPr lang="en-US" sz="850" dirty="0">
                <a:solidFill>
                  <a:srgbClr val="10263D"/>
                </a:solidFill>
              </a:rPr>
              <a:t>@Valid + @NotBlank</a:t>
            </a:r>
            <a:endParaRPr lang="en-US" sz="850" dirty="0"/>
          </a:p>
          <a:p>
            <a:pPr marL="0" indent="0" algn="ctr">
              <a:buNone/>
            </a:pPr>
            <a:r>
              <a:rPr lang="en-US" sz="850" dirty="0">
                <a:solidFill>
                  <a:srgbClr val="10263D"/>
                </a:solidFill>
              </a:rPr>
              <a:t>HTTP 400 for bad input</a:t>
            </a:r>
            <a:endParaRPr lang="en-US" sz="850" dirty="0"/>
          </a:p>
        </p:txBody>
      </p:sp>
      <p:sp>
        <p:nvSpPr>
          <p:cNvPr id="8" name="Shape 6"/>
          <p:cNvSpPr/>
          <p:nvPr/>
        </p:nvSpPr>
        <p:spPr>
          <a:xfrm>
            <a:off x="3337560" y="1097280"/>
            <a:ext cx="2148840" cy="1188720"/>
          </a:xfrm>
          <a:prstGeom prst="roundRect">
            <a:avLst>
              <a:gd name="adj" fmla="val 4615"/>
            </a:avLst>
          </a:prstGeom>
          <a:solidFill>
            <a:srgbClr val="FFFFFF"/>
          </a:solidFill>
          <a:ln w="12700">
            <a:solidFill>
              <a:srgbClr val="D8E0E8"/>
            </a:solidFill>
            <a:prstDash val="solid"/>
          </a:ln>
        </p:spPr>
        <p:txBody>
          <a:bodyPr/>
          <a:lstStyle/>
          <a:p>
            <a:endParaRPr lang="en-US"/>
          </a:p>
        </p:txBody>
      </p:sp>
      <p:sp>
        <p:nvSpPr>
          <p:cNvPr id="9" name="Shape 7"/>
          <p:cNvSpPr/>
          <p:nvPr/>
        </p:nvSpPr>
        <p:spPr>
          <a:xfrm>
            <a:off x="3337560" y="1097280"/>
            <a:ext cx="2148840" cy="384048"/>
          </a:xfrm>
          <a:prstGeom prst="rect">
            <a:avLst/>
          </a:prstGeom>
          <a:solidFill>
            <a:srgbClr val="008C8C"/>
          </a:solidFill>
          <a:ln w="12700">
            <a:solidFill>
              <a:srgbClr val="008C8C"/>
            </a:solidFill>
            <a:prstDash val="solid"/>
          </a:ln>
        </p:spPr>
        <p:txBody>
          <a:bodyPr/>
          <a:lstStyle/>
          <a:p>
            <a:endParaRPr lang="en-US"/>
          </a:p>
        </p:txBody>
      </p:sp>
      <p:sp>
        <p:nvSpPr>
          <p:cNvPr id="10" name="Text 8"/>
          <p:cNvSpPr/>
          <p:nvPr/>
        </p:nvSpPr>
        <p:spPr>
          <a:xfrm>
            <a:off x="3447288" y="1170432"/>
            <a:ext cx="1929384" cy="182880"/>
          </a:xfrm>
          <a:prstGeom prst="rect">
            <a:avLst/>
          </a:prstGeom>
          <a:noFill/>
          <a:ln/>
        </p:spPr>
        <p:txBody>
          <a:bodyPr wrap="square" rtlCol="0" anchor="ctr">
            <a:normAutofit/>
          </a:bodyPr>
          <a:lstStyle/>
          <a:p>
            <a:pPr marL="0" indent="0" algn="ctr">
              <a:buNone/>
            </a:pPr>
            <a:r>
              <a:rPr lang="en-US" sz="1000" b="1" dirty="0">
                <a:solidFill>
                  <a:srgbClr val="FFFFFF"/>
                </a:solidFill>
              </a:rPr>
              <a:t>DTO + Mapper</a:t>
            </a:r>
            <a:endParaRPr lang="en-US" sz="1000" dirty="0"/>
          </a:p>
        </p:txBody>
      </p:sp>
      <p:sp>
        <p:nvSpPr>
          <p:cNvPr id="11" name="Text 9"/>
          <p:cNvSpPr/>
          <p:nvPr/>
        </p:nvSpPr>
        <p:spPr>
          <a:xfrm>
            <a:off x="3447288" y="1600200"/>
            <a:ext cx="1929384" cy="621792"/>
          </a:xfrm>
          <a:prstGeom prst="rect">
            <a:avLst/>
          </a:prstGeom>
          <a:noFill/>
          <a:ln/>
        </p:spPr>
        <p:txBody>
          <a:bodyPr wrap="square" rtlCol="0" anchor="ctr">
            <a:normAutofit/>
          </a:bodyPr>
          <a:lstStyle/>
          <a:p>
            <a:pPr marL="0" indent="0" algn="ctr">
              <a:buNone/>
            </a:pPr>
            <a:r>
              <a:rPr lang="en-US" sz="850" dirty="0">
                <a:solidFill>
                  <a:srgbClr val="10263D"/>
                </a:solidFill>
              </a:rPr>
              <a:t>StudentRequest / StudentResponse</a:t>
            </a:r>
            <a:endParaRPr lang="en-US" sz="850" dirty="0"/>
          </a:p>
          <a:p>
            <a:pPr marL="0" indent="0" algn="ctr">
              <a:buNone/>
            </a:pPr>
            <a:r>
              <a:rPr lang="en-US" sz="850" dirty="0">
                <a:solidFill>
                  <a:srgbClr val="10263D"/>
                </a:solidFill>
              </a:rPr>
              <a:t>do not return Entity directly</a:t>
            </a:r>
            <a:endParaRPr lang="en-US" sz="850" dirty="0"/>
          </a:p>
        </p:txBody>
      </p:sp>
      <p:sp>
        <p:nvSpPr>
          <p:cNvPr id="12" name="Shape 10"/>
          <p:cNvSpPr/>
          <p:nvPr/>
        </p:nvSpPr>
        <p:spPr>
          <a:xfrm>
            <a:off x="6172200" y="1097280"/>
            <a:ext cx="2148840" cy="1188720"/>
          </a:xfrm>
          <a:prstGeom prst="roundRect">
            <a:avLst>
              <a:gd name="adj" fmla="val 4615"/>
            </a:avLst>
          </a:prstGeom>
          <a:solidFill>
            <a:srgbClr val="FFFFFF"/>
          </a:solidFill>
          <a:ln w="12700">
            <a:solidFill>
              <a:srgbClr val="D8E0E8"/>
            </a:solidFill>
            <a:prstDash val="solid"/>
          </a:ln>
        </p:spPr>
        <p:txBody>
          <a:bodyPr/>
          <a:lstStyle/>
          <a:p>
            <a:endParaRPr lang="en-US"/>
          </a:p>
        </p:txBody>
      </p:sp>
      <p:sp>
        <p:nvSpPr>
          <p:cNvPr id="13" name="Shape 11"/>
          <p:cNvSpPr/>
          <p:nvPr/>
        </p:nvSpPr>
        <p:spPr>
          <a:xfrm>
            <a:off x="6172200" y="1097280"/>
            <a:ext cx="2148840" cy="384048"/>
          </a:xfrm>
          <a:prstGeom prst="rect">
            <a:avLst/>
          </a:prstGeom>
          <a:solidFill>
            <a:srgbClr val="6F1AB1"/>
          </a:solidFill>
          <a:ln w="12700">
            <a:solidFill>
              <a:srgbClr val="6F1AB1"/>
            </a:solidFill>
            <a:prstDash val="solid"/>
          </a:ln>
        </p:spPr>
        <p:txBody>
          <a:bodyPr/>
          <a:lstStyle/>
          <a:p>
            <a:endParaRPr lang="en-US"/>
          </a:p>
        </p:txBody>
      </p:sp>
      <p:sp>
        <p:nvSpPr>
          <p:cNvPr id="14" name="Text 12"/>
          <p:cNvSpPr/>
          <p:nvPr/>
        </p:nvSpPr>
        <p:spPr>
          <a:xfrm>
            <a:off x="6281928" y="1170432"/>
            <a:ext cx="1929384" cy="182880"/>
          </a:xfrm>
          <a:prstGeom prst="rect">
            <a:avLst/>
          </a:prstGeom>
          <a:noFill/>
          <a:ln/>
        </p:spPr>
        <p:txBody>
          <a:bodyPr wrap="square" rtlCol="0" anchor="ctr">
            <a:normAutofit/>
          </a:bodyPr>
          <a:lstStyle/>
          <a:p>
            <a:pPr marL="0" indent="0" algn="ctr">
              <a:buNone/>
            </a:pPr>
            <a:r>
              <a:rPr lang="en-US" sz="1000" b="1" dirty="0">
                <a:solidFill>
                  <a:srgbClr val="FFFFFF"/>
                </a:solidFill>
              </a:rPr>
              <a:t>Advice</a:t>
            </a:r>
            <a:endParaRPr lang="en-US" sz="1000" dirty="0"/>
          </a:p>
        </p:txBody>
      </p:sp>
      <p:sp>
        <p:nvSpPr>
          <p:cNvPr id="15" name="Text 13"/>
          <p:cNvSpPr/>
          <p:nvPr/>
        </p:nvSpPr>
        <p:spPr>
          <a:xfrm>
            <a:off x="6281928" y="1600200"/>
            <a:ext cx="1929384" cy="621792"/>
          </a:xfrm>
          <a:prstGeom prst="rect">
            <a:avLst/>
          </a:prstGeom>
          <a:noFill/>
          <a:ln/>
        </p:spPr>
        <p:txBody>
          <a:bodyPr wrap="square" rtlCol="0" anchor="ctr">
            <a:normAutofit/>
          </a:bodyPr>
          <a:lstStyle/>
          <a:p>
            <a:pPr marL="0" indent="0" algn="ctr">
              <a:buNone/>
            </a:pPr>
            <a:r>
              <a:rPr lang="en-US" sz="850" dirty="0">
                <a:solidFill>
                  <a:srgbClr val="10263D"/>
                </a:solidFill>
              </a:rPr>
              <a:t>@RestControllerAdvice</a:t>
            </a:r>
            <a:endParaRPr lang="en-US" sz="850" dirty="0"/>
          </a:p>
          <a:p>
            <a:pPr marL="0" indent="0" algn="ctr">
              <a:buNone/>
            </a:pPr>
            <a:r>
              <a:rPr lang="en-US" sz="850" dirty="0">
                <a:solidFill>
                  <a:srgbClr val="10263D"/>
                </a:solidFill>
              </a:rPr>
              <a:t>unified JSON errors</a:t>
            </a:r>
            <a:endParaRPr lang="en-US" sz="850" dirty="0"/>
          </a:p>
        </p:txBody>
      </p:sp>
      <p:sp>
        <p:nvSpPr>
          <p:cNvPr id="16" name="Shape 14"/>
          <p:cNvSpPr/>
          <p:nvPr/>
        </p:nvSpPr>
        <p:spPr>
          <a:xfrm>
            <a:off x="9006840" y="1097280"/>
            <a:ext cx="2148840" cy="1188720"/>
          </a:xfrm>
          <a:prstGeom prst="roundRect">
            <a:avLst>
              <a:gd name="adj" fmla="val 4615"/>
            </a:avLst>
          </a:prstGeom>
          <a:solidFill>
            <a:srgbClr val="FFFFFF"/>
          </a:solidFill>
          <a:ln w="12700">
            <a:solidFill>
              <a:srgbClr val="D8E0E8"/>
            </a:solidFill>
            <a:prstDash val="solid"/>
          </a:ln>
        </p:spPr>
        <p:txBody>
          <a:bodyPr/>
          <a:lstStyle/>
          <a:p>
            <a:endParaRPr lang="en-US"/>
          </a:p>
        </p:txBody>
      </p:sp>
      <p:sp>
        <p:nvSpPr>
          <p:cNvPr id="17" name="Shape 15"/>
          <p:cNvSpPr/>
          <p:nvPr/>
        </p:nvSpPr>
        <p:spPr>
          <a:xfrm>
            <a:off x="9006840" y="1097280"/>
            <a:ext cx="2148840" cy="384048"/>
          </a:xfrm>
          <a:prstGeom prst="rect">
            <a:avLst/>
          </a:prstGeom>
          <a:solidFill>
            <a:srgbClr val="146B2E"/>
          </a:solidFill>
          <a:ln w="12700">
            <a:solidFill>
              <a:srgbClr val="146B2E"/>
            </a:solidFill>
            <a:prstDash val="solid"/>
          </a:ln>
        </p:spPr>
        <p:txBody>
          <a:bodyPr/>
          <a:lstStyle/>
          <a:p>
            <a:endParaRPr lang="en-US"/>
          </a:p>
        </p:txBody>
      </p:sp>
      <p:sp>
        <p:nvSpPr>
          <p:cNvPr id="18" name="Text 16"/>
          <p:cNvSpPr/>
          <p:nvPr/>
        </p:nvSpPr>
        <p:spPr>
          <a:xfrm>
            <a:off x="9116568" y="1170432"/>
            <a:ext cx="1929384" cy="182880"/>
          </a:xfrm>
          <a:prstGeom prst="rect">
            <a:avLst/>
          </a:prstGeom>
          <a:noFill/>
          <a:ln/>
        </p:spPr>
        <p:txBody>
          <a:bodyPr wrap="square" rtlCol="0" anchor="ctr">
            <a:normAutofit/>
          </a:bodyPr>
          <a:lstStyle/>
          <a:p>
            <a:pPr marL="0" indent="0" algn="ctr">
              <a:buNone/>
            </a:pPr>
            <a:r>
              <a:rPr lang="en-US" sz="1000" b="1" dirty="0">
                <a:solidFill>
                  <a:srgbClr val="FFFFFF"/>
                </a:solidFill>
              </a:rPr>
              <a:t>Tests</a:t>
            </a:r>
            <a:endParaRPr lang="en-US" sz="1000" dirty="0"/>
          </a:p>
        </p:txBody>
      </p:sp>
      <p:sp>
        <p:nvSpPr>
          <p:cNvPr id="19" name="Text 17"/>
          <p:cNvSpPr/>
          <p:nvPr/>
        </p:nvSpPr>
        <p:spPr>
          <a:xfrm>
            <a:off x="9116568" y="1600200"/>
            <a:ext cx="1929384" cy="621792"/>
          </a:xfrm>
          <a:prstGeom prst="rect">
            <a:avLst/>
          </a:prstGeom>
          <a:noFill/>
          <a:ln/>
        </p:spPr>
        <p:txBody>
          <a:bodyPr wrap="square" rtlCol="0" anchor="ctr">
            <a:normAutofit/>
          </a:bodyPr>
          <a:lstStyle/>
          <a:p>
            <a:pPr marL="0" indent="0" algn="ctr">
              <a:buNone/>
            </a:pPr>
            <a:r>
              <a:rPr lang="en-US" sz="850" dirty="0">
                <a:solidFill>
                  <a:srgbClr val="10263D"/>
                </a:solidFill>
              </a:rPr>
              <a:t>@WebMvcTest + MockMvc</a:t>
            </a:r>
            <a:endParaRPr lang="en-US" sz="850" dirty="0"/>
          </a:p>
          <a:p>
            <a:pPr marL="0" indent="0" algn="ctr">
              <a:buNone/>
            </a:pPr>
            <a:r>
              <a:rPr lang="en-US" sz="850" dirty="0">
                <a:solidFill>
                  <a:srgbClr val="10263D"/>
                </a:solidFill>
              </a:rPr>
              <a:t>REST controller test</a:t>
            </a:r>
            <a:endParaRPr lang="en-US" sz="850" dirty="0"/>
          </a:p>
        </p:txBody>
      </p:sp>
      <p:sp>
        <p:nvSpPr>
          <p:cNvPr id="20" name="Text 18"/>
          <p:cNvSpPr/>
          <p:nvPr/>
        </p:nvSpPr>
        <p:spPr>
          <a:xfrm>
            <a:off x="594360" y="2788920"/>
            <a:ext cx="4206240" cy="256032"/>
          </a:xfrm>
          <a:prstGeom prst="rect">
            <a:avLst/>
          </a:prstGeom>
          <a:noFill/>
          <a:ln/>
        </p:spPr>
        <p:txBody>
          <a:bodyPr wrap="square" rtlCol="0" anchor="ctr"/>
          <a:lstStyle/>
          <a:p>
            <a:pPr marL="0" indent="0">
              <a:buNone/>
            </a:pPr>
            <a:r>
              <a:rPr lang="en-US" sz="1600" b="1" dirty="0">
                <a:solidFill>
                  <a:srgbClr val="D83B0B"/>
                </a:solidFill>
              </a:rPr>
              <a:t>Common mistakes — avoid them!</a:t>
            </a:r>
            <a:endParaRPr lang="en-US" sz="1600" dirty="0"/>
          </a:p>
        </p:txBody>
      </p:sp>
      <p:sp>
        <p:nvSpPr>
          <p:cNvPr id="21" name="Shape 19"/>
          <p:cNvSpPr/>
          <p:nvPr/>
        </p:nvSpPr>
        <p:spPr>
          <a:xfrm>
            <a:off x="777240" y="3163824"/>
            <a:ext cx="4983480" cy="347472"/>
          </a:xfrm>
          <a:prstGeom prst="roundRect">
            <a:avLst>
              <a:gd name="adj" fmla="val 10526"/>
            </a:avLst>
          </a:prstGeom>
          <a:solidFill>
            <a:srgbClr val="FFF3F3"/>
          </a:solidFill>
          <a:ln w="12700">
            <a:solidFill>
              <a:srgbClr val="C62828"/>
            </a:solidFill>
            <a:prstDash val="solid"/>
          </a:ln>
        </p:spPr>
        <p:txBody>
          <a:bodyPr/>
          <a:lstStyle/>
          <a:p>
            <a:endParaRPr lang="en-US"/>
          </a:p>
        </p:txBody>
      </p:sp>
      <p:sp>
        <p:nvSpPr>
          <p:cNvPr id="22" name="Text 20"/>
          <p:cNvSpPr/>
          <p:nvPr/>
        </p:nvSpPr>
        <p:spPr>
          <a:xfrm>
            <a:off x="932688" y="3246120"/>
            <a:ext cx="4645152" cy="164592"/>
          </a:xfrm>
          <a:prstGeom prst="rect">
            <a:avLst/>
          </a:prstGeom>
          <a:noFill/>
          <a:ln/>
        </p:spPr>
        <p:txBody>
          <a:bodyPr wrap="square" rtlCol="0" anchor="ctr">
            <a:normAutofit/>
          </a:bodyPr>
          <a:lstStyle/>
          <a:p>
            <a:pPr marL="0" indent="0">
              <a:buNone/>
            </a:pPr>
            <a:r>
              <a:rPr lang="en-US" sz="920" b="1" dirty="0">
                <a:solidFill>
                  <a:srgbClr val="C62828"/>
                </a:solidFill>
              </a:rPr>
              <a:t>❌ Controller calls repository directly</a:t>
            </a:r>
            <a:endParaRPr lang="en-US" sz="920" dirty="0"/>
          </a:p>
        </p:txBody>
      </p:sp>
      <p:sp>
        <p:nvSpPr>
          <p:cNvPr id="23" name="Shape 21"/>
          <p:cNvSpPr/>
          <p:nvPr/>
        </p:nvSpPr>
        <p:spPr>
          <a:xfrm>
            <a:off x="6080760" y="3163824"/>
            <a:ext cx="5257800" cy="347472"/>
          </a:xfrm>
          <a:prstGeom prst="roundRect">
            <a:avLst>
              <a:gd name="adj" fmla="val 10526"/>
            </a:avLst>
          </a:prstGeom>
          <a:solidFill>
            <a:srgbClr val="F0FFF4"/>
          </a:solidFill>
          <a:ln w="12700">
            <a:solidFill>
              <a:srgbClr val="146B2E"/>
            </a:solidFill>
            <a:prstDash val="solid"/>
          </a:ln>
        </p:spPr>
        <p:txBody>
          <a:bodyPr/>
          <a:lstStyle/>
          <a:p>
            <a:endParaRPr lang="en-US"/>
          </a:p>
        </p:txBody>
      </p:sp>
      <p:sp>
        <p:nvSpPr>
          <p:cNvPr id="24" name="Text 22"/>
          <p:cNvSpPr/>
          <p:nvPr/>
        </p:nvSpPr>
        <p:spPr>
          <a:xfrm>
            <a:off x="6236208" y="3246120"/>
            <a:ext cx="4892040" cy="164592"/>
          </a:xfrm>
          <a:prstGeom prst="rect">
            <a:avLst/>
          </a:prstGeom>
          <a:noFill/>
          <a:ln/>
        </p:spPr>
        <p:txBody>
          <a:bodyPr wrap="square" rtlCol="0" anchor="ctr">
            <a:normAutofit/>
          </a:bodyPr>
          <a:lstStyle/>
          <a:p>
            <a:pPr marL="0" indent="0">
              <a:buNone/>
            </a:pPr>
            <a:r>
              <a:rPr lang="en-US" sz="920" b="1" dirty="0">
                <a:solidFill>
                  <a:srgbClr val="146B2E"/>
                </a:solidFill>
              </a:rPr>
              <a:t>✅ Controller → Service → Repository</a:t>
            </a:r>
            <a:endParaRPr lang="en-US" sz="920" dirty="0"/>
          </a:p>
        </p:txBody>
      </p:sp>
      <p:sp>
        <p:nvSpPr>
          <p:cNvPr id="25" name="Shape 23"/>
          <p:cNvSpPr/>
          <p:nvPr/>
        </p:nvSpPr>
        <p:spPr>
          <a:xfrm>
            <a:off x="777240" y="3621024"/>
            <a:ext cx="4983480" cy="347472"/>
          </a:xfrm>
          <a:prstGeom prst="roundRect">
            <a:avLst>
              <a:gd name="adj" fmla="val 10526"/>
            </a:avLst>
          </a:prstGeom>
          <a:solidFill>
            <a:srgbClr val="FFF3F3"/>
          </a:solidFill>
          <a:ln w="12700">
            <a:solidFill>
              <a:srgbClr val="C62828"/>
            </a:solidFill>
            <a:prstDash val="solid"/>
          </a:ln>
        </p:spPr>
        <p:txBody>
          <a:bodyPr/>
          <a:lstStyle/>
          <a:p>
            <a:endParaRPr lang="en-US"/>
          </a:p>
        </p:txBody>
      </p:sp>
      <p:sp>
        <p:nvSpPr>
          <p:cNvPr id="26" name="Text 24"/>
          <p:cNvSpPr/>
          <p:nvPr/>
        </p:nvSpPr>
        <p:spPr>
          <a:xfrm>
            <a:off x="932688" y="3703320"/>
            <a:ext cx="4645152" cy="164592"/>
          </a:xfrm>
          <a:prstGeom prst="rect">
            <a:avLst/>
          </a:prstGeom>
          <a:noFill/>
          <a:ln/>
        </p:spPr>
        <p:txBody>
          <a:bodyPr wrap="square" rtlCol="0" anchor="ctr">
            <a:normAutofit/>
          </a:bodyPr>
          <a:lstStyle/>
          <a:p>
            <a:pPr marL="0" indent="0">
              <a:buNone/>
            </a:pPr>
            <a:r>
              <a:rPr lang="en-US" sz="920" b="1" dirty="0">
                <a:solidFill>
                  <a:srgbClr val="C62828"/>
                </a:solidFill>
              </a:rPr>
              <a:t>❌ Returning @Entity directly from REST</a:t>
            </a:r>
            <a:endParaRPr lang="en-US" sz="920" dirty="0"/>
          </a:p>
        </p:txBody>
      </p:sp>
      <p:sp>
        <p:nvSpPr>
          <p:cNvPr id="27" name="Shape 25"/>
          <p:cNvSpPr/>
          <p:nvPr/>
        </p:nvSpPr>
        <p:spPr>
          <a:xfrm>
            <a:off x="6080760" y="3621024"/>
            <a:ext cx="5257800" cy="347472"/>
          </a:xfrm>
          <a:prstGeom prst="roundRect">
            <a:avLst>
              <a:gd name="adj" fmla="val 10526"/>
            </a:avLst>
          </a:prstGeom>
          <a:solidFill>
            <a:srgbClr val="F0FFF4"/>
          </a:solidFill>
          <a:ln w="12700">
            <a:solidFill>
              <a:srgbClr val="146B2E"/>
            </a:solidFill>
            <a:prstDash val="solid"/>
          </a:ln>
        </p:spPr>
        <p:txBody>
          <a:bodyPr/>
          <a:lstStyle/>
          <a:p>
            <a:endParaRPr lang="en-US"/>
          </a:p>
        </p:txBody>
      </p:sp>
      <p:sp>
        <p:nvSpPr>
          <p:cNvPr id="28" name="Text 26"/>
          <p:cNvSpPr/>
          <p:nvPr/>
        </p:nvSpPr>
        <p:spPr>
          <a:xfrm>
            <a:off x="6236208" y="3703320"/>
            <a:ext cx="4892040" cy="164592"/>
          </a:xfrm>
          <a:prstGeom prst="rect">
            <a:avLst/>
          </a:prstGeom>
          <a:noFill/>
          <a:ln/>
        </p:spPr>
        <p:txBody>
          <a:bodyPr wrap="square" rtlCol="0" anchor="ctr">
            <a:normAutofit/>
          </a:bodyPr>
          <a:lstStyle/>
          <a:p>
            <a:pPr marL="0" indent="0">
              <a:buNone/>
            </a:pPr>
            <a:r>
              <a:rPr lang="en-US" sz="920" b="1" dirty="0">
                <a:solidFill>
                  <a:srgbClr val="146B2E"/>
                </a:solidFill>
              </a:rPr>
              <a:t>✅ DTO protects the API and hides extra fields</a:t>
            </a:r>
            <a:endParaRPr lang="en-US" sz="920" dirty="0"/>
          </a:p>
        </p:txBody>
      </p:sp>
      <p:sp>
        <p:nvSpPr>
          <p:cNvPr id="29" name="Shape 27"/>
          <p:cNvSpPr/>
          <p:nvPr/>
        </p:nvSpPr>
        <p:spPr>
          <a:xfrm>
            <a:off x="777240" y="4078224"/>
            <a:ext cx="4983480" cy="347472"/>
          </a:xfrm>
          <a:prstGeom prst="roundRect">
            <a:avLst>
              <a:gd name="adj" fmla="val 10526"/>
            </a:avLst>
          </a:prstGeom>
          <a:solidFill>
            <a:srgbClr val="FFF3F3"/>
          </a:solidFill>
          <a:ln w="12700">
            <a:solidFill>
              <a:srgbClr val="C62828"/>
            </a:solidFill>
            <a:prstDash val="solid"/>
          </a:ln>
        </p:spPr>
        <p:txBody>
          <a:bodyPr/>
          <a:lstStyle/>
          <a:p>
            <a:endParaRPr lang="en-US"/>
          </a:p>
        </p:txBody>
      </p:sp>
      <p:sp>
        <p:nvSpPr>
          <p:cNvPr id="30" name="Text 28"/>
          <p:cNvSpPr/>
          <p:nvPr/>
        </p:nvSpPr>
        <p:spPr>
          <a:xfrm>
            <a:off x="932688" y="4160520"/>
            <a:ext cx="4645152" cy="164592"/>
          </a:xfrm>
          <a:prstGeom prst="rect">
            <a:avLst/>
          </a:prstGeom>
          <a:noFill/>
          <a:ln/>
        </p:spPr>
        <p:txBody>
          <a:bodyPr wrap="square" rtlCol="0" anchor="ctr">
            <a:normAutofit/>
          </a:bodyPr>
          <a:lstStyle/>
          <a:p>
            <a:pPr marL="0" indent="0">
              <a:buNone/>
            </a:pPr>
            <a:r>
              <a:rPr lang="en-US" sz="920" b="1" dirty="0">
                <a:solidFill>
                  <a:srgbClr val="C62828"/>
                </a:solidFill>
              </a:rPr>
              <a:t>❌ Field injection everywhere</a:t>
            </a:r>
            <a:endParaRPr lang="en-US" sz="920" dirty="0"/>
          </a:p>
        </p:txBody>
      </p:sp>
      <p:sp>
        <p:nvSpPr>
          <p:cNvPr id="31" name="Shape 29"/>
          <p:cNvSpPr/>
          <p:nvPr/>
        </p:nvSpPr>
        <p:spPr>
          <a:xfrm>
            <a:off x="6080760" y="4078224"/>
            <a:ext cx="5257800" cy="347472"/>
          </a:xfrm>
          <a:prstGeom prst="roundRect">
            <a:avLst>
              <a:gd name="adj" fmla="val 10526"/>
            </a:avLst>
          </a:prstGeom>
          <a:solidFill>
            <a:srgbClr val="F0FFF4"/>
          </a:solidFill>
          <a:ln w="12700">
            <a:solidFill>
              <a:srgbClr val="146B2E"/>
            </a:solidFill>
            <a:prstDash val="solid"/>
          </a:ln>
        </p:spPr>
        <p:txBody>
          <a:bodyPr/>
          <a:lstStyle/>
          <a:p>
            <a:endParaRPr lang="en-US"/>
          </a:p>
        </p:txBody>
      </p:sp>
      <p:sp>
        <p:nvSpPr>
          <p:cNvPr id="32" name="Text 30"/>
          <p:cNvSpPr/>
          <p:nvPr/>
        </p:nvSpPr>
        <p:spPr>
          <a:xfrm>
            <a:off x="6236208" y="4160520"/>
            <a:ext cx="4892040" cy="164592"/>
          </a:xfrm>
          <a:prstGeom prst="rect">
            <a:avLst/>
          </a:prstGeom>
          <a:noFill/>
          <a:ln/>
        </p:spPr>
        <p:txBody>
          <a:bodyPr wrap="square" rtlCol="0" anchor="ctr">
            <a:normAutofit/>
          </a:bodyPr>
          <a:lstStyle/>
          <a:p>
            <a:pPr marL="0" indent="0">
              <a:buNone/>
            </a:pPr>
            <a:r>
              <a:rPr lang="en-US" sz="920" b="1" dirty="0">
                <a:solidFill>
                  <a:srgbClr val="146B2E"/>
                </a:solidFill>
              </a:rPr>
              <a:t>✅ Constructor injection + final fields</a:t>
            </a:r>
            <a:endParaRPr lang="en-US" sz="920" dirty="0"/>
          </a:p>
        </p:txBody>
      </p:sp>
      <p:sp>
        <p:nvSpPr>
          <p:cNvPr id="33" name="Shape 31"/>
          <p:cNvSpPr/>
          <p:nvPr/>
        </p:nvSpPr>
        <p:spPr>
          <a:xfrm>
            <a:off x="777240" y="4535424"/>
            <a:ext cx="4983480" cy="347472"/>
          </a:xfrm>
          <a:prstGeom prst="roundRect">
            <a:avLst>
              <a:gd name="adj" fmla="val 10526"/>
            </a:avLst>
          </a:prstGeom>
          <a:solidFill>
            <a:srgbClr val="FFF3F3"/>
          </a:solidFill>
          <a:ln w="12700">
            <a:solidFill>
              <a:srgbClr val="C62828"/>
            </a:solidFill>
            <a:prstDash val="solid"/>
          </a:ln>
        </p:spPr>
        <p:txBody>
          <a:bodyPr/>
          <a:lstStyle/>
          <a:p>
            <a:endParaRPr lang="en-US"/>
          </a:p>
        </p:txBody>
      </p:sp>
      <p:sp>
        <p:nvSpPr>
          <p:cNvPr id="34" name="Text 32"/>
          <p:cNvSpPr/>
          <p:nvPr/>
        </p:nvSpPr>
        <p:spPr>
          <a:xfrm>
            <a:off x="932688" y="4617720"/>
            <a:ext cx="4645152" cy="164592"/>
          </a:xfrm>
          <a:prstGeom prst="rect">
            <a:avLst/>
          </a:prstGeom>
          <a:noFill/>
          <a:ln/>
        </p:spPr>
        <p:txBody>
          <a:bodyPr wrap="square" rtlCol="0" anchor="ctr">
            <a:normAutofit/>
          </a:bodyPr>
          <a:lstStyle/>
          <a:p>
            <a:pPr marL="0" indent="0">
              <a:buNone/>
            </a:pPr>
            <a:r>
              <a:rPr lang="en-US" sz="920" b="1" dirty="0">
                <a:solidFill>
                  <a:srgbClr val="C62828"/>
                </a:solidFill>
              </a:rPr>
              <a:t>❌ @Transactional on private/self-call</a:t>
            </a:r>
            <a:endParaRPr lang="en-US" sz="920" dirty="0"/>
          </a:p>
        </p:txBody>
      </p:sp>
      <p:sp>
        <p:nvSpPr>
          <p:cNvPr id="35" name="Shape 33"/>
          <p:cNvSpPr/>
          <p:nvPr/>
        </p:nvSpPr>
        <p:spPr>
          <a:xfrm>
            <a:off x="6080760" y="4535424"/>
            <a:ext cx="5257800" cy="347472"/>
          </a:xfrm>
          <a:prstGeom prst="roundRect">
            <a:avLst>
              <a:gd name="adj" fmla="val 10526"/>
            </a:avLst>
          </a:prstGeom>
          <a:solidFill>
            <a:srgbClr val="F0FFF4"/>
          </a:solidFill>
          <a:ln w="12700">
            <a:solidFill>
              <a:srgbClr val="146B2E"/>
            </a:solidFill>
            <a:prstDash val="solid"/>
          </a:ln>
        </p:spPr>
        <p:txBody>
          <a:bodyPr/>
          <a:lstStyle/>
          <a:p>
            <a:endParaRPr lang="en-US"/>
          </a:p>
        </p:txBody>
      </p:sp>
      <p:sp>
        <p:nvSpPr>
          <p:cNvPr id="36" name="Text 34"/>
          <p:cNvSpPr/>
          <p:nvPr/>
        </p:nvSpPr>
        <p:spPr>
          <a:xfrm>
            <a:off x="6236208" y="4617720"/>
            <a:ext cx="4892040" cy="164592"/>
          </a:xfrm>
          <a:prstGeom prst="rect">
            <a:avLst/>
          </a:prstGeom>
          <a:noFill/>
          <a:ln/>
        </p:spPr>
        <p:txBody>
          <a:bodyPr wrap="square" rtlCol="0" anchor="ctr">
            <a:normAutofit/>
          </a:bodyPr>
          <a:lstStyle/>
          <a:p>
            <a:pPr marL="0" indent="0">
              <a:buNone/>
            </a:pPr>
            <a:r>
              <a:rPr lang="en-US" sz="920" b="1" dirty="0">
                <a:solidFill>
                  <a:srgbClr val="146B2E"/>
                </a:solidFill>
              </a:rPr>
              <a:t>✅ public service method through Spring proxy</a:t>
            </a:r>
            <a:endParaRPr lang="en-US" sz="920" dirty="0"/>
          </a:p>
        </p:txBody>
      </p:sp>
      <p:sp>
        <p:nvSpPr>
          <p:cNvPr id="37" name="Shape 35"/>
          <p:cNvSpPr/>
          <p:nvPr/>
        </p:nvSpPr>
        <p:spPr>
          <a:xfrm>
            <a:off x="777240" y="4992624"/>
            <a:ext cx="4983480" cy="347472"/>
          </a:xfrm>
          <a:prstGeom prst="roundRect">
            <a:avLst>
              <a:gd name="adj" fmla="val 10526"/>
            </a:avLst>
          </a:prstGeom>
          <a:solidFill>
            <a:srgbClr val="FFF3F3"/>
          </a:solidFill>
          <a:ln w="12700">
            <a:solidFill>
              <a:srgbClr val="C62828"/>
            </a:solidFill>
            <a:prstDash val="solid"/>
          </a:ln>
        </p:spPr>
        <p:txBody>
          <a:bodyPr/>
          <a:lstStyle/>
          <a:p>
            <a:endParaRPr lang="en-US"/>
          </a:p>
        </p:txBody>
      </p:sp>
      <p:sp>
        <p:nvSpPr>
          <p:cNvPr id="38" name="Text 36"/>
          <p:cNvSpPr/>
          <p:nvPr/>
        </p:nvSpPr>
        <p:spPr>
          <a:xfrm>
            <a:off x="932688" y="5074920"/>
            <a:ext cx="4645152" cy="164592"/>
          </a:xfrm>
          <a:prstGeom prst="rect">
            <a:avLst/>
          </a:prstGeom>
          <a:noFill/>
          <a:ln/>
        </p:spPr>
        <p:txBody>
          <a:bodyPr wrap="square" rtlCol="0" anchor="ctr">
            <a:normAutofit/>
          </a:bodyPr>
          <a:lstStyle/>
          <a:p>
            <a:pPr marL="0" indent="0">
              <a:buNone/>
            </a:pPr>
            <a:r>
              <a:rPr lang="en-US" sz="920" b="1" dirty="0">
                <a:solidFill>
                  <a:srgbClr val="C62828"/>
                </a:solidFill>
              </a:rPr>
              <a:t>❌ No @Valid before @RequestBody</a:t>
            </a:r>
            <a:endParaRPr lang="en-US" sz="920" dirty="0"/>
          </a:p>
        </p:txBody>
      </p:sp>
      <p:sp>
        <p:nvSpPr>
          <p:cNvPr id="39" name="Shape 37"/>
          <p:cNvSpPr/>
          <p:nvPr/>
        </p:nvSpPr>
        <p:spPr>
          <a:xfrm>
            <a:off x="6080760" y="4992624"/>
            <a:ext cx="5257800" cy="347472"/>
          </a:xfrm>
          <a:prstGeom prst="roundRect">
            <a:avLst>
              <a:gd name="adj" fmla="val 10526"/>
            </a:avLst>
          </a:prstGeom>
          <a:solidFill>
            <a:srgbClr val="F0FFF4"/>
          </a:solidFill>
          <a:ln w="12700">
            <a:solidFill>
              <a:srgbClr val="146B2E"/>
            </a:solidFill>
            <a:prstDash val="solid"/>
          </a:ln>
        </p:spPr>
        <p:txBody>
          <a:bodyPr/>
          <a:lstStyle/>
          <a:p>
            <a:endParaRPr lang="en-US"/>
          </a:p>
        </p:txBody>
      </p:sp>
      <p:sp>
        <p:nvSpPr>
          <p:cNvPr id="40" name="Text 38"/>
          <p:cNvSpPr/>
          <p:nvPr/>
        </p:nvSpPr>
        <p:spPr>
          <a:xfrm>
            <a:off x="6236208" y="5074920"/>
            <a:ext cx="4892040" cy="164592"/>
          </a:xfrm>
          <a:prstGeom prst="rect">
            <a:avLst/>
          </a:prstGeom>
          <a:noFill/>
          <a:ln/>
        </p:spPr>
        <p:txBody>
          <a:bodyPr wrap="square" rtlCol="0" anchor="ctr">
            <a:normAutofit/>
          </a:bodyPr>
          <a:lstStyle/>
          <a:p>
            <a:pPr marL="0" indent="0">
              <a:buNone/>
            </a:pPr>
            <a:r>
              <a:rPr lang="en-US" sz="920" b="1" dirty="0">
                <a:solidFill>
                  <a:srgbClr val="146B2E"/>
                </a:solidFill>
              </a:rPr>
              <a:t>✅ validation with a clear 400 response</a:t>
            </a:r>
            <a:endParaRPr lang="en-US" sz="920" dirty="0"/>
          </a:p>
        </p:txBody>
      </p:sp>
      <p:sp>
        <p:nvSpPr>
          <p:cNvPr id="41" name="Text 39"/>
          <p:cNvSpPr/>
          <p:nvPr/>
        </p:nvSpPr>
        <p:spPr>
          <a:xfrm>
            <a:off x="320040" y="6309360"/>
            <a:ext cx="9875520" cy="128016"/>
          </a:xfrm>
          <a:prstGeom prst="rect">
            <a:avLst/>
          </a:prstGeom>
          <a:noFill/>
          <a:ln/>
        </p:spPr>
        <p:txBody>
          <a:bodyPr wrap="square" rtlCol="0" anchor="ctr">
            <a:normAutofit/>
          </a:bodyPr>
          <a:lstStyle/>
          <a:p>
            <a:pPr marL="0" indent="0">
              <a:buNone/>
            </a:pPr>
            <a:r>
              <a:rPr lang="en-US" sz="520" dirty="0">
                <a:solidFill>
                  <a:srgbClr val="8B97A4"/>
                </a:solidFill>
              </a:rPr>
              <a:t>Source: practice7.md, part 7: Validation, DTO, RestControllerAdvice, @Transactional, tests</a:t>
            </a:r>
            <a:endParaRPr lang="en-US" sz="520" dirty="0"/>
          </a:p>
        </p:txBody>
      </p:sp>
      <p:sp>
        <p:nvSpPr>
          <p:cNvPr id="43" name="Text 40"/>
          <p:cNvSpPr/>
          <p:nvPr/>
        </p:nvSpPr>
        <p:spPr>
          <a:xfrm>
            <a:off x="320040" y="6510528"/>
            <a:ext cx="5943600" cy="128016"/>
          </a:xfrm>
          <a:prstGeom prst="rect">
            <a:avLst/>
          </a:prstGeom>
          <a:noFill/>
          <a:ln/>
        </p:spPr>
        <p:txBody>
          <a:bodyPr wrap="square" rtlCol="0" anchor="ctr"/>
          <a:lstStyle/>
          <a:p>
            <a:pPr marL="0" indent="0">
              <a:buNone/>
            </a:pPr>
            <a:r>
              <a:rPr lang="en-US" sz="550" dirty="0">
                <a:solidFill>
                  <a:srgbClr val="9AA7B5"/>
                </a:solidFill>
              </a:rPr>
              <a:t>Modern Programming Technologies • Practice 7</a:t>
            </a:r>
            <a:endParaRPr lang="en-US" sz="550" dirty="0"/>
          </a:p>
        </p:txBody>
      </p:sp>
      <p:sp>
        <p:nvSpPr>
          <p:cNvPr id="44" name="Text 41"/>
          <p:cNvSpPr/>
          <p:nvPr/>
        </p:nvSpPr>
        <p:spPr>
          <a:xfrm>
            <a:off x="11631168" y="6473952"/>
            <a:ext cx="182880" cy="146304"/>
          </a:xfrm>
          <a:prstGeom prst="rect">
            <a:avLst/>
          </a:prstGeom>
          <a:noFill/>
          <a:ln/>
        </p:spPr>
        <p:txBody>
          <a:bodyPr wrap="square" rtlCol="0" anchor="ctr"/>
          <a:lstStyle/>
          <a:p>
            <a:pPr marL="0" indent="0">
              <a:buNone/>
            </a:pPr>
            <a:r>
              <a:rPr lang="en-US" sz="550" dirty="0">
                <a:solidFill>
                  <a:srgbClr val="9AA7B5"/>
                </a:solidFill>
              </a:rPr>
              <a:t>9</a:t>
            </a:r>
            <a:endParaRPr lang="en-US" sz="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1A2D"/>
        </a:solidFill>
        <a:effectLst/>
      </p:bgPr>
    </p:bg>
    <p:spTree>
      <p:nvGrpSpPr>
        <p:cNvPr id="1" name=""/>
        <p:cNvGrpSpPr/>
        <p:nvPr/>
      </p:nvGrpSpPr>
      <p:grpSpPr>
        <a:xfrm>
          <a:off x="0" y="0"/>
          <a:ext cx="0" cy="0"/>
          <a:chOff x="0" y="0"/>
          <a:chExt cx="0" cy="0"/>
        </a:xfrm>
      </p:grpSpPr>
      <p:sp>
        <p:nvSpPr>
          <p:cNvPr id="2" name="Text 0"/>
          <p:cNvSpPr/>
          <p:nvPr/>
        </p:nvSpPr>
        <p:spPr>
          <a:xfrm>
            <a:off x="502920" y="384048"/>
            <a:ext cx="6400800" cy="365760"/>
          </a:xfrm>
          <a:prstGeom prst="rect">
            <a:avLst/>
          </a:prstGeom>
          <a:noFill/>
          <a:ln/>
        </p:spPr>
        <p:txBody>
          <a:bodyPr wrap="square" rtlCol="0" anchor="ctr"/>
          <a:lstStyle/>
          <a:p>
            <a:pPr marL="0" indent="0">
              <a:buNone/>
            </a:pPr>
            <a:r>
              <a:rPr lang="en-US" sz="2200" b="1" dirty="0">
                <a:solidFill>
                  <a:srgbClr val="FFFFFF"/>
                </a:solidFill>
              </a:rPr>
              <a:t>What to submit — full checklist</a:t>
            </a:r>
            <a:endParaRPr lang="en-US" sz="2200" dirty="0"/>
          </a:p>
        </p:txBody>
      </p:sp>
      <p:sp>
        <p:nvSpPr>
          <p:cNvPr id="3" name="Shape 1"/>
          <p:cNvSpPr/>
          <p:nvPr/>
        </p:nvSpPr>
        <p:spPr>
          <a:xfrm>
            <a:off x="548640" y="1143000"/>
            <a:ext cx="2377440" cy="2103120"/>
          </a:xfrm>
          <a:prstGeom prst="roundRect">
            <a:avLst>
              <a:gd name="adj" fmla="val 2609"/>
            </a:avLst>
          </a:prstGeom>
          <a:solidFill>
            <a:srgbClr val="FFFFFF"/>
          </a:solidFill>
          <a:ln w="12700">
            <a:solidFill>
              <a:srgbClr val="1E73BE"/>
            </a:solidFill>
            <a:prstDash val="solid"/>
          </a:ln>
        </p:spPr>
        <p:txBody>
          <a:bodyPr/>
          <a:lstStyle/>
          <a:p>
            <a:endParaRPr lang="en-US"/>
          </a:p>
        </p:txBody>
      </p:sp>
      <p:sp>
        <p:nvSpPr>
          <p:cNvPr id="4" name="Shape 2"/>
          <p:cNvSpPr/>
          <p:nvPr/>
        </p:nvSpPr>
        <p:spPr>
          <a:xfrm>
            <a:off x="548640" y="1143000"/>
            <a:ext cx="2377440" cy="384048"/>
          </a:xfrm>
          <a:prstGeom prst="rect">
            <a:avLst/>
          </a:prstGeom>
          <a:solidFill>
            <a:srgbClr val="1E73BE"/>
          </a:solidFill>
          <a:ln w="12700">
            <a:solidFill>
              <a:srgbClr val="1E73BE"/>
            </a:solidFill>
            <a:prstDash val="solid"/>
          </a:ln>
        </p:spPr>
        <p:txBody>
          <a:bodyPr/>
          <a:lstStyle/>
          <a:p>
            <a:endParaRPr lang="en-US"/>
          </a:p>
        </p:txBody>
      </p:sp>
      <p:sp>
        <p:nvSpPr>
          <p:cNvPr id="5" name="Text 3"/>
          <p:cNvSpPr/>
          <p:nvPr/>
        </p:nvSpPr>
        <p:spPr>
          <a:xfrm>
            <a:off x="640080" y="1225296"/>
            <a:ext cx="2194560" cy="146304"/>
          </a:xfrm>
          <a:prstGeom prst="rect">
            <a:avLst/>
          </a:prstGeom>
          <a:noFill/>
          <a:ln/>
        </p:spPr>
        <p:txBody>
          <a:bodyPr wrap="square" rtlCol="0" anchor="ctr"/>
          <a:lstStyle/>
          <a:p>
            <a:pPr marL="0" indent="0" algn="ctr">
              <a:buNone/>
            </a:pPr>
            <a:r>
              <a:rPr lang="en-US" sz="1000" b="1" dirty="0">
                <a:solidFill>
                  <a:srgbClr val="FFFFFF"/>
                </a:solidFill>
              </a:rPr>
              <a:t>Project</a:t>
            </a:r>
            <a:endParaRPr lang="en-US" sz="1000" dirty="0"/>
          </a:p>
        </p:txBody>
      </p:sp>
      <p:sp>
        <p:nvSpPr>
          <p:cNvPr id="6" name="Text 4"/>
          <p:cNvSpPr/>
          <p:nvPr/>
        </p:nvSpPr>
        <p:spPr>
          <a:xfrm>
            <a:off x="713232" y="1764792"/>
            <a:ext cx="2057400" cy="640080"/>
          </a:xfrm>
          <a:prstGeom prst="rect">
            <a:avLst/>
          </a:prstGeom>
          <a:noFill/>
          <a:ln/>
        </p:spPr>
        <p:txBody>
          <a:bodyPr wrap="square" rtlCol="0" anchor="ctr">
            <a:normAutofit/>
          </a:bodyPr>
          <a:lstStyle/>
          <a:p>
            <a:pPr marL="0" indent="0" algn="ctr">
              <a:buNone/>
            </a:pPr>
            <a:r>
              <a:rPr lang="en-US" sz="860" dirty="0">
                <a:solidFill>
                  <a:srgbClr val="10263D"/>
                </a:solidFill>
              </a:rPr>
              <a:t>Spring Boot project runs</a:t>
            </a:r>
            <a:endParaRPr lang="en-US" sz="860" dirty="0"/>
          </a:p>
          <a:p>
            <a:pPr marL="0" indent="0" algn="ctr">
              <a:buNone/>
            </a:pPr>
            <a:r>
              <a:rPr lang="en-US" sz="860" dirty="0">
                <a:solidFill>
                  <a:srgbClr val="10263D"/>
                </a:solidFill>
              </a:rPr>
              <a:t>./mvnw spring-boot:run</a:t>
            </a:r>
            <a:endParaRPr lang="en-US" sz="860" dirty="0"/>
          </a:p>
          <a:p>
            <a:pPr marL="0" indent="0" algn="ctr">
              <a:buNone/>
            </a:pPr>
            <a:r>
              <a:rPr lang="en-US" sz="860" dirty="0">
                <a:solidFill>
                  <a:srgbClr val="10263D"/>
                </a:solidFill>
              </a:rPr>
              <a:t>pom.xml is explained</a:t>
            </a:r>
            <a:endParaRPr lang="en-US" sz="860" dirty="0"/>
          </a:p>
        </p:txBody>
      </p:sp>
      <p:sp>
        <p:nvSpPr>
          <p:cNvPr id="7" name="Shape 5"/>
          <p:cNvSpPr/>
          <p:nvPr/>
        </p:nvSpPr>
        <p:spPr>
          <a:xfrm>
            <a:off x="3429000" y="1143000"/>
            <a:ext cx="2377440" cy="2103120"/>
          </a:xfrm>
          <a:prstGeom prst="roundRect">
            <a:avLst>
              <a:gd name="adj" fmla="val 2609"/>
            </a:avLst>
          </a:prstGeom>
          <a:solidFill>
            <a:srgbClr val="FFFFFF"/>
          </a:solidFill>
          <a:ln w="12700">
            <a:solidFill>
              <a:srgbClr val="008C8C"/>
            </a:solidFill>
            <a:prstDash val="solid"/>
          </a:ln>
        </p:spPr>
        <p:txBody>
          <a:bodyPr/>
          <a:lstStyle/>
          <a:p>
            <a:endParaRPr lang="en-US"/>
          </a:p>
        </p:txBody>
      </p:sp>
      <p:sp>
        <p:nvSpPr>
          <p:cNvPr id="8" name="Shape 6"/>
          <p:cNvSpPr/>
          <p:nvPr/>
        </p:nvSpPr>
        <p:spPr>
          <a:xfrm>
            <a:off x="3429000" y="1143000"/>
            <a:ext cx="2377440" cy="384048"/>
          </a:xfrm>
          <a:prstGeom prst="rect">
            <a:avLst/>
          </a:prstGeom>
          <a:solidFill>
            <a:srgbClr val="008C8C"/>
          </a:solidFill>
          <a:ln w="12700">
            <a:solidFill>
              <a:srgbClr val="008C8C"/>
            </a:solidFill>
            <a:prstDash val="solid"/>
          </a:ln>
        </p:spPr>
        <p:txBody>
          <a:bodyPr/>
          <a:lstStyle/>
          <a:p>
            <a:endParaRPr lang="en-US"/>
          </a:p>
        </p:txBody>
      </p:sp>
      <p:sp>
        <p:nvSpPr>
          <p:cNvPr id="9" name="Text 7"/>
          <p:cNvSpPr/>
          <p:nvPr/>
        </p:nvSpPr>
        <p:spPr>
          <a:xfrm>
            <a:off x="3520440" y="1225296"/>
            <a:ext cx="2194560" cy="146304"/>
          </a:xfrm>
          <a:prstGeom prst="rect">
            <a:avLst/>
          </a:prstGeom>
          <a:noFill/>
          <a:ln/>
        </p:spPr>
        <p:txBody>
          <a:bodyPr wrap="square" rtlCol="0" anchor="ctr"/>
          <a:lstStyle/>
          <a:p>
            <a:pPr marL="0" indent="0" algn="ctr">
              <a:buNone/>
            </a:pPr>
            <a:r>
              <a:rPr lang="en-US" sz="1000" b="1" dirty="0">
                <a:solidFill>
                  <a:srgbClr val="FFFFFF"/>
                </a:solidFill>
              </a:rPr>
              <a:t>REST + Data</a:t>
            </a:r>
            <a:endParaRPr lang="en-US" sz="1000" dirty="0"/>
          </a:p>
        </p:txBody>
      </p:sp>
      <p:sp>
        <p:nvSpPr>
          <p:cNvPr id="10" name="Text 8"/>
          <p:cNvSpPr/>
          <p:nvPr/>
        </p:nvSpPr>
        <p:spPr>
          <a:xfrm>
            <a:off x="3593592" y="1764792"/>
            <a:ext cx="2057400" cy="640080"/>
          </a:xfrm>
          <a:prstGeom prst="rect">
            <a:avLst/>
          </a:prstGeom>
          <a:noFill/>
          <a:ln/>
        </p:spPr>
        <p:txBody>
          <a:bodyPr wrap="square" rtlCol="0" anchor="ctr">
            <a:normAutofit/>
          </a:bodyPr>
          <a:lstStyle/>
          <a:p>
            <a:pPr marL="0" indent="0" algn="ctr">
              <a:buNone/>
            </a:pPr>
            <a:r>
              <a:rPr lang="en-US" sz="860" dirty="0">
                <a:solidFill>
                  <a:srgbClr val="10263D"/>
                </a:solidFill>
              </a:rPr>
              <a:t>Student CRUD API</a:t>
            </a:r>
            <a:endParaRPr lang="en-US" sz="860" dirty="0"/>
          </a:p>
          <a:p>
            <a:pPr marL="0" indent="0" algn="ctr">
              <a:buNone/>
            </a:pPr>
            <a:r>
              <a:rPr lang="en-US" sz="860" dirty="0">
                <a:solidFill>
                  <a:srgbClr val="10263D"/>
                </a:solidFill>
              </a:rPr>
              <a:t>JPA + H2 + Repository</a:t>
            </a:r>
            <a:endParaRPr lang="en-US" sz="860" dirty="0"/>
          </a:p>
          <a:p>
            <a:pPr marL="0" indent="0" algn="ctr">
              <a:buNone/>
            </a:pPr>
            <a:r>
              <a:rPr lang="en-US" sz="860" dirty="0">
                <a:solidFill>
                  <a:srgbClr val="10263D"/>
                </a:solidFill>
              </a:rPr>
              <a:t>HTTP status codes checked</a:t>
            </a:r>
            <a:endParaRPr lang="en-US" sz="860" dirty="0"/>
          </a:p>
        </p:txBody>
      </p:sp>
      <p:sp>
        <p:nvSpPr>
          <p:cNvPr id="11" name="Shape 9"/>
          <p:cNvSpPr/>
          <p:nvPr/>
        </p:nvSpPr>
        <p:spPr>
          <a:xfrm>
            <a:off x="6309360" y="1143000"/>
            <a:ext cx="2377440" cy="2103120"/>
          </a:xfrm>
          <a:prstGeom prst="roundRect">
            <a:avLst>
              <a:gd name="adj" fmla="val 2609"/>
            </a:avLst>
          </a:prstGeom>
          <a:solidFill>
            <a:srgbClr val="FFFFFF"/>
          </a:solidFill>
          <a:ln w="12700">
            <a:solidFill>
              <a:srgbClr val="D83B0B"/>
            </a:solidFill>
            <a:prstDash val="solid"/>
          </a:ln>
        </p:spPr>
        <p:txBody>
          <a:bodyPr/>
          <a:lstStyle/>
          <a:p>
            <a:endParaRPr lang="en-US"/>
          </a:p>
        </p:txBody>
      </p:sp>
      <p:sp>
        <p:nvSpPr>
          <p:cNvPr id="12" name="Shape 10"/>
          <p:cNvSpPr/>
          <p:nvPr/>
        </p:nvSpPr>
        <p:spPr>
          <a:xfrm>
            <a:off x="6309360" y="1143000"/>
            <a:ext cx="2377440" cy="384048"/>
          </a:xfrm>
          <a:prstGeom prst="rect">
            <a:avLst/>
          </a:prstGeom>
          <a:solidFill>
            <a:srgbClr val="D83B0B"/>
          </a:solidFill>
          <a:ln w="12700">
            <a:solidFill>
              <a:srgbClr val="D83B0B"/>
            </a:solidFill>
            <a:prstDash val="solid"/>
          </a:ln>
        </p:spPr>
        <p:txBody>
          <a:bodyPr/>
          <a:lstStyle/>
          <a:p>
            <a:endParaRPr lang="en-US"/>
          </a:p>
        </p:txBody>
      </p:sp>
      <p:sp>
        <p:nvSpPr>
          <p:cNvPr id="13" name="Text 11"/>
          <p:cNvSpPr/>
          <p:nvPr/>
        </p:nvSpPr>
        <p:spPr>
          <a:xfrm>
            <a:off x="6400800" y="1225296"/>
            <a:ext cx="2194560" cy="146304"/>
          </a:xfrm>
          <a:prstGeom prst="rect">
            <a:avLst/>
          </a:prstGeom>
          <a:noFill/>
          <a:ln/>
        </p:spPr>
        <p:txBody>
          <a:bodyPr wrap="square" rtlCol="0" anchor="ctr"/>
          <a:lstStyle/>
          <a:p>
            <a:pPr marL="0" indent="0" algn="ctr">
              <a:buNone/>
            </a:pPr>
            <a:r>
              <a:rPr lang="en-US" sz="1000" b="1" dirty="0">
                <a:solidFill>
                  <a:srgbClr val="FFFFFF"/>
                </a:solidFill>
              </a:rPr>
              <a:t>Web + Security</a:t>
            </a:r>
            <a:endParaRPr lang="en-US" sz="1000" dirty="0"/>
          </a:p>
        </p:txBody>
      </p:sp>
      <p:sp>
        <p:nvSpPr>
          <p:cNvPr id="14" name="Text 12"/>
          <p:cNvSpPr/>
          <p:nvPr/>
        </p:nvSpPr>
        <p:spPr>
          <a:xfrm>
            <a:off x="6473952" y="1764792"/>
            <a:ext cx="2057400" cy="640080"/>
          </a:xfrm>
          <a:prstGeom prst="rect">
            <a:avLst/>
          </a:prstGeom>
          <a:noFill/>
          <a:ln/>
        </p:spPr>
        <p:txBody>
          <a:bodyPr wrap="square" rtlCol="0" anchor="ctr">
            <a:normAutofit/>
          </a:bodyPr>
          <a:lstStyle/>
          <a:p>
            <a:pPr marL="0" indent="0" algn="ctr">
              <a:buNone/>
            </a:pPr>
            <a:r>
              <a:rPr lang="en-US" sz="860" dirty="0">
                <a:solidFill>
                  <a:srgbClr val="10263D"/>
                </a:solidFill>
              </a:rPr>
              <a:t>/students in Thymeleaf</a:t>
            </a:r>
            <a:endParaRPr lang="en-US" sz="860" dirty="0"/>
          </a:p>
          <a:p>
            <a:pPr marL="0" indent="0" algn="ctr">
              <a:buNone/>
            </a:pPr>
            <a:r>
              <a:rPr lang="en-US" sz="860" dirty="0">
                <a:solidFill>
                  <a:srgbClr val="10263D"/>
                </a:solidFill>
              </a:rPr>
              <a:t>user/admin roles</a:t>
            </a:r>
            <a:endParaRPr lang="en-US" sz="860" dirty="0"/>
          </a:p>
          <a:p>
            <a:pPr marL="0" indent="0" algn="ctr">
              <a:buNone/>
            </a:pPr>
            <a:r>
              <a:rPr lang="en-US" sz="860" dirty="0">
                <a:solidFill>
                  <a:srgbClr val="10263D"/>
                </a:solidFill>
              </a:rPr>
              <a:t>SecurityFilterChain</a:t>
            </a:r>
            <a:endParaRPr lang="en-US" sz="860" dirty="0"/>
          </a:p>
        </p:txBody>
      </p:sp>
      <p:sp>
        <p:nvSpPr>
          <p:cNvPr id="15" name="Shape 13"/>
          <p:cNvSpPr/>
          <p:nvPr/>
        </p:nvSpPr>
        <p:spPr>
          <a:xfrm>
            <a:off x="9189720" y="1143000"/>
            <a:ext cx="2377440" cy="2103120"/>
          </a:xfrm>
          <a:prstGeom prst="roundRect">
            <a:avLst>
              <a:gd name="adj" fmla="val 2609"/>
            </a:avLst>
          </a:prstGeom>
          <a:solidFill>
            <a:srgbClr val="FFFFFF"/>
          </a:solidFill>
          <a:ln w="12700">
            <a:solidFill>
              <a:srgbClr val="146B2E"/>
            </a:solidFill>
            <a:prstDash val="solid"/>
          </a:ln>
        </p:spPr>
        <p:txBody>
          <a:bodyPr/>
          <a:lstStyle/>
          <a:p>
            <a:endParaRPr lang="en-US"/>
          </a:p>
        </p:txBody>
      </p:sp>
      <p:sp>
        <p:nvSpPr>
          <p:cNvPr id="16" name="Shape 14"/>
          <p:cNvSpPr/>
          <p:nvPr/>
        </p:nvSpPr>
        <p:spPr>
          <a:xfrm>
            <a:off x="9189720" y="1143000"/>
            <a:ext cx="2377440" cy="384048"/>
          </a:xfrm>
          <a:prstGeom prst="rect">
            <a:avLst/>
          </a:prstGeom>
          <a:solidFill>
            <a:srgbClr val="146B2E"/>
          </a:solidFill>
          <a:ln w="12700">
            <a:solidFill>
              <a:srgbClr val="146B2E"/>
            </a:solidFill>
            <a:prstDash val="solid"/>
          </a:ln>
        </p:spPr>
        <p:txBody>
          <a:bodyPr/>
          <a:lstStyle/>
          <a:p>
            <a:endParaRPr lang="en-US"/>
          </a:p>
        </p:txBody>
      </p:sp>
      <p:sp>
        <p:nvSpPr>
          <p:cNvPr id="17" name="Text 15"/>
          <p:cNvSpPr/>
          <p:nvPr/>
        </p:nvSpPr>
        <p:spPr>
          <a:xfrm>
            <a:off x="9281160" y="1225296"/>
            <a:ext cx="2194560" cy="146304"/>
          </a:xfrm>
          <a:prstGeom prst="rect">
            <a:avLst/>
          </a:prstGeom>
          <a:noFill/>
          <a:ln/>
        </p:spPr>
        <p:txBody>
          <a:bodyPr wrap="square" rtlCol="0" anchor="ctr"/>
          <a:lstStyle/>
          <a:p>
            <a:pPr marL="0" indent="0" algn="ctr">
              <a:buNone/>
            </a:pPr>
            <a:r>
              <a:rPr lang="en-US" sz="1000" b="1" dirty="0">
                <a:solidFill>
                  <a:srgbClr val="FFFFFF"/>
                </a:solidFill>
              </a:rPr>
              <a:t>Quality</a:t>
            </a:r>
            <a:endParaRPr lang="en-US" sz="1000" dirty="0"/>
          </a:p>
        </p:txBody>
      </p:sp>
      <p:sp>
        <p:nvSpPr>
          <p:cNvPr id="18" name="Text 16"/>
          <p:cNvSpPr/>
          <p:nvPr/>
        </p:nvSpPr>
        <p:spPr>
          <a:xfrm>
            <a:off x="9354312" y="1764792"/>
            <a:ext cx="2057400" cy="640080"/>
          </a:xfrm>
          <a:prstGeom prst="rect">
            <a:avLst/>
          </a:prstGeom>
          <a:noFill/>
          <a:ln/>
        </p:spPr>
        <p:txBody>
          <a:bodyPr wrap="square" rtlCol="0" anchor="ctr">
            <a:normAutofit/>
          </a:bodyPr>
          <a:lstStyle/>
          <a:p>
            <a:pPr marL="0" indent="0" algn="ctr">
              <a:buNone/>
            </a:pPr>
            <a:r>
              <a:rPr lang="en-US" sz="860" dirty="0">
                <a:solidFill>
                  <a:srgbClr val="10263D"/>
                </a:solidFill>
              </a:rPr>
              <a:t>DTO + Validation</a:t>
            </a:r>
            <a:endParaRPr lang="en-US" sz="860" dirty="0"/>
          </a:p>
          <a:p>
            <a:pPr marL="0" indent="0" algn="ctr">
              <a:buNone/>
            </a:pPr>
            <a:r>
              <a:rPr lang="en-US" sz="860" dirty="0">
                <a:solidFill>
                  <a:srgbClr val="10263D"/>
                </a:solidFill>
              </a:rPr>
              <a:t>Advice + ErrorResponse</a:t>
            </a:r>
            <a:endParaRPr lang="en-US" sz="860" dirty="0"/>
          </a:p>
          <a:p>
            <a:pPr marL="0" indent="0" algn="ctr">
              <a:buNone/>
            </a:pPr>
            <a:r>
              <a:rPr lang="en-US" sz="860" dirty="0">
                <a:solidFill>
                  <a:srgbClr val="10263D"/>
                </a:solidFill>
              </a:rPr>
              <a:t>@Transactional + MockMvc</a:t>
            </a:r>
            <a:endParaRPr lang="en-US" sz="860" dirty="0"/>
          </a:p>
        </p:txBody>
      </p:sp>
      <p:sp>
        <p:nvSpPr>
          <p:cNvPr id="19" name="Text 17"/>
          <p:cNvSpPr/>
          <p:nvPr/>
        </p:nvSpPr>
        <p:spPr>
          <a:xfrm>
            <a:off x="731520" y="3767328"/>
            <a:ext cx="2926080" cy="219456"/>
          </a:xfrm>
          <a:prstGeom prst="rect">
            <a:avLst/>
          </a:prstGeom>
          <a:noFill/>
          <a:ln/>
        </p:spPr>
        <p:txBody>
          <a:bodyPr wrap="square" rtlCol="0" anchor="ctr"/>
          <a:lstStyle/>
          <a:p>
            <a:pPr marL="0" indent="0">
              <a:buNone/>
            </a:pPr>
            <a:r>
              <a:rPr lang="en-US" sz="1500" b="1" dirty="0">
                <a:solidFill>
                  <a:srgbClr val="C9E7FF"/>
                </a:solidFill>
              </a:rPr>
              <a:t>Control questions</a:t>
            </a:r>
            <a:endParaRPr lang="en-US" sz="1500" dirty="0"/>
          </a:p>
        </p:txBody>
      </p:sp>
      <p:sp>
        <p:nvSpPr>
          <p:cNvPr id="20" name="Text 18"/>
          <p:cNvSpPr/>
          <p:nvPr/>
        </p:nvSpPr>
        <p:spPr>
          <a:xfrm>
            <a:off x="731520" y="4114800"/>
            <a:ext cx="4937760" cy="502920"/>
          </a:xfrm>
          <a:prstGeom prst="rect">
            <a:avLst/>
          </a:prstGeom>
          <a:noFill/>
          <a:ln/>
        </p:spPr>
        <p:txBody>
          <a:bodyPr wrap="square" rtlCol="0" anchor="ctr">
            <a:normAutofit/>
          </a:bodyPr>
          <a:lstStyle/>
          <a:p>
            <a:pPr marL="0" indent="0">
              <a:buNone/>
            </a:pPr>
            <a:r>
              <a:rPr lang="en-US" sz="950" dirty="0">
                <a:solidFill>
                  <a:srgbClr val="E6F1FA"/>
                </a:solidFill>
              </a:rPr>
              <a:t>23 questions: IoC, DI, annotations, ApplicationContext, scopes, AOP, Controller/Service/Repository, JPA, Thymeleaf, Security, JWT, DTO, Advice, Transactional.</a:t>
            </a:r>
            <a:endParaRPr lang="en-US" sz="950" dirty="0"/>
          </a:p>
        </p:txBody>
      </p:sp>
      <p:sp>
        <p:nvSpPr>
          <p:cNvPr id="21" name="Text 19"/>
          <p:cNvSpPr/>
          <p:nvPr/>
        </p:nvSpPr>
        <p:spPr>
          <a:xfrm>
            <a:off x="6400800" y="3767328"/>
            <a:ext cx="2743200" cy="219456"/>
          </a:xfrm>
          <a:prstGeom prst="rect">
            <a:avLst/>
          </a:prstGeom>
          <a:noFill/>
          <a:ln/>
        </p:spPr>
        <p:txBody>
          <a:bodyPr wrap="square" rtlCol="0" anchor="ctr"/>
          <a:lstStyle/>
          <a:p>
            <a:pPr marL="0" indent="0">
              <a:buNone/>
            </a:pPr>
            <a:r>
              <a:rPr lang="en-US" sz="1500" b="1" dirty="0">
                <a:solidFill>
                  <a:srgbClr val="C9E7FF"/>
                </a:solidFill>
              </a:rPr>
              <a:t>Useful resources</a:t>
            </a:r>
            <a:endParaRPr lang="en-US" sz="1500" dirty="0"/>
          </a:p>
        </p:txBody>
      </p:sp>
      <p:sp>
        <p:nvSpPr>
          <p:cNvPr id="22" name="Shape 20"/>
          <p:cNvSpPr/>
          <p:nvPr/>
        </p:nvSpPr>
        <p:spPr>
          <a:xfrm>
            <a:off x="6400800" y="3977640"/>
            <a:ext cx="5074920" cy="347472"/>
          </a:xfrm>
          <a:prstGeom prst="rect">
            <a:avLst/>
          </a:prstGeom>
          <a:solidFill>
            <a:srgbClr val="10263D"/>
          </a:solidFill>
          <a:ln w="12700">
            <a:solidFill>
              <a:srgbClr val="1E73BE"/>
            </a:solidFill>
            <a:prstDash val="solid"/>
          </a:ln>
        </p:spPr>
        <p:txBody>
          <a:bodyPr/>
          <a:lstStyle/>
          <a:p>
            <a:endParaRPr lang="en-US"/>
          </a:p>
        </p:txBody>
      </p:sp>
      <p:sp>
        <p:nvSpPr>
          <p:cNvPr id="23" name="Text 21"/>
          <p:cNvSpPr/>
          <p:nvPr/>
        </p:nvSpPr>
        <p:spPr>
          <a:xfrm>
            <a:off x="6537960" y="4050792"/>
            <a:ext cx="1783080" cy="164592"/>
          </a:xfrm>
          <a:prstGeom prst="rect">
            <a:avLst/>
          </a:prstGeom>
          <a:noFill/>
          <a:ln/>
        </p:spPr>
        <p:txBody>
          <a:bodyPr wrap="square" rtlCol="0" anchor="ctr">
            <a:normAutofit/>
          </a:bodyPr>
          <a:lstStyle/>
          <a:p>
            <a:pPr marL="0" indent="0">
              <a:buNone/>
            </a:pPr>
            <a:r>
              <a:rPr lang="en-US" sz="820" b="1" dirty="0">
                <a:solidFill>
                  <a:srgbClr val="FFFFFF"/>
                </a:solidFill>
              </a:rPr>
              <a:t>Practice 7 guide</a:t>
            </a:r>
            <a:endParaRPr lang="en-US" sz="820" dirty="0"/>
          </a:p>
        </p:txBody>
      </p:sp>
      <p:sp>
        <p:nvSpPr>
          <p:cNvPr id="24" name="Text 22"/>
          <p:cNvSpPr/>
          <p:nvPr/>
        </p:nvSpPr>
        <p:spPr>
          <a:xfrm>
            <a:off x="8412480" y="4050792"/>
            <a:ext cx="2926080" cy="164592"/>
          </a:xfrm>
          <a:prstGeom prst="rect">
            <a:avLst/>
          </a:prstGeom>
          <a:noFill/>
          <a:ln/>
        </p:spPr>
        <p:txBody>
          <a:bodyPr wrap="square" rtlCol="0" anchor="ctr">
            <a:normAutofit/>
          </a:bodyPr>
          <a:lstStyle/>
          <a:p>
            <a:pPr marL="0" indent="0">
              <a:buNone/>
            </a:pPr>
            <a:r>
              <a:rPr lang="en-US" sz="700" dirty="0">
                <a:solidFill>
                  <a:srgbClr val="DDE7EF"/>
                </a:solidFill>
              </a:rPr>
              <a:t>aliebraheem-fun.github.io/Modern-Programming-Technologies/#/practice7</a:t>
            </a:r>
            <a:endParaRPr lang="en-US" sz="700" dirty="0"/>
          </a:p>
        </p:txBody>
      </p:sp>
      <p:sp>
        <p:nvSpPr>
          <p:cNvPr id="25" name="Shape 23"/>
          <p:cNvSpPr/>
          <p:nvPr/>
        </p:nvSpPr>
        <p:spPr>
          <a:xfrm>
            <a:off x="6400800" y="4416552"/>
            <a:ext cx="5074920" cy="347472"/>
          </a:xfrm>
          <a:prstGeom prst="rect">
            <a:avLst/>
          </a:prstGeom>
          <a:solidFill>
            <a:srgbClr val="10263D"/>
          </a:solidFill>
          <a:ln w="12700">
            <a:solidFill>
              <a:srgbClr val="146B2E"/>
            </a:solidFill>
            <a:prstDash val="solid"/>
          </a:ln>
        </p:spPr>
        <p:txBody>
          <a:bodyPr/>
          <a:lstStyle/>
          <a:p>
            <a:endParaRPr lang="en-US"/>
          </a:p>
        </p:txBody>
      </p:sp>
      <p:sp>
        <p:nvSpPr>
          <p:cNvPr id="26" name="Text 24"/>
          <p:cNvSpPr/>
          <p:nvPr/>
        </p:nvSpPr>
        <p:spPr>
          <a:xfrm>
            <a:off x="6537960" y="4489704"/>
            <a:ext cx="1783080" cy="164592"/>
          </a:xfrm>
          <a:prstGeom prst="rect">
            <a:avLst/>
          </a:prstGeom>
          <a:noFill/>
          <a:ln/>
        </p:spPr>
        <p:txBody>
          <a:bodyPr wrap="square" rtlCol="0" anchor="ctr">
            <a:normAutofit/>
          </a:bodyPr>
          <a:lstStyle/>
          <a:p>
            <a:pPr marL="0" indent="0">
              <a:buNone/>
            </a:pPr>
            <a:r>
              <a:rPr lang="en-US" sz="820" b="1" dirty="0">
                <a:solidFill>
                  <a:srgbClr val="FFFFFF"/>
                </a:solidFill>
              </a:rPr>
              <a:t>Spring Initializr</a:t>
            </a:r>
            <a:endParaRPr lang="en-US" sz="820" dirty="0"/>
          </a:p>
        </p:txBody>
      </p:sp>
      <p:sp>
        <p:nvSpPr>
          <p:cNvPr id="27" name="Text 25"/>
          <p:cNvSpPr/>
          <p:nvPr/>
        </p:nvSpPr>
        <p:spPr>
          <a:xfrm>
            <a:off x="8412480" y="4489704"/>
            <a:ext cx="2926080" cy="164592"/>
          </a:xfrm>
          <a:prstGeom prst="rect">
            <a:avLst/>
          </a:prstGeom>
          <a:noFill/>
          <a:ln/>
        </p:spPr>
        <p:txBody>
          <a:bodyPr wrap="square" rtlCol="0" anchor="ctr">
            <a:normAutofit/>
          </a:bodyPr>
          <a:lstStyle/>
          <a:p>
            <a:pPr marL="0" indent="0">
              <a:buNone/>
            </a:pPr>
            <a:r>
              <a:rPr lang="en-US" sz="700" dirty="0">
                <a:solidFill>
                  <a:srgbClr val="DDE7EF"/>
                </a:solidFill>
              </a:rPr>
              <a:t>start.spring.io</a:t>
            </a:r>
            <a:endParaRPr lang="en-US" sz="700" dirty="0"/>
          </a:p>
        </p:txBody>
      </p:sp>
      <p:sp>
        <p:nvSpPr>
          <p:cNvPr id="28" name="Shape 26"/>
          <p:cNvSpPr/>
          <p:nvPr/>
        </p:nvSpPr>
        <p:spPr>
          <a:xfrm>
            <a:off x="6400800" y="4855464"/>
            <a:ext cx="5074920" cy="347472"/>
          </a:xfrm>
          <a:prstGeom prst="rect">
            <a:avLst/>
          </a:prstGeom>
          <a:solidFill>
            <a:srgbClr val="10263D"/>
          </a:solidFill>
          <a:ln w="12700">
            <a:solidFill>
              <a:srgbClr val="6F1AB1"/>
            </a:solidFill>
            <a:prstDash val="solid"/>
          </a:ln>
        </p:spPr>
        <p:txBody>
          <a:bodyPr/>
          <a:lstStyle/>
          <a:p>
            <a:endParaRPr lang="en-US"/>
          </a:p>
        </p:txBody>
      </p:sp>
      <p:sp>
        <p:nvSpPr>
          <p:cNvPr id="29" name="Text 27"/>
          <p:cNvSpPr/>
          <p:nvPr/>
        </p:nvSpPr>
        <p:spPr>
          <a:xfrm>
            <a:off x="6537960" y="4928616"/>
            <a:ext cx="1783080" cy="164592"/>
          </a:xfrm>
          <a:prstGeom prst="rect">
            <a:avLst/>
          </a:prstGeom>
          <a:noFill/>
          <a:ln/>
        </p:spPr>
        <p:txBody>
          <a:bodyPr wrap="square" rtlCol="0" anchor="ctr">
            <a:normAutofit/>
          </a:bodyPr>
          <a:lstStyle/>
          <a:p>
            <a:pPr marL="0" indent="0">
              <a:buNone/>
            </a:pPr>
            <a:r>
              <a:rPr lang="en-US" sz="820" b="1" dirty="0">
                <a:solidFill>
                  <a:srgbClr val="FFFFFF"/>
                </a:solidFill>
              </a:rPr>
              <a:t>Spring Framework Docs</a:t>
            </a:r>
            <a:endParaRPr lang="en-US" sz="820" dirty="0"/>
          </a:p>
        </p:txBody>
      </p:sp>
      <p:sp>
        <p:nvSpPr>
          <p:cNvPr id="30" name="Text 28"/>
          <p:cNvSpPr/>
          <p:nvPr/>
        </p:nvSpPr>
        <p:spPr>
          <a:xfrm>
            <a:off x="8412480" y="4928616"/>
            <a:ext cx="2926080" cy="164592"/>
          </a:xfrm>
          <a:prstGeom prst="rect">
            <a:avLst/>
          </a:prstGeom>
          <a:noFill/>
          <a:ln/>
        </p:spPr>
        <p:txBody>
          <a:bodyPr wrap="square" rtlCol="0" anchor="ctr">
            <a:normAutofit/>
          </a:bodyPr>
          <a:lstStyle/>
          <a:p>
            <a:pPr marL="0" indent="0">
              <a:buNone/>
            </a:pPr>
            <a:r>
              <a:rPr lang="en-US" sz="700" dirty="0">
                <a:solidFill>
                  <a:srgbClr val="DDE7EF"/>
                </a:solidFill>
              </a:rPr>
              <a:t>docs.spring.io/spring-framework/reference/</a:t>
            </a:r>
            <a:endParaRPr lang="en-US" sz="700" dirty="0"/>
          </a:p>
        </p:txBody>
      </p:sp>
      <p:sp>
        <p:nvSpPr>
          <p:cNvPr id="31" name="Shape 29"/>
          <p:cNvSpPr/>
          <p:nvPr/>
        </p:nvSpPr>
        <p:spPr>
          <a:xfrm>
            <a:off x="6400800" y="5294376"/>
            <a:ext cx="5074920" cy="347472"/>
          </a:xfrm>
          <a:prstGeom prst="rect">
            <a:avLst/>
          </a:prstGeom>
          <a:solidFill>
            <a:srgbClr val="10263D"/>
          </a:solidFill>
          <a:ln w="12700">
            <a:solidFill>
              <a:srgbClr val="D83B0B"/>
            </a:solidFill>
            <a:prstDash val="solid"/>
          </a:ln>
        </p:spPr>
        <p:txBody>
          <a:bodyPr/>
          <a:lstStyle/>
          <a:p>
            <a:endParaRPr lang="en-US"/>
          </a:p>
        </p:txBody>
      </p:sp>
      <p:sp>
        <p:nvSpPr>
          <p:cNvPr id="32" name="Text 30"/>
          <p:cNvSpPr/>
          <p:nvPr/>
        </p:nvSpPr>
        <p:spPr>
          <a:xfrm>
            <a:off x="6537960" y="5367528"/>
            <a:ext cx="1783080" cy="164592"/>
          </a:xfrm>
          <a:prstGeom prst="rect">
            <a:avLst/>
          </a:prstGeom>
          <a:noFill/>
          <a:ln/>
        </p:spPr>
        <p:txBody>
          <a:bodyPr wrap="square" rtlCol="0" anchor="ctr">
            <a:normAutofit/>
          </a:bodyPr>
          <a:lstStyle/>
          <a:p>
            <a:pPr marL="0" indent="0">
              <a:buNone/>
            </a:pPr>
            <a:r>
              <a:rPr lang="en-US" sz="820" b="1" dirty="0">
                <a:solidFill>
                  <a:srgbClr val="FFFFFF"/>
                </a:solidFill>
              </a:rPr>
              <a:t>Spring Boot Docs</a:t>
            </a:r>
            <a:endParaRPr lang="en-US" sz="820" dirty="0"/>
          </a:p>
        </p:txBody>
      </p:sp>
      <p:sp>
        <p:nvSpPr>
          <p:cNvPr id="33" name="Text 31"/>
          <p:cNvSpPr/>
          <p:nvPr/>
        </p:nvSpPr>
        <p:spPr>
          <a:xfrm>
            <a:off x="8412480" y="5367528"/>
            <a:ext cx="2926080" cy="164592"/>
          </a:xfrm>
          <a:prstGeom prst="rect">
            <a:avLst/>
          </a:prstGeom>
          <a:noFill/>
          <a:ln/>
        </p:spPr>
        <p:txBody>
          <a:bodyPr wrap="square" rtlCol="0" anchor="ctr">
            <a:normAutofit/>
          </a:bodyPr>
          <a:lstStyle/>
          <a:p>
            <a:pPr marL="0" indent="0">
              <a:buNone/>
            </a:pPr>
            <a:r>
              <a:rPr lang="en-US" sz="700" dirty="0">
                <a:solidFill>
                  <a:srgbClr val="DDE7EF"/>
                </a:solidFill>
              </a:rPr>
              <a:t>docs.spring.io/spring-boot/reference/</a:t>
            </a:r>
            <a:endParaRPr lang="en-US" sz="700" dirty="0"/>
          </a:p>
        </p:txBody>
      </p:sp>
      <p:sp>
        <p:nvSpPr>
          <p:cNvPr id="34" name="Shape 32"/>
          <p:cNvSpPr/>
          <p:nvPr/>
        </p:nvSpPr>
        <p:spPr>
          <a:xfrm>
            <a:off x="731520" y="5760720"/>
            <a:ext cx="10744200" cy="0"/>
          </a:xfrm>
          <a:prstGeom prst="line">
            <a:avLst/>
          </a:prstGeom>
          <a:noFill/>
          <a:ln w="12700">
            <a:solidFill>
              <a:srgbClr val="496D8B"/>
            </a:solidFill>
            <a:prstDash val="solid"/>
          </a:ln>
        </p:spPr>
        <p:txBody>
          <a:bodyPr/>
          <a:lstStyle/>
          <a:p>
            <a:endParaRPr lang="en-US"/>
          </a:p>
        </p:txBody>
      </p:sp>
      <p:sp>
        <p:nvSpPr>
          <p:cNvPr id="35" name="Text 33"/>
          <p:cNvSpPr/>
          <p:nvPr/>
        </p:nvSpPr>
        <p:spPr>
          <a:xfrm>
            <a:off x="731520" y="5961888"/>
            <a:ext cx="10744200" cy="201168"/>
          </a:xfrm>
          <a:prstGeom prst="rect">
            <a:avLst/>
          </a:prstGeom>
          <a:noFill/>
          <a:ln/>
        </p:spPr>
        <p:txBody>
          <a:bodyPr wrap="square" rtlCol="0" anchor="ctr"/>
          <a:lstStyle/>
          <a:p>
            <a:pPr marL="0" indent="0" algn="ctr">
              <a:buNone/>
            </a:pPr>
            <a:r>
              <a:rPr lang="en-US" sz="1020" b="1" dirty="0">
                <a:solidFill>
                  <a:srgbClr val="E7FFF0"/>
                </a:solidFill>
              </a:rPr>
              <a:t>Success criterion: the application starts, CRUD works, errors are readable, access is limited by roles, transactions roll back, tests pass.</a:t>
            </a:r>
            <a:endParaRPr lang="en-US" sz="1020" dirty="0"/>
          </a:p>
        </p:txBody>
      </p:sp>
      <p:sp>
        <p:nvSpPr>
          <p:cNvPr id="37" name="Text 34"/>
          <p:cNvSpPr/>
          <p:nvPr/>
        </p:nvSpPr>
        <p:spPr>
          <a:xfrm>
            <a:off x="320040" y="6510528"/>
            <a:ext cx="5943600" cy="128016"/>
          </a:xfrm>
          <a:prstGeom prst="rect">
            <a:avLst/>
          </a:prstGeom>
          <a:noFill/>
          <a:ln/>
        </p:spPr>
        <p:txBody>
          <a:bodyPr wrap="square" rtlCol="0" anchor="ctr"/>
          <a:lstStyle/>
          <a:p>
            <a:pPr marL="0" indent="0">
              <a:buNone/>
            </a:pPr>
            <a:r>
              <a:rPr lang="en-US" sz="550" dirty="0">
                <a:solidFill>
                  <a:srgbClr val="9AA7B5"/>
                </a:solidFill>
              </a:rPr>
              <a:t>Modern Programming Technologies • Practice 7</a:t>
            </a:r>
            <a:endParaRPr lang="en-US" sz="550" dirty="0"/>
          </a:p>
        </p:txBody>
      </p:sp>
      <p:sp>
        <p:nvSpPr>
          <p:cNvPr id="38" name="Text 35"/>
          <p:cNvSpPr/>
          <p:nvPr/>
        </p:nvSpPr>
        <p:spPr>
          <a:xfrm>
            <a:off x="11631168" y="6473952"/>
            <a:ext cx="182880" cy="146304"/>
          </a:xfrm>
          <a:prstGeom prst="rect">
            <a:avLst/>
          </a:prstGeom>
          <a:noFill/>
          <a:ln/>
        </p:spPr>
        <p:txBody>
          <a:bodyPr wrap="square" rtlCol="0" anchor="ctr"/>
          <a:lstStyle/>
          <a:p>
            <a:pPr marL="0" indent="0">
              <a:buNone/>
            </a:pPr>
            <a:r>
              <a:rPr lang="en-US" sz="550" dirty="0">
                <a:solidFill>
                  <a:srgbClr val="9AA7B5"/>
                </a:solidFill>
              </a:rPr>
              <a:t>10</a:t>
            </a:r>
            <a:endParaRPr lang="en-US" sz="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111</TotalTime>
  <Words>2544</Words>
  <Application>Microsoft Office PowerPoint</Application>
  <PresentationFormat>Widescreen</PresentationFormat>
  <Paragraphs>316</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 Display</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Практика 7 — Spring Framework и Spring Boot</dc:title>
  <dc:subject>Practice 7 Spring Framework and Spring Boot enhanced deck</dc:subject>
  <dc:creator>OpenAI</dc:creator>
  <cp:lastModifiedBy>user2</cp:lastModifiedBy>
  <cp:revision>1</cp:revision>
  <dcterms:created xsi:type="dcterms:W3CDTF">2026-05-29T09:03:00Z</dcterms:created>
  <dcterms:modified xsi:type="dcterms:W3CDTF">2026-05-29T13:34:50Z</dcterms:modified>
</cp:coreProperties>
</file>